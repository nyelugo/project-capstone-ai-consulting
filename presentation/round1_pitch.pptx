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[Hold for a beat before starting. Do not read the slide.]</a:t>
            </a:r>
          </a:p>
          <a:p/>
          <a:p>
            <a:r>
              <a:t>I met Chleo at a dinner. She runs a mid-size financial services firm, and she told me she</a:t>
            </a:r>
          </a:p>
          <a:p>
            <a:r>
              <a:t>does not trust AI because she cannot see what it does.</a:t>
            </a:r>
          </a:p>
          <a:p/>
          <a:p>
            <a:r>
              <a:t>So this is not a pitch about what AI could do for her. It is a pitch about one decision she</a:t>
            </a:r>
          </a:p>
          <a:p>
            <a:r>
              <a:t>can watch happen.</a:t>
            </a:r>
          </a:p>
          <a:p/>
          <a:p>
            <a:r>
              <a:t>Everything I am about to show you runs. The numbers are reproducible from the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things I took from that dinner.</a:t>
            </a:r>
          </a:p>
          <a:p/>
          <a:p>
            <a:r>
              <a:t>Her firm: about 500 staff, a quarter of a million retail customers, EU-established.</a:t>
            </a:r>
          </a:p>
          <a:p/>
          <a:p>
            <a:r>
              <a:t>Her fear, in her own words: AI is not transparent. She kept asking what "the AI" actually</a:t>
            </a:r>
          </a:p>
          <a:p>
            <a:r>
              <a:t>is, and how she would sign up. Those are not naive questions. They are the right ones.</a:t>
            </a:r>
          </a:p>
          <a:p/>
          <a:p>
            <a:r>
              <a:t>So the job is not to build her a platform. It is to find one place in her business where a</a:t>
            </a:r>
          </a:p>
          <a:p>
            <a:r>
              <a:t>machine makes a decision, and she can watch it, and disagree with it.</a:t>
            </a:r>
          </a:p>
          <a:p/>
          <a:p>
            <a:r>
              <a:t>[Q: Isn't she just uninformed? — No. She is asking for auditability, which is exactly what</a:t>
            </a:r>
          </a:p>
          <a:p>
            <a:r>
              <a:t>her regulator will ask for too.]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I would build. Complaint triage — it reads a complaint and proposes which team should</a:t>
            </a:r>
          </a:p>
          <a:p>
            <a:r>
              <a:t>handle it. Anomaly flagging, where every flag carries its reason. And reporting assistance,</a:t>
            </a:r>
          </a:p>
          <a:p>
            <a:r>
              <a:t>which drafts what a person then signs.</a:t>
            </a:r>
          </a:p>
          <a:p/>
          <a:p>
            <a:r>
              <a:t>Two I refuse. A customer-facing chatbot fails in public, in her customer's voice, and its</a:t>
            </a:r>
          </a:p>
          <a:p>
            <a:r>
              <a:t>errors are unbounded. Credit scoring is Annex III high-risk under the EU AI Act — that is</a:t>
            </a:r>
          </a:p>
          <a:p>
            <a:r>
              <a:t>conformity assessment and a fundamental-rights impact assessment before a single decision</a:t>
            </a:r>
          </a:p>
          <a:p>
            <a:r>
              <a:t>goes live.</a:t>
            </a:r>
          </a:p>
          <a:p/>
          <a:p>
            <a:r>
              <a:t>[Land this line:] I think the fastest way to earn a sceptical CEO's trust is to be the</a:t>
            </a:r>
          </a:p>
          <a:p>
            <a:r>
              <a:t>consultant who tells her what not to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from her dashboard, built on 16,839 real complaints from the public CFPB database.</a:t>
            </a:r>
          </a:p>
          <a:p/>
          <a:p>
            <a:r>
              <a:t>Deposits and cards are two thirds of the volume. But look at the last column — credit card</a:t>
            </a:r>
          </a:p>
          <a:p>
            <a:r>
              <a:t>complaints end with money paid out 17.2% of the time, against 3.0% for vehicle loans. Nearly</a:t>
            </a:r>
          </a:p>
          <a:p>
            <a:r>
              <a:t>six times.</a:t>
            </a:r>
          </a:p>
          <a:p/>
          <a:p>
            <a:r>
              <a:t>So where a complaint lands is not an administrative detail. It has money attached to it.</a:t>
            </a:r>
          </a:p>
          <a:p>
            <a:r>
              <a:t>That is the argument for getting routing right, and it is her argument, not mine.</a:t>
            </a:r>
          </a:p>
          <a:p/>
          <a:p>
            <a:r>
              <a:t>[If asked about the data:] US regulatory data, used as a proxy for the shape of a complaint</a:t>
            </a:r>
          </a:p>
          <a:p>
            <a:r>
              <a:t>inbox — the mix of issues and the language — not a forecast of her volumes. I say that on</a:t>
            </a:r>
          </a:p>
          <a:p>
            <a:r>
              <a:t>the dashboard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finding the whole proposal rests on.</a:t>
            </a:r>
          </a:p>
          <a:p/>
          <a:p>
            <a:r>
              <a:t>There are 64 issue categories. Five of them are 46% of everything that arrives.</a:t>
            </a:r>
          </a:p>
          <a:p/>
          <a:p>
            <a:r>
              <a:t>That means the model does not have to be good at 64 things. It has to be good at five, and</a:t>
            </a:r>
          </a:p>
          <a:p>
            <a:r>
              <a:t>it has to be willing to say "I don't know" about the rest.</a:t>
            </a:r>
          </a:p>
          <a:p/>
          <a:p>
            <a:r>
              <a:t>That is a scope Chleo can approve and a risk she can bound. It is the difference between</a:t>
            </a:r>
          </a:p>
          <a:p>
            <a:r>
              <a:t>"AI for complaints" and something I can actually finish.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 if time allows; otherwise narrate the diagram.]</a:t>
            </a:r>
          </a:p>
          <a:p/>
          <a:p>
            <a:r>
              <a:t>A complaint arrives. The model proposes a team. Four guards check that proposal. A handler</a:t>
            </a:r>
          </a:p>
          <a:p>
            <a:r>
              <a:t>sees the reason and decides.</a:t>
            </a:r>
          </a:p>
          <a:p/>
          <a:p>
            <a:r>
              <a:t>Every branch ends at a person. Nothing is routed by the machine.</a:t>
            </a:r>
          </a:p>
          <a:p/>
          <a:p>
            <a:r>
              <a:t>And this is the part that answers her actual question — in n8n she can open any step and</a:t>
            </a:r>
          </a:p>
          <a:p>
            <a:r>
              <a:t>read the exact data going in and out. Not a description of what it did. The thing itself.</a:t>
            </a:r>
          </a:p>
          <a:p/>
          <a:p>
            <a:r>
              <a:t>The four guards: valid JSON, a queue that actually exists for that product, confidence above</a:t>
            </a:r>
          </a:p>
          <a:p>
            <a:r>
              <a:t>0.70, and the quote must appear verbatim in the complaint. Any failure goes to a human with</a:t>
            </a:r>
          </a:p>
          <a:p>
            <a:r>
              <a:t>the reason stated.</a:t>
            </a:r>
          </a:p>
          <a:p/>
          <a:p>
            <a:r>
              <a:t>[Q: Why n8n and not code? — Because she can read it. That is the whole point.]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 decisions traced in LangSmith. Every one accounted for.</a:t>
            </a:r>
          </a:p>
          <a:p/>
          <a:p>
            <a:r>
              <a:t>52 passed all checks. Four were stopped because the model's confidence was too low. And four</a:t>
            </a:r>
          </a:p>
          <a:p>
            <a:r>
              <a:t>were stopped because the justification quote it gave was not actually in the complaint.</a:t>
            </a:r>
          </a:p>
          <a:p/>
          <a:p>
            <a:r>
              <a:t>[Slow down here.] It made up its reason. Four times out of sixty. And the system caught</a:t>
            </a:r>
          </a:p>
          <a:p>
            <a:r>
              <a:t>every one, because the guard checks the quote against the text rather than trusting it.</a:t>
            </a:r>
          </a:p>
          <a:p/>
          <a:p>
            <a:r>
              <a:t>A system that explains itself convincingly but falsely is more dangerous than one that says</a:t>
            </a:r>
          </a:p>
          <a:p>
            <a:r>
              <a:t>nothing at all. That is the failure mode Chleo should be afraid of, and it is the one we</a:t>
            </a:r>
          </a:p>
          <a:p>
            <a:r>
              <a:t>instrument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Here is the number I could have left off this deck.</a:t>
            </a:r>
          </a:p>
          <a:p/>
          <a:p>
            <a:r>
              <a:t>60.5% correct team assignment. That is not deployable. I am telling you because the reason</a:t>
            </a:r>
          </a:p>
          <a:p>
            <a:r>
              <a:t>matters more than the number.</a:t>
            </a:r>
          </a:p>
          <a:p/>
          <a:p>
            <a:r>
              <a:t>I tested whether the model was just weak. It agrees with itself 88 to 89% of the time — it</a:t>
            </a:r>
          </a:p>
          <a:p>
            <a:r>
              <a:t>is stable. It disagrees with the public label systematically, not randomly.</a:t>
            </a:r>
          </a:p>
          <a:p/>
          <a:p>
            <a:r>
              <a:t>Then I looked at who assigns that label. It is chosen by the customer filing the complaint,</a:t>
            </a:r>
          </a:p>
          <a:p>
            <a:r>
              <a:t>from a dropdown, with no training. It records which box a member of the public ticked. It is</a:t>
            </a:r>
          </a:p>
          <a:p>
            <a:r>
              <a:t>not a record of which team should handle the case.</a:t>
            </a:r>
          </a:p>
          <a:p/>
          <a:p>
            <a:r>
              <a:t>So measuring a triage model against it measures agreement with untrained self-selection.</a:t>
            </a:r>
          </a:p>
          <a:p>
            <a:r>
              <a:t>Any vendor quoting an accuracy figure built this way is quoting a number that does not mean</a:t>
            </a:r>
          </a:p>
          <a:p>
            <a:r>
              <a:t>what it appears to mean.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API costs 29 cents a year. That is not a typo, and it is measured, not estimated —</a:t>
            </a:r>
          </a:p>
          <a:p>
            <a:r>
              <a:t>684 input tokens and 49 output tokens per complaint, at list price.</a:t>
            </a:r>
          </a:p>
          <a:p/>
          <a:p>
            <a:r>
              <a:t>The platform is €1,800. The quarterly accuracy review is €5,600 — that is someone</a:t>
            </a:r>
          </a:p>
          <a:p>
            <a:r>
              <a:t>accountable for watching it.</a:t>
            </a:r>
          </a:p>
          <a:p/>
          <a:p>
            <a:r>
              <a:t>97% of the running cost is human oversight. Four thousandths of one percent is the model.</a:t>
            </a:r>
          </a:p>
          <a:p/>
          <a:p>
            <a:r>
              <a:t>Which means model choice is not a financial decision at her volume. It is an accuracy</a:t>
            </a:r>
          </a:p>
          <a:p>
            <a:r>
              <a:t>decision. Even the model six times more expensive would cost about €5 a year.</a:t>
            </a:r>
          </a:p>
          <a:p/>
          <a:p>
            <a:r>
              <a:t>[Q: So why not use the best model always? — At this volume, you should. That is the point.]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phases, fixed fee, because a client whose objection is uncertainty should not be handed</a:t>
            </a:r>
          </a:p>
          <a:p>
            <a:r>
              <a:t>an open-ended commitment.</a:t>
            </a:r>
          </a:p>
          <a:p/>
          <a:p>
            <a:r>
              <a:t>Phase 0 is two weeks and €5,600 — two of her handlers label 300 complaints. That produces</a:t>
            </a:r>
          </a:p>
          <a:p>
            <a:r>
              <a:t>the ground truth she does not currently have. It is worth buying even if she never builds</a:t>
            </a:r>
          </a:p>
          <a:p>
            <a:r>
              <a:t>any AI, because it tells her whether her own categories can be applied consistently by</a:t>
            </a:r>
          </a:p>
          <a:p>
            <a:r>
              <a:t>anyone.</a:t>
            </a:r>
          </a:p>
          <a:p/>
          <a:p>
            <a:r>
              <a:t>Phase 1 is the pilot: it proposes, nobody acts on it, and we measure against her labels.</a:t>
            </a:r>
          </a:p>
          <a:p/>
          <a:p>
            <a:r>
              <a:t>Phase 2 only happens if the pilot passes.</a:t>
            </a:r>
          </a:p>
          <a:p/>
          <a:p>
            <a:r>
              <a:t>She commits €14,000 to reach a decision, not €24,500 to a deployment.</a:t>
            </a:r>
          </a:p>
          <a:p/>
          <a:p>
            <a:r>
              <a:t>And the break-even is concrete: the running cost is covered if this prevents four ombudsman</a:t>
            </a:r>
          </a:p>
          <a:p>
            <a:r>
              <a:t>referrals a year, at €760 each. Whether it does is what the pilot is for. I am not claiming</a:t>
            </a:r>
          </a:p>
          <a:p>
            <a:r>
              <a:t>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[Step out of the pitch here. Change tone — this is to the room as assessors, not as Chleo.]</a:t>
            </a:r>
          </a:p>
          <a:p/>
          <a:p>
            <a:r>
              <a:t>Three things I would genuinely like challenged.</a:t>
            </a:r>
          </a:p>
          <a:p/>
          <a:p>
            <a:r>
              <a:t>First — I lead with "this is not deployable yet, and here is the number." I think that is</a:t>
            </a:r>
          </a:p>
          <a:p>
            <a:r>
              <a:t>stronger than a confident 85%. It might just lose the room.</a:t>
            </a:r>
          </a:p>
          <a:p/>
          <a:p>
            <a:r>
              <a:t>Second — Phase 0 sells a labelling exercise before any AI at all. Does that read as rigour,</a:t>
            </a:r>
          </a:p>
          <a:p>
            <a:r>
              <a:t>or as stalling?</a:t>
            </a:r>
          </a:p>
          <a:p/>
          <a:p>
            <a:r>
              <a:t>Third — I refuse two use cases on stage. Does that build authority, or does it sound</a:t>
            </a:r>
          </a:p>
          <a:p>
            <a:r>
              <a:t>negative?</a:t>
            </a:r>
          </a:p>
          <a:p/>
          <a:p>
            <a:r>
              <a:t>If you only push me on one thing, push me on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[Only if asked about data quality.]</a:t>
            </a:r>
          </a:p>
          <a:p/>
          <a:p>
            <a:r>
              <a:t>Three things the data appeared to say that were false.</a:t>
            </a:r>
          </a:p>
          <a:p/>
          <a:p>
            <a:r>
              <a:t>Complaints looked like they fell 73% in July. They did not — the CFPB only publishes a</a:t>
            </a:r>
          </a:p>
          <a:p>
            <a:r>
              <a:t>complaint once the firm has responded, so recent weeks are structurally incomplete. I cut</a:t>
            </a:r>
          </a:p>
          <a:p>
            <a:r>
              <a:t>the window at 27 June.</a:t>
            </a:r>
          </a:p>
          <a:p/>
          <a:p>
            <a:r>
              <a:t>Handling time looked like a service metric. It is zero for 96% of records because it</a:t>
            </a:r>
          </a:p>
          <a:p>
            <a:r>
              <a:t>measures the regulator's own routing, not any firm's speed. I dropped it.</a:t>
            </a:r>
          </a:p>
          <a:p/>
          <a:p>
            <a:r>
              <a:t>And two different timeliness fields were on screen together — 98.0% answered on time next to</a:t>
            </a:r>
          </a:p>
          <a:p>
            <a:r>
              <a:t>0.6% "untimely" — which reads as a contradiction. They measure different things, so I</a:t>
            </a:r>
          </a:p>
          <a:p>
            <a:r>
              <a:t>relabelled one.</a:t>
            </a:r>
          </a:p>
          <a:p/>
          <a:p>
            <a:r>
              <a:t>Each of those would have produced a confident wrong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[Only if the legal seat asks.]</a:t>
            </a:r>
          </a:p>
          <a:p/>
          <a:p>
            <a:r>
              <a:t>Preliminary view: limited risk. It classifies and routes; a human resolves. It is not Annex</a:t>
            </a:r>
          </a:p>
          <a:p>
            <a:r>
              <a:t>III creditworthiness assessment.</a:t>
            </a:r>
          </a:p>
          <a:p/>
          <a:p>
            <a:r>
              <a:t>What keeps it there is the human decision boundary. If it ever routes autonomously, that is</a:t>
            </a:r>
          </a:p>
          <a:p>
            <a:r>
              <a:t>a new assessment, not an upgrade.</a:t>
            </a:r>
          </a:p>
          <a:p/>
          <a:p>
            <a:r>
              <a:t>GDPR applies regardless of tier — complaint text is personal data, so legal basis, retention</a:t>
            </a:r>
          </a:p>
          <a:p>
            <a:r>
              <a:t>and a DPIA are Round 2 deliverables.</a:t>
            </a:r>
          </a:p>
          <a:p/>
          <a:p>
            <a:r>
              <a:t>The open risk I would flag now is model hosting region. An EU customer's complaint text must</a:t>
            </a:r>
          </a:p>
          <a:p>
            <a:r>
              <a:t>not leave the EEA by accident.</a:t>
            </a:r>
          </a:p>
          <a:p/>
          <a:p>
            <a:r>
              <a:t>I am deliberately not giving you a final classification. Round 2 owes the step-by-step</a:t>
            </a:r>
          </a:p>
          <a:p>
            <a:r>
              <a:t>reasoning. A confident tier label without that work is exactly the unearned certainty Chleo</a:t>
            </a:r>
          </a:p>
          <a:p>
            <a:r>
              <a:t>is right to distrust.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[Only if challenged on sourcing.]</a:t>
            </a:r>
          </a:p>
          <a:p/>
          <a:p>
            <a:r>
              <a:t>The corpus is the CFPB public API. The complaint rate is FCA aggregate data for the second</a:t>
            </a:r>
          </a:p>
          <a:p>
            <a:r>
              <a:t>half of 2025. The ombudsman fee is the published FOS figure. The token counts I measured</a:t>
            </a:r>
          </a:p>
          <a:p>
            <a:r>
              <a:t>myself. The accuracy figure is 240 complaints, stratified, fixed seed.</a:t>
            </a:r>
          </a:p>
          <a:p/>
          <a:p>
            <a:r>
              <a:t>Everything on these slides is either measured or cited. Where a number is a judgement — the</a:t>
            </a:r>
          </a:p>
          <a:p>
            <a:r>
              <a:t>triage minutes, the on-costs — it is labelled as a judgement in the cost model, not dressed</a:t>
            </a:r>
          </a:p>
          <a:p>
            <a:r>
              <a:t>up as a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9902952" y="-1005840"/>
            <a:ext cx="2011680" cy="2011680"/>
          </a:xfrm>
          <a:prstGeom prst="rect">
            <a:avLst/>
          </a:prstGeom>
          <a:ln w="12700">
            <a:solidFill>
              <a:srgbClr val="2440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10451592" y="-457200"/>
            <a:ext cx="914400" cy="914400"/>
          </a:xfrm>
          <a:prstGeom prst="rect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PITCH TO CHLEO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her what the AI does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66928" y="331012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FE2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Complaint triage for a mid-size financial services firm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2743200" cy="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29768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— research, dashboard, POC, monitoring, cost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63550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CFPB data · 16,839 complaints    </a:t>
            </a:r>
            <a:pPr indent="0" marL="0">
              <a:buNone/>
            </a:pPr>
            <a:r>
              <a:rPr lang="en-US" sz="90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reproducible from the repo    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Chleo's objection is trust, not capability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never asked whether AI works. She asked what it is and how she would see it.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CE2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F0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8096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44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68096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Mid-size, EU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68096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 staff, ~250,000 retail customers. Current accounts, cards, personal and vehicle lending.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43400" y="2395728"/>
            <a:ext cx="3502152" cy="2148840"/>
          </a:xfrm>
          <a:prstGeom prst="rect">
            <a:avLst/>
          </a:prstGeom>
          <a:solidFill>
            <a:srgbClr val="0F1B2D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544568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44568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“AI is not transparent”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44568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words at dinner. She could not say what “the AI” would be, or how she would sign up.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9872" y="2395728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F0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44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JOB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321040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one decision visible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321040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platform. One place where she can watch the machine decide, and disagree with it.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use cases — and two I will not build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how visible the reasoning is, not by the size of the prize.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CE2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F0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build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— reads a complaint, proposes a team, quotes its reason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flagging — every flag carries a reason, a human decides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assistance — drafts what a person signs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F0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24405E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refuse to build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Customer-facing chatbot — fails in public, in your customer's voice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scoring — Annex III high-risk under the EU AI Act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which complaints cost money — creates the wrong incentive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 and cost are not the same picture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complaint lands has money attached to it — cards pay out 5.7× more often than vehicle loans.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CE2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188720"/>
                <a:gridCol w="23774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Product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Complaints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Share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Closed with money paid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Checking or savings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5,835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34.7%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14.0%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Credit card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5,382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32.0%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17.2%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Money transfer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2,551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15.1%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10.6%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Vehicle loan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1,523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9.0%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3.0%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489704"/>
            <a:ext cx="11055096" cy="640080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48970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48970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thirds of volume sits in deposits and cards — and so does the money.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categories are half of everything that arrives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 not need to understand 64 things. It needs five, and it needs to say “I don't know” about the rest.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CE2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6411956" cy="329184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2395728"/>
            <a:ext cx="6137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an account  —  19.9%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76656" y="2793492"/>
            <a:ext cx="6302228" cy="329184"/>
          </a:xfrm>
          <a:prstGeom prst="rect">
            <a:avLst/>
          </a:prstGeom>
          <a:solidFill>
            <a:srgbClr val="0F1B2D">
              <a:alpha val="94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2793492"/>
            <a:ext cx="60279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with a purchase on your statement  —  11.2%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86384" y="3191256"/>
            <a:ext cx="6192500" cy="329184"/>
          </a:xfrm>
          <a:prstGeom prst="rect">
            <a:avLst/>
          </a:prstGeom>
          <a:solidFill>
            <a:srgbClr val="0F1B2D">
              <a:alpha val="88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932688" y="3191256"/>
            <a:ext cx="59181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lender or company charging your account  —  5.6%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96112" y="3589020"/>
            <a:ext cx="6082772" cy="329184"/>
          </a:xfrm>
          <a:prstGeom prst="rect">
            <a:avLst/>
          </a:prstGeom>
          <a:solidFill>
            <a:srgbClr val="0F1B2D">
              <a:alpha val="82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1042416" y="3589020"/>
            <a:ext cx="58084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or scam  —  4.8%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05840" y="3986784"/>
            <a:ext cx="5973044" cy="329184"/>
          </a:xfrm>
          <a:prstGeom prst="rect">
            <a:avLst/>
          </a:prstGeom>
          <a:solidFill>
            <a:srgbClr val="0F1B2D">
              <a:alpha val="76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1152144" y="3986784"/>
            <a:ext cx="56987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an account  —  4.6%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253204" y="2395728"/>
            <a:ext cx="4368820" cy="1920240"/>
          </a:xfrm>
          <a:prstGeom prst="rect">
            <a:avLst/>
          </a:prstGeom>
          <a:solidFill>
            <a:srgbClr val="0F1B2D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509236" y="2596896"/>
            <a:ext cx="385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46.1%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of all complaints sit in just 5 of 64 categories.
</a:t>
            </a:r>
            <a:pPr indent="0" marL="0">
              <a:buNone/>
            </a:pPr>
            <a:r>
              <a:rPr lang="en-US" sz="1200" i="1" dirty="0">
                <a:solidFill>
                  <a:srgbClr val="A8CBF2"/>
                </a:solidFill>
              </a:rPr>
              <a:t>That is what makes the scope small enough to be honest about.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can watch it decide — and every branch ends at a person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now on the cohort n8n instance. Open any step and read the exact data going in and out.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CE2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2681478" cy="749808"/>
          </a:xfrm>
          <a:prstGeom prst="rightArrow">
            <a:avLst/>
          </a:prstGeom>
          <a:solidFill>
            <a:srgbClr val="0F1B2D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" y="2395728"/>
            <a:ext cx="25717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arrives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58134" y="2395728"/>
            <a:ext cx="2681478" cy="749808"/>
          </a:xfrm>
          <a:prstGeom prst="rightArrow">
            <a:avLst/>
          </a:prstGeom>
          <a:solidFill>
            <a:srgbClr val="0F1B2D"/>
          </a:solidFill>
          <a:ln/>
        </p:spPr>
      </p:sp>
      <p:sp>
        <p:nvSpPr>
          <p:cNvPr id="15" name="Text 12"/>
          <p:cNvSpPr/>
          <p:nvPr/>
        </p:nvSpPr>
        <p:spPr>
          <a:xfrm>
            <a:off x="3403854" y="2395728"/>
            <a:ext cx="25717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proposes a team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49340" y="2395728"/>
            <a:ext cx="2681478" cy="749808"/>
          </a:xfrm>
          <a:prstGeom prst="rightArrow">
            <a:avLst/>
          </a:prstGeom>
          <a:solidFill>
            <a:srgbClr val="0F1B2D"/>
          </a:solidFill>
          <a:ln/>
        </p:spPr>
      </p:sp>
      <p:sp>
        <p:nvSpPr>
          <p:cNvPr id="17" name="Text 14"/>
          <p:cNvSpPr/>
          <p:nvPr/>
        </p:nvSpPr>
        <p:spPr>
          <a:xfrm>
            <a:off x="6195060" y="2395728"/>
            <a:ext cx="25717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guards check it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940546" y="2395728"/>
            <a:ext cx="2681478" cy="749808"/>
          </a:xfrm>
          <a:prstGeom prst="rightArrow">
            <a:avLst/>
          </a:prstGeom>
          <a:solidFill>
            <a:srgbClr val="2A78D6"/>
          </a:solidFill>
          <a:ln/>
        </p:spPr>
      </p:sp>
      <p:sp>
        <p:nvSpPr>
          <p:cNvPr id="19" name="Text 16"/>
          <p:cNvSpPr/>
          <p:nvPr/>
        </p:nvSpPr>
        <p:spPr>
          <a:xfrm>
            <a:off x="8986266" y="2395728"/>
            <a:ext cx="25717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3419856"/>
            <a:ext cx="11055096" cy="868680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3419856"/>
            <a:ext cx="82296" cy="868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3419856"/>
            <a:ext cx="10597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answer is a claim, not a result.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return valid JSON, name a queue that exists for that product, clear 0.70 confidence, and quote the complaint verbatim. Any failure goes to a human, with the reason stated.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caught itself fabricating a reason — four times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decisions traced in LangSmith. Every one accounted for, including every refusal.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CE2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2317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</a:rPr>
                        <a:t>WHAT HAPPENED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141B33"/>
                          </a:solidFill>
                        </a:rPr>
                        <a:t>HOW OFTEN, IN 60 DECISIONS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Proposed a team, all checks passed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52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Quote was not actually in the complaint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4  —  caught, sent to a human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Confidence below the 0.70 threshold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4  —  caught, sent to a human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Silently wrong, with no record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E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306824"/>
            <a:ext cx="11055096" cy="64008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30682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30682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explains itself convincingly but falsely is more dangerous than one that says nothing.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cannot do yet, and why that is not the model's fault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60.5% team accuracy. Not deployable — and the reason changes what you should buy first.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CE2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F0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measured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60.5% correct team (gpt-4o, 240 complaints)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6× more expensive model buys 4 points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bottleneck is not the model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F0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24405E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number is what it is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agrees with itself 88–89% of the time — it is stable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disagrees with the public label systematically, not randomly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label was picked by the customer filing the complaint, from a menu, untrained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is not the cost. Oversight is.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of the running cost is human review and platform. 0.004% is the model.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CE2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554480"/>
                <a:gridCol w="4114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Running cost, per year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Amount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What it actually buys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LLM API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€0.29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684 input + 49 output tokens per complaint, measured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Platform and monitoring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€1,800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n8n hosting, LangSmith, logging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Quarterly accuracy review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€5,600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Someone accountable for watching it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€7,400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Against a realistic labour saving of €4,578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562856"/>
            <a:ext cx="11055096" cy="640080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562856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562856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choice is not a financial decision at your volume — it is an accuracy decision.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would do next, and what it costs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€14,000 commits you to a decision, not to a deployment.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CE2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348484" y="2779776"/>
            <a:ext cx="7491984" cy="0"/>
          </a:xfrm>
          <a:prstGeom prst="line">
            <a:avLst/>
          </a:prstGeom>
          <a:noFill/>
          <a:ln w="25400">
            <a:solidFill>
              <a:srgbClr val="CFE2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64436" y="2395728"/>
            <a:ext cx="768096" cy="768096"/>
          </a:xfrm>
          <a:prstGeom prst="ellipse">
            <a:avLst/>
          </a:prstGeom>
          <a:solidFill>
            <a:srgbClr val="2A78D6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4436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66928" y="3355848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F0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8368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 + labelling — €5,600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76656" y="3959352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weeks. Two of your handlers label 300 complaints. Produces the ground truth you do not have.</a:t>
            </a:r>
            <a:endParaRPr lang="en-US" sz="980" dirty="0"/>
          </a:p>
        </p:txBody>
      </p:sp>
      <p:sp>
        <p:nvSpPr>
          <p:cNvPr id="18" name="Shape 15"/>
          <p:cNvSpPr/>
          <p:nvPr/>
        </p:nvSpPr>
        <p:spPr>
          <a:xfrm>
            <a:off x="5710428" y="2395728"/>
            <a:ext cx="768096" cy="768096"/>
          </a:xfrm>
          <a:prstGeom prst="ellipse">
            <a:avLst/>
          </a:prstGeom>
          <a:solidFill>
            <a:srgbClr val="0F1B2D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0428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4312920" y="3355848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F0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404360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Pilot, 60-day shadow run — €8,400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422648" y="3959352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weeks. It proposes, nobody acts on it, we measure against your labels.</a:t>
            </a:r>
            <a:endParaRPr lang="en-US" sz="980" dirty="0"/>
          </a:p>
        </p:txBody>
      </p:sp>
      <p:sp>
        <p:nvSpPr>
          <p:cNvPr id="23" name="Shape 20"/>
          <p:cNvSpPr/>
          <p:nvPr/>
        </p:nvSpPr>
        <p:spPr>
          <a:xfrm>
            <a:off x="9456420" y="2395728"/>
            <a:ext cx="768096" cy="768096"/>
          </a:xfrm>
          <a:prstGeom prst="ellipse">
            <a:avLst/>
          </a:prstGeom>
          <a:solidFill>
            <a:srgbClr val="0F1B2D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456420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058912" y="3355848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F0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8150352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Deployment, only if it passes — €10,500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168640" y="3959352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weeks. Assist-only. Autonomous routing is a separate decision.</a:t>
            </a:r>
            <a:endParaRPr lang="en-US" sz="980" dirty="0"/>
          </a:p>
        </p:txBody>
      </p:sp>
      <p:sp>
        <p:nvSpPr>
          <p:cNvPr id="28" name="Shape 25"/>
          <p:cNvSpPr/>
          <p:nvPr/>
        </p:nvSpPr>
        <p:spPr>
          <a:xfrm>
            <a:off x="566928" y="4681728"/>
            <a:ext cx="11055096" cy="777240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29" name="Shape 26"/>
          <p:cNvSpPr/>
          <p:nvPr/>
        </p:nvSpPr>
        <p:spPr>
          <a:xfrm>
            <a:off x="566928" y="4681728"/>
            <a:ext cx="82296" cy="777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4681728"/>
            <a:ext cx="10597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cost is covered if this prevents four ombudsman referrals a year (€760 each). Whether it does is what the pilot is for — I am not claiming it does.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Stepping out of the pitch — what I want your feedback on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828800"/>
            <a:ext cx="1105509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Is “this is not deployable yet, and here is the number” the right thing to lead a client pitch with — or does it lose the room?</a:t>
            </a:r>
            <a:endParaRPr lang="en-US" sz="14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Phase 0 sells a labelling exercise before any AI. Does that read as rigour, or as stalling?</a:t>
            </a:r>
            <a:endParaRPr lang="en-US" sz="14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 refuse two use cases on stage. Does that build authority, or sound negative?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3749040"/>
            <a:ext cx="11055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BF2"/>
                </a:solidFill>
              </a:rPr>
              <a:t>The one thing I most want challenged:  </a:t>
            </a:r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that an honest 60.5% is a stronger pitch than a confident 85%.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Backup — three corrections made before any analysis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would have produced a confident wrong answer.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CE2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488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</a:rPr>
                        <a:t>WHAT THE DATA APPEARED TO SAY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141B33"/>
                          </a:solidFill>
                        </a:rPr>
                        <a:t>WHAT WAS ACTUALLY HAPPENING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Complaints fell 73% in July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Publication lag — the CFPB only publishes once a firm responds. Window cut at 2026-06-27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Handling time is 0 days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It measures the regulator's routing, not any firm's speed. Metric dropped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Timeliness 98.0% vs 0.6% untimely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Two different fields. Relabelled so a CEO is not shown a contradiction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Backup — the compliance position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preliminary view with reasoning beats a confident label with none.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CE2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394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Position for Round 1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EU AI Act tier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Limited risk — it classifies and routes, a human resolves. Not Annex III creditworthiness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What keeps it there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The human decision boundary. Autonomous routing is a new assessment, not an upgrade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GDPR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Complaint text is personal data. Legal basis, retention and a DPIA are Round 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Open risk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Model hosting region — an EU customer's text must not leave the EEA by accident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Backup — every number, and where it came from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DF4FE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C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these slides is an estimate dressed as a measurement.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CE2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Figure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Complaint corpus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16,839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CFPB public API, 2026-05-01 to 06-27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Complaint rate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3.7 per 1,000 accounts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FCA aggregate complaints 2025 H2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Ombudsman case fee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£650, 3 free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Financial Ombudsman Service 2025/26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Tokens per complaint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684 in / 49 out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Measured, n=12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</a:rPr>
                        <a:t>Team accuracy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60.5%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40"/>
                          </a:solidFill>
                        </a:rPr>
                        <a:t>gpt-4o, 240 complaints, seed 42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Round 1 — Complaint Triage</dc:title>
  <dc:subject>PptxGenJS Presentation</dc:subject>
  <dc:creator/>
  <cp:lastModifiedBy/>
  <cp:revision>1</cp:revision>
  <dcterms:created xsi:type="dcterms:W3CDTF">2026-08-28T10:44:29Z</dcterms:created>
  <dcterms:modified xsi:type="dcterms:W3CDTF">2026-08-28T10:44:29Z</dcterms:modified>
</cp:coreProperties>
</file>