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 not read the slide.]</a:t>
            </a:r>
          </a:p>
          <a:p>
            <a:r>
              <a:t>[Whole deck: you are in Chleo's meeting. Speak to the room as "you". The exception is the</a:t>
            </a:r>
          </a:p>
          <a:p>
            <a:r>
              <a:t>close, where you step out and address the staff.]</a:t>
            </a:r>
          </a:p>
          <a:p/>
          <a:p>
            <a:r>
              <a:t>We met at a dinner, and you told me you don't trust AI because you can't see what it does.</a:t>
            </a:r>
          </a:p>
          <a:p/>
          <a:p>
            <a:r>
              <a:t>So this isn't a pitch about what AI could do for you. It's about one decision you can watch</a:t>
            </a:r>
          </a:p>
          <a:p>
            <a:r>
              <a:t>happen. Everything here runs, and every number traces back to a repository you can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never asked me whether AI works. You asked what it is, and how you'd see it. Those</a:t>
            </a:r>
          </a:p>
          <a:p>
            <a:r>
              <a:t>are the two questions your regulator will ask you as well.</a:t>
            </a:r>
          </a:p>
          <a:p/>
          <a:p>
            <a:r>
              <a:t>So: a firm your size, and three candidates — triage, anomaly flagging, reporting help. They</a:t>
            </a:r>
          </a:p>
          <a:p>
            <a:r>
              <a:t>are ranked by one thing only, which is how visible the reasoning is. Not by which saves</a:t>
            </a:r>
          </a:p>
          <a:p>
            <a:r>
              <a:t>most. Triage is first because you can watch it work.</a:t>
            </a:r>
          </a:p>
          <a:p/>
          <a:p>
            <a:r>
              <a:t>And two I'm refusing. A chatbot fails in public, in your customer's voice. Credit scoring</a:t>
            </a:r>
          </a:p>
          <a:p>
            <a:r>
              <a:t>is high-risk under the AI Act — months of conformity work before a single decision goes</a:t>
            </a:r>
          </a:p>
          <a:p>
            <a:r>
              <a:t>live.</a:t>
            </a:r>
          </a:p>
          <a:p/>
          <a:p>
            <a:r>
              <a:t>[Land this:] The fastest way to earn your trust is to tell you what not to buy.</a:t>
            </a:r>
          </a:p>
          <a:p/>
          <a:p>
            <a:r>
              <a:t>Let me show you what triage looks like on real complaints.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dashboard if you can. This screenshot is the fallback.]</a:t>
            </a:r>
          </a:p>
          <a:p/>
          <a:p>
            <a:r>
              <a:t>First, whose numbers these are, because it matters — they're not yours. This is the public</a:t>
            </a:r>
          </a:p>
          <a:p>
            <a:r>
              <a:t>regulator's database standing in for your book until Phase 0 measures the real thing. The</a:t>
            </a:r>
          </a:p>
          <a:p>
            <a:r>
              <a:t>shape transfers: the mix of issues, the language, how cases end. The volume doesn't, and I</a:t>
            </a:r>
          </a:p>
          <a:p>
            <a:r>
              <a:t>won't pretend otherwise.</a:t>
            </a:r>
          </a:p>
          <a:p/>
          <a:p>
            <a:r>
              <a:t>Four numbers across the top. Two of them you already report to your regulator, so they need</a:t>
            </a:r>
          </a:p>
          <a:p>
            <a:r>
              <a:t>no explaining. The third is the only one in money — one complaint in eight ends with you</a:t>
            </a:r>
          </a:p>
          <a:p>
            <a:r>
              <a:t>paying something out.</a:t>
            </a:r>
          </a:p>
          <a:p/>
          <a:p>
            <a:r>
              <a:t>The fourth is the one to hold on to. Forty-six per cent of everything that arrives sits in</a:t>
            </a:r>
          </a:p>
          <a:p>
            <a:r>
              <a:t>five of sixty-four categories. That's what makes this small enough to build honestly: I'm</a:t>
            </a:r>
          </a:p>
          <a:p>
            <a:r>
              <a:t>not asking a machine to be good at sixty-four things.</a:t>
            </a:r>
          </a:p>
          <a:p/>
          <a:p>
            <a:r>
              <a:t>Here it is doing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window, then the monitoring view. The screenshots are the fallback</a:t>
            </a:r>
          </a:p>
          <a:p>
            <a:r>
              <a:t>if either demo is cold.]</a:t>
            </a:r>
          </a:p>
          <a:p/>
          <a:p>
            <a:r>
              <a:t>On the left, the workflow running on a real complaint. Green ticks mean every step</a:t>
            </a:r>
          </a:p>
          <a:p>
            <a:r>
              <a:t>executed. It proposed Disputes and fraud — quoting your customer's own words as its reason</a:t>
            </a:r>
          </a:p>
          <a:p>
            <a:r>
              <a:t>— and then it stopped and waited for a person.</a:t>
            </a:r>
          </a:p>
          <a:p/>
          <a:p>
            <a:r>
              <a:t>On the right, that same decision opened up in monitoring.</a:t>
            </a:r>
          </a:p>
          <a:p/>
          <a:p>
            <a:r>
              <a:t>[Point at the row of squares.] That is every decision it has made — one square each, none</a:t>
            </a:r>
          </a:p>
          <a:p>
            <a:r>
              <a:t>of them hidden. Blue, it proposed a team. Amber, it wasn't confident enough and said so.</a:t>
            </a:r>
          </a:p>
          <a:p/>
          <a:p>
            <a:r>
              <a:t>The red ones are the ones I'd want you to hear about. Four times it quoted a sentence that</a:t>
            </a:r>
          </a:p>
          <a:p>
            <a:r>
              <a:t>simply wasn't in the complaint. Confidently. The check caught every one and sent it to a</a:t>
            </a:r>
          </a:p>
          <a:p>
            <a:r>
              <a:t>person with the reason written down.</a:t>
            </a:r>
          </a:p>
          <a:p/>
          <a:p>
            <a:r>
              <a:t>[Point at the dark strip, let them read it.] Which is why I am not asking you to switch</a:t>
            </a:r>
          </a:p>
          <a:p>
            <a:r>
              <a:t>anything on today. Sixty per cent is on that strip, and I would rather you heard it from me</a:t>
            </a:r>
          </a:p>
          <a:p>
            <a:r>
              <a:t>now than found it in month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fee per phase, because your problem is uncertainty and I won't hand you an open-ended</a:t>
            </a:r>
          </a:p>
          <a:p>
            <a:r>
              <a:t>commitment.</a:t>
            </a:r>
          </a:p>
          <a:p/>
          <a:p>
            <a:r>
              <a:t>Phase 0 buys something odd: two of your handlers labelling three hundred complaints before</a:t>
            </a:r>
          </a:p>
          <a:p>
            <a:r>
              <a:t>any AI at all. That's the ground truth that doesn't exist today, and it's worth buying even</a:t>
            </a:r>
          </a:p>
          <a:p>
            <a:r>
              <a:t>if you never build this — it tells you whether your own categories can be applied</a:t>
            </a:r>
          </a:p>
          <a:p>
            <a:r>
              <a:t>consistently by anybody.</a:t>
            </a:r>
          </a:p>
          <a:p/>
          <a:p>
            <a:r>
              <a:t>[Point at the bar along the top.] That is where the running cost goes. The dark block is</a:t>
            </a:r>
          </a:p>
          <a:p>
            <a:r>
              <a:t>someone accountable for watching it, and I wouldn't remove it. The sliver on the right is</a:t>
            </a:r>
          </a:p>
          <a:p>
            <a:r>
              <a:t>the AI itself — twenty-nine cents a year.</a:t>
            </a:r>
          </a:p>
          <a:p/>
          <a:p>
            <a:r>
              <a:t>Two assumptions, written on the slide rather than buried in an appendix. The second is the</a:t>
            </a:r>
          </a:p>
          <a:p>
            <a:r>
              <a:t>one that matters: I am not claiming we avoid four ombudsman referrals a year. That is</a:t>
            </a:r>
          </a:p>
          <a:p>
            <a:r>
              <a:t>precisely what the pilot is for.</a:t>
            </a:r>
          </a:p>
          <a:p/>
          <a:p>
            <a:r>
              <a:t>Fourteen thousand to reach a decision. Not twenty-four and a half to a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 Drop the client voice — this is to you as assessors, not as Chleo.]</a:t>
            </a:r>
          </a:p>
          <a:p/>
          <a:p>
            <a:r>
              <a:t>One thing I'd genuinely like taken apart.</a:t>
            </a:r>
          </a:p>
          <a:p/>
          <a:p>
            <a:r>
              <a:t>I've built this pitch around admitting a weak number early rather than a confident one. I</a:t>
            </a:r>
          </a:p>
          <a:p>
            <a:r>
              <a:t>think an honest sixty per cent buys more trust from a sceptical client than a polished</a:t>
            </a:r>
          </a:p>
          <a:p>
            <a:r>
              <a:t>eighty-five would.</a:t>
            </a:r>
          </a:p>
          <a:p/>
          <a:p>
            <a:r>
              <a:t>I think that's right. I'm not certain it survives contact with a real client, and that's</a:t>
            </a:r>
          </a:p>
          <a:p>
            <a:r>
              <a:t>what I'd most like you to push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why these three, or why not a chatbot.]</a:t>
            </a:r>
          </a:p>
          <a:p/>
          <a:p>
            <a:r>
              <a:t>Ranked by visible reasoning. The refusals matter as much: a chatbot's errors are unbounded</a:t>
            </a:r>
          </a:p>
          <a:p>
            <a:r>
              <a:t>and public, and credit scoring is Annex III high-risk — conformity assessment and a</a:t>
            </a:r>
          </a:p>
          <a:p>
            <a:r>
              <a:t>fundamental-rights impact assessment before go-live.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scope was bounded.]</a:t>
            </a:r>
          </a:p>
          <a:p/>
          <a:p>
            <a:r>
              <a:t>Five of sixty-four categories carry 46.1% of the volume. Concentration like that is a</a:t>
            </a:r>
          </a:p>
          <a:p>
            <a:r>
              <a:t>property of complaint books generally, not of one firm — which is why I'd expect it to</a:t>
            </a:r>
          </a:p>
          <a:p>
            <a:r>
              <a:t>hold for you even though the volume won't.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where the money actually goes.]</a:t>
            </a:r>
          </a:p>
          <a:p/>
          <a:p>
            <a:r>
              <a:t>Deposits and cards are two thirds of the volume here, but money leaves the building 5.7</a:t>
            </a:r>
          </a:p>
          <a:p>
            <a:r>
              <a:t>times more often on a card complaint than a vehicle loan. That ratio follows from how the</a:t>
            </a:r>
          </a:p>
          <a:p>
            <a:r>
              <a:t>products work, not from who the firm is — so it should hold for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often it fails, or what happens then.]</a:t>
            </a:r>
          </a:p>
          <a:p/>
          <a:p>
            <a:r>
              <a:t>Fifty-two proposed cleanly. Four stopped because the quote wasn't real, four because</a:t>
            </a:r>
          </a:p>
          <a:p>
            <a:r>
              <a:t>confidence was too low. Bottom row is the one that matters: nothing was silently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 — so it's</a:t>
            </a:r>
          </a:p>
          <a:p>
            <a:r>
              <a:t>consistent, it just disagrees with the official label. And that label was picked by the</a:t>
            </a:r>
          </a:p>
          <a:p>
            <a:r>
              <a:t>customer filing the complaint, from a dropdown, untrained.</a:t>
            </a:r>
          </a:p>
          <a:p/>
          <a:p>
            <a:r>
              <a:t>So the fix isn't a cleverer model, it's better labels. That is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quality is questioned.]</a:t>
            </a:r>
          </a:p>
          <a:p/>
          <a:p>
            <a:r>
              <a:t>The July cliff would have caught me. The regulator only publishes a complaint once the firm</a:t>
            </a:r>
          </a:p>
          <a:p>
            <a:r>
              <a:t>has responded, so recent weeks are always thin — read naively that's a 73% collapse and a</a:t>
            </a:r>
          </a:p>
          <a:p>
            <a:r>
              <a:t>wonderful slide. It's an artefact. I cut the window at 27 June. The other two are the same</a:t>
            </a:r>
          </a:p>
          <a:p>
            <a:r>
              <a:t>pattern: confident, wrong, and invisible to any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the legal seat asks.]</a:t>
            </a:r>
          </a:p>
          <a:p/>
          <a:p>
            <a:r>
              <a:t>Limited risk, and the reasoning matters more than the label: it classifies and routes, a</a:t>
            </a:r>
          </a:p>
          <a:p>
            <a:r>
              <a:t>human resolves, it never touches creditworthiness. What holds it there is the human</a:t>
            </a:r>
          </a:p>
          <a:p>
            <a:r>
              <a:t>decision boundary — if it ever routes on its own that's a new assessment, not an upgrade.</a:t>
            </a:r>
          </a:p>
          <a:p/>
          <a:p>
            <a:r>
              <a:t>I'm deliberately not giving a final classification today. Round 2 owes the step-by-step</a:t>
            </a:r>
          </a:p>
          <a:p>
            <a:r>
              <a:t>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sourcing is challenged.]</a:t>
            </a:r>
          </a:p>
          <a:p/>
          <a:p>
            <a:r>
              <a:t>Everything is either measured by me or cited to a regulator. Where a figure is a judgement</a:t>
            </a:r>
          </a:p>
          <a:p>
            <a:r>
              <a:t>rather than a measurement — minutes per complaint, employer on-costs — it's labelled as a</a:t>
            </a:r>
          </a:p>
          <a:p>
            <a:r>
              <a:t>judgement in the cost model, not dressed up as a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PITCH TO CHLEO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 her what the AI does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triage for a mid-size financial services firm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— research, dashboard, POC, monitoring, cost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CFPB data · 16,839 complaints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reproducible from the repo    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217152" y="-1645920"/>
            <a:ext cx="3200400" cy="3246120"/>
          </a:xfrm>
          <a:prstGeom prst="rect">
            <a:avLst/>
          </a:prstGeom>
          <a:solidFill>
            <a:srgbClr val="1D2A32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0"/>
            <a:ext cx="146304" cy="2880360"/>
          </a:xfrm>
          <a:prstGeom prst="rect">
            <a:avLst/>
          </a:prstGeom>
          <a:solidFill>
            <a:srgbClr val="8FBFF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mid-size bank that does not trust AI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never asked whether AI works. You asked what it is, and how you would see it.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services, mid-size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staff, ~250,000 retail customers, EU. Current accounts, cards, personal and vehicle lending.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14884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“AI is not transparent”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words. You could not say what “the AI” would be, or how you would sign up.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use cases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Complaint triage  ·  2. Anomaly flagging  ·  3. Reporting assistance. Ranked by how visible the reasoning is.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77316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477316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477316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two I refuse to build: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customer-facing chatbot, which fails in public in your customer's voice; and credit scoring, which is Annex III high-risk under the EU AI Act.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dashboard: four numbers a CEO reads first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dashboard/screenshots/dash-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964710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824246" y="1481328"/>
            <a:ext cx="379777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061990" y="1700784"/>
            <a:ext cx="33405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one matters to you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061990" y="2139696"/>
            <a:ext cx="332229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16,839 complaints — the size of the job, not a sample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98.0% answered on time — the measure you already report to your regulator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12.7% cost money to resolve — the only figure here in your currency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46% sit in five of 64 categories — the opportunity, as a share not a promise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6D8E4"/>
                </a:solidFill>
              </a:rPr>
              <a:t>Whose numbers? Not yours. Public regulator data standing in for your book until Phase 0. The shape transfers; the volume does not.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runs, it is watched, and it stops itself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n8n/screenshots/n8n-exec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4016045" cy="2788920"/>
          </a:xfrm>
          <a:prstGeom prst="rect">
            <a:avLst/>
          </a:prstGeom>
        </p:spPr>
      </p:pic>
      <p:pic>
        <p:nvPicPr>
          <p:cNvPr id="10" name="Image 2" descr="/Users/nnanyelugoahukannah/Learning/Ironhack/PROJECT-Capstone-AI-Consulting/langsmith/screenshots/trace-detail-guard-fi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293" y="1481328"/>
            <a:ext cx="4016045" cy="2788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66928" y="4315968"/>
            <a:ext cx="40160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running on one real complaint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4857293" y="4315968"/>
            <a:ext cx="40160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decision, opened up in monitoring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15188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9"/>
          <p:cNvSpPr/>
          <p:nvPr/>
        </p:nvSpPr>
        <p:spPr>
          <a:xfrm>
            <a:off x="991667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0"/>
          <p:cNvSpPr/>
          <p:nvPr/>
        </p:nvSpPr>
        <p:spPr>
          <a:xfrm>
            <a:off x="1168146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1"/>
          <p:cNvSpPr/>
          <p:nvPr/>
        </p:nvSpPr>
        <p:spPr>
          <a:xfrm>
            <a:off x="1344625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2"/>
          <p:cNvSpPr/>
          <p:nvPr/>
        </p:nvSpPr>
        <p:spPr>
          <a:xfrm>
            <a:off x="1521104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3"/>
          <p:cNvSpPr/>
          <p:nvPr/>
        </p:nvSpPr>
        <p:spPr>
          <a:xfrm>
            <a:off x="1697584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4"/>
          <p:cNvSpPr/>
          <p:nvPr/>
        </p:nvSpPr>
        <p:spPr>
          <a:xfrm>
            <a:off x="1874063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5"/>
          <p:cNvSpPr/>
          <p:nvPr/>
        </p:nvSpPr>
        <p:spPr>
          <a:xfrm>
            <a:off x="2050542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6"/>
          <p:cNvSpPr/>
          <p:nvPr/>
        </p:nvSpPr>
        <p:spPr>
          <a:xfrm>
            <a:off x="2227021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17"/>
          <p:cNvSpPr/>
          <p:nvPr/>
        </p:nvSpPr>
        <p:spPr>
          <a:xfrm>
            <a:off x="2403500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18"/>
          <p:cNvSpPr/>
          <p:nvPr/>
        </p:nvSpPr>
        <p:spPr>
          <a:xfrm>
            <a:off x="2579980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19"/>
          <p:cNvSpPr/>
          <p:nvPr/>
        </p:nvSpPr>
        <p:spPr>
          <a:xfrm>
            <a:off x="2756459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0"/>
          <p:cNvSpPr/>
          <p:nvPr/>
        </p:nvSpPr>
        <p:spPr>
          <a:xfrm>
            <a:off x="2932938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1"/>
          <p:cNvSpPr/>
          <p:nvPr/>
        </p:nvSpPr>
        <p:spPr>
          <a:xfrm>
            <a:off x="3109417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2"/>
          <p:cNvSpPr/>
          <p:nvPr/>
        </p:nvSpPr>
        <p:spPr>
          <a:xfrm>
            <a:off x="3285896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3"/>
          <p:cNvSpPr/>
          <p:nvPr/>
        </p:nvSpPr>
        <p:spPr>
          <a:xfrm>
            <a:off x="3462376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4"/>
          <p:cNvSpPr/>
          <p:nvPr/>
        </p:nvSpPr>
        <p:spPr>
          <a:xfrm>
            <a:off x="3638855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5"/>
          <p:cNvSpPr/>
          <p:nvPr/>
        </p:nvSpPr>
        <p:spPr>
          <a:xfrm>
            <a:off x="3815334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6"/>
          <p:cNvSpPr/>
          <p:nvPr/>
        </p:nvSpPr>
        <p:spPr>
          <a:xfrm>
            <a:off x="3991813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27"/>
          <p:cNvSpPr/>
          <p:nvPr/>
        </p:nvSpPr>
        <p:spPr>
          <a:xfrm>
            <a:off x="4168292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28"/>
          <p:cNvSpPr/>
          <p:nvPr/>
        </p:nvSpPr>
        <p:spPr>
          <a:xfrm>
            <a:off x="4344772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29"/>
          <p:cNvSpPr/>
          <p:nvPr/>
        </p:nvSpPr>
        <p:spPr>
          <a:xfrm>
            <a:off x="4521251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0"/>
          <p:cNvSpPr/>
          <p:nvPr/>
        </p:nvSpPr>
        <p:spPr>
          <a:xfrm>
            <a:off x="4697730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1"/>
          <p:cNvSpPr/>
          <p:nvPr/>
        </p:nvSpPr>
        <p:spPr>
          <a:xfrm>
            <a:off x="4874209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2"/>
          <p:cNvSpPr/>
          <p:nvPr/>
        </p:nvSpPr>
        <p:spPr>
          <a:xfrm>
            <a:off x="5050688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3"/>
          <p:cNvSpPr/>
          <p:nvPr/>
        </p:nvSpPr>
        <p:spPr>
          <a:xfrm>
            <a:off x="5227168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4"/>
          <p:cNvSpPr/>
          <p:nvPr/>
        </p:nvSpPr>
        <p:spPr>
          <a:xfrm>
            <a:off x="5403647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5"/>
          <p:cNvSpPr/>
          <p:nvPr/>
        </p:nvSpPr>
        <p:spPr>
          <a:xfrm>
            <a:off x="5580126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6"/>
          <p:cNvSpPr/>
          <p:nvPr/>
        </p:nvSpPr>
        <p:spPr>
          <a:xfrm>
            <a:off x="5756605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37"/>
          <p:cNvSpPr/>
          <p:nvPr/>
        </p:nvSpPr>
        <p:spPr>
          <a:xfrm>
            <a:off x="5933084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38"/>
          <p:cNvSpPr/>
          <p:nvPr/>
        </p:nvSpPr>
        <p:spPr>
          <a:xfrm>
            <a:off x="6109564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39"/>
          <p:cNvSpPr/>
          <p:nvPr/>
        </p:nvSpPr>
        <p:spPr>
          <a:xfrm>
            <a:off x="6286043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0"/>
          <p:cNvSpPr/>
          <p:nvPr/>
        </p:nvSpPr>
        <p:spPr>
          <a:xfrm>
            <a:off x="6462522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1"/>
          <p:cNvSpPr/>
          <p:nvPr/>
        </p:nvSpPr>
        <p:spPr>
          <a:xfrm>
            <a:off x="6639001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2"/>
          <p:cNvSpPr/>
          <p:nvPr/>
        </p:nvSpPr>
        <p:spPr>
          <a:xfrm>
            <a:off x="6815480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3"/>
          <p:cNvSpPr/>
          <p:nvPr/>
        </p:nvSpPr>
        <p:spPr>
          <a:xfrm>
            <a:off x="6991960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4"/>
          <p:cNvSpPr/>
          <p:nvPr/>
        </p:nvSpPr>
        <p:spPr>
          <a:xfrm>
            <a:off x="7168439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5"/>
          <p:cNvSpPr/>
          <p:nvPr/>
        </p:nvSpPr>
        <p:spPr>
          <a:xfrm>
            <a:off x="7344918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6"/>
          <p:cNvSpPr/>
          <p:nvPr/>
        </p:nvSpPr>
        <p:spPr>
          <a:xfrm>
            <a:off x="7521397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47"/>
          <p:cNvSpPr/>
          <p:nvPr/>
        </p:nvSpPr>
        <p:spPr>
          <a:xfrm>
            <a:off x="7697876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48"/>
          <p:cNvSpPr/>
          <p:nvPr/>
        </p:nvSpPr>
        <p:spPr>
          <a:xfrm>
            <a:off x="7874356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49"/>
          <p:cNvSpPr/>
          <p:nvPr/>
        </p:nvSpPr>
        <p:spPr>
          <a:xfrm>
            <a:off x="8050835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0"/>
          <p:cNvSpPr/>
          <p:nvPr/>
        </p:nvSpPr>
        <p:spPr>
          <a:xfrm>
            <a:off x="8227314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1"/>
          <p:cNvSpPr/>
          <p:nvPr/>
        </p:nvSpPr>
        <p:spPr>
          <a:xfrm>
            <a:off x="8403793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2"/>
          <p:cNvSpPr/>
          <p:nvPr/>
        </p:nvSpPr>
        <p:spPr>
          <a:xfrm>
            <a:off x="8580272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3"/>
          <p:cNvSpPr/>
          <p:nvPr/>
        </p:nvSpPr>
        <p:spPr>
          <a:xfrm>
            <a:off x="8756752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4"/>
          <p:cNvSpPr/>
          <p:nvPr/>
        </p:nvSpPr>
        <p:spPr>
          <a:xfrm>
            <a:off x="8933231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5"/>
          <p:cNvSpPr/>
          <p:nvPr/>
        </p:nvSpPr>
        <p:spPr>
          <a:xfrm>
            <a:off x="9109710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6"/>
          <p:cNvSpPr/>
          <p:nvPr/>
        </p:nvSpPr>
        <p:spPr>
          <a:xfrm>
            <a:off x="9286189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57"/>
          <p:cNvSpPr/>
          <p:nvPr/>
        </p:nvSpPr>
        <p:spPr>
          <a:xfrm>
            <a:off x="9462668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58"/>
          <p:cNvSpPr/>
          <p:nvPr/>
        </p:nvSpPr>
        <p:spPr>
          <a:xfrm>
            <a:off x="9639148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59"/>
          <p:cNvSpPr/>
          <p:nvPr/>
        </p:nvSpPr>
        <p:spPr>
          <a:xfrm>
            <a:off x="9815627" y="4654296"/>
            <a:ext cx="146304" cy="146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0"/>
          <p:cNvSpPr/>
          <p:nvPr/>
        </p:nvSpPr>
        <p:spPr>
          <a:xfrm>
            <a:off x="9992106" y="4654296"/>
            <a:ext cx="146304" cy="146304"/>
          </a:xfrm>
          <a:prstGeom prst="rect">
            <a:avLst/>
          </a:prstGeom>
          <a:solidFill>
            <a:srgbClr val="FAB219"/>
          </a:solidFill>
          <a:ln/>
        </p:spPr>
      </p:sp>
      <p:sp>
        <p:nvSpPr>
          <p:cNvPr id="66" name="Shape 61"/>
          <p:cNvSpPr/>
          <p:nvPr/>
        </p:nvSpPr>
        <p:spPr>
          <a:xfrm>
            <a:off x="10168585" y="4654296"/>
            <a:ext cx="146304" cy="146304"/>
          </a:xfrm>
          <a:prstGeom prst="rect">
            <a:avLst/>
          </a:prstGeom>
          <a:solidFill>
            <a:srgbClr val="FAB219"/>
          </a:solidFill>
          <a:ln/>
        </p:spPr>
      </p:sp>
      <p:sp>
        <p:nvSpPr>
          <p:cNvPr id="67" name="Shape 62"/>
          <p:cNvSpPr/>
          <p:nvPr/>
        </p:nvSpPr>
        <p:spPr>
          <a:xfrm>
            <a:off x="10345064" y="4654296"/>
            <a:ext cx="146304" cy="146304"/>
          </a:xfrm>
          <a:prstGeom prst="rect">
            <a:avLst/>
          </a:prstGeom>
          <a:solidFill>
            <a:srgbClr val="FAB219"/>
          </a:solidFill>
          <a:ln/>
        </p:spPr>
      </p:sp>
      <p:sp>
        <p:nvSpPr>
          <p:cNvPr id="68" name="Shape 63"/>
          <p:cNvSpPr/>
          <p:nvPr/>
        </p:nvSpPr>
        <p:spPr>
          <a:xfrm>
            <a:off x="10521544" y="4654296"/>
            <a:ext cx="146304" cy="146304"/>
          </a:xfrm>
          <a:prstGeom prst="rect">
            <a:avLst/>
          </a:prstGeom>
          <a:solidFill>
            <a:srgbClr val="FAB219"/>
          </a:solidFill>
          <a:ln/>
        </p:spPr>
      </p:sp>
      <p:sp>
        <p:nvSpPr>
          <p:cNvPr id="69" name="Shape 64"/>
          <p:cNvSpPr/>
          <p:nvPr/>
        </p:nvSpPr>
        <p:spPr>
          <a:xfrm>
            <a:off x="10698023" y="4654296"/>
            <a:ext cx="146304" cy="146304"/>
          </a:xfrm>
          <a:prstGeom prst="rect">
            <a:avLst/>
          </a:prstGeom>
          <a:solidFill>
            <a:srgbClr val="D03B3B"/>
          </a:solidFill>
          <a:ln/>
        </p:spPr>
      </p:sp>
      <p:sp>
        <p:nvSpPr>
          <p:cNvPr id="70" name="Shape 65"/>
          <p:cNvSpPr/>
          <p:nvPr/>
        </p:nvSpPr>
        <p:spPr>
          <a:xfrm>
            <a:off x="10874502" y="4654296"/>
            <a:ext cx="146304" cy="146304"/>
          </a:xfrm>
          <a:prstGeom prst="rect">
            <a:avLst/>
          </a:prstGeom>
          <a:solidFill>
            <a:srgbClr val="D03B3B"/>
          </a:solidFill>
          <a:ln/>
        </p:spPr>
      </p:sp>
      <p:sp>
        <p:nvSpPr>
          <p:cNvPr id="71" name="Shape 66"/>
          <p:cNvSpPr/>
          <p:nvPr/>
        </p:nvSpPr>
        <p:spPr>
          <a:xfrm>
            <a:off x="11050981" y="4654296"/>
            <a:ext cx="146304" cy="146304"/>
          </a:xfrm>
          <a:prstGeom prst="rect">
            <a:avLst/>
          </a:prstGeom>
          <a:solidFill>
            <a:srgbClr val="D03B3B"/>
          </a:solidFill>
          <a:ln/>
        </p:spPr>
      </p:sp>
      <p:sp>
        <p:nvSpPr>
          <p:cNvPr id="72" name="Shape 67"/>
          <p:cNvSpPr/>
          <p:nvPr/>
        </p:nvSpPr>
        <p:spPr>
          <a:xfrm>
            <a:off x="11227460" y="4654296"/>
            <a:ext cx="146304" cy="146304"/>
          </a:xfrm>
          <a:prstGeom prst="rect">
            <a:avLst/>
          </a:prstGeom>
          <a:solidFill>
            <a:srgbClr val="D03B3B"/>
          </a:solidFill>
          <a:ln/>
        </p:spPr>
      </p:sp>
      <p:sp>
        <p:nvSpPr>
          <p:cNvPr id="73" name="Text 68"/>
          <p:cNvSpPr/>
          <p:nvPr/>
        </p:nvSpPr>
        <p:spPr>
          <a:xfrm>
            <a:off x="566928" y="48920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730"/>
                </a:solidFill>
              </a:rPr>
              <a:t>60 decisions traced.   </a:t>
            </a:r>
            <a:pPr algn="ctr" indent="0" marL="0">
              <a:buNone/>
            </a:pPr>
            <a:r>
              <a:rPr lang="en-US" sz="1200" dirty="0">
                <a:solidFill>
                  <a:srgbClr val="2A78D6"/>
                </a:solidFill>
              </a:rPr>
              <a:t>■ </a:t>
            </a:r>
            <a:pPr algn="ctr" indent="0" marL="0">
              <a:buNone/>
            </a:pPr>
            <a:r>
              <a:rPr lang="en-US" sz="1150" dirty="0">
                <a:solidFill>
                  <a:srgbClr val="1B2730"/>
                </a:solidFill>
              </a:rPr>
              <a:t>52 proposed a team    </a:t>
            </a:r>
            <a:pPr algn="ctr" indent="0" marL="0">
              <a:buNone/>
            </a:pPr>
            <a:r>
              <a:rPr lang="en-US" sz="1200" dirty="0">
                <a:solidFill>
                  <a:srgbClr val="FAB219"/>
                </a:solidFill>
              </a:rPr>
              <a:t>■ </a:t>
            </a:r>
            <a:pPr algn="ctr" indent="0" marL="0">
              <a:buNone/>
            </a:pPr>
            <a:r>
              <a:rPr lang="en-US" sz="1150" dirty="0">
                <a:solidFill>
                  <a:srgbClr val="1B2730"/>
                </a:solidFill>
              </a:rPr>
              <a:t>4 stopped, not confident enough    </a:t>
            </a:r>
            <a:pPr algn="ctr" indent="0" marL="0">
              <a:buNone/>
            </a:pPr>
            <a:r>
              <a:rPr lang="en-US" sz="1200" dirty="0">
                <a:solidFill>
                  <a:srgbClr val="D03B3B"/>
                </a:solidFill>
              </a:rPr>
              <a:t>■ </a:t>
            </a:r>
            <a:pPr algn="ctr" indent="0" marL="0">
              <a:buNone/>
            </a:pPr>
            <a:r>
              <a:rPr lang="en-US" sz="1150" dirty="0">
                <a:solidFill>
                  <a:srgbClr val="1B2730"/>
                </a:solidFill>
              </a:rPr>
              <a:t>4 stopped, quoted a sentence that was not there</a:t>
            </a:r>
            <a:endParaRPr lang="en-US" sz="1150" dirty="0"/>
          </a:p>
        </p:txBody>
      </p:sp>
      <p:sp>
        <p:nvSpPr>
          <p:cNvPr id="74" name="Shape 69"/>
          <p:cNvSpPr/>
          <p:nvPr/>
        </p:nvSpPr>
        <p:spPr>
          <a:xfrm>
            <a:off x="566928" y="5257800"/>
            <a:ext cx="11055096" cy="786384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75" name="Shape 70"/>
          <p:cNvSpPr/>
          <p:nvPr/>
        </p:nvSpPr>
        <p:spPr>
          <a:xfrm>
            <a:off x="566928" y="5257800"/>
            <a:ext cx="82296" cy="7863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Text 71"/>
          <p:cNvSpPr/>
          <p:nvPr/>
        </p:nvSpPr>
        <p:spPr>
          <a:xfrm>
            <a:off x="822960" y="5257800"/>
            <a:ext cx="10597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Demo, not production.  </a:t>
            </a:r>
            <a:pPr indent="0" marL="0">
              <a:buNone/>
            </a:pPr>
            <a:r>
              <a:rPr lang="en-US" sz="1250" dirty="0">
                <a:solidFill>
                  <a:srgbClr val="C6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picks the right team 60% of the time on public data — not good enough to route on its own. So it proposes, and a person decides. That is the honest configuration until a pilot on your data says otherwise.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€14,000 to a decision, not €24,500 to a deployment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66928" y="1481328"/>
            <a:ext cx="8366019" cy="384048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0" name="Shape 7"/>
          <p:cNvSpPr/>
          <p:nvPr/>
        </p:nvSpPr>
        <p:spPr>
          <a:xfrm>
            <a:off x="8951235" y="1481328"/>
            <a:ext cx="2670789" cy="384048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1" name="Shape 8"/>
          <p:cNvSpPr/>
          <p:nvPr/>
        </p:nvSpPr>
        <p:spPr>
          <a:xfrm>
            <a:off x="11585448" y="1481328"/>
            <a:ext cx="36576" cy="384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" y="1481328"/>
            <a:ext cx="8091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accountable for watching it  —  €5,600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060963" y="1481328"/>
            <a:ext cx="241475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 €1,800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1911096"/>
            <a:ext cx="8311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€7,400 a year to run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878824" y="19110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the AI itself — €0.29 a year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348484" y="2706624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964436" y="2322576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964436" y="23225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66928" y="3282696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8368" y="3392424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 + labelling — €5,600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76656" y="3886200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weeks. Two of your handlers label 300 complaints. Produces the ground truth you do not have.</a:t>
            </a:r>
            <a:endParaRPr lang="en-US" sz="980" dirty="0"/>
          </a:p>
        </p:txBody>
      </p:sp>
      <p:sp>
        <p:nvSpPr>
          <p:cNvPr id="22" name="Shape 19"/>
          <p:cNvSpPr/>
          <p:nvPr/>
        </p:nvSpPr>
        <p:spPr>
          <a:xfrm>
            <a:off x="5710428" y="2322576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10428" y="23225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4312920" y="3282696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404360" y="3392424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Pilot, 60-day shadow run — €8,400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422648" y="3886200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weeks. It proposes, nobody acts on it, we measure against your labels.</a:t>
            </a:r>
            <a:endParaRPr lang="en-US" sz="980" dirty="0"/>
          </a:p>
        </p:txBody>
      </p:sp>
      <p:sp>
        <p:nvSpPr>
          <p:cNvPr id="27" name="Shape 24"/>
          <p:cNvSpPr/>
          <p:nvPr/>
        </p:nvSpPr>
        <p:spPr>
          <a:xfrm>
            <a:off x="9456420" y="2322576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456420" y="23225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8058912" y="3282696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8150352" y="3392424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Deployment, only if it passes — €10,500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8168640" y="3886200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weeks. Assist-only. Autonomous routing is a separate decision.</a:t>
            </a:r>
            <a:endParaRPr lang="en-US" sz="980" dirty="0"/>
          </a:p>
        </p:txBody>
      </p:sp>
      <p:sp>
        <p:nvSpPr>
          <p:cNvPr id="32" name="Shape 29"/>
          <p:cNvSpPr/>
          <p:nvPr/>
        </p:nvSpPr>
        <p:spPr>
          <a:xfrm>
            <a:off x="566928" y="4608576"/>
            <a:ext cx="11055096" cy="82296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566928" y="4608576"/>
            <a:ext cx="82296" cy="8229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Text 31"/>
          <p:cNvSpPr/>
          <p:nvPr/>
        </p:nvSpPr>
        <p:spPr>
          <a:xfrm>
            <a:off x="822960" y="4608576"/>
            <a:ext cx="10597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assumptions: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comes from the regulator's own complaint rate applied to a firm your size, so treat the euros as an order of magnitude. And the return rests on avoided ombudsman referrals — four a year covers the running cost. The pilot is what tests 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most want your feedback 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2057400"/>
            <a:ext cx="9507383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I lead this pitch by admitting a weak number — 60% — instead of a confident one.
</a:t>
            </a:r>
            <a:pPr indent="0" marL="0">
              <a:buNone/>
            </a:pPr>
            <a:r>
              <a:rPr lang="en-US" sz="1700" b="1" dirty="0">
                <a:solidFill>
                  <a:srgbClr val="8FBFF0"/>
                </a:solidFill>
              </a:rPr>
              <a:t>Does that earn a sceptical client's trust, or lose the room?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the three use cases, and the two refusals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how visible the reasoning is, not by the size of the prize.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build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— reads a complaint, proposes a team, quotes its reason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— every flag carries a reason, a human decides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— drafts what a person signs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refuse to build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chatbot — fails in public, in your customer's voice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scoring — Annex III high-risk under the EU AI Act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which complaints cost money — creates the wrong incentive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five categories are half of every complaint in the 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needs to be good at five things and honest about the rest.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6411956" cy="329184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2395728"/>
            <a:ext cx="6137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an account  —  19.9%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6656" y="2793492"/>
            <a:ext cx="6302228" cy="329184"/>
          </a:xfrm>
          <a:prstGeom prst="rect">
            <a:avLst/>
          </a:prstGeom>
          <a:solidFill>
            <a:srgbClr val="24343F">
              <a:alpha val="94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2793492"/>
            <a:ext cx="60279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with a purchase on your statement  —  11.2%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86384" y="3191256"/>
            <a:ext cx="6192500" cy="329184"/>
          </a:xfrm>
          <a:prstGeom prst="rect">
            <a:avLst/>
          </a:prstGeom>
          <a:solidFill>
            <a:srgbClr val="24343F">
              <a:alpha val="88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932688" y="3191256"/>
            <a:ext cx="59181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lender or company charging your account  —  5.6%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96112" y="3589020"/>
            <a:ext cx="6082772" cy="329184"/>
          </a:xfrm>
          <a:prstGeom prst="rect">
            <a:avLst/>
          </a:prstGeom>
          <a:solidFill>
            <a:srgbClr val="24343F">
              <a:alpha val="82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1042416" y="3589020"/>
            <a:ext cx="58084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or scam  —  4.8%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05840" y="3986784"/>
            <a:ext cx="5973044" cy="329184"/>
          </a:xfrm>
          <a:prstGeom prst="rect">
            <a:avLst/>
          </a:prstGeom>
          <a:solidFill>
            <a:srgbClr val="24343F">
              <a:alpha val="76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1152144" y="3986784"/>
            <a:ext cx="56987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an account  —  4.6%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53204" y="2395728"/>
            <a:ext cx="4368820" cy="192024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509236" y="2596896"/>
            <a:ext cx="385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46.1%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of all complaints sit in just 5 of 64 categories.
</a:t>
            </a:r>
            <a:pPr indent="0" marL="0">
              <a:buNone/>
            </a:pPr>
            <a:r>
              <a:rPr lang="en-US" sz="1200" i="1" dirty="0">
                <a:solidFill>
                  <a:srgbClr val="8FBFF0"/>
                </a:solidFill>
              </a:rPr>
              <a:t>Concentration like that is a property of complaint books, not of one firm.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volume and cost are not the same picture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pay out 5.7× more often than vehicle loans. Routing has money attached.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188720"/>
                <a:gridCol w="23774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Product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Complaints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Share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Closed with money paid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Checking or savings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5,835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34.7%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14.0%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Credit card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5,382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32.0%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17.2%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Money transfer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2,551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15.1%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10.6%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Vehicle loan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1,523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9.0%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489704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48970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48970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ratio should hold for her, because it follows from how the products work — not from who the firm is.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every decision accounted for, including the refusals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decisions traced. Nothing silently wrong.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2317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</a:rPr>
                        <a:t>WHAT HAPPENED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1D2A32"/>
                          </a:solidFill>
                        </a:rPr>
                        <a:t>HOW OFTEN, IN 60 DECISIONS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Proposed a team, all checks passed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52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Quote was not actually in the complaint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4  —  caught, sent to a human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Confidence below the 0.70 threshold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4  —  caught, sent to a human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Silently wrong, with no record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306824"/>
            <a:ext cx="11055096" cy="64008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30682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30682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explains itself convincingly but falsely is more dangerous than one that says nothing.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why 60% is not the model's fault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is the labels, not the model. That is what Phase 0 buys.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measured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 correct team (gpt-4o, 240 complaints)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6× more expensive model buys 4 points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bottleneck is not the model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 is what it is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the same complaint twice and it answers the same way ~9 times in 10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is consistent — it just disagrees with the official label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label was picked by the customer filing the complaint, from a menu, untrained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three corrections made before any analysis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would have produced a confident wrong answer.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488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</a:rPr>
                        <a:t>WHAT THE DATA APPEARED TO SAY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1D2A32"/>
                          </a:solidFill>
                        </a:rPr>
                        <a:t>WHAT WAS ACTUALLY HAPPENING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Complaints fell 73% in July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Publication lag — the regulator only publishes once a firm responds. Window cut at 2026-06-27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Handling time is 0 days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It measures the regulator's routing, not any firm's speed. Metric dropped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Timeliness 98.0% vs 0.6% untimely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Two different fields. Relabelled so a CEO is not shown a contradiction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the compliance position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preliminary view with reasoning beats a confident label with none.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394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Position for Round 1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EU AI Act tier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Limited risk — it classifies and routes, a human resolves. Not Annex III creditworthiness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What keeps it there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The human decision boundary. Autonomous routing is a new assessment, not an upgrade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GDPR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Complaint text is personal data. Legal basis, retention and a DPIA are Round 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Open risk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Model hosting region — an EU customer's text must not leave the EEA by accident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every number, and where it came from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these slides is an estimate dressed as a measurement.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Figure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 corpus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16,839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CFPB public API, 2026-05-01 to 06-27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 rate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3.7 per 1,000 accounts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FCA aggregate complaints 2025 H2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Ombudsman case fee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£650, 3 free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Financial Ombudsman Service 2025/26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Tokens per complaint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684 in / 49 out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Measured, n=12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Team accuracy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gpt-4o, 240 complaints, seed 42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1 — Complaint Triage</dc:title>
  <dc:subject>PptxGenJS Presentation</dc:subject>
  <dc:creator/>
  <cp:lastModifiedBy/>
  <cp:revision>1</cp:revision>
  <dcterms:created xsi:type="dcterms:W3CDTF">2026-08-28T13:20:31Z</dcterms:created>
  <dcterms:modified xsi:type="dcterms:W3CDTF">2026-08-28T13:20:31Z</dcterms:modified>
</cp:coreProperties>
</file>