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[Beat before you start. Do not read the slide.]</a:t>
            </a:r>
          </a:p>
          <a:p>
            <a:r>
              <a:t>[Whole deck: you are in Chleo's meeting. Speak to the room as "you", never about her as</a:t>
            </a:r>
          </a:p>
          <a:p>
            <a:r>
              <a:t>"she". The one exception is slide 14, where you step out.]</a:t>
            </a:r>
          </a:p>
          <a:p/>
          <a:p>
            <a:r>
              <a:t>We met at a dinner, and you told me you don't trust AI because you can't see what it does.</a:t>
            </a:r>
          </a:p>
          <a:p/>
          <a:p>
            <a:r>
              <a:t>So this isn't a pitch about what AI could do for you. It's about one decision you can watch</a:t>
            </a:r>
          </a:p>
          <a:p>
            <a:r>
              <a:t>happen. Everything here runs, and every number traces back to a repository you can open.</a:t>
            </a:r>
          </a:p>
          <a:p/>
          <a:p>
            <a:r>
              <a:t>Let me start with what you said.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middle card. The fear is the slide.]</a:t>
            </a:r>
          </a:p>
          <a:p/>
          <a:p>
            <a:r>
              <a:t>You never asked me whether AI works. You asked what it is, and how you would see it.</a:t>
            </a:r>
          </a:p>
          <a:p>
            <a:r>
              <a:t>Those are the two questions your regulator will ask you as well.</a:t>
            </a:r>
          </a:p>
          <a:p/>
          <a:p>
            <a:r>
              <a:t>So I'm not proposing a platform. I'm proposing one place in your business where you can</a:t>
            </a:r>
          </a:p>
          <a:p>
            <a:r>
              <a:t>watch a machine decide — and overrule it.</a:t>
            </a:r>
          </a:p>
          <a:p/>
          <a:p>
            <a:r>
              <a:t>There were three candidates for that place.</a:t>
            </a:r>
          </a:p>
          <a:p/>
          <a:p>
            <a:r>
              <a:t>[Q: Isn't this too small to matter? — Small is the point. You can't audit something you</a:t>
            </a:r>
          </a:p>
          <a:p>
            <a:r>
              <a:t>bought whole.]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seconds to scan. Don't read the six items.]</a:t>
            </a:r>
          </a:p>
          <a:p/>
          <a:p>
            <a:r>
              <a:t>Ranked by one thing: how visible the reasoning is. Not by which saves most. Complaint</a:t>
            </a:r>
          </a:p>
          <a:p>
            <a:r>
              <a:t>triage is first because you can watch it work.</a:t>
            </a:r>
          </a:p>
          <a:p/>
          <a:p>
            <a:r>
              <a:t>The right column is what I'm refusing. A chatbot fails in public, in your customer's</a:t>
            </a:r>
          </a:p>
          <a:p>
            <a:r>
              <a:t>voice. Credit scoring is high-risk under the AI Act — months of conformity work before a</a:t>
            </a:r>
          </a:p>
          <a:p>
            <a:r>
              <a:t>single decision goes live.</a:t>
            </a:r>
          </a:p>
          <a:p/>
          <a:p>
            <a:r>
              <a:t>[Land this:] The fastest way to earn your trust is to tell you what not to buy.</a:t>
            </a:r>
          </a:p>
          <a:p/>
          <a:p>
            <a:r>
              <a:t>So: complaint triage. Here's what your complaints actually look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[Switch to the live dashboard here if you can. This slide is the fallback — it's a real</a:t>
            </a:r>
          </a:p>
          <a:p>
            <a:r>
              <a:t>screenshot of the same thing.]</a:t>
            </a:r>
          </a:p>
          <a:p/>
          <a:p>
            <a:r>
              <a:t>Nearly seventeen thousand real complaints, on one screen.</a:t>
            </a:r>
          </a:p>
          <a:p/>
          <a:p>
            <a:r>
              <a:t>Four numbers across the top, and only the third is in money. Hold on to the fourth: 46% of</a:t>
            </a:r>
          </a:p>
          <a:p>
            <a:r>
              <a:t>what arrives could be sorted automatically — a share of something you already do, not a</a:t>
            </a:r>
          </a:p>
          <a:p>
            <a:r>
              <a:t>promise about transformation.</a:t>
            </a:r>
          </a:p>
          <a:p/>
          <a:p>
            <a:r>
              <a:t>Two things in here matter more than the rest.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one. Read the last column, not the first.</a:t>
            </a:r>
          </a:p>
          <a:p/>
          <a:p>
            <a:r>
              <a:t>Deposits and cards are two thirds of your volume — but money leaves the building 5.7 times</a:t>
            </a:r>
          </a:p>
          <a:p>
            <a:r>
              <a:t>more often on a card complaint than a vehicle loan.</a:t>
            </a:r>
          </a:p>
          <a:p/>
          <a:p>
            <a:r>
              <a:t>So which queue a complaint lands in isn't administration. It's money. That's your argument</a:t>
            </a:r>
          </a:p>
          <a:p>
            <a:r>
              <a:t>for accurate routing, not mine.</a:t>
            </a:r>
          </a:p>
          <a:p/>
          <a:p>
            <a:r>
              <a:t>The second thing is what makes this buildable at all.</a:t>
            </a:r>
          </a:p>
          <a:p/>
          <a:p>
            <a:r>
              <a:t>[Q: Is this your data? — No. It's the US regulator's public database, used as a proxy for</a:t>
            </a:r>
          </a:p>
          <a:p>
            <a:r>
              <a:t>the shape of a complaint inbox, not a forecast of your volumes. Your real numbers come</a:t>
            </a:r>
          </a:p>
          <a:p>
            <a:r>
              <a:t>from Phase 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Sixty-four categories exist. Five of them are nearly half your inbox.</a:t>
            </a:r>
          </a:p>
          <a:p/>
          <a:p>
            <a:r>
              <a:t>So I'm not asking a machine to be good at sixty-four things. I'm asking it to be good at</a:t>
            </a:r>
          </a:p>
          <a:p>
            <a:r>
              <a:t>five, and to admit when it's outside them.</a:t>
            </a:r>
          </a:p>
          <a:p/>
          <a:p>
            <a:r>
              <a:t>That's the difference between "AI for complaints", which I couldn't finish, and something</a:t>
            </a:r>
          </a:p>
          <a:p>
            <a:r>
              <a:t>I can hand you working.</a:t>
            </a:r>
          </a:p>
          <a:p/>
          <a:p>
            <a:r>
              <a:t>Here's how it works.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steps, and notice where the chain ends — a person decides. The machine never routes</a:t>
            </a:r>
          </a:p>
          <a:p>
            <a:r>
              <a:t>anything itself.</a:t>
            </a:r>
          </a:p>
          <a:p/>
          <a:p>
            <a:r>
              <a:t>The third box is the work: the model's answer is a claim, not a result. Four checks before</a:t>
            </a:r>
          </a:p>
          <a:p>
            <a:r>
              <a:t>anyone sees it, and they're on the slide.</a:t>
            </a:r>
          </a:p>
          <a:p/>
          <a:p>
            <a:r>
              <a:t>That human boundary is also what keeps this limited-risk under the AI Act.</a:t>
            </a:r>
          </a:p>
          <a:p/>
          <a:p>
            <a:r>
              <a:t>Let me show you it running.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[Switch to the live n8n window. This screenshot is the fallback if the demo is cold.]</a:t>
            </a:r>
          </a:p>
          <a:p/>
          <a:p>
            <a:r>
              <a:t>Green ticks all the way across, on a real complaint.</a:t>
            </a:r>
          </a:p>
          <a:p/>
          <a:p>
            <a:r>
              <a:t>The bottom panel is the interesting part. It sent this one to Disputes and fraud —</a:t>
            </a:r>
          </a:p>
          <a:p>
            <a:r>
              <a:t>exactly where the regulator's own label put it.</a:t>
            </a:r>
          </a:p>
          <a:p/>
          <a:p>
            <a:r>
              <a:t>Nothing here is a mockup. Click any node and you read its real input and output.</a:t>
            </a:r>
          </a:p>
          <a:p/>
          <a:p>
            <a:r>
              <a:t>That's one that worked. Here's what happens when it doesn't.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[Slow right down. This is the most important slide in the deck.]</a:t>
            </a:r>
          </a:p>
          <a:p/>
          <a:p>
            <a:r>
              <a:t>Four times out of sixty, the model made up its justification. It confidently quoted words</a:t>
            </a:r>
          </a:p>
          <a:p>
            <a:r>
              <a:t>that were not in the complaint at all.</a:t>
            </a:r>
          </a:p>
          <a:p/>
          <a:p>
            <a:r>
              <a:t>Every one was caught, because the system checks the quote against the text instead of</a:t>
            </a:r>
          </a:p>
          <a:p>
            <a:r>
              <a:t>trusting it. Bottom row — nothing was silently wrong.</a:t>
            </a:r>
          </a:p>
          <a:p/>
          <a:p>
            <a:r>
              <a:t>A system that explains itself convincingly but falsely is more dangerous than one that</a:t>
            </a:r>
          </a:p>
          <a:p>
            <a:r>
              <a:t>says nothing. Let me show you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of those four, on the record.</a:t>
            </a:r>
          </a:p>
          <a:p/>
          <a:p>
            <a:r>
              <a:t>Eighty per cent confident, a plausible team — and the sentence it quoted simply wasn't in</a:t>
            </a:r>
          </a:p>
          <a:p>
            <a:r>
              <a:t>the complaint. So it was stopped, and went to a person with the reason written down.</a:t>
            </a:r>
          </a:p>
          <a:p/>
          <a:p>
            <a:r>
              <a:t>That record exists for all sixty decisions, including every one where nothing happened.</a:t>
            </a:r>
          </a:p>
          <a:p>
            <a:r>
              <a:t>That's what I mean by watching it.</a:t>
            </a:r>
          </a:p>
          <a:p/>
          <a:p>
            <a:r>
              <a:t>Which brings me to the number I could have left out of this deck.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[Don't soften this. Say it plainly.]</a:t>
            </a:r>
          </a:p>
          <a:p/>
          <a:p>
            <a:r>
              <a:t>Sixty per cent of the time it picks the right team. Not good enough to deploy.</a:t>
            </a:r>
          </a:p>
          <a:p/>
          <a:p>
            <a:r>
              <a:t>I'm showing you because the reason matters more than the number. Ask it the same complaint</a:t>
            </a:r>
          </a:p>
          <a:p>
            <a:r>
              <a:t>twice and it answers the same way nine times in ten — so it's consistent. It just</a:t>
            </a:r>
          </a:p>
          <a:p>
            <a:r>
              <a:t>disagrees with the official label.</a:t>
            </a:r>
          </a:p>
          <a:p/>
          <a:p>
            <a:r>
              <a:t>And who writes that label? Your customer does, from a dropdown, untrained.</a:t>
            </a:r>
          </a:p>
          <a:p/>
          <a:p>
            <a:r>
              <a:t>So the fix isn't a cleverer model. It's better labels — which changes what I'd ask you to</a:t>
            </a:r>
          </a:p>
          <a:p>
            <a:r>
              <a:t>buy. But first, what it costs.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Twenty-nine cents a year. Measured, not estimated.</a:t>
            </a:r>
          </a:p>
          <a:p/>
          <a:p>
            <a:r>
              <a:t>What actually costs money is the review — someone accountable for watching it. That's the</a:t>
            </a:r>
          </a:p>
          <a:p>
            <a:r>
              <a:t>five thousand six hundred line, and I wouldn't remove it.</a:t>
            </a:r>
          </a:p>
          <a:p/>
          <a:p>
            <a:r>
              <a:t>So at your volume, choosing a model isn't a budget decision. It's an accuracy decision —</a:t>
            </a:r>
          </a:p>
          <a:p>
            <a:r>
              <a:t>the one six times more expensive would still cost about five euro a year.</a:t>
            </a:r>
          </a:p>
          <a:p/>
          <a:p>
            <a:r>
              <a:t>Which makes what I'm asking for small.</a:t>
            </a:r>
          </a:p>
          <a:p/>
          <a:p>
            <a:r>
              <a:t>[Q: So why not always use the best model? — At this volume you should. That's the point.]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Fixed fee per phase, because your problem is uncertainty.</a:t>
            </a:r>
          </a:p>
          <a:p/>
          <a:p>
            <a:r>
              <a:t>Phase 0 buys something odd: two of your handlers labelling three hundred complaints before</a:t>
            </a:r>
          </a:p>
          <a:p>
            <a:r>
              <a:t>any AI at all. Those are the better labels — worth buying even if you never build this,</a:t>
            </a:r>
          </a:p>
          <a:p>
            <a:r>
              <a:t>because it tells you whether your categories can be applied consistently by anybody.</a:t>
            </a:r>
          </a:p>
          <a:p/>
          <a:p>
            <a:r>
              <a:t>For your operations team that's about six days, and nothing changes about who decides.</a:t>
            </a:r>
          </a:p>
          <a:p/>
          <a:p>
            <a:r>
              <a:t>Fourteen thousand to reach a decision, not twenty-four and a half to a deployment.</a:t>
            </a:r>
          </a:p>
          <a:p/>
          <a:p>
            <a:r>
              <a:t>[If pressed on ROI: break-even is four avoided ombudsman referrals a year. I'm not</a:t>
            </a:r>
          </a:p>
          <a:p>
            <a:r>
              <a:t>claiming we hit it. That's what the pilot measures.]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[Stop pitching. Drop the client voice — this is to you as assessors, not as Chleo.]</a:t>
            </a:r>
          </a:p>
          <a:p/>
          <a:p>
            <a:r>
              <a:t>The questions are on the slide, so I won't read them.</a:t>
            </a:r>
          </a:p>
          <a:p/>
          <a:p>
            <a:r>
              <a:t>Push me on the first. I built this pitch around admitting a weak number early, betting</a:t>
            </a:r>
          </a:p>
          <a:p>
            <a:r>
              <a:t>that an honest sixty per cent buys more trust than a confident eighty-five.</a:t>
            </a:r>
          </a:p>
          <a:p/>
          <a:p>
            <a:r>
              <a:t>I think that's right. I'm not certain it survives contact with a real client.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data quality is questioned.]</a:t>
            </a:r>
          </a:p>
          <a:p/>
          <a:p>
            <a:r>
              <a:t>Three things the data appeared to say, and didn't.</a:t>
            </a:r>
          </a:p>
          <a:p/>
          <a:p>
            <a:r>
              <a:t>The July cliff is the one that would have caught me. The regulator only publishes a</a:t>
            </a:r>
          </a:p>
          <a:p>
            <a:r>
              <a:t>complaint once the firm has responded, so the newest weeks are always thin. Read naively</a:t>
            </a:r>
          </a:p>
          <a:p>
            <a:r>
              <a:t>that's a 73% collapse in complaints and a wonderful slide. It's an artefact — I cut the</a:t>
            </a:r>
          </a:p>
          <a:p>
            <a:r>
              <a:t>window at 27 June.</a:t>
            </a:r>
          </a:p>
          <a:p/>
          <a:p>
            <a:r>
              <a:t>The other two are on the slide. The pattern is the point: each would have produced a</a:t>
            </a:r>
          </a:p>
          <a:p>
            <a:r>
              <a:t>confident, wrong answer that no test would have caught.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the legal seat wants more than the line on slide 7.]</a:t>
            </a:r>
          </a:p>
          <a:p/>
          <a:p>
            <a:r>
              <a:t>Limited risk, and the reasoning is what matters: it classifies and routes, a human</a:t>
            </a:r>
          </a:p>
          <a:p>
            <a:r>
              <a:t>resolves, and it never touches creditworthiness.</a:t>
            </a:r>
          </a:p>
          <a:p/>
          <a:p>
            <a:r>
              <a:t>What holds it there is the human decision boundary. If it ever routes on its own, that's a</a:t>
            </a:r>
          </a:p>
          <a:p>
            <a:r>
              <a:t>new assessment, not an upgrade to this one.</a:t>
            </a:r>
          </a:p>
          <a:p/>
          <a:p>
            <a:r>
              <a:t>I'm deliberately not giving you a final classification today. Round 2 owes the</a:t>
            </a:r>
          </a:p>
          <a:p>
            <a:r>
              <a:t>step-by-step reasoning. A confident label without that work is exactly the unearned</a:t>
            </a:r>
          </a:p>
          <a:p>
            <a:r>
              <a:t>certainty you were right to distrust.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sourcing is challenged.]</a:t>
            </a:r>
          </a:p>
          <a:p/>
          <a:p>
            <a:r>
              <a:t>Everything on these slides is either measured by me or cited to a regulator.</a:t>
            </a:r>
          </a:p>
          <a:p/>
          <a:p>
            <a:r>
              <a:t>Where a figure is a judgement rather than a measurement — the minutes per complaint, the</a:t>
            </a:r>
          </a:p>
          <a:p>
            <a:r>
              <a:t>employer on-costs — it's labelled as a judgement in the cost model. I haven't dressed an</a:t>
            </a:r>
          </a:p>
          <a:p>
            <a:r>
              <a:t>estimate up as a finding anywhere.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A32"/>
        </a:solidFill>
      </p:bgPr>
    </p:bg>
    <p:spTree>
      <p:nvGrpSpPr>
        <p:cNvPr id="1" name=""/>
        <p:cNvGrpSpPr/>
        <p:nvPr/>
      </p:nvGrpSpPr>
      <p:grpSpPr>
        <a:xfrm>
          <a:off x="0" y="0"/>
          <a:ext cx="0" cy="0"/>
          <a:chOff x="0" y="0"/>
          <a:chExt cx="0" cy="0"/>
        </a:xfrm>
      </p:grpSpPr>
      <p:sp>
        <p:nvSpPr>
          <p:cNvPr id="2" name="Shape 0"/>
          <p:cNvSpPr/>
          <p:nvPr/>
        </p:nvSpPr>
        <p:spPr>
          <a:xfrm rot="2700000">
            <a:off x="9902952" y="-1005840"/>
            <a:ext cx="2011680" cy="2011680"/>
          </a:xfrm>
          <a:prstGeom prst="rect">
            <a:avLst/>
          </a:prstGeom>
          <a:ln w="12700">
            <a:solidFill>
              <a:srgbClr val="445A69"/>
            </a:solidFill>
            <a:prstDash val="solid"/>
          </a:ln>
        </p:spPr>
      </p:sp>
      <p:sp>
        <p:nvSpPr>
          <p:cNvPr id="3" name="Shape 1"/>
          <p:cNvSpPr/>
          <p:nvPr/>
        </p:nvSpPr>
        <p:spPr>
          <a:xfrm rot="2700000">
            <a:off x="10451592" y="-457200"/>
            <a:ext cx="914400" cy="914400"/>
          </a:xfrm>
          <a:prstGeom prst="rect">
            <a:avLst/>
          </a:prstGeom>
          <a:solidFill>
            <a:srgbClr val="2A78D6">
              <a:alpha val="22000"/>
            </a:srgbClr>
          </a:solidFill>
          <a:ln/>
        </p:spPr>
      </p:sp>
      <p:sp>
        <p:nvSpPr>
          <p:cNvPr id="4" name="Text 2"/>
          <p:cNvSpPr/>
          <p:nvPr/>
        </p:nvSpPr>
        <p:spPr>
          <a:xfrm>
            <a:off x="566928" y="1874520"/>
            <a:ext cx="11055096" cy="365760"/>
          </a:xfrm>
          <a:prstGeom prst="rect">
            <a:avLst/>
          </a:prstGeom>
          <a:noFill/>
          <a:ln/>
        </p:spPr>
        <p:txBody>
          <a:bodyPr wrap="square" lIns="0" tIns="0" rIns="0" bIns="0" rtlCol="0" anchor="ctr"/>
          <a:lstStyle/>
          <a:p>
            <a:pPr indent="0" marL="0">
              <a:buNone/>
            </a:pPr>
            <a:r>
              <a:rPr lang="en-US" sz="1300" b="1" spc="400" kern="0" dirty="0">
                <a:solidFill>
                  <a:srgbClr val="2A78D6"/>
                </a:solidFill>
                <a:latin typeface="Calibri" pitchFamily="34" charset="0"/>
                <a:ea typeface="Calibri" pitchFamily="34" charset="-122"/>
                <a:cs typeface="Calibri" pitchFamily="34" charset="-120"/>
              </a:rPr>
              <a:t>CAPSTONE ROUND 1  ·  PITCH TO CHLEO</a:t>
            </a:r>
            <a:endParaRPr lang="en-US" sz="1300" dirty="0"/>
          </a:p>
        </p:txBody>
      </p:sp>
      <p:sp>
        <p:nvSpPr>
          <p:cNvPr id="5" name="Text 3"/>
          <p:cNvSpPr/>
          <p:nvPr/>
        </p:nvSpPr>
        <p:spPr>
          <a:xfrm>
            <a:off x="566928" y="2286000"/>
            <a:ext cx="11055096" cy="91440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Show her what the AI does</a:t>
            </a:r>
            <a:endParaRPr lang="en-US" sz="4800" dirty="0"/>
          </a:p>
        </p:txBody>
      </p:sp>
      <p:sp>
        <p:nvSpPr>
          <p:cNvPr id="6" name="Text 4"/>
          <p:cNvSpPr/>
          <p:nvPr/>
        </p:nvSpPr>
        <p:spPr>
          <a:xfrm>
            <a:off x="566928" y="3310128"/>
            <a:ext cx="11055096" cy="457200"/>
          </a:xfrm>
          <a:prstGeom prst="rect">
            <a:avLst/>
          </a:prstGeom>
          <a:noFill/>
          <a:ln/>
        </p:spPr>
        <p:txBody>
          <a:bodyPr wrap="square" lIns="0" tIns="0" rIns="0" bIns="0" rtlCol="0" anchor="ctr"/>
          <a:lstStyle/>
          <a:p>
            <a:pPr indent="0" marL="0">
              <a:buNone/>
            </a:pPr>
            <a:r>
              <a:rPr lang="en-US" sz="1900" i="1" dirty="0">
                <a:solidFill>
                  <a:srgbClr val="C6D8E4"/>
                </a:solidFill>
                <a:latin typeface="Trebuchet MS" pitchFamily="34" charset="0"/>
                <a:ea typeface="Trebuchet MS" pitchFamily="34" charset="-122"/>
                <a:cs typeface="Trebuchet MS" pitchFamily="34" charset="-120"/>
              </a:rPr>
              <a:t>Complaint triage for a mid-size financial services firm</a:t>
            </a:r>
            <a:endParaRPr lang="en-US" sz="1900" dirty="0"/>
          </a:p>
        </p:txBody>
      </p:sp>
      <p:sp>
        <p:nvSpPr>
          <p:cNvPr id="7" name="Shape 5"/>
          <p:cNvSpPr/>
          <p:nvPr/>
        </p:nvSpPr>
        <p:spPr>
          <a:xfrm>
            <a:off x="566928" y="4114800"/>
            <a:ext cx="2743200" cy="0"/>
          </a:xfrm>
          <a:prstGeom prst="line">
            <a:avLst/>
          </a:prstGeom>
          <a:noFill/>
          <a:ln w="19050">
            <a:solidFill>
              <a:srgbClr val="2A78D6"/>
            </a:solidFill>
            <a:prstDash val="solid"/>
          </a:ln>
        </p:spPr>
      </p:sp>
      <p:sp>
        <p:nvSpPr>
          <p:cNvPr id="8" name="Text 6"/>
          <p:cNvSpPr/>
          <p:nvPr/>
        </p:nvSpPr>
        <p:spPr>
          <a:xfrm>
            <a:off x="566928" y="4297680"/>
            <a:ext cx="11055096" cy="6400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Ugo Ahukannah</a:t>
            </a:r>
            <a:endParaRPr lang="en-US" sz="1200" dirty="0"/>
          </a:p>
          <a:p>
            <a:pPr indent="0" marL="0">
              <a:buNone/>
            </a:pPr>
            <a:r>
              <a:rPr lang="en-US" sz="1100" dirty="0">
                <a:solidFill>
                  <a:srgbClr val="6B7C88"/>
                </a:solidFill>
                <a:latin typeface="Calibri" pitchFamily="34" charset="0"/>
                <a:ea typeface="Calibri" pitchFamily="34" charset="-122"/>
                <a:cs typeface="Calibri" pitchFamily="34" charset="-120"/>
              </a:rPr>
              <a:t>Round 1 — research, dashboard, POC, monitoring, cost</a:t>
            </a:r>
            <a:endParaRPr lang="en-US" sz="1200" dirty="0"/>
          </a:p>
        </p:txBody>
      </p:sp>
      <p:sp>
        <p:nvSpPr>
          <p:cNvPr id="9" name="Text 7"/>
          <p:cNvSpPr/>
          <p:nvPr/>
        </p:nvSpPr>
        <p:spPr>
          <a:xfrm>
            <a:off x="566928" y="6355080"/>
            <a:ext cx="11055096" cy="274320"/>
          </a:xfrm>
          <a:prstGeom prst="rect">
            <a:avLst/>
          </a:prstGeom>
          <a:noFill/>
          <a:ln/>
        </p:spPr>
        <p:txBody>
          <a:bodyPr wrap="square" lIns="0" tIns="0" rIns="0" bIns="0" rtlCol="0" anchor="ctr"/>
          <a:lstStyle/>
          <a:p>
            <a:pPr indent="0" marL="0">
              <a:buNone/>
            </a:pPr>
            <a:r>
              <a:rPr lang="en-US" sz="900" dirty="0">
                <a:solidFill>
                  <a:srgbClr val="6B7C88"/>
                </a:solidFill>
                <a:latin typeface="Calibri" pitchFamily="34" charset="0"/>
                <a:ea typeface="Calibri" pitchFamily="34" charset="-122"/>
                <a:cs typeface="Calibri" pitchFamily="34" charset="-120"/>
              </a:rPr>
              <a:t>Public CFPB data · 16,839 complaints    </a:t>
            </a:r>
            <a:pPr indent="0" marL="0">
              <a:buNone/>
            </a:pPr>
            <a:r>
              <a:rPr lang="en-US" sz="900" dirty="0">
                <a:solidFill>
                  <a:srgbClr val="6B7C88"/>
                </a:solidFill>
                <a:latin typeface="Calibri" pitchFamily="34" charset="0"/>
                <a:ea typeface="Calibri" pitchFamily="34" charset="-122"/>
                <a:cs typeface="Calibri" pitchFamily="34" charset="-120"/>
              </a:rPr>
              <a:t>All figures reproducible from the repo    </a:t>
            </a:r>
            <a:endParaRPr lang="en-US" sz="900" dirty="0"/>
          </a:p>
        </p:txBody>
      </p:sp>
      <p:sp>
        <p:nvSpPr>
          <p:cNvPr id="10" name="Shape 8"/>
          <p:cNvSpPr/>
          <p:nvPr/>
        </p:nvSpPr>
        <p:spPr>
          <a:xfrm>
            <a:off x="9217152" y="-1645920"/>
            <a:ext cx="3200400" cy="3246120"/>
          </a:xfrm>
          <a:prstGeom prst="rect">
            <a:avLst/>
          </a:prstGeom>
          <a:solidFill>
            <a:srgbClr val="1D2A32"/>
          </a:solidFill>
          <a:ln/>
        </p:spPr>
      </p:sp>
      <p:sp>
        <p:nvSpPr>
          <p:cNvPr id="11" name="Shape 9"/>
          <p:cNvSpPr/>
          <p:nvPr/>
        </p:nvSpPr>
        <p:spPr>
          <a:xfrm>
            <a:off x="0" y="0"/>
            <a:ext cx="146304" cy="6858000"/>
          </a:xfrm>
          <a:prstGeom prst="rect">
            <a:avLst/>
          </a:prstGeom>
          <a:solidFill>
            <a:srgbClr val="2A78D6"/>
          </a:solidFill>
          <a:ln/>
        </p:spPr>
      </p:sp>
      <p:sp>
        <p:nvSpPr>
          <p:cNvPr id="12" name="Shape 10"/>
          <p:cNvSpPr/>
          <p:nvPr/>
        </p:nvSpPr>
        <p:spPr>
          <a:xfrm>
            <a:off x="0" y="0"/>
            <a:ext cx="146304" cy="2880360"/>
          </a:xfrm>
          <a:prstGeom prst="rect">
            <a:avLst/>
          </a:prstGeom>
          <a:solidFill>
            <a:srgbClr val="8FBFF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Chleo's objection is trust, not capability</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She never asked whether AI works. She asked what it is and how she would see it.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a:t>
            </a:r>
            <a:endParaRPr lang="en-US" sz="850" dirty="0"/>
          </a:p>
        </p:txBody>
      </p:sp>
      <p:sp>
        <p:nvSpPr>
          <p:cNvPr id="12" name="Shape 9"/>
          <p:cNvSpPr/>
          <p:nvPr/>
        </p:nvSpPr>
        <p:spPr>
          <a:xfrm>
            <a:off x="566928" y="2395728"/>
            <a:ext cx="3502152" cy="214884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68096" y="2578608"/>
            <a:ext cx="3099816" cy="274320"/>
          </a:xfrm>
          <a:prstGeom prst="rect">
            <a:avLst/>
          </a:prstGeom>
          <a:noFill/>
          <a:ln/>
        </p:spPr>
        <p:txBody>
          <a:bodyPr wrap="square" lIns="0" tIns="0" rIns="0" bIns="0" rtlCol="0" anchor="ctr"/>
          <a:lstStyle/>
          <a:p>
            <a:pPr indent="0" marL="0">
              <a:buNone/>
            </a:pPr>
            <a:r>
              <a:rPr lang="en-US" sz="950" b="1" spc="150" kern="0" dirty="0">
                <a:solidFill>
                  <a:srgbClr val="445A69"/>
                </a:solidFill>
                <a:latin typeface="Calibri" pitchFamily="34" charset="0"/>
                <a:ea typeface="Calibri" pitchFamily="34" charset="-122"/>
                <a:cs typeface="Calibri" pitchFamily="34" charset="-120"/>
              </a:rPr>
              <a:t>THE FIRM</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indent="0" marL="0">
              <a:buNone/>
            </a:pPr>
            <a:r>
              <a:rPr lang="en-US" sz="1600" b="1" dirty="0">
                <a:solidFill>
                  <a:srgbClr val="24343F"/>
                </a:solidFill>
                <a:latin typeface="Trebuchet MS" pitchFamily="34" charset="0"/>
                <a:ea typeface="Trebuchet MS" pitchFamily="34" charset="-122"/>
                <a:cs typeface="Trebuchet MS" pitchFamily="34" charset="-120"/>
              </a:rPr>
              <a:t>Mid-size, EU</a:t>
            </a:r>
            <a:endParaRPr lang="en-US" sz="1600" dirty="0"/>
          </a:p>
        </p:txBody>
      </p:sp>
      <p:sp>
        <p:nvSpPr>
          <p:cNvPr id="15" name="Text 12"/>
          <p:cNvSpPr/>
          <p:nvPr/>
        </p:nvSpPr>
        <p:spPr>
          <a:xfrm>
            <a:off x="768096" y="3474720"/>
            <a:ext cx="3099816" cy="960120"/>
          </a:xfrm>
          <a:prstGeom prst="rect">
            <a:avLst/>
          </a:prstGeom>
          <a:noFill/>
          <a:ln/>
        </p:spPr>
        <p:txBody>
          <a:bodyPr wrap="square" lIns="0" tIns="0" rIns="0" bIns="0" rtlCol="0" anchor="t"/>
          <a:lstStyle/>
          <a:p>
            <a:pPr indent="0" marL="0">
              <a:buNone/>
            </a:pPr>
            <a:r>
              <a:rPr lang="en-US" sz="1100" dirty="0">
                <a:solidFill>
                  <a:srgbClr val="1B2730"/>
                </a:solidFill>
                <a:latin typeface="Calibri" pitchFamily="34" charset="0"/>
                <a:ea typeface="Calibri" pitchFamily="34" charset="-122"/>
                <a:cs typeface="Calibri" pitchFamily="34" charset="-120"/>
              </a:rPr>
              <a:t>~500 staff, ~250,000 retail customers. Current accounts, cards, personal and vehicle lending.</a:t>
            </a:r>
            <a:endParaRPr lang="en-US" sz="1100" dirty="0"/>
          </a:p>
        </p:txBody>
      </p:sp>
      <p:sp>
        <p:nvSpPr>
          <p:cNvPr id="16" name="Shape 13"/>
          <p:cNvSpPr/>
          <p:nvPr/>
        </p:nvSpPr>
        <p:spPr>
          <a:xfrm>
            <a:off x="4343400" y="2395728"/>
            <a:ext cx="3502152" cy="2148840"/>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17" name="Text 14"/>
          <p:cNvSpPr/>
          <p:nvPr/>
        </p:nvSpPr>
        <p:spPr>
          <a:xfrm>
            <a:off x="4544568" y="2578608"/>
            <a:ext cx="3099816" cy="274320"/>
          </a:xfrm>
          <a:prstGeom prst="rect">
            <a:avLst/>
          </a:prstGeom>
          <a:noFill/>
          <a:ln/>
        </p:spPr>
        <p:txBody>
          <a:bodyPr wrap="square" lIns="0" tIns="0" rIns="0" bIns="0" rtlCol="0" anchor="ctr"/>
          <a:lstStyle/>
          <a:p>
            <a:pPr indent="0" marL="0">
              <a:buNone/>
            </a:pPr>
            <a:r>
              <a:rPr lang="en-US" sz="950" b="1" spc="150" kern="0" dirty="0">
                <a:solidFill>
                  <a:srgbClr val="2A78D6"/>
                </a:solidFill>
                <a:latin typeface="Calibri" pitchFamily="34" charset="0"/>
                <a:ea typeface="Calibri" pitchFamily="34" charset="-122"/>
                <a:cs typeface="Calibri" pitchFamily="34" charset="-120"/>
              </a:rPr>
              <a:t>THE FEAR</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Trebuchet MS" pitchFamily="34" charset="0"/>
                <a:ea typeface="Trebuchet MS" pitchFamily="34" charset="-122"/>
                <a:cs typeface="Trebuchet MS" pitchFamily="34" charset="-120"/>
              </a:rPr>
              <a:t>“AI is not transparent”</a:t>
            </a:r>
            <a:endParaRPr lang="en-US" sz="1600" dirty="0"/>
          </a:p>
        </p:txBody>
      </p:sp>
      <p:sp>
        <p:nvSpPr>
          <p:cNvPr id="19" name="Text 16"/>
          <p:cNvSpPr/>
          <p:nvPr/>
        </p:nvSpPr>
        <p:spPr>
          <a:xfrm>
            <a:off x="4544568" y="3474720"/>
            <a:ext cx="3099816" cy="9601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Her words at dinner. She could not say what “the AI” would be, or how she would sign up.</a:t>
            </a:r>
            <a:endParaRPr lang="en-US" sz="1100" dirty="0"/>
          </a:p>
        </p:txBody>
      </p:sp>
      <p:sp>
        <p:nvSpPr>
          <p:cNvPr id="20" name="Shape 17"/>
          <p:cNvSpPr/>
          <p:nvPr/>
        </p:nvSpPr>
        <p:spPr>
          <a:xfrm>
            <a:off x="8119872" y="2395728"/>
            <a:ext cx="3502152" cy="214884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8321040" y="2578608"/>
            <a:ext cx="3099816" cy="274320"/>
          </a:xfrm>
          <a:prstGeom prst="rect">
            <a:avLst/>
          </a:prstGeom>
          <a:noFill/>
          <a:ln/>
        </p:spPr>
        <p:txBody>
          <a:bodyPr wrap="square" lIns="0" tIns="0" rIns="0" bIns="0" rtlCol="0" anchor="ctr"/>
          <a:lstStyle/>
          <a:p>
            <a:pPr indent="0" marL="0">
              <a:buNone/>
            </a:pPr>
            <a:r>
              <a:rPr lang="en-US" sz="950" b="1" spc="150" kern="0" dirty="0">
                <a:solidFill>
                  <a:srgbClr val="445A69"/>
                </a:solidFill>
                <a:latin typeface="Calibri" pitchFamily="34" charset="0"/>
                <a:ea typeface="Calibri" pitchFamily="34" charset="-122"/>
                <a:cs typeface="Calibri" pitchFamily="34" charset="-120"/>
              </a:rPr>
              <a:t>THE JOB</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indent="0" marL="0">
              <a:buNone/>
            </a:pPr>
            <a:r>
              <a:rPr lang="en-US" sz="1600" b="1" dirty="0">
                <a:solidFill>
                  <a:srgbClr val="24343F"/>
                </a:solidFill>
                <a:latin typeface="Trebuchet MS" pitchFamily="34" charset="0"/>
                <a:ea typeface="Trebuchet MS" pitchFamily="34" charset="-122"/>
                <a:cs typeface="Trebuchet MS" pitchFamily="34" charset="-120"/>
              </a:rPr>
              <a:t>Make one decision visible</a:t>
            </a:r>
            <a:endParaRPr lang="en-US" sz="1600" dirty="0"/>
          </a:p>
        </p:txBody>
      </p:sp>
      <p:sp>
        <p:nvSpPr>
          <p:cNvPr id="23" name="Text 20"/>
          <p:cNvSpPr/>
          <p:nvPr/>
        </p:nvSpPr>
        <p:spPr>
          <a:xfrm>
            <a:off x="8321040" y="3474720"/>
            <a:ext cx="3099816" cy="960120"/>
          </a:xfrm>
          <a:prstGeom prst="rect">
            <a:avLst/>
          </a:prstGeom>
          <a:noFill/>
          <a:ln/>
        </p:spPr>
        <p:txBody>
          <a:bodyPr wrap="square" lIns="0" tIns="0" rIns="0" bIns="0" rtlCol="0" anchor="t"/>
          <a:lstStyle/>
          <a:p>
            <a:pPr indent="0" marL="0">
              <a:buNone/>
            </a:pPr>
            <a:r>
              <a:rPr lang="en-US" sz="1100" dirty="0">
                <a:solidFill>
                  <a:srgbClr val="1B2730"/>
                </a:solidFill>
                <a:latin typeface="Calibri" pitchFamily="34" charset="0"/>
                <a:ea typeface="Calibri" pitchFamily="34" charset="-122"/>
                <a:cs typeface="Calibri" pitchFamily="34" charset="-120"/>
              </a:rPr>
              <a:t>Not a platform. One place where she can watch the machine decide, and disagree with it.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Three use cases — and two I will not build</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Ranked by how visible the reasoning is, not by the size of the prize.</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2</a:t>
            </a:r>
            <a:endParaRPr lang="en-US" sz="850" dirty="0"/>
          </a:p>
        </p:txBody>
      </p:sp>
      <p:sp>
        <p:nvSpPr>
          <p:cNvPr id="12" name="Shape 9"/>
          <p:cNvSpPr/>
          <p:nvPr/>
        </p:nvSpPr>
        <p:spPr>
          <a:xfrm>
            <a:off x="566928" y="2395728"/>
            <a:ext cx="5390388" cy="178308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24343F"/>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What I would build</a:t>
            </a:r>
            <a:endParaRPr lang="en-US" sz="1300" dirty="0"/>
          </a:p>
        </p:txBody>
      </p:sp>
      <p:sp>
        <p:nvSpPr>
          <p:cNvPr id="15" name="Text 12"/>
          <p:cNvSpPr/>
          <p:nvPr/>
        </p:nvSpPr>
        <p:spPr>
          <a:xfrm>
            <a:off x="768096" y="2962656"/>
            <a:ext cx="4988052" cy="10515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Complaint triage — reads a complaint, proposes a team, quotes its reason</a:t>
            </a:r>
            <a:endParaRPr lang="en-US" sz="1150" dirty="0"/>
          </a:p>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Anomaly flagging — every flag carries a reason, a human decides</a:t>
            </a:r>
            <a:endParaRPr lang="en-US" sz="1150" dirty="0"/>
          </a:p>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Reporting assistance — drafts what a person signs</a:t>
            </a:r>
            <a:endParaRPr lang="en-US" sz="1150" dirty="0"/>
          </a:p>
        </p:txBody>
      </p:sp>
      <p:sp>
        <p:nvSpPr>
          <p:cNvPr id="16" name="Shape 13"/>
          <p:cNvSpPr/>
          <p:nvPr/>
        </p:nvSpPr>
        <p:spPr>
          <a:xfrm>
            <a:off x="6231636" y="2395728"/>
            <a:ext cx="5390388" cy="178308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445A69"/>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What I refuse to build</a:t>
            </a:r>
            <a:endParaRPr lang="en-US" sz="1300" dirty="0"/>
          </a:p>
        </p:txBody>
      </p:sp>
      <p:sp>
        <p:nvSpPr>
          <p:cNvPr id="19" name="Text 16"/>
          <p:cNvSpPr/>
          <p:nvPr/>
        </p:nvSpPr>
        <p:spPr>
          <a:xfrm>
            <a:off x="6432804" y="2962656"/>
            <a:ext cx="4988052" cy="10515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Customer-facing chatbot — fails in public, in your customer's voice</a:t>
            </a:r>
            <a:endParaRPr lang="en-US" sz="1150" dirty="0"/>
          </a:p>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Credit scoring — Annex III high-risk under the EU AI Act</a:t>
            </a:r>
            <a:endParaRPr lang="en-US" sz="1150" dirty="0"/>
          </a:p>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Predicting which complaints cost money — creates the wrong incentive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This is the dashboard you would open</a:t>
            </a:r>
            <a:endParaRPr lang="en-US" sz="3000" dirty="0"/>
          </a:p>
        </p:txBody>
      </p:sp>
      <p:sp>
        <p:nvSpPr>
          <p:cNvPr id="6" name="Shape 3"/>
          <p:cNvSpPr/>
          <p:nvPr/>
        </p:nvSpPr>
        <p:spPr>
          <a:xfrm>
            <a:off x="566928" y="6437376"/>
            <a:ext cx="11055096" cy="0"/>
          </a:xfrm>
          <a:prstGeom prst="line">
            <a:avLst/>
          </a:prstGeom>
          <a:noFill/>
          <a:ln w="12700">
            <a:solidFill>
              <a:srgbClr val="D9E3EA"/>
            </a:solidFill>
            <a:prstDash val="solid"/>
          </a:ln>
        </p:spPr>
      </p:sp>
      <p:sp>
        <p:nvSpPr>
          <p:cNvPr id="7" name="Text 4"/>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8" name="Text 5"/>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3</a:t>
            </a:r>
            <a:endParaRPr lang="en-US" sz="850" dirty="0"/>
          </a:p>
        </p:txBody>
      </p:sp>
      <p:pic>
        <p:nvPicPr>
          <p:cNvPr id="9" name="Image 1" descr="/Users/nnanyelugoahukannah/Learning/Ironhack/PROJECT-Capstone-AI-Consulting/dashboard/screenshots/dash-top.png">    </p:cNvPr>
          <p:cNvPicPr>
            <a:picLocks noChangeAspect="1"/>
          </p:cNvPicPr>
          <p:nvPr/>
        </p:nvPicPr>
        <p:blipFill>
          <a:blip r:embed="rId2"/>
          <a:stretch>
            <a:fillRect/>
          </a:stretch>
        </p:blipFill>
        <p:spPr>
          <a:xfrm>
            <a:off x="566928" y="1481328"/>
            <a:ext cx="6964710" cy="4873752"/>
          </a:xfrm>
          <a:prstGeom prst="rect">
            <a:avLst/>
          </a:prstGeom>
        </p:spPr>
      </p:pic>
      <p:sp>
        <p:nvSpPr>
          <p:cNvPr id="10" name="Shape 6"/>
          <p:cNvSpPr/>
          <p:nvPr/>
        </p:nvSpPr>
        <p:spPr>
          <a:xfrm>
            <a:off x="7824246" y="1481328"/>
            <a:ext cx="3797778" cy="4873752"/>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11" name="Text 7"/>
          <p:cNvSpPr/>
          <p:nvPr/>
        </p:nvSpPr>
        <p:spPr>
          <a:xfrm>
            <a:off x="8061990" y="1700784"/>
            <a:ext cx="3340578" cy="310896"/>
          </a:xfrm>
          <a:prstGeom prst="rect">
            <a:avLst/>
          </a:prstGeom>
          <a:noFill/>
          <a:ln/>
        </p:spPr>
        <p:txBody>
          <a:bodyPr wrap="square" lIns="0" tIns="0" rIns="0" bIns="0" rtlCol="0" anchor="ctr"/>
          <a:lstStyle/>
          <a:p>
            <a:pPr indent="0" marL="0">
              <a:buNone/>
            </a:pPr>
            <a:r>
              <a:rPr lang="en-US" sz="1100" dirty="0">
                <a:solidFill>
                  <a:srgbClr val="2A78D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What you read first</a:t>
            </a:r>
            <a:endParaRPr lang="en-US" sz="1100" dirty="0"/>
          </a:p>
        </p:txBody>
      </p:sp>
      <p:sp>
        <p:nvSpPr>
          <p:cNvPr id="12" name="Text 8"/>
          <p:cNvSpPr/>
          <p:nvPr/>
        </p:nvSpPr>
        <p:spPr>
          <a:xfrm>
            <a:off x="8061990" y="2139696"/>
            <a:ext cx="3322290" cy="3959352"/>
          </a:xfrm>
          <a:prstGeom prst="rect">
            <a:avLst/>
          </a:prstGeom>
          <a:noFill/>
          <a:ln/>
        </p:spPr>
        <p:txBody>
          <a:bodyPr wrap="square" rtlCol="0" anchor="t"/>
          <a:lstStyle/>
          <a:p>
            <a:pPr marL="152400" indent="-152400">
              <a:spcAft>
                <a:spcPts val="500"/>
              </a:spcAft>
              <a:buSzPct val="100000"/>
              <a:buChar char="•"/>
            </a:pPr>
            <a:r>
              <a:rPr lang="en-US" sz="1250" dirty="0">
                <a:solidFill>
                  <a:srgbClr val="C6D8E4"/>
                </a:solidFill>
              </a:rPr>
              <a:t>16,839 complaints handled — the workload, not a sample</a:t>
            </a:r>
            <a:endParaRPr lang="en-US" sz="1250" dirty="0"/>
          </a:p>
          <a:p>
            <a:pPr marL="152400" indent="-152400">
              <a:spcAft>
                <a:spcPts val="500"/>
              </a:spcAft>
              <a:buSzPct val="100000"/>
              <a:buChar char="•"/>
            </a:pPr>
            <a:r>
              <a:rPr lang="en-US" sz="1250" dirty="0">
                <a:solidFill>
                  <a:srgbClr val="C6D8E4"/>
                </a:solidFill>
              </a:rPr>
              <a:t>98.0% answered on time — the number you already report</a:t>
            </a:r>
            <a:endParaRPr lang="en-US" sz="1250" dirty="0"/>
          </a:p>
          <a:p>
            <a:pPr marL="152400" indent="-152400">
              <a:spcAft>
                <a:spcPts val="500"/>
              </a:spcAft>
              <a:buSzPct val="100000"/>
              <a:buChar char="•"/>
            </a:pPr>
            <a:r>
              <a:rPr lang="en-US" sz="1250" dirty="0">
                <a:solidFill>
                  <a:srgbClr val="C6D8E4"/>
                </a:solidFill>
              </a:rPr>
              <a:t>12.7% cost money to resolve — the only figure in your currency</a:t>
            </a:r>
            <a:endParaRPr lang="en-US" sz="1250" dirty="0"/>
          </a:p>
          <a:p>
            <a:pPr marL="152400" indent="-152400">
              <a:spcAft>
                <a:spcPts val="500"/>
              </a:spcAft>
              <a:buSzPct val="100000"/>
              <a:buChar char="•"/>
            </a:pPr>
            <a:r>
              <a:rPr lang="en-US" sz="1250" dirty="0">
                <a:solidFill>
                  <a:srgbClr val="C6D8E4"/>
                </a:solidFill>
              </a:rPr>
              <a:t>46% could be auto-sorted — the opportunity, stated as a share not a promise</a:t>
            </a:r>
            <a:endParaRPr lang="en-US" sz="1250" dirty="0"/>
          </a:p>
          <a:p>
            <a:pPr marL="152400" indent="-152400">
              <a:spcAft>
                <a:spcPts val="500"/>
              </a:spcAft>
              <a:buSzPct val="100000"/>
              <a:buChar char="•"/>
            </a:pPr>
            <a:r>
              <a:rPr lang="en-US" sz="1250" dirty="0">
                <a:solidFill>
                  <a:srgbClr val="C6D8E4"/>
                </a:solidFill>
              </a:rPr>
              <a:t>Every panel says what it means in plain English underneath. No statistics jargon anywhere on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Volume and cost are not the same picture</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Where a complaint lands has money attached to it — cards pay out 5.7× more often than vehicle loans.</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4</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749040"/>
                <a:gridCol w="1371600"/>
                <a:gridCol w="1188720"/>
                <a:gridCol w="2377440"/>
              </a:tblGrid>
              <a:tr h="329184">
                <a:tc>
                  <a:txBody>
                    <a:bodyPr/>
                    <a:lstStyle/>
                    <a:p>
                      <a:pPr indent="0" marL="0">
                        <a:buNone/>
                      </a:pPr>
                      <a:r>
                        <a:rPr lang="en-US" sz="1100" b="1" dirty="0">
                          <a:solidFill>
                            <a:srgbClr val="FFFFFF"/>
                          </a:solidFill>
                        </a:rPr>
                        <a:t>Product</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Complaints</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Share</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Closed with money paid</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r>
              <a:tr h="384048">
                <a:tc>
                  <a:txBody>
                    <a:bodyPr/>
                    <a:lstStyle/>
                    <a:p>
                      <a:pPr indent="0" marL="0">
                        <a:buNone/>
                      </a:pPr>
                      <a:r>
                        <a:rPr lang="en-US" sz="1050" b="1" dirty="0">
                          <a:solidFill>
                            <a:srgbClr val="24343F"/>
                          </a:solidFill>
                        </a:rPr>
                        <a:t>Checking or savings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5,835</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34.7%</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14.0%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Credit card</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5,382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32.0%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17.2%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Money transfer</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2,551</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15.1%</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10.6%</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Vehicle loan</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1,523</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9.0%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3.0%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489704"/>
            <a:ext cx="11055096" cy="640080"/>
          </a:xfrm>
          <a:prstGeom prst="rect">
            <a:avLst/>
          </a:prstGeom>
          <a:solidFill>
            <a:srgbClr val="EFF5F9"/>
          </a:solidFill>
          <a:ln/>
        </p:spPr>
      </p:sp>
      <p:sp>
        <p:nvSpPr>
          <p:cNvPr id="14" name="Shape 10"/>
          <p:cNvSpPr/>
          <p:nvPr/>
        </p:nvSpPr>
        <p:spPr>
          <a:xfrm>
            <a:off x="566928" y="4489704"/>
            <a:ext cx="82296" cy="640080"/>
          </a:xfrm>
          <a:prstGeom prst="rect">
            <a:avLst/>
          </a:prstGeom>
          <a:solidFill>
            <a:srgbClr val="2A78D6"/>
          </a:solidFill>
          <a:ln/>
        </p:spPr>
      </p:sp>
      <p:sp>
        <p:nvSpPr>
          <p:cNvPr id="15" name="Text 11"/>
          <p:cNvSpPr/>
          <p:nvPr/>
        </p:nvSpPr>
        <p:spPr>
          <a:xfrm>
            <a:off x="822960" y="4489704"/>
            <a:ext cx="10597896" cy="64008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Two thirds of volume sits in deposits and cards — and so does the money.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Five categories are half of everything that arrives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The model does not need to understand 64 things. It needs five, and it needs to say “I don't know” about the rest.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5</a:t>
            </a:r>
            <a:endParaRPr lang="en-US" sz="850" dirty="0"/>
          </a:p>
        </p:txBody>
      </p:sp>
      <p:sp>
        <p:nvSpPr>
          <p:cNvPr id="12" name="Shape 9"/>
          <p:cNvSpPr/>
          <p:nvPr/>
        </p:nvSpPr>
        <p:spPr>
          <a:xfrm>
            <a:off x="566928" y="2395728"/>
            <a:ext cx="6411956" cy="329184"/>
          </a:xfrm>
          <a:prstGeom prst="rect">
            <a:avLst/>
          </a:prstGeom>
          <a:solidFill>
            <a:srgbClr val="24343F"/>
          </a:solidFill>
          <a:ln/>
        </p:spPr>
      </p:sp>
      <p:sp>
        <p:nvSpPr>
          <p:cNvPr id="13" name="Text 10"/>
          <p:cNvSpPr/>
          <p:nvPr/>
        </p:nvSpPr>
        <p:spPr>
          <a:xfrm>
            <a:off x="713232" y="2395728"/>
            <a:ext cx="6137636"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Managing an account  —  19.9%</a:t>
            </a:r>
            <a:endParaRPr lang="en-US" sz="1050" dirty="0"/>
          </a:p>
        </p:txBody>
      </p:sp>
      <p:sp>
        <p:nvSpPr>
          <p:cNvPr id="14" name="Shape 11"/>
          <p:cNvSpPr/>
          <p:nvPr/>
        </p:nvSpPr>
        <p:spPr>
          <a:xfrm>
            <a:off x="676656" y="2793492"/>
            <a:ext cx="6302228" cy="329184"/>
          </a:xfrm>
          <a:prstGeom prst="rect">
            <a:avLst/>
          </a:prstGeom>
          <a:solidFill>
            <a:srgbClr val="24343F">
              <a:alpha val="94000"/>
            </a:srgbClr>
          </a:solidFill>
          <a:ln/>
        </p:spPr>
      </p:sp>
      <p:sp>
        <p:nvSpPr>
          <p:cNvPr id="15" name="Text 12"/>
          <p:cNvSpPr/>
          <p:nvPr/>
        </p:nvSpPr>
        <p:spPr>
          <a:xfrm>
            <a:off x="822960" y="2793492"/>
            <a:ext cx="6027908"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Problem with a purchase on your statement  —  11.2%</a:t>
            </a:r>
            <a:endParaRPr lang="en-US" sz="1050" dirty="0"/>
          </a:p>
        </p:txBody>
      </p:sp>
      <p:sp>
        <p:nvSpPr>
          <p:cNvPr id="16" name="Shape 13"/>
          <p:cNvSpPr/>
          <p:nvPr/>
        </p:nvSpPr>
        <p:spPr>
          <a:xfrm>
            <a:off x="786384" y="3191256"/>
            <a:ext cx="6192500" cy="329184"/>
          </a:xfrm>
          <a:prstGeom prst="rect">
            <a:avLst/>
          </a:prstGeom>
          <a:solidFill>
            <a:srgbClr val="24343F">
              <a:alpha val="88000"/>
            </a:srgbClr>
          </a:solidFill>
          <a:ln/>
        </p:spPr>
      </p:sp>
      <p:sp>
        <p:nvSpPr>
          <p:cNvPr id="17" name="Text 14"/>
          <p:cNvSpPr/>
          <p:nvPr/>
        </p:nvSpPr>
        <p:spPr>
          <a:xfrm>
            <a:off x="932688" y="3191256"/>
            <a:ext cx="5918180"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 lender or company charging your account  —  5.6%</a:t>
            </a:r>
            <a:endParaRPr lang="en-US" sz="1050" dirty="0"/>
          </a:p>
        </p:txBody>
      </p:sp>
      <p:sp>
        <p:nvSpPr>
          <p:cNvPr id="18" name="Shape 15"/>
          <p:cNvSpPr/>
          <p:nvPr/>
        </p:nvSpPr>
        <p:spPr>
          <a:xfrm>
            <a:off x="896112" y="3589020"/>
            <a:ext cx="6082772" cy="329184"/>
          </a:xfrm>
          <a:prstGeom prst="rect">
            <a:avLst/>
          </a:prstGeom>
          <a:solidFill>
            <a:srgbClr val="24343F">
              <a:alpha val="82000"/>
            </a:srgbClr>
          </a:solidFill>
          <a:ln/>
        </p:spPr>
      </p:sp>
      <p:sp>
        <p:nvSpPr>
          <p:cNvPr id="19" name="Text 16"/>
          <p:cNvSpPr/>
          <p:nvPr/>
        </p:nvSpPr>
        <p:spPr>
          <a:xfrm>
            <a:off x="1042416" y="3589020"/>
            <a:ext cx="5808452"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Fraud or scam  —  4.8%</a:t>
            </a:r>
            <a:endParaRPr lang="en-US" sz="1050" dirty="0"/>
          </a:p>
        </p:txBody>
      </p:sp>
      <p:sp>
        <p:nvSpPr>
          <p:cNvPr id="20" name="Shape 17"/>
          <p:cNvSpPr/>
          <p:nvPr/>
        </p:nvSpPr>
        <p:spPr>
          <a:xfrm>
            <a:off x="1005840" y="3986784"/>
            <a:ext cx="5973044" cy="329184"/>
          </a:xfrm>
          <a:prstGeom prst="rect">
            <a:avLst/>
          </a:prstGeom>
          <a:solidFill>
            <a:srgbClr val="24343F">
              <a:alpha val="76000"/>
            </a:srgbClr>
          </a:solidFill>
          <a:ln/>
        </p:spPr>
      </p:sp>
      <p:sp>
        <p:nvSpPr>
          <p:cNvPr id="21" name="Text 18"/>
          <p:cNvSpPr/>
          <p:nvPr/>
        </p:nvSpPr>
        <p:spPr>
          <a:xfrm>
            <a:off x="1152144" y="3986784"/>
            <a:ext cx="5698724"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Closing an account  —  4.6%</a:t>
            </a:r>
            <a:endParaRPr lang="en-US" sz="1050" dirty="0"/>
          </a:p>
        </p:txBody>
      </p:sp>
      <p:sp>
        <p:nvSpPr>
          <p:cNvPr id="22" name="Shape 19"/>
          <p:cNvSpPr/>
          <p:nvPr/>
        </p:nvSpPr>
        <p:spPr>
          <a:xfrm>
            <a:off x="7253204" y="2395728"/>
            <a:ext cx="4368820" cy="1920240"/>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23" name="Text 20"/>
          <p:cNvSpPr/>
          <p:nvPr/>
        </p:nvSpPr>
        <p:spPr>
          <a:xfrm>
            <a:off x="7509236" y="2596896"/>
            <a:ext cx="3856756" cy="1517904"/>
          </a:xfrm>
          <a:prstGeom prst="rect">
            <a:avLst/>
          </a:prstGeom>
          <a:noFill/>
          <a:ln/>
        </p:spPr>
        <p:txBody>
          <a:bodyPr wrap="square" lIns="0" tIns="0" rIns="0" bIns="0" rtlCol="0" anchor="t"/>
          <a:lstStyle/>
          <a:p>
            <a:pPr indent="0" marL="0">
              <a:buNone/>
            </a:pPr>
            <a:r>
              <a:rPr lang="en-US" sz="4000" b="1" dirty="0">
                <a:solidFill>
                  <a:srgbClr val="2A78D6"/>
                </a:solidFill>
                <a:latin typeface="Trebuchet MS" pitchFamily="34" charset="0"/>
                <a:ea typeface="Trebuchet MS" pitchFamily="34" charset="-122"/>
                <a:cs typeface="Trebuchet MS" pitchFamily="34" charset="-120"/>
              </a:rPr>
              <a:t>46.1%
</a:t>
            </a:r>
            <a:pPr indent="0" marL="0">
              <a:buNone/>
            </a:pPr>
            <a:r>
              <a:rPr lang="en-US" sz="1300" dirty="0">
                <a:solidFill>
                  <a:srgbClr val="FFFFFF"/>
                </a:solidFill>
              </a:rPr>
              <a:t>of all complaints sit in just 5 of 64 categories.
</a:t>
            </a:r>
            <a:pPr indent="0" marL="0">
              <a:buNone/>
            </a:pPr>
            <a:r>
              <a:rPr lang="en-US" sz="1200" i="1" dirty="0">
                <a:solidFill>
                  <a:srgbClr val="8FBFF0"/>
                </a:solidFill>
              </a:rPr>
              <a:t>That is what makes the scope small enough to be honest about.</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You can watch it decide — and every branch ends at a person</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Running now on the cohort n8n instance. Open any step and read the exact data going in and out.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6</a:t>
            </a:r>
            <a:endParaRPr lang="en-US" sz="850" dirty="0"/>
          </a:p>
        </p:txBody>
      </p:sp>
      <p:sp>
        <p:nvSpPr>
          <p:cNvPr id="12" name="Shape 9"/>
          <p:cNvSpPr/>
          <p:nvPr/>
        </p:nvSpPr>
        <p:spPr>
          <a:xfrm>
            <a:off x="566928" y="2395728"/>
            <a:ext cx="2681478" cy="749808"/>
          </a:xfrm>
          <a:prstGeom prst="rightArrow">
            <a:avLst/>
          </a:prstGeom>
          <a:solidFill>
            <a:srgbClr val="24343F"/>
          </a:solidFill>
          <a:ln/>
        </p:spPr>
      </p:sp>
      <p:sp>
        <p:nvSpPr>
          <p:cNvPr id="13" name="Text 10"/>
          <p:cNvSpPr/>
          <p:nvPr/>
        </p:nvSpPr>
        <p:spPr>
          <a:xfrm>
            <a:off x="612648" y="2395728"/>
            <a:ext cx="2571750"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Complaint arrives</a:t>
            </a:r>
            <a:endParaRPr lang="en-US" sz="1050" dirty="0"/>
          </a:p>
        </p:txBody>
      </p:sp>
      <p:sp>
        <p:nvSpPr>
          <p:cNvPr id="14" name="Shape 11"/>
          <p:cNvSpPr/>
          <p:nvPr/>
        </p:nvSpPr>
        <p:spPr>
          <a:xfrm>
            <a:off x="3358134" y="2395728"/>
            <a:ext cx="2681478" cy="749808"/>
          </a:xfrm>
          <a:prstGeom prst="rightArrow">
            <a:avLst/>
          </a:prstGeom>
          <a:solidFill>
            <a:srgbClr val="24343F"/>
          </a:solidFill>
          <a:ln/>
        </p:spPr>
      </p:sp>
      <p:sp>
        <p:nvSpPr>
          <p:cNvPr id="15" name="Text 12"/>
          <p:cNvSpPr/>
          <p:nvPr/>
        </p:nvSpPr>
        <p:spPr>
          <a:xfrm>
            <a:off x="3403854" y="2395728"/>
            <a:ext cx="2571750"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Model proposes a team</a:t>
            </a:r>
            <a:endParaRPr lang="en-US" sz="1050" dirty="0"/>
          </a:p>
        </p:txBody>
      </p:sp>
      <p:sp>
        <p:nvSpPr>
          <p:cNvPr id="16" name="Shape 13"/>
          <p:cNvSpPr/>
          <p:nvPr/>
        </p:nvSpPr>
        <p:spPr>
          <a:xfrm>
            <a:off x="6149340" y="2395728"/>
            <a:ext cx="2681478" cy="749808"/>
          </a:xfrm>
          <a:prstGeom prst="rightArrow">
            <a:avLst/>
          </a:prstGeom>
          <a:solidFill>
            <a:srgbClr val="24343F"/>
          </a:solidFill>
          <a:ln/>
        </p:spPr>
      </p:sp>
      <p:sp>
        <p:nvSpPr>
          <p:cNvPr id="17" name="Text 14"/>
          <p:cNvSpPr/>
          <p:nvPr/>
        </p:nvSpPr>
        <p:spPr>
          <a:xfrm>
            <a:off x="6195060" y="2395728"/>
            <a:ext cx="2571750"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Four checks run</a:t>
            </a:r>
            <a:endParaRPr lang="en-US" sz="1050" dirty="0"/>
          </a:p>
        </p:txBody>
      </p:sp>
      <p:sp>
        <p:nvSpPr>
          <p:cNvPr id="18" name="Shape 15"/>
          <p:cNvSpPr/>
          <p:nvPr/>
        </p:nvSpPr>
        <p:spPr>
          <a:xfrm>
            <a:off x="8940546" y="2395728"/>
            <a:ext cx="2681478" cy="749808"/>
          </a:xfrm>
          <a:prstGeom prst="rightArrow">
            <a:avLst/>
          </a:prstGeom>
          <a:solidFill>
            <a:srgbClr val="2A78D6"/>
          </a:solidFill>
          <a:ln/>
        </p:spPr>
      </p:sp>
      <p:sp>
        <p:nvSpPr>
          <p:cNvPr id="19" name="Text 16"/>
          <p:cNvSpPr/>
          <p:nvPr/>
        </p:nvSpPr>
        <p:spPr>
          <a:xfrm>
            <a:off x="8986266" y="2395728"/>
            <a:ext cx="2571750" cy="749808"/>
          </a:xfrm>
          <a:prstGeom prst="rect">
            <a:avLst/>
          </a:prstGeom>
          <a:noFill/>
          <a:ln/>
        </p:spPr>
        <p:txBody>
          <a:bodyPr wrap="square" lIns="0" tIns="0" rIns="0" bIns="0" rtlCol="0" anchor="ctr"/>
          <a:lstStyle/>
          <a:p>
            <a:pPr algn="ctr" indent="0" marL="0">
              <a:buNone/>
            </a:pPr>
            <a:r>
              <a:rPr lang="en-US" sz="1050" b="1" dirty="0">
                <a:solidFill>
                  <a:srgbClr val="1D2A32"/>
                </a:solidFill>
                <a:latin typeface="Calibri" pitchFamily="34" charset="0"/>
                <a:ea typeface="Calibri" pitchFamily="34" charset="-122"/>
                <a:cs typeface="Calibri" pitchFamily="34" charset="-120"/>
              </a:rPr>
              <a:t>A person decides</a:t>
            </a:r>
            <a:endParaRPr lang="en-US" sz="1050" dirty="0"/>
          </a:p>
        </p:txBody>
      </p:sp>
      <p:sp>
        <p:nvSpPr>
          <p:cNvPr id="20" name="Shape 17"/>
          <p:cNvSpPr/>
          <p:nvPr/>
        </p:nvSpPr>
        <p:spPr>
          <a:xfrm>
            <a:off x="566928" y="3419856"/>
            <a:ext cx="11055096" cy="868680"/>
          </a:xfrm>
          <a:prstGeom prst="rect">
            <a:avLst/>
          </a:prstGeom>
          <a:solidFill>
            <a:srgbClr val="EFF5F9"/>
          </a:solidFill>
          <a:ln/>
        </p:spPr>
      </p:sp>
      <p:sp>
        <p:nvSpPr>
          <p:cNvPr id="21" name="Shape 18"/>
          <p:cNvSpPr/>
          <p:nvPr/>
        </p:nvSpPr>
        <p:spPr>
          <a:xfrm>
            <a:off x="566928" y="3419856"/>
            <a:ext cx="82296" cy="868680"/>
          </a:xfrm>
          <a:prstGeom prst="rect">
            <a:avLst/>
          </a:prstGeom>
          <a:solidFill>
            <a:srgbClr val="2A78D6"/>
          </a:solidFill>
          <a:ln/>
        </p:spPr>
      </p:sp>
      <p:sp>
        <p:nvSpPr>
          <p:cNvPr id="22" name="Text 19"/>
          <p:cNvSpPr/>
          <p:nvPr/>
        </p:nvSpPr>
        <p:spPr>
          <a:xfrm>
            <a:off x="822960" y="3419856"/>
            <a:ext cx="10597896" cy="86868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The model's answer is a claim, not a result.  </a:t>
            </a:r>
            <a:pPr indent="0" marL="0">
              <a:buNone/>
            </a:pPr>
            <a:r>
              <a:rPr lang="en-US" sz="1250" dirty="0">
                <a:solidFill>
                  <a:srgbClr val="000000"/>
                </a:solidFill>
                <a:latin typeface="Calibri" pitchFamily="34" charset="0"/>
                <a:ea typeface="Calibri" pitchFamily="34" charset="-122"/>
                <a:cs typeface="Calibri" pitchFamily="34" charset="-120"/>
              </a:rPr>
              <a:t>Before anyone sees it, four things are checked: that it answered properly, that the team it picked exists for that product, that it was confident enough, and that the sentence it quoted is really in the complaint. Any failure goes to a person, with the reason stated.</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Here it is, actually running</a:t>
            </a:r>
            <a:endParaRPr lang="en-US" sz="3000" dirty="0"/>
          </a:p>
        </p:txBody>
      </p:sp>
      <p:sp>
        <p:nvSpPr>
          <p:cNvPr id="6" name="Shape 3"/>
          <p:cNvSpPr/>
          <p:nvPr/>
        </p:nvSpPr>
        <p:spPr>
          <a:xfrm>
            <a:off x="566928" y="6437376"/>
            <a:ext cx="11055096" cy="0"/>
          </a:xfrm>
          <a:prstGeom prst="line">
            <a:avLst/>
          </a:prstGeom>
          <a:noFill/>
          <a:ln w="12700">
            <a:solidFill>
              <a:srgbClr val="D9E3EA"/>
            </a:solidFill>
            <a:prstDash val="solid"/>
          </a:ln>
        </p:spPr>
      </p:sp>
      <p:sp>
        <p:nvSpPr>
          <p:cNvPr id="7" name="Text 4"/>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8" name="Text 5"/>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7</a:t>
            </a:r>
            <a:endParaRPr lang="en-US" sz="850" dirty="0"/>
          </a:p>
        </p:txBody>
      </p:sp>
      <p:pic>
        <p:nvPicPr>
          <p:cNvPr id="9" name="Image 1" descr="/Users/nnanyelugoahukannah/Learning/Ironhack/PROJECT-Capstone-AI-Consulting/n8n/screenshots/n8n-execution.png">    </p:cNvPr>
          <p:cNvPicPr>
            <a:picLocks noChangeAspect="1"/>
          </p:cNvPicPr>
          <p:nvPr/>
        </p:nvPicPr>
        <p:blipFill>
          <a:blip r:embed="rId2"/>
          <a:stretch>
            <a:fillRect/>
          </a:stretch>
        </p:blipFill>
        <p:spPr>
          <a:xfrm>
            <a:off x="566928" y="1481328"/>
            <a:ext cx="6964710" cy="4873752"/>
          </a:xfrm>
          <a:prstGeom prst="rect">
            <a:avLst/>
          </a:prstGeom>
        </p:spPr>
      </p:pic>
      <p:sp>
        <p:nvSpPr>
          <p:cNvPr id="10" name="Shape 6"/>
          <p:cNvSpPr/>
          <p:nvPr/>
        </p:nvSpPr>
        <p:spPr>
          <a:xfrm>
            <a:off x="7824246" y="1481328"/>
            <a:ext cx="3797778" cy="4873752"/>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11" name="Text 7"/>
          <p:cNvSpPr/>
          <p:nvPr/>
        </p:nvSpPr>
        <p:spPr>
          <a:xfrm>
            <a:off x="8061990" y="1700784"/>
            <a:ext cx="3340578" cy="310896"/>
          </a:xfrm>
          <a:prstGeom prst="rect">
            <a:avLst/>
          </a:prstGeom>
          <a:noFill/>
          <a:ln/>
        </p:spPr>
        <p:txBody>
          <a:bodyPr wrap="square" lIns="0" tIns="0" rIns="0" bIns="0" rtlCol="0" anchor="ctr"/>
          <a:lstStyle/>
          <a:p>
            <a:pPr indent="0" marL="0">
              <a:buNone/>
            </a:pPr>
            <a:r>
              <a:rPr lang="en-US" sz="1100" dirty="0">
                <a:solidFill>
                  <a:srgbClr val="2A78D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What you are looking at</a:t>
            </a:r>
            <a:endParaRPr lang="en-US" sz="1100" dirty="0"/>
          </a:p>
        </p:txBody>
      </p:sp>
      <p:sp>
        <p:nvSpPr>
          <p:cNvPr id="12" name="Text 8"/>
          <p:cNvSpPr/>
          <p:nvPr/>
        </p:nvSpPr>
        <p:spPr>
          <a:xfrm>
            <a:off x="8061990" y="2139696"/>
            <a:ext cx="3322290" cy="3959352"/>
          </a:xfrm>
          <a:prstGeom prst="rect">
            <a:avLst/>
          </a:prstGeom>
          <a:noFill/>
          <a:ln/>
        </p:spPr>
        <p:txBody>
          <a:bodyPr wrap="square" rtlCol="0" anchor="t"/>
          <a:lstStyle/>
          <a:p>
            <a:pPr marL="152400" indent="-152400">
              <a:spcAft>
                <a:spcPts val="500"/>
              </a:spcAft>
              <a:buSzPct val="100000"/>
              <a:buChar char="•"/>
            </a:pPr>
            <a:r>
              <a:rPr lang="en-US" sz="1250" dirty="0">
                <a:solidFill>
                  <a:srgbClr val="C6D8E4"/>
                </a:solidFill>
              </a:rPr>
              <a:t>Green ticks: every node executed, on a real complaint from the corpus</a:t>
            </a:r>
            <a:endParaRPr lang="en-US" sz="1250" dirty="0"/>
          </a:p>
          <a:p>
            <a:pPr marL="152400" indent="-152400">
              <a:spcAft>
                <a:spcPts val="500"/>
              </a:spcAft>
              <a:buSzPct val="100000"/>
              <a:buChar char="•"/>
            </a:pPr>
            <a:r>
              <a:rPr lang="en-US" sz="1250" dirty="0">
                <a:solidFill>
                  <a:srgbClr val="C6D8E4"/>
                </a:solidFill>
              </a:rPr>
              <a:t>Bottom panel: the proposed team, the confidence, and the quote it relied on</a:t>
            </a:r>
            <a:endParaRPr lang="en-US" sz="1250" dirty="0"/>
          </a:p>
          <a:p>
            <a:pPr marL="152400" indent="-152400">
              <a:spcAft>
                <a:spcPts val="500"/>
              </a:spcAft>
              <a:buSzPct val="100000"/>
              <a:buChar char="•"/>
            </a:pPr>
            <a:r>
              <a:rPr lang="en-US" sz="1250" dirty="0">
                <a:solidFill>
                  <a:srgbClr val="C6D8E4"/>
                </a:solidFill>
              </a:rPr>
              <a:t>It routed to Disputes and fraud — which matched the complaint's actual label</a:t>
            </a:r>
            <a:endParaRPr lang="en-US" sz="1250" dirty="0"/>
          </a:p>
          <a:p>
            <a:pPr marL="152400" indent="-152400">
              <a:spcAft>
                <a:spcPts val="500"/>
              </a:spcAft>
              <a:buSzPct val="100000"/>
              <a:buChar char="•"/>
            </a:pPr>
            <a:r>
              <a:rPr lang="en-US" sz="1250" dirty="0">
                <a:solidFill>
                  <a:srgbClr val="C6D8E4"/>
                </a:solidFill>
              </a:rPr>
              <a:t>Nothing here is a mockup. You can click any node and read its real input and output.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It caught itself fabricating a reason — four times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60 decisions traced in LangSmith. Every one accounted for, including every refusal.</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8</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931920"/>
                <a:gridCol w="7123176"/>
              </a:tblGrid>
              <a:tr h="329184">
                <a:tc>
                  <a:txBody>
                    <a:bodyPr/>
                    <a:lstStyle/>
                    <a:p>
                      <a:pPr indent="0" marL="0">
                        <a:buNone/>
                      </a:pPr>
                      <a:r>
                        <a:rPr lang="en-US" sz="1100" b="1" spc="100" kern="0" dirty="0">
                          <a:solidFill>
                            <a:srgbClr val="FFFFFF"/>
                          </a:solidFill>
                        </a:rPr>
                        <a:t>WHAT HAPPENED</a:t>
                      </a:r>
                      <a:endParaRPr lang="en-US" sz="110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spc="100" kern="0" dirty="0">
                          <a:solidFill>
                            <a:srgbClr val="1D2A32"/>
                          </a:solidFill>
                        </a:rPr>
                        <a:t>HOW OFTEN, IN 60 DECISIONS</a:t>
                      </a:r>
                      <a:endParaRPr lang="en-US" sz="110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2A78D6"/>
                    </a:solidFill>
                  </a:tcPr>
                </a:tc>
              </a:tr>
              <a:tr h="338328">
                <a:tc>
                  <a:txBody>
                    <a:bodyPr/>
                    <a:lstStyle/>
                    <a:p>
                      <a:pPr indent="0" marL="0">
                        <a:buNone/>
                      </a:pPr>
                      <a:r>
                        <a:rPr lang="en-US" sz="1050" b="1" dirty="0">
                          <a:solidFill>
                            <a:srgbClr val="24343F"/>
                          </a:solidFill>
                        </a:rPr>
                        <a:t>Proposed a team, all checks passed</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52</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24343F"/>
                          </a:solidFill>
                        </a:rPr>
                        <a:t>Quote was not actually in the complaint</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c>
                  <a:txBody>
                    <a:bodyPr/>
                    <a:lstStyle/>
                    <a:p>
                      <a:pPr indent="0" marL="0">
                        <a:buNone/>
                      </a:pPr>
                      <a:r>
                        <a:rPr lang="en-US" sz="1050" dirty="0">
                          <a:solidFill>
                            <a:srgbClr val="1B2730"/>
                          </a:solidFill>
                        </a:rPr>
                        <a:t>4  —  caught, sent to a human</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r>
              <a:tr h="338328">
                <a:tc>
                  <a:txBody>
                    <a:bodyPr/>
                    <a:lstStyle/>
                    <a:p>
                      <a:pPr indent="0" marL="0">
                        <a:buNone/>
                      </a:pPr>
                      <a:r>
                        <a:rPr lang="en-US" sz="1050" b="1" dirty="0">
                          <a:solidFill>
                            <a:srgbClr val="24343F"/>
                          </a:solidFill>
                        </a:rPr>
                        <a:t>Confidence below the 0.70 threshold</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4  —  caught, sent to a human</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24343F"/>
                          </a:solidFill>
                        </a:rPr>
                        <a:t>Silently wrong, with no record</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c>
                  <a:txBody>
                    <a:bodyPr/>
                    <a:lstStyle/>
                    <a:p>
                      <a:pPr indent="0" marL="0">
                        <a:buNone/>
                      </a:pPr>
                      <a:r>
                        <a:rPr lang="en-US" sz="1050" dirty="0">
                          <a:solidFill>
                            <a:srgbClr val="1B2730"/>
                          </a:solidFill>
                        </a:rPr>
                        <a:t>0</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r>
            </a:tbl>
          </a:graphicData>
        </a:graphic>
      </p:graphicFrame>
      <p:sp>
        <p:nvSpPr>
          <p:cNvPr id="13" name="Shape 9"/>
          <p:cNvSpPr/>
          <p:nvPr/>
        </p:nvSpPr>
        <p:spPr>
          <a:xfrm>
            <a:off x="566928" y="4306824"/>
            <a:ext cx="11055096" cy="640080"/>
          </a:xfrm>
          <a:prstGeom prst="rect">
            <a:avLst/>
          </a:prstGeom>
          <a:solidFill>
            <a:srgbClr val="24343F"/>
          </a:solidFill>
          <a:ln/>
        </p:spPr>
      </p:sp>
      <p:sp>
        <p:nvSpPr>
          <p:cNvPr id="14" name="Shape 10"/>
          <p:cNvSpPr/>
          <p:nvPr/>
        </p:nvSpPr>
        <p:spPr>
          <a:xfrm>
            <a:off x="566928" y="4306824"/>
            <a:ext cx="82296" cy="640080"/>
          </a:xfrm>
          <a:prstGeom prst="rect">
            <a:avLst/>
          </a:prstGeom>
          <a:solidFill>
            <a:srgbClr val="2A78D6"/>
          </a:solidFill>
          <a:ln/>
        </p:spPr>
      </p:sp>
      <p:sp>
        <p:nvSpPr>
          <p:cNvPr id="15" name="Text 11"/>
          <p:cNvSpPr/>
          <p:nvPr/>
        </p:nvSpPr>
        <p:spPr>
          <a:xfrm>
            <a:off x="822960" y="4306824"/>
            <a:ext cx="10597896" cy="64008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 system that explains itself convincingly but falsely is more dangerous than one that says nothing.</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One of those four, opened up</a:t>
            </a:r>
            <a:endParaRPr lang="en-US" sz="3000" dirty="0"/>
          </a:p>
        </p:txBody>
      </p:sp>
      <p:sp>
        <p:nvSpPr>
          <p:cNvPr id="6" name="Shape 3"/>
          <p:cNvSpPr/>
          <p:nvPr/>
        </p:nvSpPr>
        <p:spPr>
          <a:xfrm>
            <a:off x="566928" y="6437376"/>
            <a:ext cx="11055096" cy="0"/>
          </a:xfrm>
          <a:prstGeom prst="line">
            <a:avLst/>
          </a:prstGeom>
          <a:noFill/>
          <a:ln w="12700">
            <a:solidFill>
              <a:srgbClr val="D9E3EA"/>
            </a:solidFill>
            <a:prstDash val="solid"/>
          </a:ln>
        </p:spPr>
      </p:sp>
      <p:sp>
        <p:nvSpPr>
          <p:cNvPr id="7" name="Text 4"/>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8" name="Text 5"/>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9</a:t>
            </a:r>
            <a:endParaRPr lang="en-US" sz="850" dirty="0"/>
          </a:p>
        </p:txBody>
      </p:sp>
      <p:pic>
        <p:nvPicPr>
          <p:cNvPr id="9" name="Image 1" descr="/Users/nnanyelugoahukannah/Learning/Ironhack/PROJECT-Capstone-AI-Consulting/langsmith/screenshots/trace-detail-guard-fired.png">    </p:cNvPr>
          <p:cNvPicPr>
            <a:picLocks noChangeAspect="1"/>
          </p:cNvPicPr>
          <p:nvPr/>
        </p:nvPicPr>
        <p:blipFill>
          <a:blip r:embed="rId2"/>
          <a:stretch>
            <a:fillRect/>
          </a:stretch>
        </p:blipFill>
        <p:spPr>
          <a:xfrm>
            <a:off x="566928" y="1481328"/>
            <a:ext cx="6964710" cy="4873752"/>
          </a:xfrm>
          <a:prstGeom prst="rect">
            <a:avLst/>
          </a:prstGeom>
        </p:spPr>
      </p:pic>
      <p:sp>
        <p:nvSpPr>
          <p:cNvPr id="10" name="Shape 6"/>
          <p:cNvSpPr/>
          <p:nvPr/>
        </p:nvSpPr>
        <p:spPr>
          <a:xfrm>
            <a:off x="7824246" y="1481328"/>
            <a:ext cx="3797778" cy="4873752"/>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11" name="Text 7"/>
          <p:cNvSpPr/>
          <p:nvPr/>
        </p:nvSpPr>
        <p:spPr>
          <a:xfrm>
            <a:off x="8061990" y="1700784"/>
            <a:ext cx="3340578" cy="310896"/>
          </a:xfrm>
          <a:prstGeom prst="rect">
            <a:avLst/>
          </a:prstGeom>
          <a:noFill/>
          <a:ln/>
        </p:spPr>
        <p:txBody>
          <a:bodyPr wrap="square" lIns="0" tIns="0" rIns="0" bIns="0" rtlCol="0" anchor="ctr"/>
          <a:lstStyle/>
          <a:p>
            <a:pPr indent="0" marL="0">
              <a:buNone/>
            </a:pPr>
            <a:r>
              <a:rPr lang="en-US" sz="1100" dirty="0">
                <a:solidFill>
                  <a:srgbClr val="2A78D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Why this one was stopped</a:t>
            </a:r>
            <a:endParaRPr lang="en-US" sz="1100" dirty="0"/>
          </a:p>
        </p:txBody>
      </p:sp>
      <p:sp>
        <p:nvSpPr>
          <p:cNvPr id="12" name="Text 8"/>
          <p:cNvSpPr/>
          <p:nvPr/>
        </p:nvSpPr>
        <p:spPr>
          <a:xfrm>
            <a:off x="8061990" y="2139696"/>
            <a:ext cx="3322290" cy="3959352"/>
          </a:xfrm>
          <a:prstGeom prst="rect">
            <a:avLst/>
          </a:prstGeom>
          <a:noFill/>
          <a:ln/>
        </p:spPr>
        <p:txBody>
          <a:bodyPr wrap="square" rtlCol="0" anchor="t"/>
          <a:lstStyle/>
          <a:p>
            <a:pPr marL="152400" indent="-152400">
              <a:spcAft>
                <a:spcPts val="500"/>
              </a:spcAft>
              <a:buSzPct val="100000"/>
              <a:buChar char="•"/>
            </a:pPr>
            <a:r>
              <a:rPr lang="en-US" sz="1250" dirty="0">
                <a:solidFill>
                  <a:srgbClr val="C6D8E4"/>
                </a:solidFill>
              </a:rPr>
              <a:t>It was 80% confident and named a completely plausible team</a:t>
            </a:r>
            <a:endParaRPr lang="en-US" sz="1250" dirty="0"/>
          </a:p>
          <a:p>
            <a:pPr marL="152400" indent="-152400">
              <a:spcAft>
                <a:spcPts val="500"/>
              </a:spcAft>
              <a:buSzPct val="100000"/>
              <a:buChar char="•"/>
            </a:pPr>
            <a:r>
              <a:rPr lang="en-US" sz="1250" dirty="0">
                <a:solidFill>
                  <a:srgbClr val="C6D8E4"/>
                </a:solidFill>
              </a:rPr>
              <a:t>But the sentence it quoted was not in the complaint (evidence_is_verbatim: false)</a:t>
            </a:r>
            <a:endParaRPr lang="en-US" sz="1250" dirty="0"/>
          </a:p>
          <a:p>
            <a:pPr marL="152400" indent="-152400">
              <a:spcAft>
                <a:spcPts val="500"/>
              </a:spcAft>
              <a:buSzPct val="100000"/>
              <a:buChar char="•"/>
            </a:pPr>
            <a:r>
              <a:rPr lang="en-US" sz="1250" dirty="0">
                <a:solidFill>
                  <a:srgbClr val="C6D8E4"/>
                </a:solidFill>
              </a:rPr>
              <a:t>So it was stopped and sent to a person, with the reason written down</a:t>
            </a:r>
            <a:endParaRPr lang="en-US" sz="1250" dirty="0"/>
          </a:p>
          <a:p>
            <a:pPr marL="152400" indent="-152400">
              <a:spcAft>
                <a:spcPts val="500"/>
              </a:spcAft>
              <a:buSzPct val="100000"/>
              <a:buChar char="•"/>
            </a:pPr>
            <a:r>
              <a:rPr lang="en-US" sz="1250" dirty="0">
                <a:solidFill>
                  <a:srgbClr val="C6D8E4"/>
                </a:solidFill>
              </a:rPr>
              <a:t>This record exists for every decision — including the ones where nothing happened.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What it cannot do yet, and why that is not the model's fault</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60.5% team accuracy. Not deployable — and the reason changes what you should buy first.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10</a:t>
            </a:r>
            <a:endParaRPr lang="en-US" sz="850" dirty="0"/>
          </a:p>
        </p:txBody>
      </p:sp>
      <p:sp>
        <p:nvSpPr>
          <p:cNvPr id="12" name="Shape 9"/>
          <p:cNvSpPr/>
          <p:nvPr/>
        </p:nvSpPr>
        <p:spPr>
          <a:xfrm>
            <a:off x="566928" y="2395728"/>
            <a:ext cx="5390388" cy="187452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24343F"/>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What I measured</a:t>
            </a:r>
            <a:endParaRPr lang="en-US" sz="1300" dirty="0"/>
          </a:p>
        </p:txBody>
      </p:sp>
      <p:sp>
        <p:nvSpPr>
          <p:cNvPr id="15" name="Text 12"/>
          <p:cNvSpPr/>
          <p:nvPr/>
        </p:nvSpPr>
        <p:spPr>
          <a:xfrm>
            <a:off x="768096" y="2962656"/>
            <a:ext cx="4988052" cy="11430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60.5% correct team (gpt-4o, 240 complaints)</a:t>
            </a:r>
            <a:endParaRPr lang="en-US" sz="1150" dirty="0"/>
          </a:p>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A 6× more expensive model buys 4 points</a:t>
            </a:r>
            <a:endParaRPr lang="en-US" sz="1150" dirty="0"/>
          </a:p>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So the bottleneck is not the model</a:t>
            </a:r>
            <a:endParaRPr lang="en-US" sz="1150" dirty="0"/>
          </a:p>
        </p:txBody>
      </p:sp>
      <p:sp>
        <p:nvSpPr>
          <p:cNvPr id="16" name="Shape 13"/>
          <p:cNvSpPr/>
          <p:nvPr/>
        </p:nvSpPr>
        <p:spPr>
          <a:xfrm>
            <a:off x="6231636" y="2395728"/>
            <a:ext cx="5390388" cy="187452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445A69"/>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Why the number is what it is</a:t>
            </a:r>
            <a:endParaRPr lang="en-US" sz="1300" dirty="0"/>
          </a:p>
        </p:txBody>
      </p:sp>
      <p:sp>
        <p:nvSpPr>
          <p:cNvPr id="19" name="Text 16"/>
          <p:cNvSpPr/>
          <p:nvPr/>
        </p:nvSpPr>
        <p:spPr>
          <a:xfrm>
            <a:off x="6432804" y="2962656"/>
            <a:ext cx="4988052" cy="11430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Ask it the same complaint twice and it answers the same way ~9 times in 10</a:t>
            </a:r>
            <a:endParaRPr lang="en-US" sz="1150" dirty="0"/>
          </a:p>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So it is consistent — it just disagrees with the official label</a:t>
            </a:r>
            <a:endParaRPr lang="en-US" sz="1150" dirty="0"/>
          </a:p>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That label was picked by the customer filing the complaint, from a menu, untrained</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The model is not the cost. Oversight is.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97% of the running cost is human review and platform. 0.004% is the model.</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11</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017520"/>
                <a:gridCol w="1554480"/>
                <a:gridCol w="4114800"/>
              </a:tblGrid>
              <a:tr h="329184">
                <a:tc>
                  <a:txBody>
                    <a:bodyPr/>
                    <a:lstStyle/>
                    <a:p>
                      <a:pPr indent="0" marL="0">
                        <a:buNone/>
                      </a:pPr>
                      <a:r>
                        <a:rPr lang="en-US" sz="1100" b="1" dirty="0">
                          <a:solidFill>
                            <a:srgbClr val="FFFFFF"/>
                          </a:solidFill>
                        </a:rPr>
                        <a:t>Running cost, per year</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Amount</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What it actually buys</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r>
              <a:tr h="402336">
                <a:tc>
                  <a:txBody>
                    <a:bodyPr/>
                    <a:lstStyle/>
                    <a:p>
                      <a:pPr indent="0" marL="0">
                        <a:buNone/>
                      </a:pPr>
                      <a:r>
                        <a:rPr lang="en-US" sz="1050" b="1" dirty="0">
                          <a:solidFill>
                            <a:srgbClr val="24343F"/>
                          </a:solidFill>
                        </a:rPr>
                        <a:t>The AI itself</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€0.29</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Measured on real complaints, at published prices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24343F"/>
                          </a:solidFill>
                        </a:rPr>
                        <a:t>Platform and monitoring</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€1,800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n8n hosting, LangSmith, logging</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24343F"/>
                          </a:solidFill>
                        </a:rPr>
                        <a:t>Quarterly accuracy review</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€5,600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Someone accountable for watching it</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24343F"/>
                          </a:solidFill>
                        </a:rPr>
                        <a:t>Total</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€7,400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Against a realistic labour saving of €4,578</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562856"/>
            <a:ext cx="11055096" cy="640080"/>
          </a:xfrm>
          <a:prstGeom prst="rect">
            <a:avLst/>
          </a:prstGeom>
          <a:solidFill>
            <a:srgbClr val="EFF5F9"/>
          </a:solidFill>
          <a:ln/>
        </p:spPr>
      </p:sp>
      <p:sp>
        <p:nvSpPr>
          <p:cNvPr id="14" name="Shape 10"/>
          <p:cNvSpPr/>
          <p:nvPr/>
        </p:nvSpPr>
        <p:spPr>
          <a:xfrm>
            <a:off x="566928" y="4562856"/>
            <a:ext cx="82296" cy="640080"/>
          </a:xfrm>
          <a:prstGeom prst="rect">
            <a:avLst/>
          </a:prstGeom>
          <a:solidFill>
            <a:srgbClr val="2A78D6"/>
          </a:solidFill>
          <a:ln/>
        </p:spPr>
      </p:sp>
      <p:sp>
        <p:nvSpPr>
          <p:cNvPr id="15" name="Text 11"/>
          <p:cNvSpPr/>
          <p:nvPr/>
        </p:nvSpPr>
        <p:spPr>
          <a:xfrm>
            <a:off x="822960" y="4562856"/>
            <a:ext cx="10597896" cy="64008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Model choice is not a financial decision at your volume — it is an accuracy decision.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What I would do next, and what it costs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€14,000 commits you to a decision, not to a deployment.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12</a:t>
            </a:r>
            <a:endParaRPr lang="en-US" sz="850" dirty="0"/>
          </a:p>
        </p:txBody>
      </p:sp>
      <p:sp>
        <p:nvSpPr>
          <p:cNvPr id="12" name="Shape 9"/>
          <p:cNvSpPr/>
          <p:nvPr/>
        </p:nvSpPr>
        <p:spPr>
          <a:xfrm>
            <a:off x="2348484" y="2779776"/>
            <a:ext cx="7491984" cy="0"/>
          </a:xfrm>
          <a:prstGeom prst="line">
            <a:avLst/>
          </a:prstGeom>
          <a:noFill/>
          <a:ln w="25400">
            <a:solidFill>
              <a:srgbClr val="C6D8E4"/>
            </a:solidFill>
            <a:prstDash val="solid"/>
          </a:ln>
        </p:spPr>
      </p:sp>
      <p:sp>
        <p:nvSpPr>
          <p:cNvPr id="13" name="Shape 10"/>
          <p:cNvSpPr/>
          <p:nvPr/>
        </p:nvSpPr>
        <p:spPr>
          <a:xfrm>
            <a:off x="1964436" y="2395728"/>
            <a:ext cx="768096" cy="768096"/>
          </a:xfrm>
          <a:prstGeom prst="ellipse">
            <a:avLst/>
          </a:prstGeom>
          <a:solidFill>
            <a:srgbClr val="2A78D6"/>
          </a:solidFill>
          <a:ln w="31750">
            <a:solidFill>
              <a:srgbClr val="FFFFFF"/>
            </a:solidFill>
            <a:prstDash val="solid"/>
          </a:ln>
        </p:spPr>
      </p:sp>
      <p:sp>
        <p:nvSpPr>
          <p:cNvPr id="14" name="Text 11"/>
          <p:cNvSpPr/>
          <p:nvPr/>
        </p:nvSpPr>
        <p:spPr>
          <a:xfrm>
            <a:off x="1964436" y="2395728"/>
            <a:ext cx="768096" cy="768096"/>
          </a:xfrm>
          <a:prstGeom prst="rect">
            <a:avLst/>
          </a:prstGeom>
          <a:noFill/>
          <a:ln/>
        </p:spPr>
        <p:txBody>
          <a:bodyPr wrap="square" lIns="0" tIns="0" rIns="0" bIns="0" rtlCol="0" anchor="ctr"/>
          <a:lstStyle/>
          <a:p>
            <a:pPr algn="ctr" indent="0" marL="0">
              <a:buNone/>
            </a:pPr>
            <a:r>
              <a:rPr lang="en-US" sz="2200" b="1" dirty="0">
                <a:solidFill>
                  <a:srgbClr val="1D2A32"/>
                </a:solidFill>
                <a:latin typeface="Trebuchet MS" pitchFamily="34" charset="0"/>
                <a:ea typeface="Trebuchet MS" pitchFamily="34" charset="-122"/>
                <a:cs typeface="Trebuchet MS" pitchFamily="34" charset="-120"/>
              </a:rPr>
              <a:t>0</a:t>
            </a:r>
            <a:endParaRPr lang="en-US" sz="2200" dirty="0"/>
          </a:p>
        </p:txBody>
      </p:sp>
      <p:sp>
        <p:nvSpPr>
          <p:cNvPr id="15" name="Shape 12"/>
          <p:cNvSpPr/>
          <p:nvPr/>
        </p:nvSpPr>
        <p:spPr>
          <a:xfrm>
            <a:off x="566928" y="3355848"/>
            <a:ext cx="3563112" cy="114300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6" name="Text 13"/>
          <p:cNvSpPr/>
          <p:nvPr/>
        </p:nvSpPr>
        <p:spPr>
          <a:xfrm>
            <a:off x="658368" y="3465576"/>
            <a:ext cx="3380232" cy="640080"/>
          </a:xfrm>
          <a:prstGeom prst="rect">
            <a:avLst/>
          </a:prstGeom>
          <a:noFill/>
          <a:ln/>
        </p:spPr>
        <p:txBody>
          <a:bodyPr wrap="square" lIns="0" tIns="0" rIns="0" bIns="0" rtlCol="0" anchor="t"/>
          <a:lstStyle/>
          <a:p>
            <a:pPr algn="ctr" indent="0" marL="0">
              <a:buNone/>
            </a:pPr>
            <a:r>
              <a:rPr lang="en-US" sz="1250" b="1" dirty="0">
                <a:solidFill>
                  <a:srgbClr val="24343F"/>
                </a:solidFill>
                <a:latin typeface="Trebuchet MS" pitchFamily="34" charset="0"/>
                <a:ea typeface="Trebuchet MS" pitchFamily="34" charset="-122"/>
                <a:cs typeface="Trebuchet MS" pitchFamily="34" charset="-120"/>
              </a:rPr>
              <a:t>Discovery + labelling — €5,600</a:t>
            </a:r>
            <a:endParaRPr lang="en-US" sz="1250" dirty="0"/>
          </a:p>
        </p:txBody>
      </p:sp>
      <p:sp>
        <p:nvSpPr>
          <p:cNvPr id="17" name="Text 14"/>
          <p:cNvSpPr/>
          <p:nvPr/>
        </p:nvSpPr>
        <p:spPr>
          <a:xfrm>
            <a:off x="676656" y="3959352"/>
            <a:ext cx="3343656" cy="502920"/>
          </a:xfrm>
          <a:prstGeom prst="rect">
            <a:avLst/>
          </a:prstGeom>
          <a:noFill/>
          <a:ln/>
        </p:spPr>
        <p:txBody>
          <a:bodyPr wrap="square" lIns="0" tIns="0" rIns="0" bIns="0" rtlCol="0" anchor="t"/>
          <a:lstStyle/>
          <a:p>
            <a:pPr algn="ctr" indent="0" marL="0">
              <a:buNone/>
            </a:pPr>
            <a:r>
              <a:rPr lang="en-US" sz="980" dirty="0">
                <a:solidFill>
                  <a:srgbClr val="1B2730"/>
                </a:solidFill>
                <a:latin typeface="Calibri" pitchFamily="34" charset="0"/>
                <a:ea typeface="Calibri" pitchFamily="34" charset="-122"/>
                <a:cs typeface="Calibri" pitchFamily="34" charset="-120"/>
              </a:rPr>
              <a:t>2 weeks. Two of your handlers label 300 complaints. Produces the ground truth you do not have.</a:t>
            </a:r>
            <a:endParaRPr lang="en-US" sz="980" dirty="0"/>
          </a:p>
        </p:txBody>
      </p:sp>
      <p:sp>
        <p:nvSpPr>
          <p:cNvPr id="18" name="Shape 15"/>
          <p:cNvSpPr/>
          <p:nvPr/>
        </p:nvSpPr>
        <p:spPr>
          <a:xfrm>
            <a:off x="5710428" y="2395728"/>
            <a:ext cx="768096" cy="768096"/>
          </a:xfrm>
          <a:prstGeom prst="ellipse">
            <a:avLst/>
          </a:prstGeom>
          <a:solidFill>
            <a:srgbClr val="24343F"/>
          </a:solidFill>
          <a:ln w="31750">
            <a:solidFill>
              <a:srgbClr val="FFFFFF"/>
            </a:solidFill>
            <a:prstDash val="solid"/>
          </a:ln>
        </p:spPr>
      </p:sp>
      <p:sp>
        <p:nvSpPr>
          <p:cNvPr id="19" name="Text 16"/>
          <p:cNvSpPr/>
          <p:nvPr/>
        </p:nvSpPr>
        <p:spPr>
          <a:xfrm>
            <a:off x="5710428"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1</a:t>
            </a:r>
            <a:endParaRPr lang="en-US" sz="2200" dirty="0"/>
          </a:p>
        </p:txBody>
      </p:sp>
      <p:sp>
        <p:nvSpPr>
          <p:cNvPr id="20" name="Shape 17"/>
          <p:cNvSpPr/>
          <p:nvPr/>
        </p:nvSpPr>
        <p:spPr>
          <a:xfrm>
            <a:off x="4312920" y="3355848"/>
            <a:ext cx="3563112" cy="114300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4404360" y="3465576"/>
            <a:ext cx="3380232" cy="640080"/>
          </a:xfrm>
          <a:prstGeom prst="rect">
            <a:avLst/>
          </a:prstGeom>
          <a:noFill/>
          <a:ln/>
        </p:spPr>
        <p:txBody>
          <a:bodyPr wrap="square" lIns="0" tIns="0" rIns="0" bIns="0" rtlCol="0" anchor="t"/>
          <a:lstStyle/>
          <a:p>
            <a:pPr algn="ctr" indent="0" marL="0">
              <a:buNone/>
            </a:pPr>
            <a:r>
              <a:rPr lang="en-US" sz="1250" b="1" dirty="0">
                <a:solidFill>
                  <a:srgbClr val="24343F"/>
                </a:solidFill>
                <a:latin typeface="Trebuchet MS" pitchFamily="34" charset="0"/>
                <a:ea typeface="Trebuchet MS" pitchFamily="34" charset="-122"/>
                <a:cs typeface="Trebuchet MS" pitchFamily="34" charset="-120"/>
              </a:rPr>
              <a:t>Pilot, 60-day shadow run — €8,400</a:t>
            </a:r>
            <a:endParaRPr lang="en-US" sz="1250" dirty="0"/>
          </a:p>
        </p:txBody>
      </p:sp>
      <p:sp>
        <p:nvSpPr>
          <p:cNvPr id="22" name="Text 19"/>
          <p:cNvSpPr/>
          <p:nvPr/>
        </p:nvSpPr>
        <p:spPr>
          <a:xfrm>
            <a:off x="4422648" y="3959352"/>
            <a:ext cx="3343656" cy="502920"/>
          </a:xfrm>
          <a:prstGeom prst="rect">
            <a:avLst/>
          </a:prstGeom>
          <a:noFill/>
          <a:ln/>
        </p:spPr>
        <p:txBody>
          <a:bodyPr wrap="square" lIns="0" tIns="0" rIns="0" bIns="0" rtlCol="0" anchor="t"/>
          <a:lstStyle/>
          <a:p>
            <a:pPr algn="ctr" indent="0" marL="0">
              <a:buNone/>
            </a:pPr>
            <a:r>
              <a:rPr lang="en-US" sz="980" dirty="0">
                <a:solidFill>
                  <a:srgbClr val="1B2730"/>
                </a:solidFill>
                <a:latin typeface="Calibri" pitchFamily="34" charset="0"/>
                <a:ea typeface="Calibri" pitchFamily="34" charset="-122"/>
                <a:cs typeface="Calibri" pitchFamily="34" charset="-120"/>
              </a:rPr>
              <a:t>11 weeks. It proposes, nobody acts on it, we measure against your labels.</a:t>
            </a:r>
            <a:endParaRPr lang="en-US" sz="980" dirty="0"/>
          </a:p>
        </p:txBody>
      </p:sp>
      <p:sp>
        <p:nvSpPr>
          <p:cNvPr id="23" name="Shape 20"/>
          <p:cNvSpPr/>
          <p:nvPr/>
        </p:nvSpPr>
        <p:spPr>
          <a:xfrm>
            <a:off x="9456420" y="2395728"/>
            <a:ext cx="768096" cy="768096"/>
          </a:xfrm>
          <a:prstGeom prst="ellipse">
            <a:avLst/>
          </a:prstGeom>
          <a:solidFill>
            <a:srgbClr val="24343F"/>
          </a:solidFill>
          <a:ln w="31750">
            <a:solidFill>
              <a:srgbClr val="FFFFFF"/>
            </a:solidFill>
            <a:prstDash val="solid"/>
          </a:ln>
        </p:spPr>
      </p:sp>
      <p:sp>
        <p:nvSpPr>
          <p:cNvPr id="24" name="Text 21"/>
          <p:cNvSpPr/>
          <p:nvPr/>
        </p:nvSpPr>
        <p:spPr>
          <a:xfrm>
            <a:off x="9456420"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25" name="Shape 22"/>
          <p:cNvSpPr/>
          <p:nvPr/>
        </p:nvSpPr>
        <p:spPr>
          <a:xfrm>
            <a:off x="8058912" y="3355848"/>
            <a:ext cx="3563112" cy="114300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26" name="Text 23"/>
          <p:cNvSpPr/>
          <p:nvPr/>
        </p:nvSpPr>
        <p:spPr>
          <a:xfrm>
            <a:off x="8150352" y="3465576"/>
            <a:ext cx="3380232" cy="640080"/>
          </a:xfrm>
          <a:prstGeom prst="rect">
            <a:avLst/>
          </a:prstGeom>
          <a:noFill/>
          <a:ln/>
        </p:spPr>
        <p:txBody>
          <a:bodyPr wrap="square" lIns="0" tIns="0" rIns="0" bIns="0" rtlCol="0" anchor="t"/>
          <a:lstStyle/>
          <a:p>
            <a:pPr algn="ctr" indent="0" marL="0">
              <a:buNone/>
            </a:pPr>
            <a:r>
              <a:rPr lang="en-US" sz="1250" b="1" dirty="0">
                <a:solidFill>
                  <a:srgbClr val="24343F"/>
                </a:solidFill>
                <a:latin typeface="Trebuchet MS" pitchFamily="34" charset="0"/>
                <a:ea typeface="Trebuchet MS" pitchFamily="34" charset="-122"/>
                <a:cs typeface="Trebuchet MS" pitchFamily="34" charset="-120"/>
              </a:rPr>
              <a:t>Deployment, only if it passes — €10,500</a:t>
            </a:r>
            <a:endParaRPr lang="en-US" sz="1250" dirty="0"/>
          </a:p>
        </p:txBody>
      </p:sp>
      <p:sp>
        <p:nvSpPr>
          <p:cNvPr id="27" name="Text 24"/>
          <p:cNvSpPr/>
          <p:nvPr/>
        </p:nvSpPr>
        <p:spPr>
          <a:xfrm>
            <a:off x="8168640" y="3959352"/>
            <a:ext cx="3343656" cy="502920"/>
          </a:xfrm>
          <a:prstGeom prst="rect">
            <a:avLst/>
          </a:prstGeom>
          <a:noFill/>
          <a:ln/>
        </p:spPr>
        <p:txBody>
          <a:bodyPr wrap="square" lIns="0" tIns="0" rIns="0" bIns="0" rtlCol="0" anchor="t"/>
          <a:lstStyle/>
          <a:p>
            <a:pPr algn="ctr" indent="0" marL="0">
              <a:buNone/>
            </a:pPr>
            <a:r>
              <a:rPr lang="en-US" sz="980" dirty="0">
                <a:solidFill>
                  <a:srgbClr val="1B2730"/>
                </a:solidFill>
                <a:latin typeface="Calibri" pitchFamily="34" charset="0"/>
                <a:ea typeface="Calibri" pitchFamily="34" charset="-122"/>
                <a:cs typeface="Calibri" pitchFamily="34" charset="-120"/>
              </a:rPr>
              <a:t>4 weeks. Assist-only. Autonomous routing is a separate decision.</a:t>
            </a:r>
            <a:endParaRPr lang="en-US" sz="980" dirty="0"/>
          </a:p>
        </p:txBody>
      </p:sp>
      <p:sp>
        <p:nvSpPr>
          <p:cNvPr id="28" name="Shape 25"/>
          <p:cNvSpPr/>
          <p:nvPr/>
        </p:nvSpPr>
        <p:spPr>
          <a:xfrm>
            <a:off x="566928" y="4681728"/>
            <a:ext cx="11055096" cy="777240"/>
          </a:xfrm>
          <a:prstGeom prst="rect">
            <a:avLst/>
          </a:prstGeom>
          <a:solidFill>
            <a:srgbClr val="EFF5F9"/>
          </a:solidFill>
          <a:ln/>
        </p:spPr>
      </p:sp>
      <p:sp>
        <p:nvSpPr>
          <p:cNvPr id="29" name="Shape 26"/>
          <p:cNvSpPr/>
          <p:nvPr/>
        </p:nvSpPr>
        <p:spPr>
          <a:xfrm>
            <a:off x="566928" y="4681728"/>
            <a:ext cx="82296" cy="777240"/>
          </a:xfrm>
          <a:prstGeom prst="rect">
            <a:avLst/>
          </a:prstGeom>
          <a:solidFill>
            <a:srgbClr val="2A78D6"/>
          </a:solidFill>
          <a:ln/>
        </p:spPr>
      </p:sp>
      <p:sp>
        <p:nvSpPr>
          <p:cNvPr id="30" name="Text 27"/>
          <p:cNvSpPr/>
          <p:nvPr/>
        </p:nvSpPr>
        <p:spPr>
          <a:xfrm>
            <a:off x="822960" y="4681728"/>
            <a:ext cx="10597896" cy="77724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Break-even: </a:t>
            </a:r>
            <a:pPr indent="0" marL="0">
              <a:buNone/>
            </a:pPr>
            <a:r>
              <a:rPr lang="en-US" sz="1250" dirty="0">
                <a:solidFill>
                  <a:srgbClr val="000000"/>
                </a:solidFill>
                <a:latin typeface="Calibri" pitchFamily="34" charset="0"/>
                <a:ea typeface="Calibri" pitchFamily="34" charset="-122"/>
                <a:cs typeface="Calibri" pitchFamily="34" charset="-120"/>
              </a:rPr>
              <a:t>the running cost is covered if this prevents four ombudsman referrals a year (€760 each). Whether it does is what the pilot is for — I am not claiming it does.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D2A32"/>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2A78D6"/>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Stepping out of the pitch — what I want your feedback on</a:t>
            </a:r>
            <a:endParaRPr lang="en-US" sz="3000" dirty="0"/>
          </a:p>
        </p:txBody>
      </p:sp>
      <p:sp>
        <p:nvSpPr>
          <p:cNvPr id="6" name="Text 3"/>
          <p:cNvSpPr/>
          <p:nvPr/>
        </p:nvSpPr>
        <p:spPr>
          <a:xfrm>
            <a:off x="566928" y="1828800"/>
            <a:ext cx="11055096" cy="1828800"/>
          </a:xfrm>
          <a:prstGeom prst="rect">
            <a:avLst/>
          </a:prstGeom>
          <a:noFill/>
          <a:ln/>
        </p:spPr>
        <p:txBody>
          <a:bodyPr wrap="square" rtlCol="0" anchor="t"/>
          <a:lstStyle/>
          <a:p>
            <a:pPr marL="152400" indent="-152400">
              <a:spcAft>
                <a:spcPts val="500"/>
              </a:spcAft>
              <a:buSzPct val="100000"/>
              <a:buChar char="•"/>
            </a:pPr>
            <a:r>
              <a:rPr lang="en-US" sz="1400" dirty="0">
                <a:solidFill>
                  <a:srgbClr val="FFFFFF"/>
                </a:solidFill>
              </a:rPr>
              <a:t>Is “this is not deployable yet, and here is the number” the right thing to lead a client pitch with — or does it lose the room?</a:t>
            </a:r>
            <a:endParaRPr lang="en-US" sz="1400" dirty="0"/>
          </a:p>
          <a:p>
            <a:pPr marL="152400" indent="-152400">
              <a:spcAft>
                <a:spcPts val="500"/>
              </a:spcAft>
              <a:buSzPct val="100000"/>
              <a:buChar char="•"/>
            </a:pPr>
            <a:r>
              <a:rPr lang="en-US" sz="1400" dirty="0">
                <a:solidFill>
                  <a:srgbClr val="FFFFFF"/>
                </a:solidFill>
              </a:rPr>
              <a:t>Phase 0 sells a labelling exercise before any AI. Does that read as rigour, or as stalling?</a:t>
            </a:r>
            <a:endParaRPr lang="en-US" sz="1400" dirty="0"/>
          </a:p>
          <a:p>
            <a:pPr marL="152400" indent="-152400">
              <a:spcAft>
                <a:spcPts val="500"/>
              </a:spcAft>
              <a:buSzPct val="100000"/>
              <a:buChar char="•"/>
            </a:pPr>
            <a:r>
              <a:rPr lang="en-US" sz="1400" dirty="0">
                <a:solidFill>
                  <a:srgbClr val="FFFFFF"/>
                </a:solidFill>
              </a:rPr>
              <a:t>I refuse two use cases on stage. Does that build authority, or sound negative?</a:t>
            </a:r>
            <a:endParaRPr lang="en-US" sz="1400" dirty="0"/>
          </a:p>
        </p:txBody>
      </p:sp>
      <p:sp>
        <p:nvSpPr>
          <p:cNvPr id="7" name="Text 4"/>
          <p:cNvSpPr/>
          <p:nvPr/>
        </p:nvSpPr>
        <p:spPr>
          <a:xfrm>
            <a:off x="566928" y="3749040"/>
            <a:ext cx="11055096" cy="457200"/>
          </a:xfrm>
          <a:prstGeom prst="rect">
            <a:avLst/>
          </a:prstGeom>
          <a:noFill/>
          <a:ln/>
        </p:spPr>
        <p:txBody>
          <a:bodyPr wrap="square" rtlCol="0" anchor="ctr"/>
          <a:lstStyle/>
          <a:p>
            <a:pPr indent="0" marL="0">
              <a:buNone/>
            </a:pPr>
            <a:r>
              <a:rPr lang="en-US" sz="1300" b="1" dirty="0">
                <a:solidFill>
                  <a:srgbClr val="8FBFF0"/>
                </a:solidFill>
              </a:rPr>
              <a:t>The one thing I most want challenged:  </a:t>
            </a:r>
            <a:pPr indent="0" marL="0">
              <a:buNone/>
            </a:pPr>
            <a:r>
              <a:rPr lang="en-US" sz="1300" i="1" dirty="0">
                <a:solidFill>
                  <a:srgbClr val="FFFFFF"/>
                </a:solidFill>
              </a:rPr>
              <a:t>that an honest 60.5% is a stronger pitch than a confident 85%.</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Backup — three corrections made before any analysis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Each one would have produced a confident wrong answer.</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13</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4206240"/>
                <a:gridCol w="6848856"/>
              </a:tblGrid>
              <a:tr h="329184">
                <a:tc>
                  <a:txBody>
                    <a:bodyPr/>
                    <a:lstStyle/>
                    <a:p>
                      <a:pPr indent="0" marL="0">
                        <a:buNone/>
                      </a:pPr>
                      <a:r>
                        <a:rPr lang="en-US" sz="1100" b="1" spc="100" kern="0" dirty="0">
                          <a:solidFill>
                            <a:srgbClr val="FFFFFF"/>
                          </a:solidFill>
                        </a:rPr>
                        <a:t>WHAT THE DATA APPEARED TO SAY</a:t>
                      </a:r>
                      <a:endParaRPr lang="en-US" sz="110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spc="100" kern="0" dirty="0">
                          <a:solidFill>
                            <a:srgbClr val="1D2A32"/>
                          </a:solidFill>
                        </a:rPr>
                        <a:t>WHAT WAS ACTUALLY HAPPENING</a:t>
                      </a:r>
                      <a:endParaRPr lang="en-US" sz="110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2A78D6"/>
                    </a:solidFill>
                  </a:tcPr>
                </a:tc>
              </a:tr>
              <a:tr h="338328">
                <a:tc>
                  <a:txBody>
                    <a:bodyPr/>
                    <a:lstStyle/>
                    <a:p>
                      <a:pPr indent="0" marL="0">
                        <a:buNone/>
                      </a:pPr>
                      <a:r>
                        <a:rPr lang="en-US" sz="1050" b="1" dirty="0">
                          <a:solidFill>
                            <a:srgbClr val="24343F"/>
                          </a:solidFill>
                        </a:rPr>
                        <a:t>Complaints fell 73% in July</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Publication lag — the CFPB only publishes once a firm responds. Window cut at 2026-06-27</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24343F"/>
                          </a:solidFill>
                        </a:rPr>
                        <a:t>Handling time is 0 days</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c>
                  <a:txBody>
                    <a:bodyPr/>
                    <a:lstStyle/>
                    <a:p>
                      <a:pPr indent="0" marL="0">
                        <a:buNone/>
                      </a:pPr>
                      <a:r>
                        <a:rPr lang="en-US" sz="1050" dirty="0">
                          <a:solidFill>
                            <a:srgbClr val="1B2730"/>
                          </a:solidFill>
                        </a:rPr>
                        <a:t>It measures the regulator's routing, not any firm's speed. Metric dropped</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r>
              <a:tr h="338328">
                <a:tc>
                  <a:txBody>
                    <a:bodyPr/>
                    <a:lstStyle/>
                    <a:p>
                      <a:pPr indent="0" marL="0">
                        <a:buNone/>
                      </a:pPr>
                      <a:r>
                        <a:rPr lang="en-US" sz="1050" b="1" dirty="0">
                          <a:solidFill>
                            <a:srgbClr val="24343F"/>
                          </a:solidFill>
                        </a:rPr>
                        <a:t>Timeliness 98.0% vs 0.6% untimely</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Two different fields. Relabelled so a CEO is not shown a contradiction</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Backup — the compliance position</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A preliminary view with reasoning beats a confident label with none.</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14</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291840"/>
                <a:gridCol w="5394960"/>
              </a:tblGrid>
              <a:tr h="329184">
                <a:tc>
                  <a:txBody>
                    <a:bodyPr/>
                    <a:lstStyle/>
                    <a:p>
                      <a:pPr indent="0" marL="0">
                        <a:buNone/>
                      </a:pPr>
                      <a:r>
                        <a:rPr lang="en-US" sz="1100" b="1" dirty="0">
                          <a:solidFill>
                            <a:srgbClr val="FFFFFF"/>
                          </a:solidFill>
                        </a:rPr>
                        <a:t>Question</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Position for Round 1</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r>
              <a:tr h="502920">
                <a:tc>
                  <a:txBody>
                    <a:bodyPr/>
                    <a:lstStyle/>
                    <a:p>
                      <a:pPr indent="0" marL="0">
                        <a:buNone/>
                      </a:pPr>
                      <a:r>
                        <a:rPr lang="en-US" sz="1050" b="1" dirty="0">
                          <a:solidFill>
                            <a:srgbClr val="24343F"/>
                          </a:solidFill>
                        </a:rPr>
                        <a:t>EU AI Act tier</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Limited risk — it classifies and routes, a human resolves. Not Annex III creditworthiness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4343F"/>
                          </a:solidFill>
                        </a:rPr>
                        <a:t>What keeps it there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The human decision boundary. Autonomous routing is a new assessment, not an upgrade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4343F"/>
                          </a:solidFill>
                        </a:rPr>
                        <a:t>GDPR</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Complaint text is personal data. Legal basis, retention and a DPIA are Round 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4343F"/>
                          </a:solidFill>
                        </a:rPr>
                        <a:t>Open risk</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Model hosting region — an EU customer's text must not leave the EEA by accident</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Backup — every number, and where it came from</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Nothing on these slides is an estimate dressed as a measurement.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15</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200400"/>
                <a:gridCol w="1828800"/>
                <a:gridCol w="3657600"/>
              </a:tblGrid>
              <a:tr h="329184">
                <a:tc>
                  <a:txBody>
                    <a:bodyPr/>
                    <a:lstStyle/>
                    <a:p>
                      <a:pPr indent="0" marL="0">
                        <a:buNone/>
                      </a:pPr>
                      <a:r>
                        <a:rPr lang="en-US" sz="1100" b="1" dirty="0">
                          <a:solidFill>
                            <a:srgbClr val="FFFFFF"/>
                          </a:solidFill>
                        </a:rPr>
                        <a:t>Figure</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Value</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Source</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r>
              <a:tr h="384048">
                <a:tc>
                  <a:txBody>
                    <a:bodyPr/>
                    <a:lstStyle/>
                    <a:p>
                      <a:pPr indent="0" marL="0">
                        <a:buNone/>
                      </a:pPr>
                      <a:r>
                        <a:rPr lang="en-US" sz="1050" b="1" dirty="0">
                          <a:solidFill>
                            <a:srgbClr val="24343F"/>
                          </a:solidFill>
                        </a:rPr>
                        <a:t>Complaint corpus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16,839</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CFPB public API, 2026-05-01 to 06-27</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Complaint rate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3.7 per 1,000 accounts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FCA aggregate complaints 2025 H2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Ombudsman case fee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£650, 3 free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Financial Ombudsman Service 2025/26</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Tokens per complaint</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684 in / 49 out</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Measured, n=12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Team accuracy</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60.5%</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gpt-4o, 240 complaints, seed 42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Round 1 — Complaint Triage</dc:title>
  <dc:subject>PptxGenJS Presentation</dc:subject>
  <dc:creator/>
  <cp:lastModifiedBy/>
  <cp:revision>1</cp:revision>
  <dcterms:created xsi:type="dcterms:W3CDTF">2026-08-28T12:57:05Z</dcterms:created>
  <dcterms:modified xsi:type="dcterms:W3CDTF">2026-08-28T12:57:05Z</dcterms:modified>
</cp:coreProperties>
</file>