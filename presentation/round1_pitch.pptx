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8" r:id="rId4"/>
    <p:sldId id="271"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65137"/>
  </p:normalViewPr>
  <p:slideViewPr>
    <p:cSldViewPr snapToGrid="0" snapToObjects="1">
      <p:cViewPr varScale="1">
        <p:scale>
          <a:sx n="80" d="100"/>
          <a:sy n="80" d="100"/>
        </p:scale>
        <p:origin x="199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Over dinner, you told me you do not trust AI because you cannot see what it does. Today I will show you exactly what I am proposing, what the public evidence does and does not prove, and how we would test it safely with your data.</a:t>
            </a:r>
          </a:p>
          <a:p>
            <a:endParaRPr dirty="0"/>
          </a:p>
          <a:p>
            <a:r>
              <a:rPr dirty="0"/>
              <a:t>--- END OF SPOKEN NOTES ---</a:t>
            </a:r>
          </a:p>
          <a:p>
            <a:endParaRPr dirty="0"/>
          </a:p>
          <a:p>
            <a:r>
              <a:rPr dirty="0"/>
              <a:t>[Sources]</a:t>
            </a:r>
          </a:p>
          <a:p>
            <a:r>
              <a:rPr dirty="0"/>
              <a:t>- CFPB Consumer Complaint Database: https://</a:t>
            </a:r>
            <a:r>
              <a:rPr dirty="0" err="1"/>
              <a:t>www.consumerfinance.gov</a:t>
            </a:r>
            <a:r>
              <a:rPr dirty="0"/>
              <a:t>/data-research/consumer-complaints/</a:t>
            </a:r>
          </a:p>
          <a:p>
            <a:r>
              <a:rPr dirty="0"/>
              <a:t>- Project repository: </a:t>
            </a:r>
            <a:r>
              <a:rPr dirty="0" err="1"/>
              <a:t>README.md</a:t>
            </a:r>
            <a:r>
              <a:rPr dirty="0"/>
              <a:t> and linked evidence deliverables.</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assessed 3 use cases: complaint triage, anomaly flagging, and reporting assistance. Complaint triage comes first because its recommendation and supporting evidence can be inspected, while a person keeps the final decision. I also ruled out a customer-facing chatbot and creditworthiness scoring. Here is the proposal in 1 minute.</a:t>
            </a:r>
          </a:p>
          <a:p>
            <a:endParaRPr dirty="0"/>
          </a:p>
          <a:p>
            <a:r>
              <a:rPr dirty="0"/>
              <a:t>--- END OF SPOKEN NOTES ---</a:t>
            </a:r>
          </a:p>
          <a:p>
            <a:endParaRPr dirty="0"/>
          </a:p>
          <a:p>
            <a:r>
              <a:rPr dirty="0"/>
              <a:t>[Sources]</a:t>
            </a:r>
          </a:p>
          <a:p>
            <a:r>
              <a:rPr dirty="0"/>
              <a:t>- Project repository: research/</a:t>
            </a:r>
            <a:r>
              <a:rPr dirty="0" err="1"/>
              <a:t>use_cases.md</a:t>
            </a:r>
            <a:r>
              <a:rPr dirty="0"/>
              <a:t>.</a:t>
            </a:r>
          </a:p>
          <a:p>
            <a:r>
              <a:rPr dirty="0"/>
              <a:t>- EU AI Act, Annex III: https://</a:t>
            </a:r>
            <a:r>
              <a:rPr dirty="0" err="1"/>
              <a:t>eur-lex.europa.eu</a:t>
            </a:r>
            <a:r>
              <a:rPr dirty="0"/>
              <a:t>/</a:t>
            </a:r>
            <a:r>
              <a:rPr dirty="0" err="1"/>
              <a:t>eli</a:t>
            </a:r>
            <a:r>
              <a:rPr dirty="0"/>
              <a:t>/reg/2024/1689/</a:t>
            </a:r>
            <a:r>
              <a:rPr dirty="0" err="1"/>
              <a:t>oj</a:t>
            </a:r>
            <a:endParaRPr dirty="0"/>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Chleo, your firm receives customer complaints that have to be reviewed and routed to the right team, and today that is largely a manual process. That gives us a practical, low-risk way to test whether AI can create real value.</a:t>
            </a:r>
          </a:p>
          <a:p>
            <a:endParaRPr dirty="0"/>
          </a:p>
          <a:p>
            <a:r>
              <a:rPr lang="en-US" dirty="0"/>
              <a:t>I therefore propose an</a:t>
            </a:r>
            <a:r>
              <a:rPr dirty="0"/>
              <a:t> assistant</a:t>
            </a:r>
            <a:r>
              <a:rPr lang="en-US" dirty="0"/>
              <a:t> that</a:t>
            </a:r>
            <a:r>
              <a:rPr dirty="0"/>
              <a:t> would read each complaint, suggest which team should handle it, and show the customer’s own words behind its recommendation. Your staff would still make every final decision.</a:t>
            </a:r>
          </a:p>
          <a:p>
            <a:endParaRPr dirty="0"/>
          </a:p>
          <a:p>
            <a:r>
              <a:rPr dirty="0"/>
              <a:t>I have already tested the approach on public complaint data. It showed enough promise to justify a proper test, and importantly, it stopped rather than forcing an answer when its checks failed. But public labels are not a substitute for decisions made by your own experienced handlers.</a:t>
            </a:r>
          </a:p>
          <a:p>
            <a:endParaRPr dirty="0"/>
          </a:p>
          <a:p>
            <a:r>
              <a:rPr dirty="0"/>
              <a:t>So</a:t>
            </a:r>
            <a:r>
              <a:rPr lang="en-US" dirty="0"/>
              <a:t>,</a:t>
            </a:r>
            <a:r>
              <a:rPr dirty="0"/>
              <a:t> the next step is to test it against a representative sample of 300 of your historical complaints, then, if the results justify it, run a 60-day shadow pilot where nobody acts on the AI’s recommendations.</a:t>
            </a:r>
          </a:p>
          <a:p>
            <a:endParaRPr dirty="0"/>
          </a:p>
          <a:p>
            <a:r>
              <a:rPr dirty="0"/>
              <a:t>What I am asking you to approve today is that controlled test—not an AI deployment.</a:t>
            </a:r>
          </a:p>
          <a:p>
            <a:endParaRPr dirty="0"/>
          </a:p>
          <a:p>
            <a:r>
              <a:rPr dirty="0"/>
              <a:t>--- END OF SPOKEN NOTES ---</a:t>
            </a:r>
          </a:p>
          <a:p>
            <a:endParaRPr dirty="0"/>
          </a:p>
          <a:p>
            <a:r>
              <a:rPr dirty="0"/>
              <a:t>[Sources]</a:t>
            </a:r>
          </a:p>
          <a:p>
            <a:r>
              <a:rPr dirty="0"/>
              <a:t>- Project repository: presentation/</a:t>
            </a:r>
            <a:r>
              <a:rPr dirty="0" err="1"/>
              <a:t>one_minute_pitch.md</a:t>
            </a:r>
            <a:r>
              <a:rPr dirty="0"/>
              <a:t>.</a:t>
            </a:r>
          </a:p>
          <a:p>
            <a:r>
              <a:rPr dirty="0"/>
              <a:t>- CFPB Consumer Complaint Database: https://</a:t>
            </a:r>
            <a:r>
              <a:rPr dirty="0" err="1"/>
              <a:t>www.consumerfinance.gov</a:t>
            </a:r>
            <a:r>
              <a:rPr dirty="0"/>
              <a:t>/data-research/consumer-complaints/</a:t>
            </a:r>
          </a:p>
          <a:p>
            <a:r>
              <a:rPr dirty="0"/>
              <a:t>- Project repository: </a:t>
            </a:r>
            <a:r>
              <a:rPr dirty="0" err="1"/>
              <a:t>langsmith</a:t>
            </a:r>
            <a:r>
              <a:rPr dirty="0"/>
              <a:t>/</a:t>
            </a:r>
            <a:r>
              <a:rPr dirty="0" err="1"/>
              <a:t>experiment_summary.json</a:t>
            </a:r>
            <a:r>
              <a:rPr dirty="0"/>
              <a:t>.</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9E109-D4CC-5394-B58E-4C684A6EAB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B103D-166A-A34A-52DB-89C9B89CA7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739D7C-B0C3-3EE3-DD6F-67A8B5844FD1}"/>
              </a:ext>
            </a:extLst>
          </p:cNvPr>
          <p:cNvSpPr>
            <a:spLocks noGrp="1"/>
          </p:cNvSpPr>
          <p:nvPr>
            <p:ph type="body" idx="1"/>
          </p:nvPr>
        </p:nvSpPr>
        <p:spPr/>
        <p:txBody>
          <a:bodyPr/>
          <a:lstStyle/>
          <a:p>
            <a:r>
              <a:rPr dirty="0"/>
              <a:t>This dashboard uses public CFPB data as a proxy. These are not your firm’s numbers; Phase 0 measures your real complaint mix and volume.</a:t>
            </a:r>
          </a:p>
          <a:p>
            <a:endParaRPr dirty="0"/>
          </a:p>
          <a:p>
            <a:r>
              <a:rPr dirty="0"/>
              <a:t>The analysis contains 16,839 public complaints across 567 firms. The CFPB timely-response field is 98.0%, while 12.7% ended with monetary relief. Neither figure describes your firm’s performance.</a:t>
            </a:r>
          </a:p>
          <a:p>
            <a:endParaRPr dirty="0"/>
          </a:p>
          <a:p>
            <a:r>
              <a:rPr dirty="0"/>
              <a:t>The key number is 46.1%: 5 of 64 issue categories account for almost half the complaints. That suggests a bounded start rather than asking a model to handle every issue equally well.</a:t>
            </a:r>
          </a:p>
          <a:p>
            <a:endParaRPr dirty="0"/>
          </a:p>
          <a:p>
            <a:r>
              <a:rPr dirty="0"/>
              <a:t>The public data tells us where to investigate; your data decides what enters the pilot.</a:t>
            </a:r>
          </a:p>
          <a:p>
            <a:endParaRPr dirty="0"/>
          </a:p>
          <a:p>
            <a:r>
              <a:rPr dirty="0"/>
              <a:t>Now let me show you a decision you can inspect.</a:t>
            </a:r>
          </a:p>
          <a:p>
            <a:endParaRPr dirty="0"/>
          </a:p>
          <a:p>
            <a:r>
              <a:rPr dirty="0"/>
              <a:t>--- END OF SPOKEN NOTES ---</a:t>
            </a:r>
          </a:p>
          <a:p>
            <a:endParaRPr dirty="0"/>
          </a:p>
          <a:p>
            <a:r>
              <a:rPr dirty="0"/>
              <a:t>[Sources]</a:t>
            </a:r>
          </a:p>
          <a:p>
            <a:r>
              <a:rPr dirty="0"/>
              <a:t>- CFPB Consumer Complaint Database: https://</a:t>
            </a:r>
            <a:r>
              <a:rPr dirty="0" err="1"/>
              <a:t>www.consumerfinance.gov</a:t>
            </a:r>
            <a:r>
              <a:rPr dirty="0"/>
              <a:t>/data-research/consumer-complaints/</a:t>
            </a:r>
          </a:p>
          <a:p>
            <a:r>
              <a:rPr dirty="0"/>
              <a:t>- Project repository: </a:t>
            </a:r>
            <a:r>
              <a:rPr dirty="0" err="1"/>
              <a:t>README.md</a:t>
            </a:r>
            <a:r>
              <a:rPr dirty="0"/>
              <a:t> and research/</a:t>
            </a:r>
            <a:r>
              <a:rPr dirty="0" err="1"/>
              <a:t>sector_research.md</a:t>
            </a:r>
            <a:r>
              <a:rPr dirty="0"/>
              <a:t>.</a:t>
            </a:r>
          </a:p>
          <a:p>
            <a:r>
              <a:rPr dirty="0"/>
              <a:t>[/Sources]</a:t>
            </a:r>
          </a:p>
        </p:txBody>
      </p:sp>
      <p:sp>
        <p:nvSpPr>
          <p:cNvPr id="4" name="Slide Number Placeholder 3">
            <a:extLst>
              <a:ext uri="{FF2B5EF4-FFF2-40B4-BE49-F238E27FC236}">
                <a16:creationId xmlns:a16="http://schemas.microsoft.com/office/drawing/2014/main" id="{899C9D3B-2DDD-BEB3-48C2-51C4AB31AD4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136662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Here is the demo workflow processing 1 public CFPB complaint. It proposes the Disputes and Fraud team, quotes the customer’s words as evidence, and leaves the routing decision to a person.</a:t>
            </a:r>
          </a:p>
          <a:p>
            <a:endParaRPr dirty="0"/>
          </a:p>
          <a:p>
            <a:r>
              <a:rPr dirty="0"/>
              <a:t>On the right is a different case — 1 of the 4 stopped by the quote check. </a:t>
            </a:r>
            <a:r>
              <a:rPr dirty="0" err="1"/>
              <a:t>LangSmith</a:t>
            </a:r>
            <a:r>
              <a:rPr dirty="0"/>
              <a:t> records every evaluation outcome. Of 60 cases, 52 produced a proposal; 4 stopped for low confidence and 4 because the quoted evidence was absent from the complaint.</a:t>
            </a:r>
          </a:p>
          <a:p>
            <a:endParaRPr dirty="0"/>
          </a:p>
          <a:p>
            <a:r>
              <a:rPr dirty="0"/>
              <a:t>Those fabricated quotations matter most. Validation caught them and sent each case to human review.</a:t>
            </a:r>
          </a:p>
          <a:p>
            <a:endParaRPr dirty="0"/>
          </a:p>
          <a:p>
            <a:r>
              <a:rPr dirty="0"/>
              <a:t>The broader evaluation produced 60.5% team-level agreement against consumer-selected CFPB labels. That is not deployment-quality evidence, and those labels are not expert routing decisions.</a:t>
            </a:r>
          </a:p>
          <a:p>
            <a:endParaRPr dirty="0"/>
          </a:p>
          <a:p>
            <a:r>
              <a:rPr dirty="0"/>
              <a:t>The demo is observable, but it does not establish deployment accuracy. Phase 0 creates expert labels from your complaints; Phase 1 measures performance in shadow mode. That is why the proposal is staged.</a:t>
            </a:r>
          </a:p>
          <a:p>
            <a:endParaRPr dirty="0"/>
          </a:p>
          <a:p>
            <a:r>
              <a:rPr dirty="0"/>
              <a:t>--- END OF SPOKEN NOTES ---</a:t>
            </a:r>
          </a:p>
          <a:p>
            <a:endParaRPr dirty="0"/>
          </a:p>
          <a:p>
            <a:r>
              <a:rPr dirty="0"/>
              <a:t>[Sources]</a:t>
            </a:r>
          </a:p>
          <a:p>
            <a:r>
              <a:rPr dirty="0"/>
              <a:t>- Project asset: n8n/screenshots/n8n-execution.png.</a:t>
            </a:r>
          </a:p>
          <a:p>
            <a:r>
              <a:rPr dirty="0"/>
              <a:t>- Project asset: </a:t>
            </a:r>
            <a:r>
              <a:rPr dirty="0" err="1"/>
              <a:t>langsmith</a:t>
            </a:r>
            <a:r>
              <a:rPr dirty="0"/>
              <a:t>/screenshots/trace-detail-guard-</a:t>
            </a:r>
            <a:r>
              <a:rPr dirty="0" err="1"/>
              <a:t>fired.png</a:t>
            </a:r>
            <a:r>
              <a:rPr dirty="0"/>
              <a:t>.</a:t>
            </a:r>
          </a:p>
          <a:p>
            <a:r>
              <a:rPr dirty="0"/>
              <a:t>- Project repository: </a:t>
            </a:r>
            <a:r>
              <a:rPr dirty="0" err="1"/>
              <a:t>langsmith</a:t>
            </a:r>
            <a:r>
              <a:rPr dirty="0"/>
              <a:t>/</a:t>
            </a:r>
            <a:r>
              <a:rPr dirty="0" err="1"/>
              <a:t>traces_export.json</a:t>
            </a:r>
            <a:r>
              <a:rPr dirty="0"/>
              <a:t> and </a:t>
            </a:r>
            <a:r>
              <a:rPr dirty="0" err="1"/>
              <a:t>langsmith</a:t>
            </a:r>
            <a:r>
              <a:rPr dirty="0"/>
              <a:t>/</a:t>
            </a:r>
            <a:r>
              <a:rPr dirty="0" err="1"/>
              <a:t>experiment_summary.json</a:t>
            </a:r>
            <a:r>
              <a:rPr dirty="0"/>
              <a:t>.</a:t>
            </a:r>
          </a:p>
          <a:p>
            <a:r>
              <a:rPr dirty="0"/>
              <a:t>- Project repository: classifier/eval_results_gpt-4o.json and classifier/</a:t>
            </a:r>
            <a:r>
              <a:rPr dirty="0" err="1"/>
              <a:t>FINDINGS.md</a:t>
            </a:r>
            <a:r>
              <a:rPr dirty="0"/>
              <a:t>.</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pricing basis is €700 for each of my consulting days, contracted as a fixed fee per phase.</a:t>
            </a:r>
          </a:p>
          <a:p>
            <a:endParaRPr dirty="0"/>
          </a:p>
          <a:p>
            <a:r>
              <a:rPr dirty="0"/>
              <a:t>Phase 0 includes 8 of my consulting days, or €5,600. Over 2 weeks, 2 of your handlers label 300 complaints; their time is not included in my fee.</a:t>
            </a:r>
          </a:p>
          <a:p>
            <a:endParaRPr dirty="0"/>
          </a:p>
          <a:p>
            <a:r>
              <a:rPr dirty="0"/>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a:endParaRPr dirty="0"/>
          </a:p>
          <a:p>
            <a:r>
              <a:rPr dirty="0"/>
              <a:t>Phase 2 is contingent on the pilot passing. It includes 15 of my consulting days, or €10,500, taking the full </a:t>
            </a:r>
            <a:r>
              <a:rPr dirty="0" err="1"/>
              <a:t>programme</a:t>
            </a:r>
            <a:r>
              <a:rPr dirty="0"/>
              <a:t> to €24,500. This phase is assist-only: your handlers may use proposals, but autonomous routing requires separate approval.</a:t>
            </a:r>
          </a:p>
          <a:p>
            <a:endParaRPr dirty="0"/>
          </a:p>
          <a:p>
            <a:r>
              <a:rPr dirty="0"/>
              <a:t>Estimated annual operating cost is €7,400: 8 consultant review days cost €5,600, and the €150 monthly platform costs €1,800. Under the assumed volume, model calls add about €0.29. Accountable operation, not model calls, drives cost.</a:t>
            </a:r>
          </a:p>
          <a:p>
            <a:endParaRPr dirty="0"/>
          </a:p>
          <a:p>
            <a:r>
              <a:rPr dirty="0"/>
              <a:t>I am not claiming it will prevent 4 ombudsman referrals a year. The pilot must test that hypothesis.</a:t>
            </a:r>
          </a:p>
          <a:p>
            <a:endParaRPr dirty="0"/>
          </a:p>
          <a:p>
            <a:r>
              <a:rPr dirty="0"/>
              <a:t>The ask is €14,000 to reach an evidence-based decision, not €24,500 for a deployment that has not earned approval.</a:t>
            </a:r>
          </a:p>
          <a:p>
            <a:endParaRPr dirty="0"/>
          </a:p>
          <a:p>
            <a:r>
              <a:rPr dirty="0"/>
              <a:t>That is my proposal. Thank you. For Round 2, I would most value your view on whether the evidence, controls, and staged investment make Phase 0 a credible next step.</a:t>
            </a:r>
          </a:p>
          <a:p>
            <a:endParaRPr dirty="0"/>
          </a:p>
          <a:p>
            <a:r>
              <a:rPr dirty="0"/>
              <a:t>--- END OF SPOKEN NOTES ---</a:t>
            </a:r>
          </a:p>
          <a:p>
            <a:endParaRPr dirty="0"/>
          </a:p>
          <a:p>
            <a:r>
              <a:rPr dirty="0"/>
              <a:t>[Sources]</a:t>
            </a:r>
          </a:p>
          <a:p>
            <a:r>
              <a:rPr dirty="0"/>
              <a:t>- Project repository: </a:t>
            </a:r>
            <a:r>
              <a:rPr dirty="0" err="1"/>
              <a:t>cost_estimation</a:t>
            </a:r>
            <a:r>
              <a:rPr dirty="0"/>
              <a:t>/</a:t>
            </a:r>
            <a:r>
              <a:rPr dirty="0" err="1"/>
              <a:t>cost_model.json</a:t>
            </a:r>
            <a:r>
              <a:rPr dirty="0"/>
              <a:t> and </a:t>
            </a:r>
            <a:r>
              <a:rPr dirty="0" err="1"/>
              <a:t>cost_estimation</a:t>
            </a:r>
            <a:r>
              <a:rPr dirty="0"/>
              <a:t>/</a:t>
            </a:r>
            <a:r>
              <a:rPr dirty="0" err="1"/>
              <a:t>cost_analysis.md</a:t>
            </a:r>
            <a:r>
              <a:rPr dirty="0"/>
              <a:t>.</a:t>
            </a:r>
          </a:p>
          <a:p>
            <a:r>
              <a:rPr dirty="0"/>
              <a:t>- OpenAI GPT-4o-mini pricing: https://</a:t>
            </a:r>
            <a:r>
              <a:rPr dirty="0" err="1"/>
              <a:t>developers.openai.com</a:t>
            </a:r>
            <a:r>
              <a:rPr dirty="0"/>
              <a:t>/</a:t>
            </a:r>
            <a:r>
              <a:rPr dirty="0" err="1"/>
              <a:t>api</a:t>
            </a:r>
            <a:r>
              <a:rPr dirty="0"/>
              <a:t>/docs/models/gpt-4o-mini</a:t>
            </a:r>
          </a:p>
          <a:p>
            <a:r>
              <a:rPr dirty="0"/>
              <a:t>- Financial Ombudsman Service case fees: https://</a:t>
            </a:r>
            <a:r>
              <a:rPr dirty="0" err="1"/>
              <a:t>www.financial-ombudsman.org.uk</a:t>
            </a:r>
            <a:r>
              <a:rPr dirty="0"/>
              <a:t>/businesses/resolving-complaint/case-fees</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ranked 3 candidate use cases by how visible and controllable their reasoning can be. Only complaint triage is proposed for Phase 0 and Phase 1; anomaly flagging and reporting assistance remain later options.</a:t>
            </a:r>
          </a:p>
          <a:p>
            <a:endParaRPr dirty="0"/>
          </a:p>
          <a:p>
            <a:r>
              <a:rPr dirty="0"/>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a:endParaRPr dirty="0"/>
          </a:p>
          <a:p>
            <a:r>
              <a:rPr dirty="0"/>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a:endParaRPr dirty="0"/>
          </a:p>
          <a:p>
            <a:r>
              <a:rPr dirty="0"/>
              <a:t>The point is not to find the most impressive use case. It is to choose a use case whose risks can be bounded and whose decisions can be examined.</a:t>
            </a:r>
          </a:p>
          <a:p>
            <a:endParaRPr dirty="0"/>
          </a:p>
          <a:p>
            <a:r>
              <a:rPr dirty="0"/>
              <a:t>--- END OF SPOKEN NOTES ---</a:t>
            </a:r>
          </a:p>
          <a:p>
            <a:endParaRPr dirty="0"/>
          </a:p>
          <a:p>
            <a:r>
              <a:rPr dirty="0"/>
              <a:t>[Sources]</a:t>
            </a:r>
          </a:p>
          <a:p>
            <a:r>
              <a:rPr dirty="0"/>
              <a:t>- Project repository: research/</a:t>
            </a:r>
            <a:r>
              <a:rPr dirty="0" err="1"/>
              <a:t>use_cases.md</a:t>
            </a:r>
            <a:r>
              <a:rPr dirty="0"/>
              <a:t>.</a:t>
            </a:r>
          </a:p>
          <a:p>
            <a:r>
              <a:rPr dirty="0"/>
              <a:t>- EU AI Act, Annex III: https://</a:t>
            </a:r>
            <a:r>
              <a:rPr dirty="0" err="1"/>
              <a:t>eur-lex.europa.eu</a:t>
            </a:r>
            <a:r>
              <a:rPr dirty="0"/>
              <a:t>/</a:t>
            </a:r>
            <a:r>
              <a:rPr dirty="0" err="1"/>
              <a:t>eli</a:t>
            </a:r>
            <a:r>
              <a:rPr dirty="0"/>
              <a:t>/reg/2024/1689/</a:t>
            </a:r>
            <a:r>
              <a:rPr dirty="0" err="1"/>
              <a:t>oj</a:t>
            </a:r>
            <a:endParaRPr dirty="0"/>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chart explains how the public data supports a bounded initial test.</a:t>
            </a:r>
          </a:p>
          <a:p>
            <a:endParaRPr dirty="0"/>
          </a:p>
          <a:p>
            <a:r>
              <a:rPr dirty="0"/>
              <a:t>In the public dataset, 5 of 64 issue categories account for 46.1% of complaints. That makes it possible to test a narrow, high-volume starting point instead of pretending the model can handle the entire taxonomy equally well.</a:t>
            </a:r>
          </a:p>
          <a:p>
            <a:endParaRPr dirty="0"/>
          </a:p>
          <a:p>
            <a:r>
              <a:rPr dirty="0"/>
              <a:t>I would not assume that 46.1% applies to the client. Phase 0 must measure the client’s own concentration and decide which categories belong in the pilot.</a:t>
            </a:r>
          </a:p>
          <a:p>
            <a:endParaRPr dirty="0"/>
          </a:p>
          <a:p>
            <a:r>
              <a:rPr dirty="0"/>
              <a:t>The public result is a reason to investigate a focused scope, not a forecast of the client’s complaint book.</a:t>
            </a:r>
          </a:p>
          <a:p>
            <a:endParaRPr dirty="0"/>
          </a:p>
          <a:p>
            <a:r>
              <a:rPr dirty="0"/>
              <a:t>--- END OF SPOKEN NOTES ---</a:t>
            </a:r>
          </a:p>
          <a:p>
            <a:endParaRPr dirty="0"/>
          </a:p>
          <a:p>
            <a:r>
              <a:rPr dirty="0"/>
              <a:t>[Sources]</a:t>
            </a:r>
          </a:p>
          <a:p>
            <a:r>
              <a:rPr dirty="0"/>
              <a:t>- Project repository: </a:t>
            </a:r>
            <a:r>
              <a:rPr dirty="0" err="1"/>
              <a:t>README.md</a:t>
            </a:r>
            <a:r>
              <a:rPr dirty="0"/>
              <a:t> and research/</a:t>
            </a:r>
            <a:r>
              <a:rPr dirty="0" err="1"/>
              <a:t>sector_research.md</a:t>
            </a:r>
            <a:r>
              <a:rPr dirty="0"/>
              <a:t>.</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public-data slide separates how often complaints occur from how often they end with monetary relief.</a:t>
            </a:r>
          </a:p>
          <a:p>
            <a:endParaRPr dirty="0"/>
          </a:p>
          <a:p>
            <a:r>
              <a:rPr dirty="0"/>
              <a:t>Checking and savings accounts and credit cards produce most of the complaint volume in this dataset. But monetary relief appears in 17.2% of credit-card complaints, compared with 3.0% for vehicle-lending complaints. That is a 5.7× difference.</a:t>
            </a:r>
          </a:p>
          <a:p>
            <a:endParaRPr dirty="0"/>
          </a:p>
          <a:p>
            <a:r>
              <a:rPr dirty="0"/>
              <a:t>The implication is that volume alone does not describe likely monetary relief. That relationship is a hypothesis to test, not a routing rule.</a:t>
            </a:r>
          </a:p>
          <a:p>
            <a:endParaRPr dirty="0"/>
          </a:p>
          <a:p>
            <a:r>
              <a:rPr dirty="0"/>
              <a:t>This is a signal from public data, not a forecast for the client. The client’s own product mix, resolution costs, and escalation patterns must be measured during discovery and the pilot.</a:t>
            </a:r>
          </a:p>
          <a:p>
            <a:endParaRPr dirty="0"/>
          </a:p>
          <a:p>
            <a:r>
              <a:rPr dirty="0"/>
              <a:t>--- END OF SPOKEN NOTES ---</a:t>
            </a:r>
          </a:p>
          <a:p>
            <a:endParaRPr dirty="0"/>
          </a:p>
          <a:p>
            <a:r>
              <a:rPr dirty="0"/>
              <a:t>[Sources]</a:t>
            </a:r>
          </a:p>
          <a:p>
            <a:r>
              <a:rPr dirty="0"/>
              <a:t>- Project repository: research/</a:t>
            </a:r>
            <a:r>
              <a:rPr dirty="0" err="1"/>
              <a:t>sector_research.md</a:t>
            </a:r>
            <a:r>
              <a:rPr dirty="0"/>
              <a:t> and dashboard evidence.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 the 60-case evaluation sample recorded in </a:t>
            </a:r>
            <a:r>
              <a:rPr dirty="0" err="1"/>
              <a:t>LangSmith</a:t>
            </a:r>
            <a:r>
              <a:rPr dirty="0"/>
              <a:t>, 52 complaints produced a proposal after passing the configured validation checks. Passing those checks does not prove that the proposed team was correct.</a:t>
            </a:r>
          </a:p>
          <a:p>
            <a:endParaRPr dirty="0"/>
          </a:p>
          <a:p>
            <a:r>
              <a:rPr dirty="0"/>
              <a:t>4 were flagged for human review because the model’s evidence quotation was not present verbatim in the complaint. Another 4 were flagged because confidence was below the threshold.</a:t>
            </a:r>
          </a:p>
          <a:p>
            <a:endParaRPr dirty="0"/>
          </a:p>
          <a:p>
            <a:r>
              <a:rPr dirty="0"/>
              <a:t>Every case in the sample has a recorded outcome and a reason code. 0 cases lack a recorded outcome.</a:t>
            </a:r>
          </a:p>
          <a:p>
            <a:endParaRPr dirty="0"/>
          </a:p>
          <a:p>
            <a:r>
              <a:rPr dirty="0"/>
              <a:t>This does not prove that every proposal was correct. It proves that proposals and stops can be traced and discussed.</a:t>
            </a:r>
          </a:p>
          <a:p>
            <a:endParaRPr dirty="0"/>
          </a:p>
          <a:p>
            <a:r>
              <a:rPr dirty="0"/>
              <a:t>--- END OF SPOKEN NOTES ---</a:t>
            </a:r>
          </a:p>
          <a:p>
            <a:endParaRPr dirty="0"/>
          </a:p>
          <a:p>
            <a:r>
              <a:rPr dirty="0"/>
              <a:t>[Sources]</a:t>
            </a:r>
          </a:p>
          <a:p>
            <a:r>
              <a:rPr dirty="0"/>
              <a:t>- Project repository: </a:t>
            </a:r>
            <a:r>
              <a:rPr dirty="0" err="1"/>
              <a:t>langsmith</a:t>
            </a:r>
            <a:r>
              <a:rPr dirty="0"/>
              <a:t>/</a:t>
            </a:r>
            <a:r>
              <a:rPr dirty="0" err="1"/>
              <a:t>experiment_summary.json</a:t>
            </a:r>
            <a:r>
              <a:rPr dirty="0"/>
              <a:t>.</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60.5% result should not be interpreted as a clean measure of model accuracy.</a:t>
            </a:r>
          </a:p>
          <a:p>
            <a:endParaRPr dirty="0"/>
          </a:p>
          <a:p>
            <a:r>
              <a:rPr dirty="0"/>
              <a:t>When the same model classified the same complaints again, it selected the same team approximately 89% of the time. It was relatively consistent with itself but disagreed much more often with the CFPB label.</a:t>
            </a:r>
          </a:p>
          <a:p>
            <a:endParaRPr dirty="0"/>
          </a:p>
          <a:p>
            <a:r>
              <a:rPr dirty="0"/>
              <a:t>The CFPB issue label is selected by the person filing the complaint, using a product-specific menu. It is not an expert judgement about which internal team should handle the case.</a:t>
            </a:r>
          </a:p>
          <a:p>
            <a:endParaRPr dirty="0"/>
          </a:p>
          <a:p>
            <a:r>
              <a:rPr dirty="0"/>
              <a:t>The 60.5% result therefore mixes model error with label mismatch; it cannot separate them. Phase 0 resolves that uncertainty by asking experienced handlers to create an expert-labelled reference set and by measuring their agreement with one another.</a:t>
            </a:r>
          </a:p>
          <a:p>
            <a:endParaRPr dirty="0"/>
          </a:p>
          <a:p>
            <a:r>
              <a:rPr dirty="0"/>
              <a:t>--- END OF SPOKEN NOTES ---</a:t>
            </a:r>
          </a:p>
          <a:p>
            <a:endParaRPr dirty="0"/>
          </a:p>
          <a:p>
            <a:r>
              <a:rPr dirty="0"/>
              <a:t>[Sources]</a:t>
            </a:r>
          </a:p>
          <a:p>
            <a:r>
              <a:rPr dirty="0"/>
              <a:t>- Project repository: classifier/eval_results_gpt-4o.json and classifier/eval_results_gpt-4o-mini.json.</a:t>
            </a:r>
          </a:p>
          <a:p>
            <a:r>
              <a:rPr dirty="0"/>
              <a:t>- Project repository: classifier/</a:t>
            </a:r>
            <a:r>
              <a:rPr dirty="0" err="1"/>
              <a:t>FINDINGS.md</a:t>
            </a:r>
            <a:r>
              <a:rPr dirty="0"/>
              <a:t> and </a:t>
            </a:r>
            <a:r>
              <a:rPr dirty="0" err="1"/>
              <a:t>cost_estimation</a:t>
            </a:r>
            <a:r>
              <a:rPr dirty="0"/>
              <a:t>/</a:t>
            </a:r>
            <a:r>
              <a:rPr dirty="0" err="1"/>
              <a:t>cost_model.json</a:t>
            </a:r>
            <a:r>
              <a:rPr dirty="0"/>
              <a:t>.</a:t>
            </a:r>
          </a:p>
          <a:p>
            <a:r>
              <a:rPr dirty="0"/>
              <a:t>- OpenAI GPT-4o pricing: https://</a:t>
            </a:r>
            <a:r>
              <a:rPr dirty="0" err="1"/>
              <a:t>developers.openai.com</a:t>
            </a:r>
            <a:r>
              <a:rPr dirty="0"/>
              <a:t>/</a:t>
            </a:r>
            <a:r>
              <a:rPr dirty="0" err="1"/>
              <a:t>api</a:t>
            </a:r>
            <a:r>
              <a:rPr dirty="0"/>
              <a:t>/docs/models/gpt-4o</a:t>
            </a:r>
          </a:p>
          <a:p>
            <a:r>
              <a:rPr dirty="0"/>
              <a:t>- OpenAI GPT-4o-mini pricing: https://</a:t>
            </a:r>
            <a:r>
              <a:rPr dirty="0" err="1"/>
              <a:t>developers.openai.com</a:t>
            </a:r>
            <a:r>
              <a:rPr dirty="0"/>
              <a:t>/</a:t>
            </a:r>
            <a:r>
              <a:rPr dirty="0" err="1"/>
              <a:t>api</a:t>
            </a:r>
            <a:r>
              <a:rPr dirty="0"/>
              <a:t>/docs/models/gpt-4o-mini</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 data problems could have produced confident but misleading conclusions.</a:t>
            </a:r>
          </a:p>
          <a:p>
            <a:endParaRPr dirty="0"/>
          </a:p>
          <a:p>
            <a:r>
              <a:rPr dirty="0"/>
              <a:t>First, recent complaint volume appeared to collapse by 73% because the CFPB publishes complaints only after the company responds or enough time passes. I removed the incomplete period and ended the analysis window on 27 June 2026.</a:t>
            </a:r>
          </a:p>
          <a:p>
            <a:endParaRPr dirty="0"/>
          </a:p>
          <a:p>
            <a:r>
              <a:rPr dirty="0"/>
              <a:t>Second, the apparent response-time field was 0 for 96% of records because it measured the regulator’s routing process, not the firm’s handling time. I excluded it.</a:t>
            </a:r>
          </a:p>
          <a:p>
            <a:endParaRPr dirty="0"/>
          </a:p>
          <a:p>
            <a:r>
              <a:rPr dirty="0"/>
              <a:t>Third, 2 different timeliness fields created apparently conflicting percentages. I separated their meanings instead of treating them as the same metric.</a:t>
            </a:r>
          </a:p>
          <a:p>
            <a:endParaRPr dirty="0"/>
          </a:p>
          <a:p>
            <a:r>
              <a:rPr dirty="0"/>
              <a:t>The lesson is that a field can be complete and still mean the wrong thing for the business question.</a:t>
            </a:r>
          </a:p>
          <a:p>
            <a:endParaRPr dirty="0"/>
          </a:p>
          <a:p>
            <a:r>
              <a:rPr dirty="0"/>
              <a:t>--- END OF SPOKEN NOTES ---</a:t>
            </a:r>
          </a:p>
          <a:p>
            <a:endParaRPr dirty="0"/>
          </a:p>
          <a:p>
            <a:r>
              <a:rPr dirty="0"/>
              <a:t>[Sources]</a:t>
            </a:r>
          </a:p>
          <a:p>
            <a:r>
              <a:rPr dirty="0"/>
              <a:t>- Project repository: </a:t>
            </a:r>
            <a:r>
              <a:rPr dirty="0" err="1"/>
              <a:t>README.md</a:t>
            </a:r>
            <a:r>
              <a:rPr dirty="0"/>
              <a:t> and the documented data-quality checks.</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My Round 1 compliance position is deliberately preliminary. It is not a final legal classification.</a:t>
            </a:r>
          </a:p>
          <a:p>
            <a:endParaRPr dirty="0"/>
          </a:p>
          <a:p>
            <a:r>
              <a:rPr dirty="0"/>
              <a:t>This system proposes an internal complaint-routing team. It does not assess creditworthiness, determine access to a financial service, or make the final decision on a customer’s complaint. A human remains responsible for confirming the route and resolving the case.</a:t>
            </a:r>
          </a:p>
          <a:p>
            <a:endParaRPr dirty="0"/>
          </a:p>
          <a:p>
            <a:r>
              <a:rPr dirty="0"/>
              <a:t>On that intended use, I have not identified it as matching the Annex III creditworthiness use classified as high-risk. However, classification depends on the exact intended purpose, deployment context, data flows, and degree of human control.</a:t>
            </a:r>
          </a:p>
          <a:p>
            <a:endParaRPr dirty="0"/>
          </a:p>
          <a:p>
            <a:r>
              <a:rPr dirty="0"/>
              <a:t>Round 2 therefore needs a step-by-step classification and obligations assessment. If the system begins routing automatically or influencing substantive customer outcomes, that is a new assessment, not a minor product upgrade.</a:t>
            </a:r>
          </a:p>
          <a:p>
            <a:endParaRPr dirty="0"/>
          </a:p>
          <a:p>
            <a:r>
              <a:rPr dirty="0"/>
              <a:t>Round 2 must also establish the GDPR legal basis and retention period, decide whether a DPIA is required, and verify the hosting region and cross-border transfer controls. Those controls are open work, not completed safeguards.</a:t>
            </a:r>
          </a:p>
          <a:p>
            <a:endParaRPr dirty="0"/>
          </a:p>
          <a:p>
            <a:r>
              <a:rPr dirty="0"/>
              <a:t>--- END OF SPOKEN NOTES ---</a:t>
            </a:r>
          </a:p>
          <a:p>
            <a:endParaRPr dirty="0"/>
          </a:p>
          <a:p>
            <a:r>
              <a:rPr dirty="0"/>
              <a:t>[Sources]</a:t>
            </a:r>
          </a:p>
          <a:p>
            <a:r>
              <a:rPr dirty="0"/>
              <a:t>- Project repository: research/</a:t>
            </a:r>
            <a:r>
              <a:rPr dirty="0" err="1"/>
              <a:t>opportunities_risks.md</a:t>
            </a:r>
            <a:r>
              <a:rPr dirty="0"/>
              <a:t>, §4.</a:t>
            </a:r>
          </a:p>
          <a:p>
            <a:r>
              <a:rPr dirty="0"/>
              <a:t>- EU AI Act: https://</a:t>
            </a:r>
            <a:r>
              <a:rPr dirty="0" err="1"/>
              <a:t>eur-lex.europa.eu</a:t>
            </a:r>
            <a:r>
              <a:rPr dirty="0"/>
              <a:t>/</a:t>
            </a:r>
            <a:r>
              <a:rPr dirty="0" err="1"/>
              <a:t>eli</a:t>
            </a:r>
            <a:r>
              <a:rPr dirty="0"/>
              <a:t>/reg/2024/1689/</a:t>
            </a:r>
            <a:r>
              <a:rPr dirty="0" err="1"/>
              <a:t>oj</a:t>
            </a:r>
            <a:endParaRPr dirty="0"/>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Every figure in the pitch fits 1 of 3 categories: measured in this project, taken from a named public source, or explicitly labelled as an assumption or professional judgement.</a:t>
            </a:r>
          </a:p>
          <a:p>
            <a:endParaRPr dirty="0"/>
          </a:p>
          <a:p>
            <a:r>
              <a:rPr dirty="0"/>
              <a:t>The complaint analysis comes from the public CFPB dataset. The client-size and complaint-rate estimates use stated FCA benchmarks and scenario assumptions. The model </a:t>
            </a:r>
            <a:r>
              <a:rPr dirty="0" err="1"/>
              <a:t>behaviour</a:t>
            </a:r>
            <a:r>
              <a:rPr dirty="0"/>
              <a:t> comes from the project’s own evaluations. The 60.5% figure is agreement with CFPB-derived labels, not expert-routing accuracy. Soft inputs such as minutes per complaint, employer on-costs, and platform cost are labelled as judgements in the cost model.</a:t>
            </a:r>
          </a:p>
          <a:p>
            <a:endParaRPr dirty="0"/>
          </a:p>
          <a:p>
            <a:r>
              <a:rPr dirty="0"/>
              <a:t>The purpose of this slide is not to claim certainty. It is to make clear which figures are evidence, which are external benchmarks, and which must be validated during Phase 0 and the pilot.</a:t>
            </a:r>
          </a:p>
          <a:p>
            <a:endParaRPr dirty="0"/>
          </a:p>
          <a:p>
            <a:r>
              <a:rPr dirty="0"/>
              <a:t>--- END OF SPOKEN NOTES ---</a:t>
            </a:r>
          </a:p>
          <a:p>
            <a:endParaRPr dirty="0"/>
          </a:p>
          <a:p>
            <a:r>
              <a:rPr dirty="0"/>
              <a:t>[Sources]</a:t>
            </a:r>
          </a:p>
          <a:p>
            <a:r>
              <a:rPr dirty="0"/>
              <a:t>- CFPB Consumer Complaint Database: https://</a:t>
            </a:r>
            <a:r>
              <a:rPr dirty="0" err="1"/>
              <a:t>www.consumerfinance.gov</a:t>
            </a:r>
            <a:r>
              <a:rPr dirty="0"/>
              <a:t>/data-research/consumer-complaints/</a:t>
            </a:r>
          </a:p>
          <a:p>
            <a:r>
              <a:rPr dirty="0"/>
              <a:t>- Project repository: </a:t>
            </a:r>
            <a:r>
              <a:rPr dirty="0" err="1"/>
              <a:t>README.md</a:t>
            </a:r>
            <a:r>
              <a:rPr dirty="0"/>
              <a:t>, classifier evaluation files, and </a:t>
            </a:r>
            <a:r>
              <a:rPr dirty="0" err="1"/>
              <a:t>cost_estimation</a:t>
            </a:r>
            <a:r>
              <a:rPr dirty="0"/>
              <a:t>/</a:t>
            </a:r>
            <a:r>
              <a:rPr dirty="0" err="1"/>
              <a:t>cost_model.json</a:t>
            </a:r>
            <a:r>
              <a:rPr dirty="0"/>
              <a:t>.</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D2A32"/>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056916D-5056-42C6-BAD6-5AAEDE3D4E0E}"/>
              </a:ext>
            </a:extLst>
          </p:cNvPr>
          <p:cNvSpPr>
            <a:spLocks noGrp="1"/>
          </p:cNvSpPr>
          <p:nvPr/>
        </p:nvSpPr>
        <p:spPr>
          <a:xfrm rot="2700000">
            <a:off x="9902952" y="-1005840"/>
            <a:ext cx="2011680" cy="2011680"/>
          </a:xfrm>
          <a:prstGeom prst="rect">
            <a:avLst/>
          </a:prstGeom>
          <a:ln w="12700">
            <a:solidFill>
              <a:srgbClr val="445A69"/>
            </a:solidFill>
            <a:prstDash val="solid"/>
          </a:ln>
        </p:spPr>
        <p:txBody>
          <a:bodyPr/>
          <a:lstStyle/>
          <a:p>
            <a:endParaRPr/>
          </a:p>
        </p:txBody>
      </p:sp>
      <p:sp>
        <p:nvSpPr>
          <p:cNvPr id="3" name="Shape 1">
            <a:extLst>
              <a:ext uri="{FF2B5EF4-FFF2-40B4-BE49-F238E27FC236}">
                <a16:creationId xmlns:a16="http://schemas.microsoft.com/office/drawing/2014/main" id="{6A83C6B3-5B02-40D3-8DF9-118A874298E9}"/>
              </a:ext>
            </a:extLst>
          </p:cNvPr>
          <p:cNvSpPr>
            <a:spLocks noGrp="1"/>
          </p:cNvSpPr>
          <p:nvPr/>
        </p:nvSpPr>
        <p:spPr>
          <a:xfrm rot="2700000">
            <a:off x="10451592" y="-457200"/>
            <a:ext cx="914400" cy="914400"/>
          </a:xfrm>
          <a:prstGeom prst="rect">
            <a:avLst/>
          </a:prstGeom>
          <a:solidFill>
            <a:srgbClr val="2A78D6">
              <a:alpha val="22000"/>
            </a:srgbClr>
          </a:solidFill>
        </p:spPr>
        <p:txBody>
          <a:bodyPr/>
          <a:lstStyle/>
          <a:p>
            <a:endParaRPr/>
          </a:p>
        </p:txBody>
      </p:sp>
      <p:sp>
        <p:nvSpPr>
          <p:cNvPr id="4" name="Text 2">
            <a:extLst>
              <a:ext uri="{FF2B5EF4-FFF2-40B4-BE49-F238E27FC236}">
                <a16:creationId xmlns:a16="http://schemas.microsoft.com/office/drawing/2014/main" id="{397CEAF3-7A33-478F-98E2-FD5BC3451AED}"/>
              </a:ext>
            </a:extLst>
          </p:cNvPr>
          <p:cNvSpPr>
            <a:spLocks noGrp="1"/>
          </p:cNvSpPr>
          <p:nvPr/>
        </p:nvSpPr>
        <p:spPr>
          <a:xfrm>
            <a:off x="566928" y="1874520"/>
            <a:ext cx="11055096" cy="365760"/>
          </a:xfrm>
          <a:prstGeom prst="rect">
            <a:avLst/>
          </a:prstGeom>
          <a:noFill/>
        </p:spPr>
        <p:txBody>
          <a:bodyPr wrap="square" lIns="0" tIns="0" rIns="0" bIns="0" anchor="ctr"/>
          <a:lstStyle/>
          <a:p>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a:ext uri="{FF2B5EF4-FFF2-40B4-BE49-F238E27FC236}">
                <a16:creationId xmlns:a16="http://schemas.microsoft.com/office/drawing/2014/main" id="{2273E1B8-6A2C-4DD9-A605-CD7DF863B525}"/>
              </a:ext>
            </a:extLst>
          </p:cNvPr>
          <p:cNvSpPr>
            <a:spLocks noGrp="1"/>
          </p:cNvSpPr>
          <p:nvPr/>
        </p:nvSpPr>
        <p:spPr>
          <a:xfrm>
            <a:off x="566928" y="2286000"/>
            <a:ext cx="11055096" cy="914400"/>
          </a:xfrm>
          <a:prstGeom prst="rect">
            <a:avLst/>
          </a:prstGeom>
          <a:noFill/>
        </p:spPr>
        <p:txBody>
          <a:bodyPr wrap="square" lIns="0" tIns="0" rIns="0" bIns="0" anchor="ctr"/>
          <a:lstStyle/>
          <a:p>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a:ext uri="{FF2B5EF4-FFF2-40B4-BE49-F238E27FC236}">
                <a16:creationId xmlns:a16="http://schemas.microsoft.com/office/drawing/2014/main" id="{47DA406D-0B8A-4DA0-A893-8B083FBAFF6E}"/>
              </a:ext>
            </a:extLst>
          </p:cNvPr>
          <p:cNvSpPr>
            <a:spLocks noGrp="1"/>
          </p:cNvSpPr>
          <p:nvPr/>
        </p:nvSpPr>
        <p:spPr>
          <a:xfrm>
            <a:off x="566928" y="3310128"/>
            <a:ext cx="11055096" cy="457200"/>
          </a:xfrm>
          <a:prstGeom prst="rect">
            <a:avLst/>
          </a:prstGeom>
          <a:noFill/>
        </p:spPr>
        <p:txBody>
          <a:bodyPr wrap="square" lIns="0" tIns="0" rIns="0" bIns="0" anchor="ctr"/>
          <a:lstStyle/>
          <a:p>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a:ext uri="{FF2B5EF4-FFF2-40B4-BE49-F238E27FC236}">
                <a16:creationId xmlns:a16="http://schemas.microsoft.com/office/drawing/2014/main" id="{EBF1142D-F742-43DD-AE16-111D2B47E084}"/>
              </a:ext>
            </a:extLst>
          </p:cNvPr>
          <p:cNvSpPr>
            <a:spLocks noGrp="1"/>
          </p:cNvSpPr>
          <p:nvPr/>
        </p:nvSpPr>
        <p:spPr>
          <a:xfrm>
            <a:off x="566928" y="4114800"/>
            <a:ext cx="2743200" cy="0"/>
          </a:xfrm>
          <a:prstGeom prst="line">
            <a:avLst/>
          </a:prstGeom>
          <a:noFill/>
          <a:ln w="19050">
            <a:solidFill>
              <a:srgbClr val="2A78D6"/>
            </a:solidFill>
            <a:prstDash val="solid"/>
          </a:ln>
        </p:spPr>
        <p:txBody>
          <a:bodyPr/>
          <a:lstStyle/>
          <a:p>
            <a:endParaRPr/>
          </a:p>
        </p:txBody>
      </p:sp>
      <p:sp>
        <p:nvSpPr>
          <p:cNvPr id="8" name="Text 6">
            <a:extLst>
              <a:ext uri="{FF2B5EF4-FFF2-40B4-BE49-F238E27FC236}">
                <a16:creationId xmlns:a16="http://schemas.microsoft.com/office/drawing/2014/main" id="{3E8DE3FC-2D9E-4522-82D2-7E760966283E}"/>
              </a:ext>
            </a:extLst>
          </p:cNvPr>
          <p:cNvSpPr>
            <a:spLocks noGrp="1"/>
          </p:cNvSpPr>
          <p:nvPr/>
        </p:nvSpPr>
        <p:spPr>
          <a:xfrm>
            <a:off x="566928" y="4297680"/>
            <a:ext cx="11055096" cy="640080"/>
          </a:xfrm>
          <a:prstGeom prst="rect">
            <a:avLst/>
          </a:prstGeom>
          <a:noFill/>
        </p:spPr>
        <p:txBody>
          <a:bodyPr wrap="square" lIns="0" tIns="0" rIns="0" bIns="0" anchor="ctr"/>
          <a:lstStyle/>
          <a:p>
            <a:pPr marL="0" indent="0">
              <a:buNone/>
            </a:pPr>
            <a:r>
              <a:rPr sz="1200" b="1">
                <a:solidFill>
                  <a:srgbClr val="FFFFFF"/>
                </a:solidFill>
                <a:latin typeface="Calibri"/>
                <a:ea typeface="Calibri"/>
                <a:cs typeface="Calibri"/>
              </a:rPr>
              <a:t>Ugo Ahukannah</a:t>
            </a:r>
            <a:endParaRPr sz="1200"/>
          </a:p>
          <a:p>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a:ext uri="{FF2B5EF4-FFF2-40B4-BE49-F238E27FC236}">
                <a16:creationId xmlns:a16="http://schemas.microsoft.com/office/drawing/2014/main" id="{E132266D-BC7A-4D3A-8E77-89EF87BB3717}"/>
              </a:ext>
            </a:extLst>
          </p:cNvPr>
          <p:cNvSpPr>
            <a:spLocks noGrp="1"/>
          </p:cNvSpPr>
          <p:nvPr/>
        </p:nvSpPr>
        <p:spPr>
          <a:xfrm>
            <a:off x="566928" y="6355080"/>
            <a:ext cx="11055096" cy="274320"/>
          </a:xfrm>
          <a:prstGeom prst="rect">
            <a:avLst/>
          </a:prstGeom>
          <a:noFill/>
        </p:spPr>
        <p:txBody>
          <a:bodyPr wrap="square" lIns="0" tIns="0" rIns="0" bIns="0" anchor="ctr"/>
          <a:lstStyle/>
          <a:p>
            <a:pPr marL="0" indent="0">
              <a:buNone/>
            </a:pPr>
            <a:r>
              <a:rPr sz="900">
                <a:solidFill>
                  <a:srgbClr val="6B7C88"/>
                </a:solidFill>
                <a:latin typeface="Calibri"/>
                <a:ea typeface="Calibri"/>
                <a:cs typeface="Calibri"/>
              </a:rPr>
              <a:t>U.S. Consumer Financial Protection Bureau (CFPB) · public complaint data    All figures trace to the project repository    </a:t>
            </a:r>
            <a:endParaRPr sz="900"/>
          </a:p>
        </p:txBody>
      </p:sp>
      <p:sp>
        <p:nvSpPr>
          <p:cNvPr id="10" name="Shape 8">
            <a:extLst>
              <a:ext uri="{FF2B5EF4-FFF2-40B4-BE49-F238E27FC236}">
                <a16:creationId xmlns:a16="http://schemas.microsoft.com/office/drawing/2014/main" id="{F54583F0-2ED9-483A-B0AB-1F6C3F561E62}"/>
              </a:ext>
            </a:extLst>
          </p:cNvPr>
          <p:cNvSpPr>
            <a:spLocks noGrp="1"/>
          </p:cNvSpPr>
          <p:nvPr/>
        </p:nvSpPr>
        <p:spPr>
          <a:xfrm>
            <a:off x="9217152" y="-1645920"/>
            <a:ext cx="3200400" cy="3246120"/>
          </a:xfrm>
          <a:prstGeom prst="rect">
            <a:avLst/>
          </a:prstGeom>
          <a:solidFill>
            <a:srgbClr val="1D2A32"/>
          </a:solidFill>
        </p:spPr>
        <p:txBody>
          <a:bodyPr/>
          <a:lstStyle/>
          <a:p>
            <a:endParaRPr/>
          </a:p>
        </p:txBody>
      </p:sp>
      <p:sp>
        <p:nvSpPr>
          <p:cNvPr id="11" name="Shape 9">
            <a:extLst>
              <a:ext uri="{FF2B5EF4-FFF2-40B4-BE49-F238E27FC236}">
                <a16:creationId xmlns:a16="http://schemas.microsoft.com/office/drawing/2014/main" id="{6C59BF6E-78D9-4446-93A1-6A5B27E56056}"/>
              </a:ext>
            </a:extLst>
          </p:cNvPr>
          <p:cNvSpPr>
            <a:spLocks noGrp="1"/>
          </p:cNvSpPr>
          <p:nvPr/>
        </p:nvSpPr>
        <p:spPr>
          <a:xfrm>
            <a:off x="0" y="0"/>
            <a:ext cx="146304" cy="6858000"/>
          </a:xfrm>
          <a:prstGeom prst="rect">
            <a:avLst/>
          </a:prstGeom>
          <a:solidFill>
            <a:srgbClr val="2A78D6"/>
          </a:solidFill>
        </p:spPr>
        <p:txBody>
          <a:bodyPr/>
          <a:lstStyle/>
          <a:p>
            <a:endParaRPr/>
          </a:p>
        </p:txBody>
      </p:sp>
      <p:sp>
        <p:nvSpPr>
          <p:cNvPr id="12" name="Shape 10">
            <a:extLst>
              <a:ext uri="{FF2B5EF4-FFF2-40B4-BE49-F238E27FC236}">
                <a16:creationId xmlns:a16="http://schemas.microsoft.com/office/drawing/2014/main" id="{9476BFF2-3CB7-4EE6-85B5-7BF0561EDB75}"/>
              </a:ext>
            </a:extLst>
          </p:cNvPr>
          <p:cNvSpPr>
            <a:spLocks noGrp="1"/>
          </p:cNvSpPr>
          <p:nvPr/>
        </p:nvSpPr>
        <p:spPr>
          <a:xfrm>
            <a:off x="0" y="0"/>
            <a:ext cx="146304" cy="2880360"/>
          </a:xfrm>
          <a:prstGeom prst="rect">
            <a:avLst/>
          </a:prstGeom>
          <a:solidFill>
            <a:srgbClr val="8FBFF0"/>
          </a:solidFill>
        </p:spPr>
        <p:txBody>
          <a:bodyPr/>
          <a:lstStyle/>
          <a:p>
            <a:endParaRPr/>
          </a:p>
        </p:txBody>
      </p:sp>
    </p:spTree>
    <p:extLst>
      <p:ext uri="{BB962C8B-B14F-4D97-AF65-F5344CB8AC3E}">
        <p14:creationId xmlns:p14="http://schemas.microsoft.com/office/powerpoint/2010/main" val="12391738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2A58E71-4D91-4029-A2BD-5A7F2CCFD9BD}"/>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C20FDC72-8FB4-481A-A1D3-ACEF768F7E61}"/>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30"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FCD47B61-FDB3-418D-97F2-E1A7D53888AA}"/>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a:ext uri="{FF2B5EF4-FFF2-40B4-BE49-F238E27FC236}">
                <a16:creationId xmlns:a16="http://schemas.microsoft.com/office/drawing/2014/main" id="{C37099B5-A037-411E-A7B2-CDF4CD9450CC}"/>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5A5A7132-CB8C-4F18-8253-9C8C05939D1E}"/>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A2248CCC-1018-4240-8772-124BE624E752}"/>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a:ext uri="{FF2B5EF4-FFF2-40B4-BE49-F238E27FC236}">
                <a16:creationId xmlns:a16="http://schemas.microsoft.com/office/drawing/2014/main" id="{826C9C09-5E5C-4999-AF0E-D98B2F0D5CD9}"/>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1E677E53-A408-4F7A-9FEB-9DAE374160F4}"/>
              </a:ext>
            </a:extLst>
          </p:cNvPr>
          <p:cNvSpPr>
            <a:spLocks noGrp="1"/>
          </p:cNvSpPr>
          <p:nvPr/>
        </p:nvSpPr>
        <p:spPr>
          <a:xfrm>
            <a:off x="566928" y="6473952"/>
            <a:ext cx="7315200" cy="274320"/>
          </a:xfrm>
          <a:prstGeom prst="rect">
            <a:avLst/>
          </a:prstGeom>
          <a:noFill/>
        </p:spPr>
        <p:txBody>
          <a:bodyPr wrap="square" lIns="0" tIns="0" rIns="0" bIns="0" anchor="ctr"/>
          <a:lstStyle/>
          <a:p>
            <a:pPr marL="0" indent="0">
              <a:buNone/>
            </a:pPr>
            <a:endParaRPr sz="850"/>
          </a:p>
        </p:txBody>
      </p:sp>
      <p:sp>
        <p:nvSpPr>
          <p:cNvPr id="11" name="Text 8">
            <a:extLst>
              <a:ext uri="{FF2B5EF4-FFF2-40B4-BE49-F238E27FC236}">
                <a16:creationId xmlns:a16="http://schemas.microsoft.com/office/drawing/2014/main" id="{624F7F1D-3445-4FE2-9F43-FCB824BD86BD}"/>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1</a:t>
            </a:r>
            <a:endParaRPr sz="850"/>
          </a:p>
        </p:txBody>
      </p:sp>
      <p:sp>
        <p:nvSpPr>
          <p:cNvPr id="12" name="Shape 9">
            <a:extLst>
              <a:ext uri="{FF2B5EF4-FFF2-40B4-BE49-F238E27FC236}">
                <a16:creationId xmlns:a16="http://schemas.microsoft.com/office/drawing/2014/main" id="{4FF37271-FF11-4479-8E84-3EE8C1C62EBD}"/>
              </a:ext>
            </a:extLst>
          </p:cNvPr>
          <p:cNvSpPr>
            <a:spLocks noGrp="1"/>
          </p:cNvSpPr>
          <p:nvPr/>
        </p:nvSpPr>
        <p:spPr>
          <a:xfrm>
            <a:off x="566928" y="2395728"/>
            <a:ext cx="3502152" cy="214884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3" name="Text 10">
            <a:extLst>
              <a:ext uri="{FF2B5EF4-FFF2-40B4-BE49-F238E27FC236}">
                <a16:creationId xmlns:a16="http://schemas.microsoft.com/office/drawing/2014/main" id="{AEFF8FFE-0F7A-4731-BEFE-D5ACC80ED5F2}"/>
              </a:ext>
            </a:extLst>
          </p:cNvPr>
          <p:cNvSpPr>
            <a:spLocks noGrp="1"/>
          </p:cNvSpPr>
          <p:nvPr/>
        </p:nvSpPr>
        <p:spPr>
          <a:xfrm>
            <a:off x="768096" y="2578608"/>
            <a:ext cx="3099816" cy="274320"/>
          </a:xfrm>
          <a:prstGeom prst="rect">
            <a:avLst/>
          </a:prstGeom>
          <a:noFill/>
        </p:spPr>
        <p:txBody>
          <a:bodyPr wrap="square" lIns="0" tIns="0" rIns="0" bIns="0" anchor="ctr"/>
          <a:lstStyle/>
          <a:p>
            <a:pPr marL="0" indent="0">
              <a:buNone/>
            </a:pPr>
            <a:r>
              <a:rPr sz="950" b="1" spc="150">
                <a:solidFill>
                  <a:srgbClr val="445A69"/>
                </a:solidFill>
                <a:latin typeface="Calibri"/>
                <a:ea typeface="Calibri"/>
                <a:cs typeface="Calibri"/>
              </a:rPr>
              <a:t>ASSUMED CLIENT PROFILE</a:t>
            </a:r>
            <a:endParaRPr sz="950"/>
          </a:p>
        </p:txBody>
      </p:sp>
      <p:sp>
        <p:nvSpPr>
          <p:cNvPr id="14" name="Text 11">
            <a:extLst>
              <a:ext uri="{FF2B5EF4-FFF2-40B4-BE49-F238E27FC236}">
                <a16:creationId xmlns:a16="http://schemas.microsoft.com/office/drawing/2014/main" id="{4ACF582F-575C-4EC1-A8C3-43C4DEABB72D}"/>
              </a:ext>
            </a:extLst>
          </p:cNvPr>
          <p:cNvSpPr>
            <a:spLocks noGrp="1"/>
          </p:cNvSpPr>
          <p:nvPr/>
        </p:nvSpPr>
        <p:spPr>
          <a:xfrm>
            <a:off x="768096" y="2852928"/>
            <a:ext cx="3099816" cy="640080"/>
          </a:xfrm>
          <a:prstGeom prst="rect">
            <a:avLst/>
          </a:prstGeom>
          <a:noFill/>
        </p:spPr>
        <p:txBody>
          <a:bodyPr wrap="square" lIns="0" tIns="0" rIns="0" bIns="0" anchor="t"/>
          <a:lstStyle/>
          <a:p>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a:ext uri="{FF2B5EF4-FFF2-40B4-BE49-F238E27FC236}">
                <a16:creationId xmlns:a16="http://schemas.microsoft.com/office/drawing/2014/main" id="{96FA5068-14A6-478F-9438-572CC454E138}"/>
              </a:ext>
            </a:extLst>
          </p:cNvPr>
          <p:cNvSpPr>
            <a:spLocks noGrp="1"/>
          </p:cNvSpPr>
          <p:nvPr/>
        </p:nvSpPr>
        <p:spPr>
          <a:xfrm>
            <a:off x="768096" y="3474720"/>
            <a:ext cx="3099816" cy="960120"/>
          </a:xfrm>
          <a:prstGeom prst="rect">
            <a:avLst/>
          </a:prstGeom>
          <a:noFill/>
        </p:spPr>
        <p:txBody>
          <a:bodyPr wrap="square" lIns="0" tIns="0" rIns="0" bIns="0" anchor="t"/>
          <a:lstStyle/>
          <a:p>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a:ext uri="{FF2B5EF4-FFF2-40B4-BE49-F238E27FC236}">
                <a16:creationId xmlns:a16="http://schemas.microsoft.com/office/drawing/2014/main" id="{A5B56416-B0B1-4E3F-91C0-E8FADB7B9E35}"/>
              </a:ext>
            </a:extLst>
          </p:cNvPr>
          <p:cNvSpPr>
            <a:spLocks noGrp="1"/>
          </p:cNvSpPr>
          <p:nvPr/>
        </p:nvSpPr>
        <p:spPr>
          <a:xfrm>
            <a:off x="4343400" y="2395728"/>
            <a:ext cx="3502152" cy="2148840"/>
          </a:xfrm>
          <a:prstGeom prst="rect">
            <a:avLst/>
          </a:prstGeom>
          <a:solidFill>
            <a:srgbClr val="24343F"/>
          </a:solidFill>
          <a:effectLst>
            <a:outerShdw blurRad="88900" dist="38100" dir="8100000" algn="bl" rotWithShape="0">
              <a:srgbClr val="1C2440">
                <a:alpha val="13000"/>
              </a:srgbClr>
            </a:outerShdw>
          </a:effectLst>
        </p:spPr>
        <p:txBody>
          <a:bodyPr/>
          <a:lstStyle/>
          <a:p>
            <a:endParaRPr/>
          </a:p>
        </p:txBody>
      </p:sp>
      <p:sp>
        <p:nvSpPr>
          <p:cNvPr id="17" name="Text 14">
            <a:extLst>
              <a:ext uri="{FF2B5EF4-FFF2-40B4-BE49-F238E27FC236}">
                <a16:creationId xmlns:a16="http://schemas.microsoft.com/office/drawing/2014/main" id="{66C09F7C-5821-43A7-A7AE-B976C51DDEF6}"/>
              </a:ext>
            </a:extLst>
          </p:cNvPr>
          <p:cNvSpPr>
            <a:spLocks noGrp="1"/>
          </p:cNvSpPr>
          <p:nvPr/>
        </p:nvSpPr>
        <p:spPr>
          <a:xfrm>
            <a:off x="4544568" y="2578608"/>
            <a:ext cx="3099816" cy="274320"/>
          </a:xfrm>
          <a:prstGeom prst="rect">
            <a:avLst/>
          </a:prstGeom>
          <a:noFill/>
        </p:spPr>
        <p:txBody>
          <a:bodyPr wrap="square" lIns="0" tIns="0" rIns="0" bIns="0" anchor="ctr"/>
          <a:lstStyle/>
          <a:p>
            <a:pPr marL="0" indent="0">
              <a:buNone/>
            </a:pPr>
            <a:r>
              <a:rPr sz="950" b="1" spc="150">
                <a:solidFill>
                  <a:srgbClr val="2A78D6"/>
                </a:solidFill>
                <a:latin typeface="Calibri"/>
                <a:ea typeface="Calibri"/>
                <a:cs typeface="Calibri"/>
              </a:rPr>
              <a:t>THE FEAR</a:t>
            </a:r>
            <a:endParaRPr sz="950"/>
          </a:p>
        </p:txBody>
      </p:sp>
      <p:sp>
        <p:nvSpPr>
          <p:cNvPr id="18" name="Text 15">
            <a:extLst>
              <a:ext uri="{FF2B5EF4-FFF2-40B4-BE49-F238E27FC236}">
                <a16:creationId xmlns:a16="http://schemas.microsoft.com/office/drawing/2014/main" id="{5A6EF752-4BF8-4B37-8D46-E7DABA65B577}"/>
              </a:ext>
            </a:extLst>
          </p:cNvPr>
          <p:cNvSpPr>
            <a:spLocks noGrp="1"/>
          </p:cNvSpPr>
          <p:nvPr/>
        </p:nvSpPr>
        <p:spPr>
          <a:xfrm>
            <a:off x="4544568" y="2852928"/>
            <a:ext cx="3099816" cy="640080"/>
          </a:xfrm>
          <a:prstGeom prst="rect">
            <a:avLst/>
          </a:prstGeom>
          <a:noFill/>
        </p:spPr>
        <p:txBody>
          <a:bodyPr wrap="square" lIns="0" tIns="0" rIns="0" bIns="0" anchor="t"/>
          <a:lstStyle/>
          <a:p>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a:ext uri="{FF2B5EF4-FFF2-40B4-BE49-F238E27FC236}">
                <a16:creationId xmlns:a16="http://schemas.microsoft.com/office/drawing/2014/main" id="{BFDB2DFF-EAE9-4F62-AC35-863F875D594D}"/>
              </a:ext>
            </a:extLst>
          </p:cNvPr>
          <p:cNvSpPr>
            <a:spLocks noGrp="1"/>
          </p:cNvSpPr>
          <p:nvPr/>
        </p:nvSpPr>
        <p:spPr>
          <a:xfrm>
            <a:off x="4544568" y="3474720"/>
            <a:ext cx="3099816" cy="960120"/>
          </a:xfrm>
          <a:prstGeom prst="rect">
            <a:avLst/>
          </a:prstGeom>
          <a:noFill/>
        </p:spPr>
        <p:txBody>
          <a:bodyPr wrap="square" lIns="0" tIns="0" rIns="0" bIns="0" anchor="t"/>
          <a:lstStyle/>
          <a:p>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a:ext uri="{FF2B5EF4-FFF2-40B4-BE49-F238E27FC236}">
                <a16:creationId xmlns:a16="http://schemas.microsoft.com/office/drawing/2014/main" id="{F2BE3AF1-9E89-47EA-AEC5-9ED0319010DD}"/>
              </a:ext>
            </a:extLst>
          </p:cNvPr>
          <p:cNvSpPr>
            <a:spLocks noGrp="1"/>
          </p:cNvSpPr>
          <p:nvPr/>
        </p:nvSpPr>
        <p:spPr>
          <a:xfrm>
            <a:off x="8119872" y="2395728"/>
            <a:ext cx="3502152" cy="214884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21" name="Text 18">
            <a:extLst>
              <a:ext uri="{FF2B5EF4-FFF2-40B4-BE49-F238E27FC236}">
                <a16:creationId xmlns:a16="http://schemas.microsoft.com/office/drawing/2014/main" id="{88B3A65A-FB3F-4738-852A-58E53536F66E}"/>
              </a:ext>
            </a:extLst>
          </p:cNvPr>
          <p:cNvSpPr>
            <a:spLocks noGrp="1"/>
          </p:cNvSpPr>
          <p:nvPr/>
        </p:nvSpPr>
        <p:spPr>
          <a:xfrm>
            <a:off x="8321040" y="2578608"/>
            <a:ext cx="3099816" cy="274320"/>
          </a:xfrm>
          <a:prstGeom prst="rect">
            <a:avLst/>
          </a:prstGeom>
          <a:noFill/>
        </p:spPr>
        <p:txBody>
          <a:bodyPr wrap="square" lIns="0" tIns="0" rIns="0" bIns="0" anchor="ctr"/>
          <a:lstStyle/>
          <a:p>
            <a:pPr marL="0" indent="0">
              <a:buNone/>
            </a:pPr>
            <a:r>
              <a:rPr sz="950" b="1" spc="150">
                <a:solidFill>
                  <a:srgbClr val="445A69"/>
                </a:solidFill>
                <a:latin typeface="Calibri"/>
                <a:ea typeface="Calibri"/>
                <a:cs typeface="Calibri"/>
              </a:rPr>
              <a:t>THE PITCH</a:t>
            </a:r>
            <a:endParaRPr sz="950"/>
          </a:p>
        </p:txBody>
      </p:sp>
      <p:sp>
        <p:nvSpPr>
          <p:cNvPr id="22" name="Text 19">
            <a:extLst>
              <a:ext uri="{FF2B5EF4-FFF2-40B4-BE49-F238E27FC236}">
                <a16:creationId xmlns:a16="http://schemas.microsoft.com/office/drawing/2014/main" id="{9B3AD434-E544-4A56-B0CB-5BC2FE44BE7D}"/>
              </a:ext>
            </a:extLst>
          </p:cNvPr>
          <p:cNvSpPr>
            <a:spLocks noGrp="1"/>
          </p:cNvSpPr>
          <p:nvPr/>
        </p:nvSpPr>
        <p:spPr>
          <a:xfrm>
            <a:off x="8321040" y="2852928"/>
            <a:ext cx="3099816" cy="640080"/>
          </a:xfrm>
          <a:prstGeom prst="rect">
            <a:avLst/>
          </a:prstGeom>
          <a:noFill/>
        </p:spPr>
        <p:txBody>
          <a:bodyPr wrap="square" lIns="0" tIns="0" rIns="0" bIns="0" anchor="t"/>
          <a:lstStyle/>
          <a:p>
            <a:pPr marL="0" indent="0">
              <a:buNone/>
            </a:pPr>
            <a:r>
              <a:rPr sz="1600" b="1">
                <a:solidFill>
                  <a:srgbClr val="24343F"/>
                </a:solidFill>
                <a:latin typeface="Trebuchet MS"/>
                <a:ea typeface="Trebuchet MS"/>
                <a:cs typeface="Trebuchet MS"/>
              </a:rPr>
              <a:t>3 use cases</a:t>
            </a:r>
            <a:endParaRPr sz="1600"/>
          </a:p>
        </p:txBody>
      </p:sp>
      <p:sp>
        <p:nvSpPr>
          <p:cNvPr id="23" name="Text 20">
            <a:extLst>
              <a:ext uri="{FF2B5EF4-FFF2-40B4-BE49-F238E27FC236}">
                <a16:creationId xmlns:a16="http://schemas.microsoft.com/office/drawing/2014/main" id="{EBE21BEA-284B-4E86-8037-A41C84D180A6}"/>
              </a:ext>
            </a:extLst>
          </p:cNvPr>
          <p:cNvSpPr>
            <a:spLocks noGrp="1"/>
          </p:cNvSpPr>
          <p:nvPr/>
        </p:nvSpPr>
        <p:spPr>
          <a:xfrm>
            <a:off x="8321040" y="3474720"/>
            <a:ext cx="3099816" cy="960120"/>
          </a:xfrm>
          <a:prstGeom prst="rect">
            <a:avLst/>
          </a:prstGeom>
          <a:noFill/>
        </p:spPr>
        <p:txBody>
          <a:bodyPr wrap="square" lIns="0" tIns="0" rIns="0" bIns="0" anchor="t"/>
          <a:lstStyle/>
          <a:p>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a:ext uri="{FF2B5EF4-FFF2-40B4-BE49-F238E27FC236}">
                <a16:creationId xmlns:a16="http://schemas.microsoft.com/office/drawing/2014/main" id="{29909F16-92B8-48C4-AD6E-70304175B3C4}"/>
              </a:ext>
            </a:extLst>
          </p:cNvPr>
          <p:cNvSpPr>
            <a:spLocks noGrp="1"/>
          </p:cNvSpPr>
          <p:nvPr/>
        </p:nvSpPr>
        <p:spPr>
          <a:xfrm>
            <a:off x="566928" y="4773168"/>
            <a:ext cx="11055096" cy="640080"/>
          </a:xfrm>
          <a:prstGeom prst="rect">
            <a:avLst/>
          </a:prstGeom>
          <a:solidFill>
            <a:srgbClr val="EFF5F9"/>
          </a:solidFill>
        </p:spPr>
        <p:txBody>
          <a:bodyPr/>
          <a:lstStyle/>
          <a:p>
            <a:endParaRPr/>
          </a:p>
        </p:txBody>
      </p:sp>
      <p:sp>
        <p:nvSpPr>
          <p:cNvPr id="25" name="Shape 22">
            <a:extLst>
              <a:ext uri="{FF2B5EF4-FFF2-40B4-BE49-F238E27FC236}">
                <a16:creationId xmlns:a16="http://schemas.microsoft.com/office/drawing/2014/main" id="{D1C9E604-91C7-40A4-9075-E4DF77D7D79D}"/>
              </a:ext>
            </a:extLst>
          </p:cNvPr>
          <p:cNvSpPr>
            <a:spLocks noGrp="1"/>
          </p:cNvSpPr>
          <p:nvPr/>
        </p:nvSpPr>
        <p:spPr>
          <a:xfrm>
            <a:off x="566928" y="4773168"/>
            <a:ext cx="82296" cy="640080"/>
          </a:xfrm>
          <a:prstGeom prst="rect">
            <a:avLst/>
          </a:prstGeom>
          <a:solidFill>
            <a:srgbClr val="2A78D6"/>
          </a:solidFill>
        </p:spPr>
        <p:txBody>
          <a:bodyPr/>
          <a:lstStyle/>
          <a:p>
            <a:endParaRPr/>
          </a:p>
        </p:txBody>
      </p:sp>
      <p:sp>
        <p:nvSpPr>
          <p:cNvPr id="26" name="Text 23">
            <a:extLst>
              <a:ext uri="{FF2B5EF4-FFF2-40B4-BE49-F238E27FC236}">
                <a16:creationId xmlns:a16="http://schemas.microsoft.com/office/drawing/2014/main" id="{6B459C27-945F-4261-A8FE-02289FA84C7D}"/>
              </a:ext>
            </a:extLst>
          </p:cNvPr>
          <p:cNvSpPr>
            <a:spLocks noGrp="1"/>
          </p:cNvSpPr>
          <p:nvPr/>
        </p:nvSpPr>
        <p:spPr>
          <a:xfrm>
            <a:off x="822960" y="4773168"/>
            <a:ext cx="10597896" cy="640080"/>
          </a:xfrm>
          <a:prstGeom prst="rect">
            <a:avLst/>
          </a:prstGeom>
          <a:noFill/>
        </p:spPr>
        <p:txBody>
          <a:bodyPr wrap="square" lIns="0" tIns="0" rIns="0" bIns="0" anchor="ctr"/>
          <a:lstStyle/>
          <a:p>
            <a:pPr marL="0" indent="0">
              <a:buNone/>
            </a:pPr>
            <a:r>
              <a:rPr sz="1250" b="1">
                <a:solidFill>
                  <a:srgbClr val="000000"/>
                </a:solidFill>
                <a:latin typeface="Calibri"/>
                <a:ea typeface="Calibri"/>
                <a:cs typeface="Calibri"/>
              </a:rPr>
              <a:t>And 2 I refuse to build:  </a:t>
            </a:r>
            <a:r>
              <a:rPr sz="1250">
                <a:solidFill>
                  <a:srgbClr val="000000"/>
                </a:solidFill>
                <a:latin typeface="Calibri"/>
                <a:ea typeface="Calibri"/>
                <a:cs typeface="Calibri"/>
              </a:rPr>
              <a:t>a customer-facing chatbot, which fails in public in your customer's voice; and creditworthiness scoring, an Annex III high-risk use under the EU AI Act.</a:t>
            </a:r>
            <a:endParaRPr sz="1250"/>
          </a:p>
        </p:txBody>
      </p:sp>
    </p:spTree>
    <p:extLst>
      <p:ext uri="{BB962C8B-B14F-4D97-AF65-F5344CB8AC3E}">
        <p14:creationId xmlns:p14="http://schemas.microsoft.com/office/powerpoint/2010/main" val="5453491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44DCCB9-B7E3-4EAF-AA3D-4FB12FA69E74}"/>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AEC7D5AE-DE1E-403B-81E4-AC497F1FCA26}"/>
              </a:ext>
            </a:extLst>
          </p:cNvPr>
          <p:cNvSpPr>
            <a:spLocks noGrp="1"/>
          </p:cNvSpPr>
          <p:nvPr/>
        </p:nvSpPr>
        <p:spPr>
          <a:xfrm>
            <a:off x="566928" y="658368"/>
            <a:ext cx="566928" cy="566928"/>
          </a:xfrm>
          <a:prstGeom prst="ellipse">
            <a:avLst/>
          </a:prstGeom>
          <a:solidFill>
            <a:srgbClr val="24343F"/>
          </a:solidFill>
        </p:spPr>
        <p:txBody>
          <a:bodyPr/>
          <a:lstStyle/>
          <a:p>
            <a:endParaRPr/>
          </a:p>
        </p:txBody>
      </p:sp>
      <p:sp>
        <p:nvSpPr>
          <p:cNvPr id="5" name="Text 2">
            <a:extLst>
              <a:ext uri="{FF2B5EF4-FFF2-40B4-BE49-F238E27FC236}">
                <a16:creationId xmlns:a16="http://schemas.microsoft.com/office/drawing/2014/main" id="{67E72BE8-F43E-4D24-B2A6-03F66B693385}"/>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Complaint triage is a practical, low-risk test of AI value</a:t>
            </a:r>
            <a:endParaRPr sz="3000"/>
          </a:p>
        </p:txBody>
      </p:sp>
      <p:sp>
        <p:nvSpPr>
          <p:cNvPr id="6" name="Shape 3">
            <a:extLst>
              <a:ext uri="{FF2B5EF4-FFF2-40B4-BE49-F238E27FC236}">
                <a16:creationId xmlns:a16="http://schemas.microsoft.com/office/drawing/2014/main" id="{DD8CF70A-DAD5-4F1B-BB3E-BAB070F24627}"/>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8DC3CAC0-1162-4626-AC26-60AE6697F260}"/>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46A1C3F7-6930-499C-B2FC-D74A3B6AC6EA}"/>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ASK   Approve a controlled test — not an AI deployment.</a:t>
            </a:r>
            <a:endParaRPr sz="1050"/>
          </a:p>
        </p:txBody>
      </p:sp>
      <p:sp>
        <p:nvSpPr>
          <p:cNvPr id="9" name="Shape 6">
            <a:extLst>
              <a:ext uri="{FF2B5EF4-FFF2-40B4-BE49-F238E27FC236}">
                <a16:creationId xmlns:a16="http://schemas.microsoft.com/office/drawing/2014/main" id="{E8F65825-3BBD-4C9F-A8C0-78078D1DFAD5}"/>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C098D8A9-E267-4F44-B0C0-65067944E2B7}"/>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850">
                <a:solidFill>
                  <a:srgbClr val="6B7C88"/>
                </a:solidFill>
                <a:latin typeface="Calibri"/>
                <a:ea typeface="Calibri"/>
                <a:cs typeface="Calibri"/>
              </a:defRPr>
            </a:pPr>
            <a:r>
              <a:rPr sz="850">
                <a:solidFill>
                  <a:srgbClr val="6B7C88"/>
                </a:solidFill>
                <a:latin typeface="Calibri"/>
                <a:ea typeface="Calibri"/>
                <a:cs typeface="Calibri"/>
              </a:rPr>
              <a:t>Evidence to date: public U.S. Consumer Financial Protection Bureau (CFPB) complaints; your evidence begins with the 300-case test.</a:t>
            </a:r>
            <a:endParaRPr sz="850"/>
          </a:p>
        </p:txBody>
      </p:sp>
      <p:sp>
        <p:nvSpPr>
          <p:cNvPr id="11" name="Text 8">
            <a:extLst>
              <a:ext uri="{FF2B5EF4-FFF2-40B4-BE49-F238E27FC236}">
                <a16:creationId xmlns:a16="http://schemas.microsoft.com/office/drawing/2014/main" id="{EBBAC08B-6BB5-423F-AEB2-7C6CD21570CF}"/>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2</a:t>
            </a:r>
            <a:endParaRPr sz="850"/>
          </a:p>
        </p:txBody>
      </p:sp>
      <p:sp>
        <p:nvSpPr>
          <p:cNvPr id="12" name="Shape 9">
            <a:extLst>
              <a:ext uri="{FF2B5EF4-FFF2-40B4-BE49-F238E27FC236}">
                <a16:creationId xmlns:a16="http://schemas.microsoft.com/office/drawing/2014/main" id="{EA77C709-AB30-43DB-B5F3-71FADAA7BAF4}"/>
              </a:ext>
            </a:extLst>
          </p:cNvPr>
          <p:cNvSpPr>
            <a:spLocks noGrp="1"/>
          </p:cNvSpPr>
          <p:nvPr/>
        </p:nvSpPr>
        <p:spPr>
          <a:xfrm>
            <a:off x="566928" y="2395728"/>
            <a:ext cx="5390388" cy="178308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3" name="Shape 10">
            <a:extLst>
              <a:ext uri="{FF2B5EF4-FFF2-40B4-BE49-F238E27FC236}">
                <a16:creationId xmlns:a16="http://schemas.microsoft.com/office/drawing/2014/main" id="{004AF0A0-CB9C-4BB0-81F1-ECFDA81B9531}"/>
              </a:ext>
            </a:extLst>
          </p:cNvPr>
          <p:cNvSpPr>
            <a:spLocks noGrp="1"/>
          </p:cNvSpPr>
          <p:nvPr/>
        </p:nvSpPr>
        <p:spPr>
          <a:xfrm>
            <a:off x="566928" y="2395728"/>
            <a:ext cx="5390388" cy="457200"/>
          </a:xfrm>
          <a:prstGeom prst="rect">
            <a:avLst/>
          </a:prstGeom>
          <a:solidFill>
            <a:srgbClr val="24343F"/>
          </a:solidFill>
        </p:spPr>
        <p:txBody>
          <a:bodyPr/>
          <a:lstStyle/>
          <a:p>
            <a:endParaRPr/>
          </a:p>
        </p:txBody>
      </p:sp>
      <p:sp>
        <p:nvSpPr>
          <p:cNvPr id="14" name="Text 11">
            <a:extLst>
              <a:ext uri="{FF2B5EF4-FFF2-40B4-BE49-F238E27FC236}">
                <a16:creationId xmlns:a16="http://schemas.microsoft.com/office/drawing/2014/main" id="{ABFDA9F5-F07E-48DC-97D9-8269ACE1118C}"/>
              </a:ext>
            </a:extLst>
          </p:cNvPr>
          <p:cNvSpPr>
            <a:spLocks noGrp="1"/>
          </p:cNvSpPr>
          <p:nvPr/>
        </p:nvSpPr>
        <p:spPr>
          <a:xfrm>
            <a:off x="768096" y="2395728"/>
            <a:ext cx="5024628" cy="457200"/>
          </a:xfrm>
          <a:prstGeom prst="rect">
            <a:avLst/>
          </a:prstGeom>
          <a:noFill/>
        </p:spPr>
        <p:txBody>
          <a:bodyPr wrap="square" lIns="0" tIns="0" rIns="0" bIns="0" anchor="ctr"/>
          <a:lstStyle/>
          <a:p>
            <a:pPr marL="0" indent="0">
              <a:buNone/>
            </a:pPr>
            <a:r>
              <a:rPr sz="1300" b="1" spc="200">
                <a:solidFill>
                  <a:srgbClr val="FFFFFF"/>
                </a:solidFill>
                <a:latin typeface="Calibri"/>
                <a:ea typeface="Calibri"/>
                <a:cs typeface="Calibri"/>
              </a:rPr>
              <a:t>What the assistant does</a:t>
            </a:r>
            <a:endParaRPr sz="1300"/>
          </a:p>
        </p:txBody>
      </p:sp>
      <p:sp>
        <p:nvSpPr>
          <p:cNvPr id="15" name="Text 12">
            <a:extLst>
              <a:ext uri="{FF2B5EF4-FFF2-40B4-BE49-F238E27FC236}">
                <a16:creationId xmlns:a16="http://schemas.microsoft.com/office/drawing/2014/main" id="{7293C100-FFFD-4654-9DE4-2C40B8A85FB5}"/>
              </a:ext>
            </a:extLst>
          </p:cNvPr>
          <p:cNvSpPr>
            <a:spLocks noGrp="1"/>
          </p:cNvSpPr>
          <p:nvPr/>
        </p:nvSpPr>
        <p:spPr>
          <a:xfrm>
            <a:off x="768096" y="2962656"/>
            <a:ext cx="4988052" cy="1051560"/>
          </a:xfrm>
          <a:prstGeom prst="rect">
            <a:avLst/>
          </a:prstGeom>
          <a:noFill/>
        </p:spPr>
        <p:txBody>
          <a:bodyPr wrap="square" lIns="0" tIns="0" rIns="0" bIns="0" anchor="t"/>
          <a:lstStyle/>
          <a:p>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Reads each complaint and suggests a team</a:t>
            </a:r>
            <a:endParaRPr sz="1150"/>
          </a:p>
          <a:p>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Shows the customer’s own words behind its recommendation</a:t>
            </a:r>
            <a:endParaRPr sz="1150"/>
          </a:p>
          <a:p>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Stops when checks fail; your staff make every final decision</a:t>
            </a:r>
            <a:endParaRPr sz="1150"/>
          </a:p>
        </p:txBody>
      </p:sp>
      <p:sp>
        <p:nvSpPr>
          <p:cNvPr id="16" name="Shape 13">
            <a:extLst>
              <a:ext uri="{FF2B5EF4-FFF2-40B4-BE49-F238E27FC236}">
                <a16:creationId xmlns:a16="http://schemas.microsoft.com/office/drawing/2014/main" id="{C3131531-AB17-45D6-8D65-E8E5B1D814AA}"/>
              </a:ext>
            </a:extLst>
          </p:cNvPr>
          <p:cNvSpPr>
            <a:spLocks noGrp="1"/>
          </p:cNvSpPr>
          <p:nvPr/>
        </p:nvSpPr>
        <p:spPr>
          <a:xfrm>
            <a:off x="6231636" y="2395728"/>
            <a:ext cx="5390388" cy="178308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7" name="Shape 14">
            <a:extLst>
              <a:ext uri="{FF2B5EF4-FFF2-40B4-BE49-F238E27FC236}">
                <a16:creationId xmlns:a16="http://schemas.microsoft.com/office/drawing/2014/main" id="{8A4AD0F1-C1B7-4067-9FAB-1217DDA133EA}"/>
              </a:ext>
            </a:extLst>
          </p:cNvPr>
          <p:cNvSpPr>
            <a:spLocks noGrp="1"/>
          </p:cNvSpPr>
          <p:nvPr/>
        </p:nvSpPr>
        <p:spPr>
          <a:xfrm>
            <a:off x="6231636" y="2395728"/>
            <a:ext cx="5390388" cy="457200"/>
          </a:xfrm>
          <a:prstGeom prst="rect">
            <a:avLst/>
          </a:prstGeom>
          <a:solidFill>
            <a:srgbClr val="445A69"/>
          </a:solidFill>
        </p:spPr>
        <p:txBody>
          <a:bodyPr/>
          <a:lstStyle/>
          <a:p>
            <a:endParaRPr/>
          </a:p>
        </p:txBody>
      </p:sp>
      <p:sp>
        <p:nvSpPr>
          <p:cNvPr id="18" name="Text 15">
            <a:extLst>
              <a:ext uri="{FF2B5EF4-FFF2-40B4-BE49-F238E27FC236}">
                <a16:creationId xmlns:a16="http://schemas.microsoft.com/office/drawing/2014/main" id="{BBC6DBF5-0942-45CD-96A0-C70E8D840C25}"/>
              </a:ext>
            </a:extLst>
          </p:cNvPr>
          <p:cNvSpPr>
            <a:spLocks noGrp="1"/>
          </p:cNvSpPr>
          <p:nvPr/>
        </p:nvSpPr>
        <p:spPr>
          <a:xfrm>
            <a:off x="6432804" y="2395728"/>
            <a:ext cx="5024628" cy="457200"/>
          </a:xfrm>
          <a:prstGeom prst="rect">
            <a:avLst/>
          </a:prstGeom>
          <a:noFill/>
        </p:spPr>
        <p:txBody>
          <a:bodyPr wrap="square" lIns="0" tIns="0" rIns="0" bIns="0" anchor="ctr"/>
          <a:lstStyle/>
          <a:p>
            <a:pPr marL="0" indent="0">
              <a:buNone/>
            </a:pPr>
            <a:r>
              <a:rPr sz="1300" b="1" spc="200">
                <a:solidFill>
                  <a:srgbClr val="FFFFFF"/>
                </a:solidFill>
                <a:latin typeface="Calibri"/>
                <a:ea typeface="Calibri"/>
                <a:cs typeface="Calibri"/>
              </a:rPr>
              <a:t>What you are approving</a:t>
            </a:r>
            <a:endParaRPr sz="1300"/>
          </a:p>
        </p:txBody>
      </p:sp>
      <p:sp>
        <p:nvSpPr>
          <p:cNvPr id="19" name="Text 16">
            <a:extLst>
              <a:ext uri="{FF2B5EF4-FFF2-40B4-BE49-F238E27FC236}">
                <a16:creationId xmlns:a16="http://schemas.microsoft.com/office/drawing/2014/main" id="{D01D1EF2-03D9-4A3C-9320-19B9A0E8AEC3}"/>
              </a:ext>
            </a:extLst>
          </p:cNvPr>
          <p:cNvSpPr>
            <a:spLocks noGrp="1"/>
          </p:cNvSpPr>
          <p:nvPr/>
        </p:nvSpPr>
        <p:spPr>
          <a:xfrm>
            <a:off x="6432804" y="2962656"/>
            <a:ext cx="4988052" cy="1051560"/>
          </a:xfrm>
          <a:prstGeom prst="rect">
            <a:avLst/>
          </a:prstGeom>
          <a:noFill/>
        </p:spPr>
        <p:txBody>
          <a:bodyPr wrap="square" lIns="0" tIns="0" rIns="0" bIns="0" anchor="t"/>
          <a:lstStyle/>
          <a:p>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Compare with 300 of your historical complaints</a:t>
            </a:r>
            <a:endParaRPr sz="1150"/>
          </a:p>
          <a:p>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If justified, run a 60-day shadow pilot</a:t>
            </a:r>
            <a:endParaRPr sz="1150"/>
          </a:p>
          <a:p>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Nobody acts on the AI’s recommendations</a:t>
            </a:r>
            <a:endParaRPr sz="1150"/>
          </a:p>
        </p:txBody>
      </p:sp>
      <p:pic>
        <p:nvPicPr>
          <p:cNvPr id="24" name="Picture 23" descr="icon_scope.png"/>
          <p:cNvPicPr>
            <a:picLocks noChangeAspect="1"/>
          </p:cNvPicPr>
          <p:nvPr/>
        </p:nvPicPr>
        <p:blipFill>
          <a:blip r:embed="rId3"/>
          <a:stretch>
            <a:fillRect/>
          </a:stretch>
        </p:blipFill>
        <p:spPr>
          <a:xfrm>
            <a:off x="708660" y="800100"/>
            <a:ext cx="283464" cy="283464"/>
          </a:xfrm>
          <a:prstGeom prst="rect">
            <a:avLst/>
          </a:prstGeom>
        </p:spPr>
      </p:pic>
    </p:spTree>
    <p:extLst>
      <p:ext uri="{BB962C8B-B14F-4D97-AF65-F5344CB8AC3E}">
        <p14:creationId xmlns:p14="http://schemas.microsoft.com/office/powerpoint/2010/main" val="21457897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E7B5DFA-A9B9-4AFC-5F46-B933CDED41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6276EC-62E6-C4E4-87A7-B5D632793422}"/>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97F1E82B-E773-DAFC-07B4-1F597CC612C1}"/>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17" name="Image 0">
            <a:extLst>
              <a:ext uri="{FF2B5EF4-FFF2-40B4-BE49-F238E27FC236}">
                <a16:creationId xmlns:a16="http://schemas.microsoft.com/office/drawing/2014/main" id="{6A1D7A50-91FA-E039-A01A-DDAB437CF946}"/>
              </a:ext>
            </a:extLst>
          </p:cNvPr>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957C97D3-35FA-A7A7-4E0A-93D6AAFC7517}"/>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a:ext uri="{FF2B5EF4-FFF2-40B4-BE49-F238E27FC236}">
                <a16:creationId xmlns:a16="http://schemas.microsoft.com/office/drawing/2014/main" id="{6DDC0F77-720D-DF48-1D77-2B97BB54844D}"/>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7" name="Text 4">
            <a:extLst>
              <a:ext uri="{FF2B5EF4-FFF2-40B4-BE49-F238E27FC236}">
                <a16:creationId xmlns:a16="http://schemas.microsoft.com/office/drawing/2014/main" id="{318B993B-A1C4-B2F9-E932-8B15FEBE6650}"/>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a:ext uri="{FF2B5EF4-FFF2-40B4-BE49-F238E27FC236}">
                <a16:creationId xmlns:a16="http://schemas.microsoft.com/office/drawing/2014/main" id="{2A7BB885-7171-8D22-4ECF-B7F369E6E805}"/>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3</a:t>
            </a:r>
            <a:endParaRPr sz="850"/>
          </a:p>
        </p:txBody>
      </p:sp>
      <p:sp>
        <p:nvSpPr>
          <p:cNvPr id="10" name="Shape 6">
            <a:extLst>
              <a:ext uri="{FF2B5EF4-FFF2-40B4-BE49-F238E27FC236}">
                <a16:creationId xmlns:a16="http://schemas.microsoft.com/office/drawing/2014/main" id="{0E767587-EBD0-3916-BEBC-B4C4905606E4}"/>
              </a:ext>
            </a:extLst>
          </p:cNvPr>
          <p:cNvSpPr>
            <a:spLocks noGrp="1"/>
          </p:cNvSpPr>
          <p:nvPr/>
        </p:nvSpPr>
        <p:spPr>
          <a:xfrm>
            <a:off x="6815470" y="1373274"/>
            <a:ext cx="4806554" cy="2996084"/>
          </a:xfrm>
          <a:prstGeom prst="rect">
            <a:avLst/>
          </a:prstGeom>
          <a:solidFill>
            <a:srgbClr val="24343F"/>
          </a:solidFill>
          <a:effectLst>
            <a:outerShdw blurRad="88900" dist="38100" dir="8100000" algn="bl" rotWithShape="0">
              <a:srgbClr val="1C2440">
                <a:alpha val="13000"/>
              </a:srgbClr>
            </a:outerShdw>
          </a:effectLst>
        </p:spPr>
        <p:txBody>
          <a:bodyPr/>
          <a:lstStyle/>
          <a:p>
            <a:endParaRPr sz="1400"/>
          </a:p>
        </p:txBody>
      </p:sp>
      <p:sp>
        <p:nvSpPr>
          <p:cNvPr id="11" name="Text 7">
            <a:extLst>
              <a:ext uri="{FF2B5EF4-FFF2-40B4-BE49-F238E27FC236}">
                <a16:creationId xmlns:a16="http://schemas.microsoft.com/office/drawing/2014/main" id="{B8FB0621-0C96-BBF8-3A23-EDB322B94E46}"/>
              </a:ext>
            </a:extLst>
          </p:cNvPr>
          <p:cNvSpPr>
            <a:spLocks noGrp="1"/>
          </p:cNvSpPr>
          <p:nvPr/>
        </p:nvSpPr>
        <p:spPr>
          <a:xfrm>
            <a:off x="7144737" y="1598470"/>
            <a:ext cx="3340578" cy="310896"/>
          </a:xfrm>
          <a:prstGeom prst="rect">
            <a:avLst/>
          </a:prstGeom>
          <a:noFill/>
        </p:spPr>
        <p:txBody>
          <a:bodyPr wrap="square" lIns="0" tIns="0" rIns="0" bIns="0" anchor="ctr"/>
          <a:lstStyle/>
          <a:p>
            <a:pPr marL="0" indent="0">
              <a:buNone/>
            </a:pPr>
            <a:r>
              <a:rPr sz="1100" dirty="0">
                <a:solidFill>
                  <a:srgbClr val="2A78D6"/>
                </a:solidFill>
                <a:latin typeface="Calibri"/>
                <a:ea typeface="Calibri"/>
                <a:cs typeface="Calibri"/>
              </a:rPr>
              <a:t>■ </a:t>
            </a:r>
            <a:r>
              <a:rPr sz="1300" b="1" dirty="0">
                <a:solidFill>
                  <a:srgbClr val="FFFFFF"/>
                </a:solidFill>
                <a:latin typeface="Calibri"/>
                <a:ea typeface="Calibri"/>
                <a:cs typeface="Calibri"/>
              </a:rPr>
              <a:t>Why each one matters to you</a:t>
            </a:r>
            <a:endParaRPr sz="1100" dirty="0"/>
          </a:p>
        </p:txBody>
      </p:sp>
      <p:sp>
        <p:nvSpPr>
          <p:cNvPr id="12" name="Text 8">
            <a:extLst>
              <a:ext uri="{FF2B5EF4-FFF2-40B4-BE49-F238E27FC236}">
                <a16:creationId xmlns:a16="http://schemas.microsoft.com/office/drawing/2014/main" id="{81B85609-42B0-7F14-62E3-6939CDFCFA2B}"/>
              </a:ext>
            </a:extLst>
          </p:cNvPr>
          <p:cNvSpPr>
            <a:spLocks noGrp="1"/>
          </p:cNvSpPr>
          <p:nvPr/>
        </p:nvSpPr>
        <p:spPr>
          <a:xfrm>
            <a:off x="7070651" y="2031641"/>
            <a:ext cx="4313629" cy="2104423"/>
          </a:xfrm>
          <a:prstGeom prst="rect">
            <a:avLst/>
          </a:prstGeom>
          <a:noFill/>
        </p:spPr>
        <p:txBody>
          <a:bodyPr wrap="square" anchor="t"/>
          <a:lstStyle/>
          <a:p>
            <a:pPr marL="152400" indent="-152400">
              <a:spcAft>
                <a:spcPts val="500"/>
              </a:spcAft>
              <a:buSzPct val="100000"/>
              <a:buChar char="•"/>
            </a:pPr>
            <a:r>
              <a:rPr sz="1200" dirty="0">
                <a:solidFill>
                  <a:srgbClr val="C6D8E4"/>
                </a:solidFill>
              </a:rPr>
              <a:t>16,839 public complaints — </a:t>
            </a:r>
            <a:r>
              <a:rPr lang="en-US" sz="1200" dirty="0">
                <a:solidFill>
                  <a:srgbClr val="C6D8E4"/>
                </a:solidFill>
              </a:rPr>
              <a:t>from CFPB</a:t>
            </a:r>
            <a:r>
              <a:rPr sz="1200" dirty="0">
                <a:solidFill>
                  <a:srgbClr val="C6D8E4"/>
                </a:solidFill>
              </a:rPr>
              <a:t>, not your annual volume</a:t>
            </a:r>
            <a:endParaRPr sz="1200" dirty="0"/>
          </a:p>
          <a:p>
            <a:pPr marL="152400" indent="-152400">
              <a:spcAft>
                <a:spcPts val="500"/>
              </a:spcAft>
              <a:buSzPct val="100000"/>
              <a:buChar char="•"/>
            </a:pPr>
            <a:r>
              <a:rPr sz="1200" dirty="0">
                <a:solidFill>
                  <a:srgbClr val="C6D8E4"/>
                </a:solidFill>
              </a:rPr>
              <a:t>98.0% timely responses — </a:t>
            </a:r>
            <a:r>
              <a:rPr lang="en-US" sz="1200" dirty="0">
                <a:solidFill>
                  <a:srgbClr val="C6D8E4"/>
                </a:solidFill>
              </a:rPr>
              <a:t>significant cost from human reading</a:t>
            </a:r>
            <a:endParaRPr sz="1200" dirty="0"/>
          </a:p>
          <a:p>
            <a:pPr marL="152400" indent="-152400">
              <a:spcAft>
                <a:spcPts val="500"/>
              </a:spcAft>
              <a:buSzPct val="100000"/>
              <a:buChar char="•"/>
            </a:pPr>
            <a:r>
              <a:rPr sz="1200" dirty="0">
                <a:solidFill>
                  <a:srgbClr val="C6D8E4"/>
                </a:solidFill>
              </a:rPr>
              <a:t>12.7% ended with monetary relief — not complaint-handling cost</a:t>
            </a:r>
            <a:endParaRPr sz="1200" dirty="0"/>
          </a:p>
          <a:p>
            <a:pPr marL="152400" indent="-152400">
              <a:spcAft>
                <a:spcPts val="500"/>
              </a:spcAft>
              <a:buSzPct val="100000"/>
              <a:buChar char="•"/>
            </a:pPr>
            <a:r>
              <a:rPr sz="1200" dirty="0">
                <a:solidFill>
                  <a:srgbClr val="C6D8E4"/>
                </a:solidFill>
              </a:rPr>
              <a:t>46.1% fall in 5 of 64 categories — a hypothesis to test in your data</a:t>
            </a:r>
            <a:endParaRPr sz="1200" dirty="0"/>
          </a:p>
          <a:p>
            <a:pPr marL="152400" indent="-152400">
              <a:spcAft>
                <a:spcPts val="500"/>
              </a:spcAft>
              <a:buSzPct val="100000"/>
              <a:buChar char="•"/>
            </a:pPr>
            <a:r>
              <a:rPr sz="1200" dirty="0">
                <a:solidFill>
                  <a:srgbClr val="C6D8E4"/>
                </a:solidFill>
              </a:rPr>
              <a:t>These are CFPB figures across 567 firms. Phase 0 </a:t>
            </a:r>
            <a:r>
              <a:rPr lang="en-US" sz="1200" dirty="0">
                <a:solidFill>
                  <a:srgbClr val="C6D8E4"/>
                </a:solidFill>
              </a:rPr>
              <a:t>will </a:t>
            </a:r>
            <a:r>
              <a:rPr sz="1200" dirty="0">
                <a:solidFill>
                  <a:srgbClr val="C6D8E4"/>
                </a:solidFill>
              </a:rPr>
              <a:t>measure your own volume, mix, and outcomes.</a:t>
            </a:r>
            <a:endParaRPr sz="1200" dirty="0"/>
          </a:p>
        </p:txBody>
      </p:sp>
      <p:pic>
        <p:nvPicPr>
          <p:cNvPr id="4" name="Picture 3">
            <a:extLst>
              <a:ext uri="{FF2B5EF4-FFF2-40B4-BE49-F238E27FC236}">
                <a16:creationId xmlns:a16="http://schemas.microsoft.com/office/drawing/2014/main" id="{33E9673B-EB11-9CBA-F851-F036336941B6}"/>
              </a:ext>
            </a:extLst>
          </p:cNvPr>
          <p:cNvPicPr>
            <a:picLocks noChangeAspect="1"/>
          </p:cNvPicPr>
          <p:nvPr/>
        </p:nvPicPr>
        <p:blipFill>
          <a:blip r:embed="rId4"/>
          <a:stretch>
            <a:fillRect/>
          </a:stretch>
        </p:blipFill>
        <p:spPr>
          <a:xfrm>
            <a:off x="566928" y="1456797"/>
            <a:ext cx="5739165" cy="2912563"/>
          </a:xfrm>
          <a:prstGeom prst="rect">
            <a:avLst/>
          </a:prstGeom>
        </p:spPr>
      </p:pic>
      <p:pic>
        <p:nvPicPr>
          <p:cNvPr id="14" name="Picture 13">
            <a:extLst>
              <a:ext uri="{FF2B5EF4-FFF2-40B4-BE49-F238E27FC236}">
                <a16:creationId xmlns:a16="http://schemas.microsoft.com/office/drawing/2014/main" id="{856EF415-A62B-D8C3-488E-79E1891349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3964" y="4647082"/>
            <a:ext cx="2747456" cy="1505329"/>
          </a:xfrm>
          <a:prstGeom prst="rect">
            <a:avLst/>
          </a:prstGeom>
        </p:spPr>
      </p:pic>
      <p:pic>
        <p:nvPicPr>
          <p:cNvPr id="15" name="Picture 14">
            <a:extLst>
              <a:ext uri="{FF2B5EF4-FFF2-40B4-BE49-F238E27FC236}">
                <a16:creationId xmlns:a16="http://schemas.microsoft.com/office/drawing/2014/main" id="{C99713F8-D5EE-78B6-F00B-A7F0AC68E304}"/>
              </a:ext>
            </a:extLst>
          </p:cNvPr>
          <p:cNvPicPr>
            <a:picLocks noChangeAspect="1"/>
          </p:cNvPicPr>
          <p:nvPr/>
        </p:nvPicPr>
        <p:blipFill>
          <a:blip r:embed="rId6"/>
          <a:stretch>
            <a:fillRect/>
          </a:stretch>
        </p:blipFill>
        <p:spPr>
          <a:xfrm>
            <a:off x="9348606" y="4647082"/>
            <a:ext cx="2273418" cy="1508241"/>
          </a:xfrm>
          <a:prstGeom prst="rect">
            <a:avLst/>
          </a:prstGeom>
        </p:spPr>
      </p:pic>
      <p:pic>
        <p:nvPicPr>
          <p:cNvPr id="16" name="Picture 15">
            <a:extLst>
              <a:ext uri="{FF2B5EF4-FFF2-40B4-BE49-F238E27FC236}">
                <a16:creationId xmlns:a16="http://schemas.microsoft.com/office/drawing/2014/main" id="{7FAE6801-D6CA-7F46-2AB7-A9CCE869D91D}"/>
              </a:ext>
            </a:extLst>
          </p:cNvPr>
          <p:cNvPicPr>
            <a:picLocks noChangeAspect="1"/>
          </p:cNvPicPr>
          <p:nvPr/>
        </p:nvPicPr>
        <p:blipFill>
          <a:blip r:embed="rId7"/>
          <a:stretch>
            <a:fillRect/>
          </a:stretch>
        </p:blipFill>
        <p:spPr>
          <a:xfrm>
            <a:off x="566928" y="4647082"/>
            <a:ext cx="2429687" cy="1512578"/>
          </a:xfrm>
          <a:prstGeom prst="rect">
            <a:avLst/>
          </a:prstGeom>
        </p:spPr>
      </p:pic>
      <p:pic>
        <p:nvPicPr>
          <p:cNvPr id="18" name="Picture 17">
            <a:extLst>
              <a:ext uri="{FF2B5EF4-FFF2-40B4-BE49-F238E27FC236}">
                <a16:creationId xmlns:a16="http://schemas.microsoft.com/office/drawing/2014/main" id="{8664B58A-0939-0D3C-7578-D86C49AF9F7E}"/>
              </a:ext>
            </a:extLst>
          </p:cNvPr>
          <p:cNvPicPr>
            <a:picLocks noChangeAspect="1"/>
          </p:cNvPicPr>
          <p:nvPr/>
        </p:nvPicPr>
        <p:blipFill>
          <a:blip r:embed="rId8"/>
          <a:stretch>
            <a:fillRect/>
          </a:stretch>
        </p:blipFill>
        <p:spPr>
          <a:xfrm>
            <a:off x="3415337" y="4647081"/>
            <a:ext cx="2419905" cy="1505330"/>
          </a:xfrm>
          <a:prstGeom prst="rect">
            <a:avLst/>
          </a:prstGeom>
        </p:spPr>
      </p:pic>
    </p:spTree>
    <p:extLst>
      <p:ext uri="{BB962C8B-B14F-4D97-AF65-F5344CB8AC3E}">
        <p14:creationId xmlns:p14="http://schemas.microsoft.com/office/powerpoint/2010/main" val="27174144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06638FD-761A-4663-8308-CA3FD84D904D}"/>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B182C1EE-0F26-4870-859C-15860802062B}"/>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82"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9BA90DFA-0E93-42E9-B514-87081EC312EA}"/>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a:ext uri="{FF2B5EF4-FFF2-40B4-BE49-F238E27FC236}">
                <a16:creationId xmlns:a16="http://schemas.microsoft.com/office/drawing/2014/main" id="{2E38A821-6B4B-4F39-8194-3B109A38AA5B}"/>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7" name="Text 4">
            <a:extLst>
              <a:ext uri="{FF2B5EF4-FFF2-40B4-BE49-F238E27FC236}">
                <a16:creationId xmlns:a16="http://schemas.microsoft.com/office/drawing/2014/main" id="{2E940304-9FFC-4C17-9992-B5FD9F9E4861}"/>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a:ext uri="{FF2B5EF4-FFF2-40B4-BE49-F238E27FC236}">
                <a16:creationId xmlns:a16="http://schemas.microsoft.com/office/drawing/2014/main" id="{8865DD5B-377B-4E2C-A576-5D21B8F0FE89}"/>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4</a:t>
            </a:r>
            <a:endParaRPr sz="850"/>
          </a:p>
        </p:txBody>
      </p:sp>
      <p:pic>
        <p:nvPicPr>
          <p:cNvPr id="87" name="Image 1"/>
          <p:cNvPicPr>
            <a:picLocks noChangeAspect="1"/>
          </p:cNvPicPr>
          <p:nvPr/>
        </p:nvPicPr>
        <p:blipFill>
          <a:blip r:embed="rId4"/>
          <a:stretch>
            <a:fillRect/>
          </a:stretch>
        </p:blipFill>
        <p:spPr>
          <a:xfrm>
            <a:off x="566928" y="1481328"/>
            <a:ext cx="4016045" cy="2788920"/>
          </a:xfrm>
          <a:prstGeom prst="rect">
            <a:avLst/>
          </a:prstGeom>
        </p:spPr>
      </p:pic>
      <p:pic>
        <p:nvPicPr>
          <p:cNvPr id="88" name="Image 2"/>
          <p:cNvPicPr>
            <a:picLocks noChangeAspect="1"/>
          </p:cNvPicPr>
          <p:nvPr/>
        </p:nvPicPr>
        <p:blipFill>
          <a:blip r:embed="rId5"/>
          <a:stretch>
            <a:fillRect/>
          </a:stretch>
        </p:blipFill>
        <p:spPr>
          <a:xfrm>
            <a:off x="4857293" y="1481328"/>
            <a:ext cx="4016045" cy="2788920"/>
          </a:xfrm>
          <a:prstGeom prst="rect">
            <a:avLst/>
          </a:prstGeom>
        </p:spPr>
      </p:pic>
      <p:sp>
        <p:nvSpPr>
          <p:cNvPr id="11" name="Text 6">
            <a:extLst>
              <a:ext uri="{FF2B5EF4-FFF2-40B4-BE49-F238E27FC236}">
                <a16:creationId xmlns:a16="http://schemas.microsoft.com/office/drawing/2014/main" id="{4A907EE2-2189-4349-BAE7-55AF17C3A0C4}"/>
              </a:ext>
            </a:extLst>
          </p:cNvPr>
          <p:cNvSpPr>
            <a:spLocks noGrp="1"/>
          </p:cNvSpPr>
          <p:nvPr/>
        </p:nvSpPr>
        <p:spPr>
          <a:xfrm>
            <a:off x="566928" y="4315968"/>
            <a:ext cx="4016045" cy="219456"/>
          </a:xfrm>
          <a:prstGeom prst="rect">
            <a:avLst/>
          </a:prstGeom>
          <a:noFill/>
        </p:spPr>
        <p:txBody>
          <a:bodyPr wrap="square" lIns="0" tIns="0" rIns="0" bIns="0" anchor="ctr"/>
          <a:lstStyle/>
          <a:p>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a:ext uri="{FF2B5EF4-FFF2-40B4-BE49-F238E27FC236}">
                <a16:creationId xmlns:a16="http://schemas.microsoft.com/office/drawing/2014/main" id="{E5EA4F9E-5F8D-4843-9BE2-2B1472F952BF}"/>
              </a:ext>
            </a:extLst>
          </p:cNvPr>
          <p:cNvSpPr>
            <a:spLocks noGrp="1"/>
          </p:cNvSpPr>
          <p:nvPr/>
        </p:nvSpPr>
        <p:spPr>
          <a:xfrm>
            <a:off x="4857293" y="4315968"/>
            <a:ext cx="4016045" cy="219456"/>
          </a:xfrm>
          <a:prstGeom prst="rect">
            <a:avLst/>
          </a:prstGeom>
          <a:noFill/>
        </p:spPr>
        <p:txBody>
          <a:bodyPr wrap="square" lIns="0" tIns="0" rIns="0" bIns="0" anchor="ctr"/>
          <a:lstStyle/>
          <a:p>
            <a:pPr marL="0" indent="0" algn="ctr">
              <a:buNone/>
            </a:pPr>
            <a:r>
              <a:rPr sz="1050">
                <a:solidFill>
                  <a:srgbClr val="6B7C88"/>
                </a:solidFill>
                <a:latin typeface="Calibri"/>
                <a:ea typeface="Calibri"/>
                <a:cs typeface="Calibri"/>
              </a:rPr>
              <a:t>A different case, stopped by the quote check</a:t>
            </a:r>
            <a:endParaRPr sz="1050"/>
          </a:p>
        </p:txBody>
      </p:sp>
      <p:sp>
        <p:nvSpPr>
          <p:cNvPr id="13" name="Shape 8">
            <a:extLst>
              <a:ext uri="{FF2B5EF4-FFF2-40B4-BE49-F238E27FC236}">
                <a16:creationId xmlns:a16="http://schemas.microsoft.com/office/drawing/2014/main" id="{15E023B1-ADEA-45D5-B7DC-35A3EE92F0F3}"/>
              </a:ext>
            </a:extLst>
          </p:cNvPr>
          <p:cNvSpPr>
            <a:spLocks noGrp="1"/>
          </p:cNvSpPr>
          <p:nvPr/>
        </p:nvSpPr>
        <p:spPr>
          <a:xfrm>
            <a:off x="815188" y="4654296"/>
            <a:ext cx="146304" cy="146304"/>
          </a:xfrm>
          <a:prstGeom prst="rect">
            <a:avLst/>
          </a:prstGeom>
          <a:solidFill>
            <a:srgbClr val="2A78D6"/>
          </a:solidFill>
        </p:spPr>
        <p:txBody>
          <a:bodyPr/>
          <a:lstStyle/>
          <a:p>
            <a:endParaRPr/>
          </a:p>
        </p:txBody>
      </p:sp>
      <p:sp>
        <p:nvSpPr>
          <p:cNvPr id="14" name="Shape 9">
            <a:extLst>
              <a:ext uri="{FF2B5EF4-FFF2-40B4-BE49-F238E27FC236}">
                <a16:creationId xmlns:a16="http://schemas.microsoft.com/office/drawing/2014/main" id="{EC60F611-B4B5-4FC6-A082-705677F96791}"/>
              </a:ext>
            </a:extLst>
          </p:cNvPr>
          <p:cNvSpPr>
            <a:spLocks noGrp="1"/>
          </p:cNvSpPr>
          <p:nvPr/>
        </p:nvSpPr>
        <p:spPr>
          <a:xfrm>
            <a:off x="991667" y="4654296"/>
            <a:ext cx="146304" cy="146304"/>
          </a:xfrm>
          <a:prstGeom prst="rect">
            <a:avLst/>
          </a:prstGeom>
          <a:solidFill>
            <a:srgbClr val="2A78D6"/>
          </a:solidFill>
        </p:spPr>
        <p:txBody>
          <a:bodyPr/>
          <a:lstStyle/>
          <a:p>
            <a:endParaRPr/>
          </a:p>
        </p:txBody>
      </p:sp>
      <p:sp>
        <p:nvSpPr>
          <p:cNvPr id="15" name="Shape 10">
            <a:extLst>
              <a:ext uri="{FF2B5EF4-FFF2-40B4-BE49-F238E27FC236}">
                <a16:creationId xmlns:a16="http://schemas.microsoft.com/office/drawing/2014/main" id="{EA8A8C76-38DC-40A2-87AC-99060729F97B}"/>
              </a:ext>
            </a:extLst>
          </p:cNvPr>
          <p:cNvSpPr>
            <a:spLocks noGrp="1"/>
          </p:cNvSpPr>
          <p:nvPr/>
        </p:nvSpPr>
        <p:spPr>
          <a:xfrm>
            <a:off x="1168146" y="4654296"/>
            <a:ext cx="146304" cy="146304"/>
          </a:xfrm>
          <a:prstGeom prst="rect">
            <a:avLst/>
          </a:prstGeom>
          <a:solidFill>
            <a:srgbClr val="2A78D6"/>
          </a:solidFill>
        </p:spPr>
        <p:txBody>
          <a:bodyPr/>
          <a:lstStyle/>
          <a:p>
            <a:endParaRPr/>
          </a:p>
        </p:txBody>
      </p:sp>
      <p:sp>
        <p:nvSpPr>
          <p:cNvPr id="16" name="Shape 11">
            <a:extLst>
              <a:ext uri="{FF2B5EF4-FFF2-40B4-BE49-F238E27FC236}">
                <a16:creationId xmlns:a16="http://schemas.microsoft.com/office/drawing/2014/main" id="{3DD2CEB1-EEDC-495D-B526-2BC52F90EF96}"/>
              </a:ext>
            </a:extLst>
          </p:cNvPr>
          <p:cNvSpPr>
            <a:spLocks noGrp="1"/>
          </p:cNvSpPr>
          <p:nvPr/>
        </p:nvSpPr>
        <p:spPr>
          <a:xfrm>
            <a:off x="1344625" y="4654296"/>
            <a:ext cx="146304" cy="146304"/>
          </a:xfrm>
          <a:prstGeom prst="rect">
            <a:avLst/>
          </a:prstGeom>
          <a:solidFill>
            <a:srgbClr val="2A78D6"/>
          </a:solidFill>
        </p:spPr>
        <p:txBody>
          <a:bodyPr/>
          <a:lstStyle/>
          <a:p>
            <a:endParaRPr/>
          </a:p>
        </p:txBody>
      </p:sp>
      <p:sp>
        <p:nvSpPr>
          <p:cNvPr id="17" name="Shape 12">
            <a:extLst>
              <a:ext uri="{FF2B5EF4-FFF2-40B4-BE49-F238E27FC236}">
                <a16:creationId xmlns:a16="http://schemas.microsoft.com/office/drawing/2014/main" id="{ADB30687-E4C2-4B8F-9CF3-58F2B4CB7731}"/>
              </a:ext>
            </a:extLst>
          </p:cNvPr>
          <p:cNvSpPr>
            <a:spLocks noGrp="1"/>
          </p:cNvSpPr>
          <p:nvPr/>
        </p:nvSpPr>
        <p:spPr>
          <a:xfrm>
            <a:off x="1521104" y="4654296"/>
            <a:ext cx="146304" cy="146304"/>
          </a:xfrm>
          <a:prstGeom prst="rect">
            <a:avLst/>
          </a:prstGeom>
          <a:solidFill>
            <a:srgbClr val="2A78D6"/>
          </a:solidFill>
        </p:spPr>
        <p:txBody>
          <a:bodyPr/>
          <a:lstStyle/>
          <a:p>
            <a:endParaRPr/>
          </a:p>
        </p:txBody>
      </p:sp>
      <p:sp>
        <p:nvSpPr>
          <p:cNvPr id="18" name="Shape 13">
            <a:extLst>
              <a:ext uri="{FF2B5EF4-FFF2-40B4-BE49-F238E27FC236}">
                <a16:creationId xmlns:a16="http://schemas.microsoft.com/office/drawing/2014/main" id="{74E07CAD-98E1-4999-89B1-510091A01047}"/>
              </a:ext>
            </a:extLst>
          </p:cNvPr>
          <p:cNvSpPr>
            <a:spLocks noGrp="1"/>
          </p:cNvSpPr>
          <p:nvPr/>
        </p:nvSpPr>
        <p:spPr>
          <a:xfrm>
            <a:off x="1697584" y="4654296"/>
            <a:ext cx="146304" cy="146304"/>
          </a:xfrm>
          <a:prstGeom prst="rect">
            <a:avLst/>
          </a:prstGeom>
          <a:solidFill>
            <a:srgbClr val="2A78D6"/>
          </a:solidFill>
        </p:spPr>
        <p:txBody>
          <a:bodyPr/>
          <a:lstStyle/>
          <a:p>
            <a:endParaRPr/>
          </a:p>
        </p:txBody>
      </p:sp>
      <p:sp>
        <p:nvSpPr>
          <p:cNvPr id="19" name="Shape 14">
            <a:extLst>
              <a:ext uri="{FF2B5EF4-FFF2-40B4-BE49-F238E27FC236}">
                <a16:creationId xmlns:a16="http://schemas.microsoft.com/office/drawing/2014/main" id="{CDF92E13-CC3C-4FD1-A210-B464827D974F}"/>
              </a:ext>
            </a:extLst>
          </p:cNvPr>
          <p:cNvSpPr>
            <a:spLocks noGrp="1"/>
          </p:cNvSpPr>
          <p:nvPr/>
        </p:nvSpPr>
        <p:spPr>
          <a:xfrm>
            <a:off x="1874063" y="4654296"/>
            <a:ext cx="146304" cy="146304"/>
          </a:xfrm>
          <a:prstGeom prst="rect">
            <a:avLst/>
          </a:prstGeom>
          <a:solidFill>
            <a:srgbClr val="2A78D6"/>
          </a:solidFill>
        </p:spPr>
        <p:txBody>
          <a:bodyPr/>
          <a:lstStyle/>
          <a:p>
            <a:endParaRPr/>
          </a:p>
        </p:txBody>
      </p:sp>
      <p:sp>
        <p:nvSpPr>
          <p:cNvPr id="20" name="Shape 15">
            <a:extLst>
              <a:ext uri="{FF2B5EF4-FFF2-40B4-BE49-F238E27FC236}">
                <a16:creationId xmlns:a16="http://schemas.microsoft.com/office/drawing/2014/main" id="{9E8E81F5-37EA-40C8-96EA-5DE9D8330D8D}"/>
              </a:ext>
            </a:extLst>
          </p:cNvPr>
          <p:cNvSpPr>
            <a:spLocks noGrp="1"/>
          </p:cNvSpPr>
          <p:nvPr/>
        </p:nvSpPr>
        <p:spPr>
          <a:xfrm>
            <a:off x="2050542" y="4654296"/>
            <a:ext cx="146304" cy="146304"/>
          </a:xfrm>
          <a:prstGeom prst="rect">
            <a:avLst/>
          </a:prstGeom>
          <a:solidFill>
            <a:srgbClr val="2A78D6"/>
          </a:solidFill>
        </p:spPr>
        <p:txBody>
          <a:bodyPr/>
          <a:lstStyle/>
          <a:p>
            <a:endParaRPr/>
          </a:p>
        </p:txBody>
      </p:sp>
      <p:sp>
        <p:nvSpPr>
          <p:cNvPr id="21" name="Shape 16">
            <a:extLst>
              <a:ext uri="{FF2B5EF4-FFF2-40B4-BE49-F238E27FC236}">
                <a16:creationId xmlns:a16="http://schemas.microsoft.com/office/drawing/2014/main" id="{8FD869BE-7731-4B22-B785-7EF8FE10BF72}"/>
              </a:ext>
            </a:extLst>
          </p:cNvPr>
          <p:cNvSpPr>
            <a:spLocks noGrp="1"/>
          </p:cNvSpPr>
          <p:nvPr/>
        </p:nvSpPr>
        <p:spPr>
          <a:xfrm>
            <a:off x="2227021" y="4654296"/>
            <a:ext cx="146304" cy="146304"/>
          </a:xfrm>
          <a:prstGeom prst="rect">
            <a:avLst/>
          </a:prstGeom>
          <a:solidFill>
            <a:srgbClr val="2A78D6"/>
          </a:solidFill>
        </p:spPr>
        <p:txBody>
          <a:bodyPr/>
          <a:lstStyle/>
          <a:p>
            <a:endParaRPr/>
          </a:p>
        </p:txBody>
      </p:sp>
      <p:sp>
        <p:nvSpPr>
          <p:cNvPr id="22" name="Shape 17">
            <a:extLst>
              <a:ext uri="{FF2B5EF4-FFF2-40B4-BE49-F238E27FC236}">
                <a16:creationId xmlns:a16="http://schemas.microsoft.com/office/drawing/2014/main" id="{52BC73B9-BE37-4EF2-8ECC-68D62DF7BE5E}"/>
              </a:ext>
            </a:extLst>
          </p:cNvPr>
          <p:cNvSpPr>
            <a:spLocks noGrp="1"/>
          </p:cNvSpPr>
          <p:nvPr/>
        </p:nvSpPr>
        <p:spPr>
          <a:xfrm>
            <a:off x="2403500" y="4654296"/>
            <a:ext cx="146304" cy="146304"/>
          </a:xfrm>
          <a:prstGeom prst="rect">
            <a:avLst/>
          </a:prstGeom>
          <a:solidFill>
            <a:srgbClr val="2A78D6"/>
          </a:solidFill>
        </p:spPr>
        <p:txBody>
          <a:bodyPr/>
          <a:lstStyle/>
          <a:p>
            <a:endParaRPr/>
          </a:p>
        </p:txBody>
      </p:sp>
      <p:sp>
        <p:nvSpPr>
          <p:cNvPr id="23" name="Shape 18">
            <a:extLst>
              <a:ext uri="{FF2B5EF4-FFF2-40B4-BE49-F238E27FC236}">
                <a16:creationId xmlns:a16="http://schemas.microsoft.com/office/drawing/2014/main" id="{2CF03239-C0ED-478A-8B21-283F83C232EC}"/>
              </a:ext>
            </a:extLst>
          </p:cNvPr>
          <p:cNvSpPr>
            <a:spLocks noGrp="1"/>
          </p:cNvSpPr>
          <p:nvPr/>
        </p:nvSpPr>
        <p:spPr>
          <a:xfrm>
            <a:off x="2579980" y="4654296"/>
            <a:ext cx="146304" cy="146304"/>
          </a:xfrm>
          <a:prstGeom prst="rect">
            <a:avLst/>
          </a:prstGeom>
          <a:solidFill>
            <a:srgbClr val="2A78D6"/>
          </a:solidFill>
        </p:spPr>
        <p:txBody>
          <a:bodyPr/>
          <a:lstStyle/>
          <a:p>
            <a:endParaRPr/>
          </a:p>
        </p:txBody>
      </p:sp>
      <p:sp>
        <p:nvSpPr>
          <p:cNvPr id="24" name="Shape 19">
            <a:extLst>
              <a:ext uri="{FF2B5EF4-FFF2-40B4-BE49-F238E27FC236}">
                <a16:creationId xmlns:a16="http://schemas.microsoft.com/office/drawing/2014/main" id="{AA389B86-87F2-4286-A467-7D252ED6022B}"/>
              </a:ext>
            </a:extLst>
          </p:cNvPr>
          <p:cNvSpPr>
            <a:spLocks noGrp="1"/>
          </p:cNvSpPr>
          <p:nvPr/>
        </p:nvSpPr>
        <p:spPr>
          <a:xfrm>
            <a:off x="2756459" y="4654296"/>
            <a:ext cx="146304" cy="146304"/>
          </a:xfrm>
          <a:prstGeom prst="rect">
            <a:avLst/>
          </a:prstGeom>
          <a:solidFill>
            <a:srgbClr val="2A78D6"/>
          </a:solidFill>
        </p:spPr>
        <p:txBody>
          <a:bodyPr/>
          <a:lstStyle/>
          <a:p>
            <a:endParaRPr/>
          </a:p>
        </p:txBody>
      </p:sp>
      <p:sp>
        <p:nvSpPr>
          <p:cNvPr id="25" name="Shape 20">
            <a:extLst>
              <a:ext uri="{FF2B5EF4-FFF2-40B4-BE49-F238E27FC236}">
                <a16:creationId xmlns:a16="http://schemas.microsoft.com/office/drawing/2014/main" id="{76790CC9-9083-4CB0-A7C8-431DEF181525}"/>
              </a:ext>
            </a:extLst>
          </p:cNvPr>
          <p:cNvSpPr>
            <a:spLocks noGrp="1"/>
          </p:cNvSpPr>
          <p:nvPr/>
        </p:nvSpPr>
        <p:spPr>
          <a:xfrm>
            <a:off x="2932938" y="4654296"/>
            <a:ext cx="146304" cy="146304"/>
          </a:xfrm>
          <a:prstGeom prst="rect">
            <a:avLst/>
          </a:prstGeom>
          <a:solidFill>
            <a:srgbClr val="2A78D6"/>
          </a:solidFill>
        </p:spPr>
        <p:txBody>
          <a:bodyPr/>
          <a:lstStyle/>
          <a:p>
            <a:endParaRPr/>
          </a:p>
        </p:txBody>
      </p:sp>
      <p:sp>
        <p:nvSpPr>
          <p:cNvPr id="26" name="Shape 21">
            <a:extLst>
              <a:ext uri="{FF2B5EF4-FFF2-40B4-BE49-F238E27FC236}">
                <a16:creationId xmlns:a16="http://schemas.microsoft.com/office/drawing/2014/main" id="{BB944760-7E97-4BF9-B636-B73DF50048AF}"/>
              </a:ext>
            </a:extLst>
          </p:cNvPr>
          <p:cNvSpPr>
            <a:spLocks noGrp="1"/>
          </p:cNvSpPr>
          <p:nvPr/>
        </p:nvSpPr>
        <p:spPr>
          <a:xfrm>
            <a:off x="3109417" y="4654296"/>
            <a:ext cx="146304" cy="146304"/>
          </a:xfrm>
          <a:prstGeom prst="rect">
            <a:avLst/>
          </a:prstGeom>
          <a:solidFill>
            <a:srgbClr val="2A78D6"/>
          </a:solidFill>
        </p:spPr>
        <p:txBody>
          <a:bodyPr/>
          <a:lstStyle/>
          <a:p>
            <a:endParaRPr/>
          </a:p>
        </p:txBody>
      </p:sp>
      <p:sp>
        <p:nvSpPr>
          <p:cNvPr id="27" name="Shape 22">
            <a:extLst>
              <a:ext uri="{FF2B5EF4-FFF2-40B4-BE49-F238E27FC236}">
                <a16:creationId xmlns:a16="http://schemas.microsoft.com/office/drawing/2014/main" id="{691344D5-0BD6-4928-9A4F-38640936D853}"/>
              </a:ext>
            </a:extLst>
          </p:cNvPr>
          <p:cNvSpPr>
            <a:spLocks noGrp="1"/>
          </p:cNvSpPr>
          <p:nvPr/>
        </p:nvSpPr>
        <p:spPr>
          <a:xfrm>
            <a:off x="3285896" y="4654296"/>
            <a:ext cx="146304" cy="146304"/>
          </a:xfrm>
          <a:prstGeom prst="rect">
            <a:avLst/>
          </a:prstGeom>
          <a:solidFill>
            <a:srgbClr val="2A78D6"/>
          </a:solidFill>
        </p:spPr>
        <p:txBody>
          <a:bodyPr/>
          <a:lstStyle/>
          <a:p>
            <a:endParaRPr/>
          </a:p>
        </p:txBody>
      </p:sp>
      <p:sp>
        <p:nvSpPr>
          <p:cNvPr id="28" name="Shape 23">
            <a:extLst>
              <a:ext uri="{FF2B5EF4-FFF2-40B4-BE49-F238E27FC236}">
                <a16:creationId xmlns:a16="http://schemas.microsoft.com/office/drawing/2014/main" id="{E441B51D-2914-4FDF-8E65-351A3C84CDEE}"/>
              </a:ext>
            </a:extLst>
          </p:cNvPr>
          <p:cNvSpPr>
            <a:spLocks noGrp="1"/>
          </p:cNvSpPr>
          <p:nvPr/>
        </p:nvSpPr>
        <p:spPr>
          <a:xfrm>
            <a:off x="3462376" y="4654296"/>
            <a:ext cx="146304" cy="146304"/>
          </a:xfrm>
          <a:prstGeom prst="rect">
            <a:avLst/>
          </a:prstGeom>
          <a:solidFill>
            <a:srgbClr val="2A78D6"/>
          </a:solidFill>
        </p:spPr>
        <p:txBody>
          <a:bodyPr/>
          <a:lstStyle/>
          <a:p>
            <a:endParaRPr/>
          </a:p>
        </p:txBody>
      </p:sp>
      <p:sp>
        <p:nvSpPr>
          <p:cNvPr id="29" name="Shape 24">
            <a:extLst>
              <a:ext uri="{FF2B5EF4-FFF2-40B4-BE49-F238E27FC236}">
                <a16:creationId xmlns:a16="http://schemas.microsoft.com/office/drawing/2014/main" id="{199332F8-986D-4725-A107-B67D60AF6057}"/>
              </a:ext>
            </a:extLst>
          </p:cNvPr>
          <p:cNvSpPr>
            <a:spLocks noGrp="1"/>
          </p:cNvSpPr>
          <p:nvPr/>
        </p:nvSpPr>
        <p:spPr>
          <a:xfrm>
            <a:off x="3638855" y="4654296"/>
            <a:ext cx="146304" cy="146304"/>
          </a:xfrm>
          <a:prstGeom prst="rect">
            <a:avLst/>
          </a:prstGeom>
          <a:solidFill>
            <a:srgbClr val="2A78D6"/>
          </a:solidFill>
        </p:spPr>
        <p:txBody>
          <a:bodyPr/>
          <a:lstStyle/>
          <a:p>
            <a:endParaRPr/>
          </a:p>
        </p:txBody>
      </p:sp>
      <p:sp>
        <p:nvSpPr>
          <p:cNvPr id="30" name="Shape 25">
            <a:extLst>
              <a:ext uri="{FF2B5EF4-FFF2-40B4-BE49-F238E27FC236}">
                <a16:creationId xmlns:a16="http://schemas.microsoft.com/office/drawing/2014/main" id="{6083A483-91A5-46A7-9E00-8426A4B6DB19}"/>
              </a:ext>
            </a:extLst>
          </p:cNvPr>
          <p:cNvSpPr>
            <a:spLocks noGrp="1"/>
          </p:cNvSpPr>
          <p:nvPr/>
        </p:nvSpPr>
        <p:spPr>
          <a:xfrm>
            <a:off x="3815334" y="4654296"/>
            <a:ext cx="146304" cy="146304"/>
          </a:xfrm>
          <a:prstGeom prst="rect">
            <a:avLst/>
          </a:prstGeom>
          <a:solidFill>
            <a:srgbClr val="2A78D6"/>
          </a:solidFill>
        </p:spPr>
        <p:txBody>
          <a:bodyPr/>
          <a:lstStyle/>
          <a:p>
            <a:endParaRPr/>
          </a:p>
        </p:txBody>
      </p:sp>
      <p:sp>
        <p:nvSpPr>
          <p:cNvPr id="31" name="Shape 26">
            <a:extLst>
              <a:ext uri="{FF2B5EF4-FFF2-40B4-BE49-F238E27FC236}">
                <a16:creationId xmlns:a16="http://schemas.microsoft.com/office/drawing/2014/main" id="{6711871D-497A-4FC1-BC21-AAFC722C0BAB}"/>
              </a:ext>
            </a:extLst>
          </p:cNvPr>
          <p:cNvSpPr>
            <a:spLocks noGrp="1"/>
          </p:cNvSpPr>
          <p:nvPr/>
        </p:nvSpPr>
        <p:spPr>
          <a:xfrm>
            <a:off x="3991813" y="4654296"/>
            <a:ext cx="146304" cy="146304"/>
          </a:xfrm>
          <a:prstGeom prst="rect">
            <a:avLst/>
          </a:prstGeom>
          <a:solidFill>
            <a:srgbClr val="2A78D6"/>
          </a:solidFill>
        </p:spPr>
        <p:txBody>
          <a:bodyPr/>
          <a:lstStyle/>
          <a:p>
            <a:endParaRPr/>
          </a:p>
        </p:txBody>
      </p:sp>
      <p:sp>
        <p:nvSpPr>
          <p:cNvPr id="32" name="Shape 27">
            <a:extLst>
              <a:ext uri="{FF2B5EF4-FFF2-40B4-BE49-F238E27FC236}">
                <a16:creationId xmlns:a16="http://schemas.microsoft.com/office/drawing/2014/main" id="{C9482B1E-2A59-41DB-8426-FCD49AC553E6}"/>
              </a:ext>
            </a:extLst>
          </p:cNvPr>
          <p:cNvSpPr>
            <a:spLocks noGrp="1"/>
          </p:cNvSpPr>
          <p:nvPr/>
        </p:nvSpPr>
        <p:spPr>
          <a:xfrm>
            <a:off x="4168292" y="4654296"/>
            <a:ext cx="146304" cy="146304"/>
          </a:xfrm>
          <a:prstGeom prst="rect">
            <a:avLst/>
          </a:prstGeom>
          <a:solidFill>
            <a:srgbClr val="2A78D6"/>
          </a:solidFill>
        </p:spPr>
        <p:txBody>
          <a:bodyPr/>
          <a:lstStyle/>
          <a:p>
            <a:endParaRPr/>
          </a:p>
        </p:txBody>
      </p:sp>
      <p:sp>
        <p:nvSpPr>
          <p:cNvPr id="33" name="Shape 28">
            <a:extLst>
              <a:ext uri="{FF2B5EF4-FFF2-40B4-BE49-F238E27FC236}">
                <a16:creationId xmlns:a16="http://schemas.microsoft.com/office/drawing/2014/main" id="{ABB77DFD-739D-41A7-9315-50E59B9F4293}"/>
              </a:ext>
            </a:extLst>
          </p:cNvPr>
          <p:cNvSpPr>
            <a:spLocks noGrp="1"/>
          </p:cNvSpPr>
          <p:nvPr/>
        </p:nvSpPr>
        <p:spPr>
          <a:xfrm>
            <a:off x="4344772" y="4654296"/>
            <a:ext cx="146304" cy="146304"/>
          </a:xfrm>
          <a:prstGeom prst="rect">
            <a:avLst/>
          </a:prstGeom>
          <a:solidFill>
            <a:srgbClr val="2A78D6"/>
          </a:solidFill>
        </p:spPr>
        <p:txBody>
          <a:bodyPr/>
          <a:lstStyle/>
          <a:p>
            <a:endParaRPr/>
          </a:p>
        </p:txBody>
      </p:sp>
      <p:sp>
        <p:nvSpPr>
          <p:cNvPr id="34" name="Shape 29">
            <a:extLst>
              <a:ext uri="{FF2B5EF4-FFF2-40B4-BE49-F238E27FC236}">
                <a16:creationId xmlns:a16="http://schemas.microsoft.com/office/drawing/2014/main" id="{E809A0DA-DC96-435C-83F7-E5AD8BEBD1E7}"/>
              </a:ext>
            </a:extLst>
          </p:cNvPr>
          <p:cNvSpPr>
            <a:spLocks noGrp="1"/>
          </p:cNvSpPr>
          <p:nvPr/>
        </p:nvSpPr>
        <p:spPr>
          <a:xfrm>
            <a:off x="4521251" y="4654296"/>
            <a:ext cx="146304" cy="146304"/>
          </a:xfrm>
          <a:prstGeom prst="rect">
            <a:avLst/>
          </a:prstGeom>
          <a:solidFill>
            <a:srgbClr val="2A78D6"/>
          </a:solidFill>
        </p:spPr>
        <p:txBody>
          <a:bodyPr/>
          <a:lstStyle/>
          <a:p>
            <a:endParaRPr/>
          </a:p>
        </p:txBody>
      </p:sp>
      <p:sp>
        <p:nvSpPr>
          <p:cNvPr id="35" name="Shape 30">
            <a:extLst>
              <a:ext uri="{FF2B5EF4-FFF2-40B4-BE49-F238E27FC236}">
                <a16:creationId xmlns:a16="http://schemas.microsoft.com/office/drawing/2014/main" id="{6DBC6865-B724-474C-860F-473047D71A54}"/>
              </a:ext>
            </a:extLst>
          </p:cNvPr>
          <p:cNvSpPr>
            <a:spLocks noGrp="1"/>
          </p:cNvSpPr>
          <p:nvPr/>
        </p:nvSpPr>
        <p:spPr>
          <a:xfrm>
            <a:off x="4697730" y="4654296"/>
            <a:ext cx="146304" cy="146304"/>
          </a:xfrm>
          <a:prstGeom prst="rect">
            <a:avLst/>
          </a:prstGeom>
          <a:solidFill>
            <a:srgbClr val="2A78D6"/>
          </a:solidFill>
        </p:spPr>
        <p:txBody>
          <a:bodyPr/>
          <a:lstStyle/>
          <a:p>
            <a:endParaRPr/>
          </a:p>
        </p:txBody>
      </p:sp>
      <p:sp>
        <p:nvSpPr>
          <p:cNvPr id="36" name="Shape 31">
            <a:extLst>
              <a:ext uri="{FF2B5EF4-FFF2-40B4-BE49-F238E27FC236}">
                <a16:creationId xmlns:a16="http://schemas.microsoft.com/office/drawing/2014/main" id="{70CAE0BB-B79A-44CA-8633-361B5D356B01}"/>
              </a:ext>
            </a:extLst>
          </p:cNvPr>
          <p:cNvSpPr>
            <a:spLocks noGrp="1"/>
          </p:cNvSpPr>
          <p:nvPr/>
        </p:nvSpPr>
        <p:spPr>
          <a:xfrm>
            <a:off x="4874209" y="4654296"/>
            <a:ext cx="146304" cy="146304"/>
          </a:xfrm>
          <a:prstGeom prst="rect">
            <a:avLst/>
          </a:prstGeom>
          <a:solidFill>
            <a:srgbClr val="2A78D6"/>
          </a:solidFill>
        </p:spPr>
        <p:txBody>
          <a:bodyPr/>
          <a:lstStyle/>
          <a:p>
            <a:endParaRPr/>
          </a:p>
        </p:txBody>
      </p:sp>
      <p:sp>
        <p:nvSpPr>
          <p:cNvPr id="37" name="Shape 32">
            <a:extLst>
              <a:ext uri="{FF2B5EF4-FFF2-40B4-BE49-F238E27FC236}">
                <a16:creationId xmlns:a16="http://schemas.microsoft.com/office/drawing/2014/main" id="{7D1280C7-FD46-4732-B0D4-56646DE20C12}"/>
              </a:ext>
            </a:extLst>
          </p:cNvPr>
          <p:cNvSpPr>
            <a:spLocks noGrp="1"/>
          </p:cNvSpPr>
          <p:nvPr/>
        </p:nvSpPr>
        <p:spPr>
          <a:xfrm>
            <a:off x="5050688" y="4654296"/>
            <a:ext cx="146304" cy="146304"/>
          </a:xfrm>
          <a:prstGeom prst="rect">
            <a:avLst/>
          </a:prstGeom>
          <a:solidFill>
            <a:srgbClr val="2A78D6"/>
          </a:solidFill>
        </p:spPr>
        <p:txBody>
          <a:bodyPr/>
          <a:lstStyle/>
          <a:p>
            <a:endParaRPr/>
          </a:p>
        </p:txBody>
      </p:sp>
      <p:sp>
        <p:nvSpPr>
          <p:cNvPr id="38" name="Shape 33">
            <a:extLst>
              <a:ext uri="{FF2B5EF4-FFF2-40B4-BE49-F238E27FC236}">
                <a16:creationId xmlns:a16="http://schemas.microsoft.com/office/drawing/2014/main" id="{4BE61340-7186-4035-8B52-5A3637EF7451}"/>
              </a:ext>
            </a:extLst>
          </p:cNvPr>
          <p:cNvSpPr>
            <a:spLocks noGrp="1"/>
          </p:cNvSpPr>
          <p:nvPr/>
        </p:nvSpPr>
        <p:spPr>
          <a:xfrm>
            <a:off x="5227168" y="4654296"/>
            <a:ext cx="146304" cy="146304"/>
          </a:xfrm>
          <a:prstGeom prst="rect">
            <a:avLst/>
          </a:prstGeom>
          <a:solidFill>
            <a:srgbClr val="2A78D6"/>
          </a:solidFill>
        </p:spPr>
        <p:txBody>
          <a:bodyPr/>
          <a:lstStyle/>
          <a:p>
            <a:endParaRPr/>
          </a:p>
        </p:txBody>
      </p:sp>
      <p:sp>
        <p:nvSpPr>
          <p:cNvPr id="39" name="Shape 34">
            <a:extLst>
              <a:ext uri="{FF2B5EF4-FFF2-40B4-BE49-F238E27FC236}">
                <a16:creationId xmlns:a16="http://schemas.microsoft.com/office/drawing/2014/main" id="{5CEBC994-6C14-4E89-97C7-DCC0875AEA52}"/>
              </a:ext>
            </a:extLst>
          </p:cNvPr>
          <p:cNvSpPr>
            <a:spLocks noGrp="1"/>
          </p:cNvSpPr>
          <p:nvPr/>
        </p:nvSpPr>
        <p:spPr>
          <a:xfrm>
            <a:off x="5403647" y="4654296"/>
            <a:ext cx="146304" cy="146304"/>
          </a:xfrm>
          <a:prstGeom prst="rect">
            <a:avLst/>
          </a:prstGeom>
          <a:solidFill>
            <a:srgbClr val="2A78D6"/>
          </a:solidFill>
        </p:spPr>
        <p:txBody>
          <a:bodyPr/>
          <a:lstStyle/>
          <a:p>
            <a:endParaRPr/>
          </a:p>
        </p:txBody>
      </p:sp>
      <p:sp>
        <p:nvSpPr>
          <p:cNvPr id="40" name="Shape 35">
            <a:extLst>
              <a:ext uri="{FF2B5EF4-FFF2-40B4-BE49-F238E27FC236}">
                <a16:creationId xmlns:a16="http://schemas.microsoft.com/office/drawing/2014/main" id="{6484C306-8793-4680-BB99-C4C5B529E209}"/>
              </a:ext>
            </a:extLst>
          </p:cNvPr>
          <p:cNvSpPr>
            <a:spLocks noGrp="1"/>
          </p:cNvSpPr>
          <p:nvPr/>
        </p:nvSpPr>
        <p:spPr>
          <a:xfrm>
            <a:off x="5580126" y="4654296"/>
            <a:ext cx="146304" cy="146304"/>
          </a:xfrm>
          <a:prstGeom prst="rect">
            <a:avLst/>
          </a:prstGeom>
          <a:solidFill>
            <a:srgbClr val="2A78D6"/>
          </a:solidFill>
        </p:spPr>
        <p:txBody>
          <a:bodyPr/>
          <a:lstStyle/>
          <a:p>
            <a:endParaRPr/>
          </a:p>
        </p:txBody>
      </p:sp>
      <p:sp>
        <p:nvSpPr>
          <p:cNvPr id="41" name="Shape 36">
            <a:extLst>
              <a:ext uri="{FF2B5EF4-FFF2-40B4-BE49-F238E27FC236}">
                <a16:creationId xmlns:a16="http://schemas.microsoft.com/office/drawing/2014/main" id="{A7D7DF54-7C1B-4114-968E-86D76C767372}"/>
              </a:ext>
            </a:extLst>
          </p:cNvPr>
          <p:cNvSpPr>
            <a:spLocks noGrp="1"/>
          </p:cNvSpPr>
          <p:nvPr/>
        </p:nvSpPr>
        <p:spPr>
          <a:xfrm>
            <a:off x="5756605" y="4654296"/>
            <a:ext cx="146304" cy="146304"/>
          </a:xfrm>
          <a:prstGeom prst="rect">
            <a:avLst/>
          </a:prstGeom>
          <a:solidFill>
            <a:srgbClr val="2A78D6"/>
          </a:solidFill>
        </p:spPr>
        <p:txBody>
          <a:bodyPr/>
          <a:lstStyle/>
          <a:p>
            <a:endParaRPr/>
          </a:p>
        </p:txBody>
      </p:sp>
      <p:sp>
        <p:nvSpPr>
          <p:cNvPr id="42" name="Shape 37">
            <a:extLst>
              <a:ext uri="{FF2B5EF4-FFF2-40B4-BE49-F238E27FC236}">
                <a16:creationId xmlns:a16="http://schemas.microsoft.com/office/drawing/2014/main" id="{B551EAD9-6CFB-4CE1-A213-E2C0D02BE95E}"/>
              </a:ext>
            </a:extLst>
          </p:cNvPr>
          <p:cNvSpPr>
            <a:spLocks noGrp="1"/>
          </p:cNvSpPr>
          <p:nvPr/>
        </p:nvSpPr>
        <p:spPr>
          <a:xfrm>
            <a:off x="5933084" y="4654296"/>
            <a:ext cx="146304" cy="146304"/>
          </a:xfrm>
          <a:prstGeom prst="rect">
            <a:avLst/>
          </a:prstGeom>
          <a:solidFill>
            <a:srgbClr val="2A78D6"/>
          </a:solidFill>
        </p:spPr>
        <p:txBody>
          <a:bodyPr/>
          <a:lstStyle/>
          <a:p>
            <a:endParaRPr/>
          </a:p>
        </p:txBody>
      </p:sp>
      <p:sp>
        <p:nvSpPr>
          <p:cNvPr id="43" name="Shape 38">
            <a:extLst>
              <a:ext uri="{FF2B5EF4-FFF2-40B4-BE49-F238E27FC236}">
                <a16:creationId xmlns:a16="http://schemas.microsoft.com/office/drawing/2014/main" id="{F527DA75-53E0-495D-A169-44EF6BAA7346}"/>
              </a:ext>
            </a:extLst>
          </p:cNvPr>
          <p:cNvSpPr>
            <a:spLocks noGrp="1"/>
          </p:cNvSpPr>
          <p:nvPr/>
        </p:nvSpPr>
        <p:spPr>
          <a:xfrm>
            <a:off x="6109564" y="4654296"/>
            <a:ext cx="146304" cy="146304"/>
          </a:xfrm>
          <a:prstGeom prst="rect">
            <a:avLst/>
          </a:prstGeom>
          <a:solidFill>
            <a:srgbClr val="2A78D6"/>
          </a:solidFill>
        </p:spPr>
        <p:txBody>
          <a:bodyPr/>
          <a:lstStyle/>
          <a:p>
            <a:endParaRPr/>
          </a:p>
        </p:txBody>
      </p:sp>
      <p:sp>
        <p:nvSpPr>
          <p:cNvPr id="44" name="Shape 39">
            <a:extLst>
              <a:ext uri="{FF2B5EF4-FFF2-40B4-BE49-F238E27FC236}">
                <a16:creationId xmlns:a16="http://schemas.microsoft.com/office/drawing/2014/main" id="{FCC8F7E3-65A3-40AD-80AC-1B0AE9439A9D}"/>
              </a:ext>
            </a:extLst>
          </p:cNvPr>
          <p:cNvSpPr>
            <a:spLocks noGrp="1"/>
          </p:cNvSpPr>
          <p:nvPr/>
        </p:nvSpPr>
        <p:spPr>
          <a:xfrm>
            <a:off x="6286043" y="4654296"/>
            <a:ext cx="146304" cy="146304"/>
          </a:xfrm>
          <a:prstGeom prst="rect">
            <a:avLst/>
          </a:prstGeom>
          <a:solidFill>
            <a:srgbClr val="2A78D6"/>
          </a:solidFill>
        </p:spPr>
        <p:txBody>
          <a:bodyPr/>
          <a:lstStyle/>
          <a:p>
            <a:endParaRPr/>
          </a:p>
        </p:txBody>
      </p:sp>
      <p:sp>
        <p:nvSpPr>
          <p:cNvPr id="45" name="Shape 40">
            <a:extLst>
              <a:ext uri="{FF2B5EF4-FFF2-40B4-BE49-F238E27FC236}">
                <a16:creationId xmlns:a16="http://schemas.microsoft.com/office/drawing/2014/main" id="{BD17A261-A9A0-47F4-BB67-DF30210E9FAC}"/>
              </a:ext>
            </a:extLst>
          </p:cNvPr>
          <p:cNvSpPr>
            <a:spLocks noGrp="1"/>
          </p:cNvSpPr>
          <p:nvPr/>
        </p:nvSpPr>
        <p:spPr>
          <a:xfrm>
            <a:off x="6462522" y="4654296"/>
            <a:ext cx="146304" cy="146304"/>
          </a:xfrm>
          <a:prstGeom prst="rect">
            <a:avLst/>
          </a:prstGeom>
          <a:solidFill>
            <a:srgbClr val="2A78D6"/>
          </a:solidFill>
        </p:spPr>
        <p:txBody>
          <a:bodyPr/>
          <a:lstStyle/>
          <a:p>
            <a:endParaRPr/>
          </a:p>
        </p:txBody>
      </p:sp>
      <p:sp>
        <p:nvSpPr>
          <p:cNvPr id="46" name="Shape 41">
            <a:extLst>
              <a:ext uri="{FF2B5EF4-FFF2-40B4-BE49-F238E27FC236}">
                <a16:creationId xmlns:a16="http://schemas.microsoft.com/office/drawing/2014/main" id="{1FD15479-F38D-4D40-97B6-C827CB61C429}"/>
              </a:ext>
            </a:extLst>
          </p:cNvPr>
          <p:cNvSpPr>
            <a:spLocks noGrp="1"/>
          </p:cNvSpPr>
          <p:nvPr/>
        </p:nvSpPr>
        <p:spPr>
          <a:xfrm>
            <a:off x="6639001" y="4654296"/>
            <a:ext cx="146304" cy="146304"/>
          </a:xfrm>
          <a:prstGeom prst="rect">
            <a:avLst/>
          </a:prstGeom>
          <a:solidFill>
            <a:srgbClr val="2A78D6"/>
          </a:solidFill>
        </p:spPr>
        <p:txBody>
          <a:bodyPr/>
          <a:lstStyle/>
          <a:p>
            <a:endParaRPr/>
          </a:p>
        </p:txBody>
      </p:sp>
      <p:sp>
        <p:nvSpPr>
          <p:cNvPr id="47" name="Shape 42">
            <a:extLst>
              <a:ext uri="{FF2B5EF4-FFF2-40B4-BE49-F238E27FC236}">
                <a16:creationId xmlns:a16="http://schemas.microsoft.com/office/drawing/2014/main" id="{40F12513-6595-4C2A-87F7-64866764F0AD}"/>
              </a:ext>
            </a:extLst>
          </p:cNvPr>
          <p:cNvSpPr>
            <a:spLocks noGrp="1"/>
          </p:cNvSpPr>
          <p:nvPr/>
        </p:nvSpPr>
        <p:spPr>
          <a:xfrm>
            <a:off x="6815480" y="4654296"/>
            <a:ext cx="146304" cy="146304"/>
          </a:xfrm>
          <a:prstGeom prst="rect">
            <a:avLst/>
          </a:prstGeom>
          <a:solidFill>
            <a:srgbClr val="2A78D6"/>
          </a:solidFill>
        </p:spPr>
        <p:txBody>
          <a:bodyPr/>
          <a:lstStyle/>
          <a:p>
            <a:endParaRPr/>
          </a:p>
        </p:txBody>
      </p:sp>
      <p:sp>
        <p:nvSpPr>
          <p:cNvPr id="48" name="Shape 43">
            <a:extLst>
              <a:ext uri="{FF2B5EF4-FFF2-40B4-BE49-F238E27FC236}">
                <a16:creationId xmlns:a16="http://schemas.microsoft.com/office/drawing/2014/main" id="{ED7EF040-6302-4C38-84D3-920B1136153A}"/>
              </a:ext>
            </a:extLst>
          </p:cNvPr>
          <p:cNvSpPr>
            <a:spLocks noGrp="1"/>
          </p:cNvSpPr>
          <p:nvPr/>
        </p:nvSpPr>
        <p:spPr>
          <a:xfrm>
            <a:off x="6991960" y="4654296"/>
            <a:ext cx="146304" cy="146304"/>
          </a:xfrm>
          <a:prstGeom prst="rect">
            <a:avLst/>
          </a:prstGeom>
          <a:solidFill>
            <a:srgbClr val="2A78D6"/>
          </a:solidFill>
        </p:spPr>
        <p:txBody>
          <a:bodyPr/>
          <a:lstStyle/>
          <a:p>
            <a:endParaRPr/>
          </a:p>
        </p:txBody>
      </p:sp>
      <p:sp>
        <p:nvSpPr>
          <p:cNvPr id="49" name="Shape 44">
            <a:extLst>
              <a:ext uri="{FF2B5EF4-FFF2-40B4-BE49-F238E27FC236}">
                <a16:creationId xmlns:a16="http://schemas.microsoft.com/office/drawing/2014/main" id="{760E6FB0-A61F-4953-BC1B-25A9A3FDFB4D}"/>
              </a:ext>
            </a:extLst>
          </p:cNvPr>
          <p:cNvSpPr>
            <a:spLocks noGrp="1"/>
          </p:cNvSpPr>
          <p:nvPr/>
        </p:nvSpPr>
        <p:spPr>
          <a:xfrm>
            <a:off x="7168439" y="4654296"/>
            <a:ext cx="146304" cy="146304"/>
          </a:xfrm>
          <a:prstGeom prst="rect">
            <a:avLst/>
          </a:prstGeom>
          <a:solidFill>
            <a:srgbClr val="2A78D6"/>
          </a:solidFill>
        </p:spPr>
        <p:txBody>
          <a:bodyPr/>
          <a:lstStyle/>
          <a:p>
            <a:endParaRPr/>
          </a:p>
        </p:txBody>
      </p:sp>
      <p:sp>
        <p:nvSpPr>
          <p:cNvPr id="50" name="Shape 45">
            <a:extLst>
              <a:ext uri="{FF2B5EF4-FFF2-40B4-BE49-F238E27FC236}">
                <a16:creationId xmlns:a16="http://schemas.microsoft.com/office/drawing/2014/main" id="{1F9344F1-B7B1-4AB9-AA31-D286A4B40978}"/>
              </a:ext>
            </a:extLst>
          </p:cNvPr>
          <p:cNvSpPr>
            <a:spLocks noGrp="1"/>
          </p:cNvSpPr>
          <p:nvPr/>
        </p:nvSpPr>
        <p:spPr>
          <a:xfrm>
            <a:off x="7344918" y="4654296"/>
            <a:ext cx="146304" cy="146304"/>
          </a:xfrm>
          <a:prstGeom prst="rect">
            <a:avLst/>
          </a:prstGeom>
          <a:solidFill>
            <a:srgbClr val="2A78D6"/>
          </a:solidFill>
        </p:spPr>
        <p:txBody>
          <a:bodyPr/>
          <a:lstStyle/>
          <a:p>
            <a:endParaRPr/>
          </a:p>
        </p:txBody>
      </p:sp>
      <p:sp>
        <p:nvSpPr>
          <p:cNvPr id="51" name="Shape 46">
            <a:extLst>
              <a:ext uri="{FF2B5EF4-FFF2-40B4-BE49-F238E27FC236}">
                <a16:creationId xmlns:a16="http://schemas.microsoft.com/office/drawing/2014/main" id="{9B7BBB88-5609-4BE8-8BAC-BE19459A68AB}"/>
              </a:ext>
            </a:extLst>
          </p:cNvPr>
          <p:cNvSpPr>
            <a:spLocks noGrp="1"/>
          </p:cNvSpPr>
          <p:nvPr/>
        </p:nvSpPr>
        <p:spPr>
          <a:xfrm>
            <a:off x="7521397" y="4654296"/>
            <a:ext cx="146304" cy="146304"/>
          </a:xfrm>
          <a:prstGeom prst="rect">
            <a:avLst/>
          </a:prstGeom>
          <a:solidFill>
            <a:srgbClr val="2A78D6"/>
          </a:solidFill>
        </p:spPr>
        <p:txBody>
          <a:bodyPr/>
          <a:lstStyle/>
          <a:p>
            <a:endParaRPr/>
          </a:p>
        </p:txBody>
      </p:sp>
      <p:sp>
        <p:nvSpPr>
          <p:cNvPr id="52" name="Shape 47">
            <a:extLst>
              <a:ext uri="{FF2B5EF4-FFF2-40B4-BE49-F238E27FC236}">
                <a16:creationId xmlns:a16="http://schemas.microsoft.com/office/drawing/2014/main" id="{F02382C1-FA21-4788-BFE8-6FAD61CBA9CA}"/>
              </a:ext>
            </a:extLst>
          </p:cNvPr>
          <p:cNvSpPr>
            <a:spLocks noGrp="1"/>
          </p:cNvSpPr>
          <p:nvPr/>
        </p:nvSpPr>
        <p:spPr>
          <a:xfrm>
            <a:off x="7697876" y="4654296"/>
            <a:ext cx="146304" cy="146304"/>
          </a:xfrm>
          <a:prstGeom prst="rect">
            <a:avLst/>
          </a:prstGeom>
          <a:solidFill>
            <a:srgbClr val="2A78D6"/>
          </a:solidFill>
        </p:spPr>
        <p:txBody>
          <a:bodyPr/>
          <a:lstStyle/>
          <a:p>
            <a:endParaRPr/>
          </a:p>
        </p:txBody>
      </p:sp>
      <p:sp>
        <p:nvSpPr>
          <p:cNvPr id="53" name="Shape 48">
            <a:extLst>
              <a:ext uri="{FF2B5EF4-FFF2-40B4-BE49-F238E27FC236}">
                <a16:creationId xmlns:a16="http://schemas.microsoft.com/office/drawing/2014/main" id="{331D212E-0708-40D3-A5FD-988C2CA99879}"/>
              </a:ext>
            </a:extLst>
          </p:cNvPr>
          <p:cNvSpPr>
            <a:spLocks noGrp="1"/>
          </p:cNvSpPr>
          <p:nvPr/>
        </p:nvSpPr>
        <p:spPr>
          <a:xfrm>
            <a:off x="7874356" y="4654296"/>
            <a:ext cx="146304" cy="146304"/>
          </a:xfrm>
          <a:prstGeom prst="rect">
            <a:avLst/>
          </a:prstGeom>
          <a:solidFill>
            <a:srgbClr val="2A78D6"/>
          </a:solidFill>
        </p:spPr>
        <p:txBody>
          <a:bodyPr/>
          <a:lstStyle/>
          <a:p>
            <a:endParaRPr/>
          </a:p>
        </p:txBody>
      </p:sp>
      <p:sp>
        <p:nvSpPr>
          <p:cNvPr id="54" name="Shape 49">
            <a:extLst>
              <a:ext uri="{FF2B5EF4-FFF2-40B4-BE49-F238E27FC236}">
                <a16:creationId xmlns:a16="http://schemas.microsoft.com/office/drawing/2014/main" id="{4B4A5BF4-DBE9-4AB8-B643-42502E50F37A}"/>
              </a:ext>
            </a:extLst>
          </p:cNvPr>
          <p:cNvSpPr>
            <a:spLocks noGrp="1"/>
          </p:cNvSpPr>
          <p:nvPr/>
        </p:nvSpPr>
        <p:spPr>
          <a:xfrm>
            <a:off x="8050835" y="4654296"/>
            <a:ext cx="146304" cy="146304"/>
          </a:xfrm>
          <a:prstGeom prst="rect">
            <a:avLst/>
          </a:prstGeom>
          <a:solidFill>
            <a:srgbClr val="2A78D6"/>
          </a:solidFill>
        </p:spPr>
        <p:txBody>
          <a:bodyPr/>
          <a:lstStyle/>
          <a:p>
            <a:endParaRPr/>
          </a:p>
        </p:txBody>
      </p:sp>
      <p:sp>
        <p:nvSpPr>
          <p:cNvPr id="55" name="Shape 50">
            <a:extLst>
              <a:ext uri="{FF2B5EF4-FFF2-40B4-BE49-F238E27FC236}">
                <a16:creationId xmlns:a16="http://schemas.microsoft.com/office/drawing/2014/main" id="{4735EF40-E950-44F7-93A3-A9B69F1B8220}"/>
              </a:ext>
            </a:extLst>
          </p:cNvPr>
          <p:cNvSpPr>
            <a:spLocks noGrp="1"/>
          </p:cNvSpPr>
          <p:nvPr/>
        </p:nvSpPr>
        <p:spPr>
          <a:xfrm>
            <a:off x="8227314" y="4654296"/>
            <a:ext cx="146304" cy="146304"/>
          </a:xfrm>
          <a:prstGeom prst="rect">
            <a:avLst/>
          </a:prstGeom>
          <a:solidFill>
            <a:srgbClr val="2A78D6"/>
          </a:solidFill>
        </p:spPr>
        <p:txBody>
          <a:bodyPr/>
          <a:lstStyle/>
          <a:p>
            <a:endParaRPr/>
          </a:p>
        </p:txBody>
      </p:sp>
      <p:sp>
        <p:nvSpPr>
          <p:cNvPr id="56" name="Shape 51">
            <a:extLst>
              <a:ext uri="{FF2B5EF4-FFF2-40B4-BE49-F238E27FC236}">
                <a16:creationId xmlns:a16="http://schemas.microsoft.com/office/drawing/2014/main" id="{7B125E94-BF3C-4C99-9516-EBE2A5CACCD6}"/>
              </a:ext>
            </a:extLst>
          </p:cNvPr>
          <p:cNvSpPr>
            <a:spLocks noGrp="1"/>
          </p:cNvSpPr>
          <p:nvPr/>
        </p:nvSpPr>
        <p:spPr>
          <a:xfrm>
            <a:off x="8403793" y="4654296"/>
            <a:ext cx="146304" cy="146304"/>
          </a:xfrm>
          <a:prstGeom prst="rect">
            <a:avLst/>
          </a:prstGeom>
          <a:solidFill>
            <a:srgbClr val="2A78D6"/>
          </a:solidFill>
        </p:spPr>
        <p:txBody>
          <a:bodyPr/>
          <a:lstStyle/>
          <a:p>
            <a:endParaRPr/>
          </a:p>
        </p:txBody>
      </p:sp>
      <p:sp>
        <p:nvSpPr>
          <p:cNvPr id="57" name="Shape 52">
            <a:extLst>
              <a:ext uri="{FF2B5EF4-FFF2-40B4-BE49-F238E27FC236}">
                <a16:creationId xmlns:a16="http://schemas.microsoft.com/office/drawing/2014/main" id="{AE7D031E-8C29-4ACC-8DED-B54CE5AA0F96}"/>
              </a:ext>
            </a:extLst>
          </p:cNvPr>
          <p:cNvSpPr>
            <a:spLocks noGrp="1"/>
          </p:cNvSpPr>
          <p:nvPr/>
        </p:nvSpPr>
        <p:spPr>
          <a:xfrm>
            <a:off x="8580272" y="4654296"/>
            <a:ext cx="146304" cy="146304"/>
          </a:xfrm>
          <a:prstGeom prst="rect">
            <a:avLst/>
          </a:prstGeom>
          <a:solidFill>
            <a:srgbClr val="2A78D6"/>
          </a:solidFill>
        </p:spPr>
        <p:txBody>
          <a:bodyPr/>
          <a:lstStyle/>
          <a:p>
            <a:endParaRPr/>
          </a:p>
        </p:txBody>
      </p:sp>
      <p:sp>
        <p:nvSpPr>
          <p:cNvPr id="58" name="Shape 53">
            <a:extLst>
              <a:ext uri="{FF2B5EF4-FFF2-40B4-BE49-F238E27FC236}">
                <a16:creationId xmlns:a16="http://schemas.microsoft.com/office/drawing/2014/main" id="{0C304480-3D9B-45D5-AD28-CEDEC2A7DBDB}"/>
              </a:ext>
            </a:extLst>
          </p:cNvPr>
          <p:cNvSpPr>
            <a:spLocks noGrp="1"/>
          </p:cNvSpPr>
          <p:nvPr/>
        </p:nvSpPr>
        <p:spPr>
          <a:xfrm>
            <a:off x="8756752" y="4654296"/>
            <a:ext cx="146304" cy="146304"/>
          </a:xfrm>
          <a:prstGeom prst="rect">
            <a:avLst/>
          </a:prstGeom>
          <a:solidFill>
            <a:srgbClr val="2A78D6"/>
          </a:solidFill>
        </p:spPr>
        <p:txBody>
          <a:bodyPr/>
          <a:lstStyle/>
          <a:p>
            <a:endParaRPr/>
          </a:p>
        </p:txBody>
      </p:sp>
      <p:sp>
        <p:nvSpPr>
          <p:cNvPr id="59" name="Shape 54">
            <a:extLst>
              <a:ext uri="{FF2B5EF4-FFF2-40B4-BE49-F238E27FC236}">
                <a16:creationId xmlns:a16="http://schemas.microsoft.com/office/drawing/2014/main" id="{A9E54927-3DDB-4311-A0BD-96773B73A415}"/>
              </a:ext>
            </a:extLst>
          </p:cNvPr>
          <p:cNvSpPr>
            <a:spLocks noGrp="1"/>
          </p:cNvSpPr>
          <p:nvPr/>
        </p:nvSpPr>
        <p:spPr>
          <a:xfrm>
            <a:off x="8933231" y="4654296"/>
            <a:ext cx="146304" cy="146304"/>
          </a:xfrm>
          <a:prstGeom prst="rect">
            <a:avLst/>
          </a:prstGeom>
          <a:solidFill>
            <a:srgbClr val="2A78D6"/>
          </a:solidFill>
        </p:spPr>
        <p:txBody>
          <a:bodyPr/>
          <a:lstStyle/>
          <a:p>
            <a:endParaRPr/>
          </a:p>
        </p:txBody>
      </p:sp>
      <p:sp>
        <p:nvSpPr>
          <p:cNvPr id="60" name="Shape 55">
            <a:extLst>
              <a:ext uri="{FF2B5EF4-FFF2-40B4-BE49-F238E27FC236}">
                <a16:creationId xmlns:a16="http://schemas.microsoft.com/office/drawing/2014/main" id="{17EF1249-A349-47EB-BF8C-521FB1D2CE37}"/>
              </a:ext>
            </a:extLst>
          </p:cNvPr>
          <p:cNvSpPr>
            <a:spLocks noGrp="1"/>
          </p:cNvSpPr>
          <p:nvPr/>
        </p:nvSpPr>
        <p:spPr>
          <a:xfrm>
            <a:off x="9109710" y="4654296"/>
            <a:ext cx="146304" cy="146304"/>
          </a:xfrm>
          <a:prstGeom prst="rect">
            <a:avLst/>
          </a:prstGeom>
          <a:solidFill>
            <a:srgbClr val="2A78D6"/>
          </a:solidFill>
        </p:spPr>
        <p:txBody>
          <a:bodyPr/>
          <a:lstStyle/>
          <a:p>
            <a:endParaRPr/>
          </a:p>
        </p:txBody>
      </p:sp>
      <p:sp>
        <p:nvSpPr>
          <p:cNvPr id="61" name="Shape 56">
            <a:extLst>
              <a:ext uri="{FF2B5EF4-FFF2-40B4-BE49-F238E27FC236}">
                <a16:creationId xmlns:a16="http://schemas.microsoft.com/office/drawing/2014/main" id="{FED441A8-D76D-4C89-AD2E-929FD871B3F4}"/>
              </a:ext>
            </a:extLst>
          </p:cNvPr>
          <p:cNvSpPr>
            <a:spLocks noGrp="1"/>
          </p:cNvSpPr>
          <p:nvPr/>
        </p:nvSpPr>
        <p:spPr>
          <a:xfrm>
            <a:off x="9286189" y="4654296"/>
            <a:ext cx="146304" cy="146304"/>
          </a:xfrm>
          <a:prstGeom prst="rect">
            <a:avLst/>
          </a:prstGeom>
          <a:solidFill>
            <a:srgbClr val="2A78D6"/>
          </a:solidFill>
        </p:spPr>
        <p:txBody>
          <a:bodyPr/>
          <a:lstStyle/>
          <a:p>
            <a:endParaRPr/>
          </a:p>
        </p:txBody>
      </p:sp>
      <p:sp>
        <p:nvSpPr>
          <p:cNvPr id="62" name="Shape 57">
            <a:extLst>
              <a:ext uri="{FF2B5EF4-FFF2-40B4-BE49-F238E27FC236}">
                <a16:creationId xmlns:a16="http://schemas.microsoft.com/office/drawing/2014/main" id="{74E9CCBE-DBE7-4095-8D09-BF44C136160A}"/>
              </a:ext>
            </a:extLst>
          </p:cNvPr>
          <p:cNvSpPr>
            <a:spLocks noGrp="1"/>
          </p:cNvSpPr>
          <p:nvPr/>
        </p:nvSpPr>
        <p:spPr>
          <a:xfrm>
            <a:off x="9462668" y="4654296"/>
            <a:ext cx="146304" cy="146304"/>
          </a:xfrm>
          <a:prstGeom prst="rect">
            <a:avLst/>
          </a:prstGeom>
          <a:solidFill>
            <a:srgbClr val="2A78D6"/>
          </a:solidFill>
        </p:spPr>
        <p:txBody>
          <a:bodyPr/>
          <a:lstStyle/>
          <a:p>
            <a:endParaRPr/>
          </a:p>
        </p:txBody>
      </p:sp>
      <p:sp>
        <p:nvSpPr>
          <p:cNvPr id="63" name="Shape 58">
            <a:extLst>
              <a:ext uri="{FF2B5EF4-FFF2-40B4-BE49-F238E27FC236}">
                <a16:creationId xmlns:a16="http://schemas.microsoft.com/office/drawing/2014/main" id="{60FEA9DA-0317-4E1F-B6EE-66DB21A13916}"/>
              </a:ext>
            </a:extLst>
          </p:cNvPr>
          <p:cNvSpPr>
            <a:spLocks noGrp="1"/>
          </p:cNvSpPr>
          <p:nvPr/>
        </p:nvSpPr>
        <p:spPr>
          <a:xfrm>
            <a:off x="9639148" y="4654296"/>
            <a:ext cx="146304" cy="146304"/>
          </a:xfrm>
          <a:prstGeom prst="rect">
            <a:avLst/>
          </a:prstGeom>
          <a:solidFill>
            <a:srgbClr val="2A78D6"/>
          </a:solidFill>
        </p:spPr>
        <p:txBody>
          <a:bodyPr/>
          <a:lstStyle/>
          <a:p>
            <a:endParaRPr/>
          </a:p>
        </p:txBody>
      </p:sp>
      <p:sp>
        <p:nvSpPr>
          <p:cNvPr id="64" name="Shape 59">
            <a:extLst>
              <a:ext uri="{FF2B5EF4-FFF2-40B4-BE49-F238E27FC236}">
                <a16:creationId xmlns:a16="http://schemas.microsoft.com/office/drawing/2014/main" id="{8239E98C-2FBF-43A4-88B6-C9DE2EDAD38B}"/>
              </a:ext>
            </a:extLst>
          </p:cNvPr>
          <p:cNvSpPr>
            <a:spLocks noGrp="1"/>
          </p:cNvSpPr>
          <p:nvPr/>
        </p:nvSpPr>
        <p:spPr>
          <a:xfrm>
            <a:off x="9815627" y="4654296"/>
            <a:ext cx="146304" cy="146304"/>
          </a:xfrm>
          <a:prstGeom prst="rect">
            <a:avLst/>
          </a:prstGeom>
          <a:solidFill>
            <a:srgbClr val="2A78D6"/>
          </a:solidFill>
        </p:spPr>
        <p:txBody>
          <a:bodyPr/>
          <a:lstStyle/>
          <a:p>
            <a:endParaRPr/>
          </a:p>
        </p:txBody>
      </p:sp>
      <p:sp>
        <p:nvSpPr>
          <p:cNvPr id="65" name="Shape 60">
            <a:extLst>
              <a:ext uri="{FF2B5EF4-FFF2-40B4-BE49-F238E27FC236}">
                <a16:creationId xmlns:a16="http://schemas.microsoft.com/office/drawing/2014/main" id="{A77CE587-CDE2-46F1-B5BB-C93EDAEF28D4}"/>
              </a:ext>
            </a:extLst>
          </p:cNvPr>
          <p:cNvSpPr>
            <a:spLocks noGrp="1"/>
          </p:cNvSpPr>
          <p:nvPr/>
        </p:nvSpPr>
        <p:spPr>
          <a:xfrm>
            <a:off x="9992106" y="4654296"/>
            <a:ext cx="146304" cy="146304"/>
          </a:xfrm>
          <a:prstGeom prst="rect">
            <a:avLst/>
          </a:prstGeom>
          <a:solidFill>
            <a:srgbClr val="FAB219"/>
          </a:solidFill>
        </p:spPr>
        <p:txBody>
          <a:bodyPr/>
          <a:lstStyle/>
          <a:p>
            <a:endParaRPr/>
          </a:p>
        </p:txBody>
      </p:sp>
      <p:sp>
        <p:nvSpPr>
          <p:cNvPr id="66" name="Shape 61">
            <a:extLst>
              <a:ext uri="{FF2B5EF4-FFF2-40B4-BE49-F238E27FC236}">
                <a16:creationId xmlns:a16="http://schemas.microsoft.com/office/drawing/2014/main" id="{EF03112B-DD3B-4698-848E-F9486496A185}"/>
              </a:ext>
            </a:extLst>
          </p:cNvPr>
          <p:cNvSpPr>
            <a:spLocks noGrp="1"/>
          </p:cNvSpPr>
          <p:nvPr/>
        </p:nvSpPr>
        <p:spPr>
          <a:xfrm>
            <a:off x="10168585" y="4654296"/>
            <a:ext cx="146304" cy="146304"/>
          </a:xfrm>
          <a:prstGeom prst="rect">
            <a:avLst/>
          </a:prstGeom>
          <a:solidFill>
            <a:srgbClr val="FAB219"/>
          </a:solidFill>
        </p:spPr>
        <p:txBody>
          <a:bodyPr/>
          <a:lstStyle/>
          <a:p>
            <a:endParaRPr/>
          </a:p>
        </p:txBody>
      </p:sp>
      <p:sp>
        <p:nvSpPr>
          <p:cNvPr id="67" name="Shape 62">
            <a:extLst>
              <a:ext uri="{FF2B5EF4-FFF2-40B4-BE49-F238E27FC236}">
                <a16:creationId xmlns:a16="http://schemas.microsoft.com/office/drawing/2014/main" id="{161A152A-B4AD-4F27-B783-4AFC36288AE1}"/>
              </a:ext>
            </a:extLst>
          </p:cNvPr>
          <p:cNvSpPr>
            <a:spLocks noGrp="1"/>
          </p:cNvSpPr>
          <p:nvPr/>
        </p:nvSpPr>
        <p:spPr>
          <a:xfrm>
            <a:off x="10345064" y="4654296"/>
            <a:ext cx="146304" cy="146304"/>
          </a:xfrm>
          <a:prstGeom prst="rect">
            <a:avLst/>
          </a:prstGeom>
          <a:solidFill>
            <a:srgbClr val="FAB219"/>
          </a:solidFill>
        </p:spPr>
        <p:txBody>
          <a:bodyPr/>
          <a:lstStyle/>
          <a:p>
            <a:endParaRPr/>
          </a:p>
        </p:txBody>
      </p:sp>
      <p:sp>
        <p:nvSpPr>
          <p:cNvPr id="68" name="Shape 63">
            <a:extLst>
              <a:ext uri="{FF2B5EF4-FFF2-40B4-BE49-F238E27FC236}">
                <a16:creationId xmlns:a16="http://schemas.microsoft.com/office/drawing/2014/main" id="{7AC0E424-F729-446B-A426-0ABD9AE79BF8}"/>
              </a:ext>
            </a:extLst>
          </p:cNvPr>
          <p:cNvSpPr>
            <a:spLocks noGrp="1"/>
          </p:cNvSpPr>
          <p:nvPr/>
        </p:nvSpPr>
        <p:spPr>
          <a:xfrm>
            <a:off x="10521544" y="4654296"/>
            <a:ext cx="146304" cy="146304"/>
          </a:xfrm>
          <a:prstGeom prst="rect">
            <a:avLst/>
          </a:prstGeom>
          <a:solidFill>
            <a:srgbClr val="FAB219"/>
          </a:solidFill>
        </p:spPr>
        <p:txBody>
          <a:bodyPr/>
          <a:lstStyle/>
          <a:p>
            <a:endParaRPr/>
          </a:p>
        </p:txBody>
      </p:sp>
      <p:sp>
        <p:nvSpPr>
          <p:cNvPr id="69" name="Shape 64">
            <a:extLst>
              <a:ext uri="{FF2B5EF4-FFF2-40B4-BE49-F238E27FC236}">
                <a16:creationId xmlns:a16="http://schemas.microsoft.com/office/drawing/2014/main" id="{F70F1961-3622-474D-9EAF-22293370DAD8}"/>
              </a:ext>
            </a:extLst>
          </p:cNvPr>
          <p:cNvSpPr>
            <a:spLocks noGrp="1"/>
          </p:cNvSpPr>
          <p:nvPr/>
        </p:nvSpPr>
        <p:spPr>
          <a:xfrm>
            <a:off x="10698023" y="4654296"/>
            <a:ext cx="146304" cy="146304"/>
          </a:xfrm>
          <a:prstGeom prst="rect">
            <a:avLst/>
          </a:prstGeom>
          <a:solidFill>
            <a:srgbClr val="D03B3B"/>
          </a:solidFill>
        </p:spPr>
        <p:txBody>
          <a:bodyPr/>
          <a:lstStyle/>
          <a:p>
            <a:endParaRPr/>
          </a:p>
        </p:txBody>
      </p:sp>
      <p:sp>
        <p:nvSpPr>
          <p:cNvPr id="70" name="Shape 65">
            <a:extLst>
              <a:ext uri="{FF2B5EF4-FFF2-40B4-BE49-F238E27FC236}">
                <a16:creationId xmlns:a16="http://schemas.microsoft.com/office/drawing/2014/main" id="{4DE5561A-FE6B-4A53-A52F-5BF0555A6DDA}"/>
              </a:ext>
            </a:extLst>
          </p:cNvPr>
          <p:cNvSpPr>
            <a:spLocks noGrp="1"/>
          </p:cNvSpPr>
          <p:nvPr/>
        </p:nvSpPr>
        <p:spPr>
          <a:xfrm>
            <a:off x="10874502" y="4654296"/>
            <a:ext cx="146304" cy="146304"/>
          </a:xfrm>
          <a:prstGeom prst="rect">
            <a:avLst/>
          </a:prstGeom>
          <a:solidFill>
            <a:srgbClr val="D03B3B"/>
          </a:solidFill>
        </p:spPr>
        <p:txBody>
          <a:bodyPr/>
          <a:lstStyle/>
          <a:p>
            <a:endParaRPr/>
          </a:p>
        </p:txBody>
      </p:sp>
      <p:sp>
        <p:nvSpPr>
          <p:cNvPr id="71" name="Shape 66">
            <a:extLst>
              <a:ext uri="{FF2B5EF4-FFF2-40B4-BE49-F238E27FC236}">
                <a16:creationId xmlns:a16="http://schemas.microsoft.com/office/drawing/2014/main" id="{5336934B-CEDD-4013-9662-70F0A0D7FCCE}"/>
              </a:ext>
            </a:extLst>
          </p:cNvPr>
          <p:cNvSpPr>
            <a:spLocks noGrp="1"/>
          </p:cNvSpPr>
          <p:nvPr/>
        </p:nvSpPr>
        <p:spPr>
          <a:xfrm>
            <a:off x="11050981" y="4654296"/>
            <a:ext cx="146304" cy="146304"/>
          </a:xfrm>
          <a:prstGeom prst="rect">
            <a:avLst/>
          </a:prstGeom>
          <a:solidFill>
            <a:srgbClr val="D03B3B"/>
          </a:solidFill>
        </p:spPr>
        <p:txBody>
          <a:bodyPr/>
          <a:lstStyle/>
          <a:p>
            <a:endParaRPr/>
          </a:p>
        </p:txBody>
      </p:sp>
      <p:sp>
        <p:nvSpPr>
          <p:cNvPr id="72" name="Shape 67">
            <a:extLst>
              <a:ext uri="{FF2B5EF4-FFF2-40B4-BE49-F238E27FC236}">
                <a16:creationId xmlns:a16="http://schemas.microsoft.com/office/drawing/2014/main" id="{F45208C6-0F61-4F8F-A3F3-F30A1D9C4547}"/>
              </a:ext>
            </a:extLst>
          </p:cNvPr>
          <p:cNvSpPr>
            <a:spLocks noGrp="1"/>
          </p:cNvSpPr>
          <p:nvPr/>
        </p:nvSpPr>
        <p:spPr>
          <a:xfrm>
            <a:off x="11227460" y="4654296"/>
            <a:ext cx="146304" cy="146304"/>
          </a:xfrm>
          <a:prstGeom prst="rect">
            <a:avLst/>
          </a:prstGeom>
          <a:solidFill>
            <a:srgbClr val="D03B3B"/>
          </a:solidFill>
        </p:spPr>
        <p:txBody>
          <a:bodyPr/>
          <a:lstStyle/>
          <a:p>
            <a:endParaRPr/>
          </a:p>
        </p:txBody>
      </p:sp>
      <p:sp>
        <p:nvSpPr>
          <p:cNvPr id="73" name="Text 68">
            <a:extLst>
              <a:ext uri="{FF2B5EF4-FFF2-40B4-BE49-F238E27FC236}">
                <a16:creationId xmlns:a16="http://schemas.microsoft.com/office/drawing/2014/main" id="{D8AB90BB-A09D-4F93-9691-46DA5709C5CC}"/>
              </a:ext>
            </a:extLst>
          </p:cNvPr>
          <p:cNvSpPr>
            <a:spLocks noGrp="1"/>
          </p:cNvSpPr>
          <p:nvPr/>
        </p:nvSpPr>
        <p:spPr>
          <a:xfrm>
            <a:off x="566928" y="4892040"/>
            <a:ext cx="11055096" cy="274320"/>
          </a:xfrm>
          <a:prstGeom prst="rect">
            <a:avLst/>
          </a:prstGeom>
          <a:noFill/>
        </p:spPr>
        <p:txBody>
          <a:bodyPr wrap="square" lIns="0" tIns="0" rIns="0" bIns="0" anchor="ctr"/>
          <a:lstStyle/>
          <a:p>
            <a:pPr marL="0" indent="0" algn="ctr">
              <a:buNone/>
            </a:pPr>
            <a:r>
              <a:rPr sz="1150" b="1">
                <a:solidFill>
                  <a:srgbClr val="1B2730"/>
                </a:solidFill>
              </a:rPr>
              <a:t>60 evaluation cases traced.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a:ext uri="{FF2B5EF4-FFF2-40B4-BE49-F238E27FC236}">
                <a16:creationId xmlns:a16="http://schemas.microsoft.com/office/drawing/2014/main" id="{869FF651-F0F6-4DE0-92EB-8216EDFB036F}"/>
              </a:ext>
            </a:extLst>
          </p:cNvPr>
          <p:cNvSpPr>
            <a:spLocks noGrp="1"/>
          </p:cNvSpPr>
          <p:nvPr/>
        </p:nvSpPr>
        <p:spPr>
          <a:xfrm>
            <a:off x="566928" y="5257800"/>
            <a:ext cx="11055096" cy="786384"/>
          </a:xfrm>
          <a:prstGeom prst="rect">
            <a:avLst/>
          </a:prstGeom>
          <a:solidFill>
            <a:srgbClr val="24343F"/>
          </a:solidFill>
        </p:spPr>
        <p:txBody>
          <a:bodyPr/>
          <a:lstStyle/>
          <a:p>
            <a:endParaRPr/>
          </a:p>
        </p:txBody>
      </p:sp>
      <p:sp>
        <p:nvSpPr>
          <p:cNvPr id="75" name="Shape 70">
            <a:extLst>
              <a:ext uri="{FF2B5EF4-FFF2-40B4-BE49-F238E27FC236}">
                <a16:creationId xmlns:a16="http://schemas.microsoft.com/office/drawing/2014/main" id="{0F74899D-3559-487C-BA5D-92ED7701500F}"/>
              </a:ext>
            </a:extLst>
          </p:cNvPr>
          <p:cNvSpPr>
            <a:spLocks noGrp="1"/>
          </p:cNvSpPr>
          <p:nvPr/>
        </p:nvSpPr>
        <p:spPr>
          <a:xfrm>
            <a:off x="566928" y="5257800"/>
            <a:ext cx="82296" cy="786384"/>
          </a:xfrm>
          <a:prstGeom prst="rect">
            <a:avLst/>
          </a:prstGeom>
          <a:solidFill>
            <a:srgbClr val="2A78D6"/>
          </a:solidFill>
        </p:spPr>
        <p:txBody>
          <a:bodyPr/>
          <a:lstStyle/>
          <a:p>
            <a:endParaRPr/>
          </a:p>
        </p:txBody>
      </p:sp>
      <p:sp>
        <p:nvSpPr>
          <p:cNvPr id="76" name="Text 71">
            <a:extLst>
              <a:ext uri="{FF2B5EF4-FFF2-40B4-BE49-F238E27FC236}">
                <a16:creationId xmlns:a16="http://schemas.microsoft.com/office/drawing/2014/main" id="{70258F8A-2779-47C7-9B5C-8F2BD7E0C004}"/>
              </a:ext>
            </a:extLst>
          </p:cNvPr>
          <p:cNvSpPr>
            <a:spLocks noGrp="1"/>
          </p:cNvSpPr>
          <p:nvPr/>
        </p:nvSpPr>
        <p:spPr>
          <a:xfrm>
            <a:off x="822960" y="5257800"/>
            <a:ext cx="10597896" cy="786384"/>
          </a:xfrm>
          <a:prstGeom prst="rect">
            <a:avLst/>
          </a:prstGeom>
          <a:noFill/>
        </p:spPr>
        <p:txBody>
          <a:bodyPr wrap="square" lIns="0" tIns="0" rIns="0" bIns="0" anchor="ctr"/>
          <a:lstStyle/>
          <a:p>
            <a:pPr marL="0" indent="0">
              <a:buNone/>
            </a:pPr>
            <a:r>
              <a:rPr sz="1250" b="1">
                <a:solidFill>
                  <a:srgbClr val="FFFFFF"/>
                </a:solidFill>
                <a:latin typeface="Calibri"/>
                <a:ea typeface="Calibri"/>
                <a:cs typeface="Calibri"/>
              </a:rPr>
              <a:t>Demo, not production. Agreement with consumer-selected CFPB labels is 60.5% — not deployment accuracy. The demo never routes autonomously; Phase 1 runs in shadow, with no action on suggestions.</a:t>
            </a:r>
            <a:endParaRPr sz="1250"/>
          </a:p>
        </p:txBody>
      </p:sp>
    </p:spTree>
    <p:extLst>
      <p:ext uri="{BB962C8B-B14F-4D97-AF65-F5344CB8AC3E}">
        <p14:creationId xmlns:p14="http://schemas.microsoft.com/office/powerpoint/2010/main" val="20007823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4F6EC30-101E-47FA-A46A-57164DF36453}"/>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1FB9F7AE-D87E-44B3-9CD9-F439DD77DB6B}"/>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38"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4306E948-E810-4971-A39C-937D6C58383A}"/>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a:ext uri="{FF2B5EF4-FFF2-40B4-BE49-F238E27FC236}">
                <a16:creationId xmlns:a16="http://schemas.microsoft.com/office/drawing/2014/main" id="{65015E29-8689-4D71-9594-DA08FFB7E66E}"/>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7" name="Text 4">
            <a:extLst>
              <a:ext uri="{FF2B5EF4-FFF2-40B4-BE49-F238E27FC236}">
                <a16:creationId xmlns:a16="http://schemas.microsoft.com/office/drawing/2014/main" id="{3719A270-963C-4D59-B2A9-FE8E8005BC40}"/>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Sources: FCA and FOS benchmarks; OpenAI API pricing; project cost model.</a:t>
            </a:r>
            <a:endParaRPr sz="850"/>
          </a:p>
        </p:txBody>
      </p:sp>
      <p:sp>
        <p:nvSpPr>
          <p:cNvPr id="8" name="Text 5">
            <a:extLst>
              <a:ext uri="{FF2B5EF4-FFF2-40B4-BE49-F238E27FC236}">
                <a16:creationId xmlns:a16="http://schemas.microsoft.com/office/drawing/2014/main" id="{9D94E496-3555-441D-B086-BC366EDB841E}"/>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5</a:t>
            </a:r>
            <a:endParaRPr sz="850"/>
          </a:p>
        </p:txBody>
      </p:sp>
      <p:sp>
        <p:nvSpPr>
          <p:cNvPr id="9" name="Shape 6">
            <a:extLst>
              <a:ext uri="{FF2B5EF4-FFF2-40B4-BE49-F238E27FC236}">
                <a16:creationId xmlns:a16="http://schemas.microsoft.com/office/drawing/2014/main" id="{60F47026-7EC9-46BA-99F2-5E8956D0757C}"/>
              </a:ext>
            </a:extLst>
          </p:cNvPr>
          <p:cNvSpPr>
            <a:spLocks noGrp="1"/>
          </p:cNvSpPr>
          <p:nvPr/>
        </p:nvSpPr>
        <p:spPr>
          <a:xfrm>
            <a:off x="566928" y="1481328"/>
            <a:ext cx="8366019" cy="384048"/>
          </a:xfrm>
          <a:prstGeom prst="rect">
            <a:avLst/>
          </a:prstGeom>
          <a:solidFill>
            <a:srgbClr val="24343F"/>
          </a:solidFill>
        </p:spPr>
        <p:txBody>
          <a:bodyPr/>
          <a:lstStyle/>
          <a:p>
            <a:endParaRPr/>
          </a:p>
        </p:txBody>
      </p:sp>
      <p:sp>
        <p:nvSpPr>
          <p:cNvPr id="10" name="Shape 7">
            <a:extLst>
              <a:ext uri="{FF2B5EF4-FFF2-40B4-BE49-F238E27FC236}">
                <a16:creationId xmlns:a16="http://schemas.microsoft.com/office/drawing/2014/main" id="{E685F88B-E64B-4F55-B0E3-B3170A56606E}"/>
              </a:ext>
            </a:extLst>
          </p:cNvPr>
          <p:cNvSpPr>
            <a:spLocks noGrp="1"/>
          </p:cNvSpPr>
          <p:nvPr/>
        </p:nvSpPr>
        <p:spPr>
          <a:xfrm>
            <a:off x="8951235" y="1481328"/>
            <a:ext cx="2670789" cy="384048"/>
          </a:xfrm>
          <a:prstGeom prst="rect">
            <a:avLst/>
          </a:prstGeom>
          <a:solidFill>
            <a:srgbClr val="445A69"/>
          </a:solidFill>
        </p:spPr>
        <p:txBody>
          <a:bodyPr/>
          <a:lstStyle/>
          <a:p>
            <a:endParaRPr/>
          </a:p>
        </p:txBody>
      </p:sp>
      <p:sp>
        <p:nvSpPr>
          <p:cNvPr id="11" name="Shape 8">
            <a:extLst>
              <a:ext uri="{FF2B5EF4-FFF2-40B4-BE49-F238E27FC236}">
                <a16:creationId xmlns:a16="http://schemas.microsoft.com/office/drawing/2014/main" id="{50C3C242-2765-4455-8EFE-2109BB94ADEC}"/>
              </a:ext>
            </a:extLst>
          </p:cNvPr>
          <p:cNvSpPr>
            <a:spLocks noGrp="1"/>
          </p:cNvSpPr>
          <p:nvPr/>
        </p:nvSpPr>
        <p:spPr>
          <a:xfrm>
            <a:off x="11585448" y="1481328"/>
            <a:ext cx="36576" cy="384048"/>
          </a:xfrm>
          <a:prstGeom prst="rect">
            <a:avLst/>
          </a:prstGeom>
          <a:solidFill>
            <a:srgbClr val="2A78D6"/>
          </a:solidFill>
        </p:spPr>
        <p:txBody>
          <a:bodyPr/>
          <a:lstStyle/>
          <a:p>
            <a:endParaRPr/>
          </a:p>
        </p:txBody>
      </p:sp>
      <p:sp>
        <p:nvSpPr>
          <p:cNvPr id="12" name="Text 9">
            <a:extLst>
              <a:ext uri="{FF2B5EF4-FFF2-40B4-BE49-F238E27FC236}">
                <a16:creationId xmlns:a16="http://schemas.microsoft.com/office/drawing/2014/main" id="{8459EB48-9F6C-4FD0-8758-3BBD994E446F}"/>
              </a:ext>
            </a:extLst>
          </p:cNvPr>
          <p:cNvSpPr>
            <a:spLocks noGrp="1"/>
          </p:cNvSpPr>
          <p:nvPr/>
        </p:nvSpPr>
        <p:spPr>
          <a:xfrm>
            <a:off x="694944" y="1481328"/>
            <a:ext cx="8091699" cy="384048"/>
          </a:xfrm>
          <a:prstGeom prst="rect">
            <a:avLst/>
          </a:prstGeom>
          <a:noFill/>
        </p:spPr>
        <p:txBody>
          <a:bodyPr wrap="square" lIns="0" tIns="0" rIns="0" bIns="0" anchor="ctr"/>
          <a:lstStyle/>
          <a:p>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a:ext uri="{FF2B5EF4-FFF2-40B4-BE49-F238E27FC236}">
                <a16:creationId xmlns:a16="http://schemas.microsoft.com/office/drawing/2014/main" id="{D6C416C7-5DB8-4592-A6A1-FE4D32812CF8}"/>
              </a:ext>
            </a:extLst>
          </p:cNvPr>
          <p:cNvSpPr>
            <a:spLocks noGrp="1"/>
          </p:cNvSpPr>
          <p:nvPr/>
        </p:nvSpPr>
        <p:spPr>
          <a:xfrm>
            <a:off x="9060963" y="1481328"/>
            <a:ext cx="2414757" cy="384048"/>
          </a:xfrm>
          <a:prstGeom prst="rect">
            <a:avLst/>
          </a:prstGeom>
          <a:noFill/>
        </p:spPr>
        <p:txBody>
          <a:bodyPr wrap="square" lIns="0" tIns="0" rIns="0" bIns="0" anchor="ctr"/>
          <a:lstStyle/>
          <a:p>
            <a:pPr marL="0" indent="0">
              <a:buNone/>
            </a:pPr>
            <a:r>
              <a:rPr sz="1150">
                <a:solidFill>
                  <a:srgbClr val="FFFFFF"/>
                </a:solidFill>
                <a:latin typeface="Calibri"/>
                <a:ea typeface="Calibri"/>
                <a:cs typeface="Calibri"/>
              </a:rPr>
              <a:t>Platform: €150/mo × 12 — €1,800</a:t>
            </a:r>
            <a:endParaRPr sz="1150"/>
          </a:p>
        </p:txBody>
      </p:sp>
      <p:sp>
        <p:nvSpPr>
          <p:cNvPr id="14" name="Text 11">
            <a:extLst>
              <a:ext uri="{FF2B5EF4-FFF2-40B4-BE49-F238E27FC236}">
                <a16:creationId xmlns:a16="http://schemas.microsoft.com/office/drawing/2014/main" id="{F0A67452-783C-4FF6-B450-7FB6CDE842ED}"/>
              </a:ext>
            </a:extLst>
          </p:cNvPr>
          <p:cNvSpPr>
            <a:spLocks noGrp="1"/>
          </p:cNvSpPr>
          <p:nvPr/>
        </p:nvSpPr>
        <p:spPr>
          <a:xfrm>
            <a:off x="566928" y="1911096"/>
            <a:ext cx="8311896" cy="237744"/>
          </a:xfrm>
          <a:prstGeom prst="rect">
            <a:avLst/>
          </a:prstGeom>
          <a:noFill/>
        </p:spPr>
        <p:txBody>
          <a:bodyPr wrap="square" lIns="0" tIns="0" rIns="0" bIns="0" anchor="ctr"/>
          <a:lstStyle/>
          <a:p>
            <a:pPr marL="0" indent="0">
              <a:buNone/>
            </a:pPr>
            <a:r>
              <a:rPr sz="1100">
                <a:solidFill>
                  <a:srgbClr val="6B7C88"/>
                </a:solidFill>
                <a:latin typeface="Calibri"/>
                <a:ea typeface="Calibri"/>
                <a:cs typeface="Calibri"/>
              </a:rPr>
              <a:t>Estimated annual operating cost: €7,400</a:t>
            </a:r>
            <a:endParaRPr sz="1100"/>
          </a:p>
        </p:txBody>
      </p:sp>
      <p:sp>
        <p:nvSpPr>
          <p:cNvPr id="15" name="Text 12">
            <a:extLst>
              <a:ext uri="{FF2B5EF4-FFF2-40B4-BE49-F238E27FC236}">
                <a16:creationId xmlns:a16="http://schemas.microsoft.com/office/drawing/2014/main" id="{606BC34A-E1DB-4A56-B847-325406B03E3D}"/>
              </a:ext>
            </a:extLst>
          </p:cNvPr>
          <p:cNvSpPr>
            <a:spLocks noGrp="1"/>
          </p:cNvSpPr>
          <p:nvPr/>
        </p:nvSpPr>
        <p:spPr>
          <a:xfrm>
            <a:off x="8878824" y="1911096"/>
            <a:ext cx="2743200" cy="237744"/>
          </a:xfrm>
          <a:prstGeom prst="rect">
            <a:avLst/>
          </a:prstGeom>
          <a:noFill/>
        </p:spPr>
        <p:txBody>
          <a:bodyPr wrap="square" lIns="0" tIns="0" rIns="0" bIns="0" anchor="ctr"/>
          <a:lstStyle/>
          <a:p>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a:ext uri="{FF2B5EF4-FFF2-40B4-BE49-F238E27FC236}">
                <a16:creationId xmlns:a16="http://schemas.microsoft.com/office/drawing/2014/main" id="{0FD0DE44-C518-4F5B-8C89-226237237606}"/>
              </a:ext>
            </a:extLst>
          </p:cNvPr>
          <p:cNvSpPr>
            <a:spLocks noGrp="1"/>
          </p:cNvSpPr>
          <p:nvPr/>
        </p:nvSpPr>
        <p:spPr>
          <a:xfrm>
            <a:off x="2348484" y="2706624"/>
            <a:ext cx="7491984" cy="0"/>
          </a:xfrm>
          <a:prstGeom prst="line">
            <a:avLst/>
          </a:prstGeom>
          <a:noFill/>
          <a:ln w="25400">
            <a:solidFill>
              <a:srgbClr val="C6D8E4"/>
            </a:solidFill>
            <a:prstDash val="solid"/>
          </a:ln>
        </p:spPr>
        <p:txBody>
          <a:bodyPr/>
          <a:lstStyle/>
          <a:p>
            <a:endParaRPr/>
          </a:p>
        </p:txBody>
      </p:sp>
      <p:sp>
        <p:nvSpPr>
          <p:cNvPr id="17" name="Shape 14">
            <a:extLst>
              <a:ext uri="{FF2B5EF4-FFF2-40B4-BE49-F238E27FC236}">
                <a16:creationId xmlns:a16="http://schemas.microsoft.com/office/drawing/2014/main" id="{12022737-A19C-4289-B261-EC2CA9B03BEC}"/>
              </a:ext>
            </a:extLst>
          </p:cNvPr>
          <p:cNvSpPr>
            <a:spLocks noGrp="1"/>
          </p:cNvSpPr>
          <p:nvPr/>
        </p:nvSpPr>
        <p:spPr>
          <a:xfrm>
            <a:off x="1964436" y="2322576"/>
            <a:ext cx="768096" cy="768096"/>
          </a:xfrm>
          <a:prstGeom prst="ellipse">
            <a:avLst/>
          </a:prstGeom>
          <a:solidFill>
            <a:srgbClr val="2A78D6"/>
          </a:solidFill>
          <a:ln w="31750">
            <a:solidFill>
              <a:srgbClr val="FFFFFF"/>
            </a:solidFill>
            <a:prstDash val="solid"/>
          </a:ln>
        </p:spPr>
        <p:txBody>
          <a:bodyPr/>
          <a:lstStyle/>
          <a:p>
            <a:endParaRPr/>
          </a:p>
        </p:txBody>
      </p:sp>
      <p:sp>
        <p:nvSpPr>
          <p:cNvPr id="18" name="Text 15">
            <a:extLst>
              <a:ext uri="{FF2B5EF4-FFF2-40B4-BE49-F238E27FC236}">
                <a16:creationId xmlns:a16="http://schemas.microsoft.com/office/drawing/2014/main" id="{C29F8128-F997-4DED-BBBE-435C557B342A}"/>
              </a:ext>
            </a:extLst>
          </p:cNvPr>
          <p:cNvSpPr>
            <a:spLocks noGrp="1"/>
          </p:cNvSpPr>
          <p:nvPr/>
        </p:nvSpPr>
        <p:spPr>
          <a:xfrm>
            <a:off x="1964436" y="2322576"/>
            <a:ext cx="768096" cy="768096"/>
          </a:xfrm>
          <a:prstGeom prst="rect">
            <a:avLst/>
          </a:prstGeom>
          <a:noFill/>
        </p:spPr>
        <p:txBody>
          <a:bodyPr wrap="square" lIns="0" tIns="0" rIns="0" bIns="0" anchor="ctr"/>
          <a:lstStyle/>
          <a:p>
            <a:pPr marL="0" indent="0" algn="ctr">
              <a:buNone/>
            </a:pPr>
            <a:r>
              <a:rPr sz="2200" b="1">
                <a:solidFill>
                  <a:srgbClr val="1D2A32"/>
                </a:solidFill>
                <a:latin typeface="Trebuchet MS"/>
                <a:ea typeface="Trebuchet MS"/>
                <a:cs typeface="Trebuchet MS"/>
              </a:rPr>
              <a:t>0</a:t>
            </a:r>
            <a:endParaRPr sz="2200"/>
          </a:p>
        </p:txBody>
      </p:sp>
      <p:sp>
        <p:nvSpPr>
          <p:cNvPr id="19" name="Shape 16">
            <a:extLst>
              <a:ext uri="{FF2B5EF4-FFF2-40B4-BE49-F238E27FC236}">
                <a16:creationId xmlns:a16="http://schemas.microsoft.com/office/drawing/2014/main" id="{8BF017AC-A1BD-427B-A765-E5BCE66359AC}"/>
              </a:ext>
            </a:extLst>
          </p:cNvPr>
          <p:cNvSpPr>
            <a:spLocks noGrp="1"/>
          </p:cNvSpPr>
          <p:nvPr/>
        </p:nvSpPr>
        <p:spPr>
          <a:xfrm>
            <a:off x="566928" y="3282696"/>
            <a:ext cx="3563112" cy="114300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20" name="Text 17">
            <a:extLst>
              <a:ext uri="{FF2B5EF4-FFF2-40B4-BE49-F238E27FC236}">
                <a16:creationId xmlns:a16="http://schemas.microsoft.com/office/drawing/2014/main" id="{EA145BB3-D7D4-4AEC-87FA-AF2596017136}"/>
              </a:ext>
            </a:extLst>
          </p:cNvPr>
          <p:cNvSpPr>
            <a:spLocks noGrp="1"/>
          </p:cNvSpPr>
          <p:nvPr/>
        </p:nvSpPr>
        <p:spPr>
          <a:xfrm>
            <a:off x="658368" y="3392424"/>
            <a:ext cx="3380232" cy="640080"/>
          </a:xfrm>
          <a:prstGeom prst="rect">
            <a:avLst/>
          </a:prstGeom>
          <a:noFill/>
        </p:spPr>
        <p:txBody>
          <a:bodyPr wrap="square" lIns="0" tIns="0" rIns="0" bIns="0" anchor="t"/>
          <a:lstStyle/>
          <a:p>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a:ext uri="{FF2B5EF4-FFF2-40B4-BE49-F238E27FC236}">
                <a16:creationId xmlns:a16="http://schemas.microsoft.com/office/drawing/2014/main" id="{86F1E770-C12B-4487-A584-026A2F1AF330}"/>
              </a:ext>
            </a:extLst>
          </p:cNvPr>
          <p:cNvSpPr>
            <a:spLocks noGrp="1"/>
          </p:cNvSpPr>
          <p:nvPr/>
        </p:nvSpPr>
        <p:spPr>
          <a:xfrm>
            <a:off x="676656" y="3886200"/>
            <a:ext cx="3343656" cy="502920"/>
          </a:xfrm>
          <a:prstGeom prst="rect">
            <a:avLst/>
          </a:prstGeom>
          <a:noFill/>
        </p:spPr>
        <p:txBody>
          <a:bodyPr wrap="square" lIns="0" tIns="0" rIns="0" bIns="0" anchor="t"/>
          <a:lstStyle/>
          <a:p>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a:ext uri="{FF2B5EF4-FFF2-40B4-BE49-F238E27FC236}">
                <a16:creationId xmlns:a16="http://schemas.microsoft.com/office/drawing/2014/main" id="{16B47120-2190-47F8-A104-0117C32B9298}"/>
              </a:ext>
            </a:extLst>
          </p:cNvPr>
          <p:cNvSpPr>
            <a:spLocks noGrp="1"/>
          </p:cNvSpPr>
          <p:nvPr/>
        </p:nvSpPr>
        <p:spPr>
          <a:xfrm>
            <a:off x="5710428" y="2322576"/>
            <a:ext cx="768096" cy="768096"/>
          </a:xfrm>
          <a:prstGeom prst="ellipse">
            <a:avLst/>
          </a:prstGeom>
          <a:solidFill>
            <a:srgbClr val="24343F"/>
          </a:solidFill>
          <a:ln w="31750">
            <a:solidFill>
              <a:srgbClr val="FFFFFF"/>
            </a:solidFill>
            <a:prstDash val="solid"/>
          </a:ln>
        </p:spPr>
        <p:txBody>
          <a:bodyPr/>
          <a:lstStyle/>
          <a:p>
            <a:endParaRPr/>
          </a:p>
        </p:txBody>
      </p:sp>
      <p:sp>
        <p:nvSpPr>
          <p:cNvPr id="23" name="Text 20">
            <a:extLst>
              <a:ext uri="{FF2B5EF4-FFF2-40B4-BE49-F238E27FC236}">
                <a16:creationId xmlns:a16="http://schemas.microsoft.com/office/drawing/2014/main" id="{D9F928DB-DC03-4741-A785-B7839D46875C}"/>
              </a:ext>
            </a:extLst>
          </p:cNvPr>
          <p:cNvSpPr>
            <a:spLocks noGrp="1"/>
          </p:cNvSpPr>
          <p:nvPr/>
        </p:nvSpPr>
        <p:spPr>
          <a:xfrm>
            <a:off x="5710428" y="2322576"/>
            <a:ext cx="768096" cy="768096"/>
          </a:xfrm>
          <a:prstGeom prst="rect">
            <a:avLst/>
          </a:prstGeom>
          <a:noFill/>
        </p:spPr>
        <p:txBody>
          <a:bodyPr wrap="square" lIns="0" tIns="0" rIns="0" bIns="0" anchor="ctr"/>
          <a:lstStyle/>
          <a:p>
            <a:pPr marL="0" indent="0" algn="ctr">
              <a:buNone/>
            </a:pPr>
            <a:r>
              <a:rPr sz="2200" b="1">
                <a:solidFill>
                  <a:srgbClr val="FFFFFF"/>
                </a:solidFill>
                <a:latin typeface="Trebuchet MS"/>
                <a:ea typeface="Trebuchet MS"/>
                <a:cs typeface="Trebuchet MS"/>
              </a:rPr>
              <a:t>1</a:t>
            </a:r>
            <a:endParaRPr sz="2200"/>
          </a:p>
        </p:txBody>
      </p:sp>
      <p:sp>
        <p:nvSpPr>
          <p:cNvPr id="24" name="Shape 21">
            <a:extLst>
              <a:ext uri="{FF2B5EF4-FFF2-40B4-BE49-F238E27FC236}">
                <a16:creationId xmlns:a16="http://schemas.microsoft.com/office/drawing/2014/main" id="{548D5236-3B93-4279-82E8-742805121966}"/>
              </a:ext>
            </a:extLst>
          </p:cNvPr>
          <p:cNvSpPr>
            <a:spLocks noGrp="1"/>
          </p:cNvSpPr>
          <p:nvPr/>
        </p:nvSpPr>
        <p:spPr>
          <a:xfrm>
            <a:off x="4312920" y="3282696"/>
            <a:ext cx="3563112" cy="114300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25" name="Text 22">
            <a:extLst>
              <a:ext uri="{FF2B5EF4-FFF2-40B4-BE49-F238E27FC236}">
                <a16:creationId xmlns:a16="http://schemas.microsoft.com/office/drawing/2014/main" id="{43286AD2-5856-4D4F-B01E-06B2BA8C3487}"/>
              </a:ext>
            </a:extLst>
          </p:cNvPr>
          <p:cNvSpPr>
            <a:spLocks noGrp="1"/>
          </p:cNvSpPr>
          <p:nvPr/>
        </p:nvSpPr>
        <p:spPr>
          <a:xfrm>
            <a:off x="4404360" y="3392424"/>
            <a:ext cx="3380232" cy="640080"/>
          </a:xfrm>
          <a:prstGeom prst="rect">
            <a:avLst/>
          </a:prstGeom>
          <a:noFill/>
        </p:spPr>
        <p:txBody>
          <a:bodyPr wrap="square" lIns="0" tIns="0" rIns="0" bIns="0" anchor="t"/>
          <a:lstStyle/>
          <a:p>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a:ext uri="{FF2B5EF4-FFF2-40B4-BE49-F238E27FC236}">
                <a16:creationId xmlns:a16="http://schemas.microsoft.com/office/drawing/2014/main" id="{5B90008F-7F9C-421E-A05C-C57CABCA1448}"/>
              </a:ext>
            </a:extLst>
          </p:cNvPr>
          <p:cNvSpPr>
            <a:spLocks noGrp="1"/>
          </p:cNvSpPr>
          <p:nvPr/>
        </p:nvSpPr>
        <p:spPr>
          <a:xfrm>
            <a:off x="4422648" y="3886200"/>
            <a:ext cx="3343656" cy="502920"/>
          </a:xfrm>
          <a:prstGeom prst="rect">
            <a:avLst/>
          </a:prstGeom>
          <a:noFill/>
        </p:spPr>
        <p:txBody>
          <a:bodyPr wrap="square" lIns="0" tIns="0" rIns="0" bIns="0" anchor="t"/>
          <a:lstStyle/>
          <a:p>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a:ext uri="{FF2B5EF4-FFF2-40B4-BE49-F238E27FC236}">
                <a16:creationId xmlns:a16="http://schemas.microsoft.com/office/drawing/2014/main" id="{80F3F7B1-83B0-4F0A-A66F-7161369B0D1B}"/>
              </a:ext>
            </a:extLst>
          </p:cNvPr>
          <p:cNvSpPr>
            <a:spLocks noGrp="1"/>
          </p:cNvSpPr>
          <p:nvPr/>
        </p:nvSpPr>
        <p:spPr>
          <a:xfrm>
            <a:off x="9456420" y="2322576"/>
            <a:ext cx="768096" cy="768096"/>
          </a:xfrm>
          <a:prstGeom prst="ellipse">
            <a:avLst/>
          </a:prstGeom>
          <a:solidFill>
            <a:srgbClr val="24343F"/>
          </a:solidFill>
          <a:ln w="31750">
            <a:solidFill>
              <a:srgbClr val="FFFFFF"/>
            </a:solidFill>
            <a:prstDash val="solid"/>
          </a:ln>
        </p:spPr>
        <p:txBody>
          <a:bodyPr/>
          <a:lstStyle/>
          <a:p>
            <a:endParaRPr/>
          </a:p>
        </p:txBody>
      </p:sp>
      <p:sp>
        <p:nvSpPr>
          <p:cNvPr id="28" name="Text 25">
            <a:extLst>
              <a:ext uri="{FF2B5EF4-FFF2-40B4-BE49-F238E27FC236}">
                <a16:creationId xmlns:a16="http://schemas.microsoft.com/office/drawing/2014/main" id="{0A52C065-146D-46AC-8FDA-695FDB41C646}"/>
              </a:ext>
            </a:extLst>
          </p:cNvPr>
          <p:cNvSpPr>
            <a:spLocks noGrp="1"/>
          </p:cNvSpPr>
          <p:nvPr/>
        </p:nvSpPr>
        <p:spPr>
          <a:xfrm>
            <a:off x="9456420" y="2322576"/>
            <a:ext cx="768096" cy="768096"/>
          </a:xfrm>
          <a:prstGeom prst="rect">
            <a:avLst/>
          </a:prstGeom>
          <a:noFill/>
        </p:spPr>
        <p:txBody>
          <a:bodyPr wrap="square" lIns="0" tIns="0" rIns="0" bIns="0" anchor="ctr"/>
          <a:lstStyle/>
          <a:p>
            <a:pPr marL="0" indent="0" algn="ctr">
              <a:buNone/>
            </a:pPr>
            <a:r>
              <a:rPr sz="2200" b="1">
                <a:solidFill>
                  <a:srgbClr val="FFFFFF"/>
                </a:solidFill>
                <a:latin typeface="Trebuchet MS"/>
                <a:ea typeface="Trebuchet MS"/>
                <a:cs typeface="Trebuchet MS"/>
              </a:rPr>
              <a:t>2</a:t>
            </a:r>
            <a:endParaRPr sz="2200"/>
          </a:p>
        </p:txBody>
      </p:sp>
      <p:sp>
        <p:nvSpPr>
          <p:cNvPr id="29" name="Shape 26">
            <a:extLst>
              <a:ext uri="{FF2B5EF4-FFF2-40B4-BE49-F238E27FC236}">
                <a16:creationId xmlns:a16="http://schemas.microsoft.com/office/drawing/2014/main" id="{E16ED97C-CE91-4A9D-9F7C-CC09FA1FE67A}"/>
              </a:ext>
            </a:extLst>
          </p:cNvPr>
          <p:cNvSpPr>
            <a:spLocks noGrp="1"/>
          </p:cNvSpPr>
          <p:nvPr/>
        </p:nvSpPr>
        <p:spPr>
          <a:xfrm>
            <a:off x="8058912" y="3282696"/>
            <a:ext cx="3563112" cy="114300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30" name="Text 27">
            <a:extLst>
              <a:ext uri="{FF2B5EF4-FFF2-40B4-BE49-F238E27FC236}">
                <a16:creationId xmlns:a16="http://schemas.microsoft.com/office/drawing/2014/main" id="{79A95893-7611-462B-B5A0-3964A771BF0D}"/>
              </a:ext>
            </a:extLst>
          </p:cNvPr>
          <p:cNvSpPr>
            <a:spLocks noGrp="1"/>
          </p:cNvSpPr>
          <p:nvPr/>
        </p:nvSpPr>
        <p:spPr>
          <a:xfrm>
            <a:off x="8150352" y="3392424"/>
            <a:ext cx="3380232" cy="640080"/>
          </a:xfrm>
          <a:prstGeom prst="rect">
            <a:avLst/>
          </a:prstGeom>
          <a:noFill/>
        </p:spPr>
        <p:txBody>
          <a:bodyPr wrap="square" lIns="0" tIns="0" rIns="0" bIns="0" anchor="t"/>
          <a:lstStyle/>
          <a:p>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a:ext uri="{FF2B5EF4-FFF2-40B4-BE49-F238E27FC236}">
                <a16:creationId xmlns:a16="http://schemas.microsoft.com/office/drawing/2014/main" id="{FE0D5EB4-4A9A-44DD-9CFF-8A75088ACDD2}"/>
              </a:ext>
            </a:extLst>
          </p:cNvPr>
          <p:cNvSpPr>
            <a:spLocks noGrp="1"/>
          </p:cNvSpPr>
          <p:nvPr/>
        </p:nvSpPr>
        <p:spPr>
          <a:xfrm>
            <a:off x="8168640" y="3886200"/>
            <a:ext cx="3343656" cy="502920"/>
          </a:xfrm>
          <a:prstGeom prst="rect">
            <a:avLst/>
          </a:prstGeom>
          <a:noFill/>
        </p:spPr>
        <p:txBody>
          <a:bodyPr wrap="square" lIns="0" tIns="0" rIns="0" bIns="0" anchor="t"/>
          <a:lstStyle/>
          <a:p>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a:ext uri="{FF2B5EF4-FFF2-40B4-BE49-F238E27FC236}">
                <a16:creationId xmlns:a16="http://schemas.microsoft.com/office/drawing/2014/main" id="{20341403-1763-498D-AA95-5AF09CCE5909}"/>
              </a:ext>
            </a:extLst>
          </p:cNvPr>
          <p:cNvSpPr>
            <a:spLocks noGrp="1"/>
          </p:cNvSpPr>
          <p:nvPr/>
        </p:nvSpPr>
        <p:spPr>
          <a:xfrm>
            <a:off x="566928" y="4608576"/>
            <a:ext cx="11055096" cy="822960"/>
          </a:xfrm>
          <a:prstGeom prst="rect">
            <a:avLst/>
          </a:prstGeom>
          <a:solidFill>
            <a:srgbClr val="EFF5F9"/>
          </a:solidFill>
        </p:spPr>
        <p:txBody>
          <a:bodyPr/>
          <a:lstStyle/>
          <a:p>
            <a:endParaRPr/>
          </a:p>
        </p:txBody>
      </p:sp>
      <p:sp>
        <p:nvSpPr>
          <p:cNvPr id="33" name="Shape 30">
            <a:extLst>
              <a:ext uri="{FF2B5EF4-FFF2-40B4-BE49-F238E27FC236}">
                <a16:creationId xmlns:a16="http://schemas.microsoft.com/office/drawing/2014/main" id="{3B07E184-69BB-404E-A798-8D8804A7B8A6}"/>
              </a:ext>
            </a:extLst>
          </p:cNvPr>
          <p:cNvSpPr>
            <a:spLocks noGrp="1"/>
          </p:cNvSpPr>
          <p:nvPr/>
        </p:nvSpPr>
        <p:spPr>
          <a:xfrm>
            <a:off x="566928" y="4608576"/>
            <a:ext cx="82296" cy="822960"/>
          </a:xfrm>
          <a:prstGeom prst="rect">
            <a:avLst/>
          </a:prstGeom>
          <a:solidFill>
            <a:srgbClr val="2A78D6"/>
          </a:solidFill>
        </p:spPr>
        <p:txBody>
          <a:bodyPr/>
          <a:lstStyle/>
          <a:p>
            <a:endParaRPr/>
          </a:p>
        </p:txBody>
      </p:sp>
      <p:sp>
        <p:nvSpPr>
          <p:cNvPr id="34" name="Text 31">
            <a:extLst>
              <a:ext uri="{FF2B5EF4-FFF2-40B4-BE49-F238E27FC236}">
                <a16:creationId xmlns:a16="http://schemas.microsoft.com/office/drawing/2014/main" id="{3014F814-BD2B-4C8B-94AD-02AC8EF19D3D}"/>
              </a:ext>
            </a:extLst>
          </p:cNvPr>
          <p:cNvSpPr>
            <a:spLocks noGrp="1"/>
          </p:cNvSpPr>
          <p:nvPr/>
        </p:nvSpPr>
        <p:spPr>
          <a:xfrm>
            <a:off x="822960" y="4608576"/>
            <a:ext cx="10597896" cy="822960"/>
          </a:xfrm>
          <a:prstGeom prst="rect">
            <a:avLst/>
          </a:prstGeom>
          <a:noFill/>
        </p:spPr>
        <p:txBody>
          <a:bodyPr wrap="square" lIns="0" tIns="0" rIns="0" bIns="0" anchor="ctr"/>
          <a:lstStyle/>
          <a:p>
            <a:pPr marL="0" indent="0">
              <a:buNone/>
            </a:pPr>
            <a:r>
              <a:rPr sz="1250" b="1">
                <a:solidFill>
                  <a:srgbClr val="000000"/>
                </a:solidFill>
                <a:latin typeface="Calibri"/>
                <a:ea typeface="Calibri"/>
                <a:cs typeface="Calibri"/>
              </a:rPr>
              <a:t>2 assumptions: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D2A32"/>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BDC73FA7-6DFB-4FB1-876B-7CA6DD0B2A1C}"/>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71FA25FA-CA35-4D06-9DAE-47BFB0D376B1}"/>
              </a:ext>
            </a:extLst>
          </p:cNvPr>
          <p:cNvSpPr>
            <a:spLocks noGrp="1"/>
          </p:cNvSpPr>
          <p:nvPr/>
        </p:nvSpPr>
        <p:spPr>
          <a:xfrm>
            <a:off x="566928" y="658368"/>
            <a:ext cx="566928" cy="566928"/>
          </a:xfrm>
          <a:prstGeom prst="ellipse">
            <a:avLst/>
          </a:prstGeom>
          <a:solidFill>
            <a:srgbClr val="24343F"/>
          </a:solidFill>
        </p:spPr>
        <p:txBody>
          <a:bodyPr/>
          <a:lstStyle/>
          <a:p>
            <a:endParaRPr/>
          </a:p>
        </p:txBody>
      </p:sp>
      <p:sp>
        <p:nvSpPr>
          <p:cNvPr id="5" name="Text 2">
            <a:extLst>
              <a:ext uri="{FF2B5EF4-FFF2-40B4-BE49-F238E27FC236}">
                <a16:creationId xmlns:a16="http://schemas.microsoft.com/office/drawing/2014/main" id="{A95F2334-AAF2-47D1-9C0B-857186294923}"/>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FFFFFF"/>
                </a:solidFill>
                <a:latin typeface="Trebuchet MS"/>
                <a:ea typeface="Trebuchet MS"/>
                <a:cs typeface="Trebuchet MS"/>
              </a:rPr>
              <a:t>Supporting evidence</a:t>
            </a:r>
            <a:endParaRPr sz="3000"/>
          </a:p>
        </p:txBody>
      </p:sp>
      <p:sp>
        <p:nvSpPr>
          <p:cNvPr id="6" name="Text 3">
            <a:extLst>
              <a:ext uri="{FF2B5EF4-FFF2-40B4-BE49-F238E27FC236}">
                <a16:creationId xmlns:a16="http://schemas.microsoft.com/office/drawing/2014/main" id="{57A5854E-2043-488B-9A65-0E76F55DF615}"/>
              </a:ext>
            </a:extLst>
          </p:cNvPr>
          <p:cNvSpPr>
            <a:spLocks noGrp="1"/>
          </p:cNvSpPr>
          <p:nvPr/>
        </p:nvSpPr>
        <p:spPr>
          <a:xfrm>
            <a:off x="566928" y="2057400"/>
            <a:ext cx="9507383" cy="1737360"/>
          </a:xfrm>
          <a:prstGeom prst="rect">
            <a:avLst/>
          </a:prstGeom>
          <a:noFill/>
        </p:spPr>
        <p:txBody>
          <a:bodyPr wrap="square" anchor="t"/>
          <a:lstStyle/>
          <a:p>
            <a:pPr marL="0" indent="0">
              <a:buNone/>
            </a:pPr>
            <a:r>
              <a:rPr sz="1700">
                <a:solidFill>
                  <a:srgbClr val="FFFFFF"/>
                </a:solidFill>
              </a:rPr>
              <a:t>Appendix for questions and discussion
</a:t>
            </a:r>
            <a:endParaRPr sz="1700"/>
          </a:p>
        </p:txBody>
      </p:sp>
      <p:pic>
        <p:nvPicPr>
          <p:cNvPr id="11" name="Picture 10" descr="image.png"/>
          <p:cNvPicPr>
            <a:picLocks noChangeAspect="1"/>
          </p:cNvPicPr>
          <p:nvPr/>
        </p:nvPicPr>
        <p:blipFill>
          <a:blip r:embed="rId3"/>
          <a:stretch>
            <a:fillRect/>
          </a:stretch>
        </p:blipFill>
        <p:spPr>
          <a:xfrm>
            <a:off x="708660" y="800100"/>
            <a:ext cx="283464" cy="283464"/>
          </a:xfrm>
          <a:prstGeom prst="rect">
            <a:avLst/>
          </a:prstGeom>
        </p:spPr>
      </p:pic>
    </p:spTree>
    <p:extLst>
      <p:ext uri="{BB962C8B-B14F-4D97-AF65-F5344CB8AC3E}">
        <p14:creationId xmlns:p14="http://schemas.microsoft.com/office/powerpoint/2010/main" val="6926595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44DCCB9-B7E3-4EAF-AA3D-4FB12FA69E74}"/>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AEC7D5AE-DE1E-403B-81E4-AC497F1FCA26}"/>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23"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67E72BE8-F43E-4D24-B2A6-03F66B693385}"/>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a:ext uri="{FF2B5EF4-FFF2-40B4-BE49-F238E27FC236}">
                <a16:creationId xmlns:a16="http://schemas.microsoft.com/office/drawing/2014/main" id="{DD8CF70A-DAD5-4F1B-BB3E-BAB070F24627}"/>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8DC3CAC0-1162-4626-AC26-60AE6697F260}"/>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46A1C3F7-6930-499C-B2FC-D74A3B6AC6EA}"/>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a:ext uri="{FF2B5EF4-FFF2-40B4-BE49-F238E27FC236}">
                <a16:creationId xmlns:a16="http://schemas.microsoft.com/office/drawing/2014/main" id="{E8F65825-3BBD-4C9F-A8C0-78078D1DFAD5}"/>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C098D8A9-E267-4F44-B0C0-65067944E2B7}"/>
              </a:ext>
            </a:extLst>
          </p:cNvPr>
          <p:cNvSpPr>
            <a:spLocks noGrp="1"/>
          </p:cNvSpPr>
          <p:nvPr/>
        </p:nvSpPr>
        <p:spPr>
          <a:xfrm>
            <a:off x="566928" y="6473952"/>
            <a:ext cx="7315200" cy="274320"/>
          </a:xfrm>
          <a:prstGeom prst="rect">
            <a:avLst/>
          </a:prstGeom>
          <a:noFill/>
        </p:spPr>
        <p:txBody>
          <a:bodyPr wrap="square" lIns="0" tIns="0" rIns="0" bIns="0" anchor="ctr"/>
          <a:lstStyle/>
          <a:p>
            <a:pPr marL="0" indent="0">
              <a:buNone/>
            </a:pPr>
            <a:endParaRPr sz="850"/>
          </a:p>
        </p:txBody>
      </p:sp>
      <p:sp>
        <p:nvSpPr>
          <p:cNvPr id="11" name="Text 8">
            <a:extLst>
              <a:ext uri="{FF2B5EF4-FFF2-40B4-BE49-F238E27FC236}">
                <a16:creationId xmlns:a16="http://schemas.microsoft.com/office/drawing/2014/main" id="{EBBAC08B-6BB5-423F-AEB2-7C6CD21570CF}"/>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6</a:t>
            </a:r>
            <a:endParaRPr sz="850"/>
          </a:p>
        </p:txBody>
      </p:sp>
      <p:sp>
        <p:nvSpPr>
          <p:cNvPr id="12" name="Shape 9">
            <a:extLst>
              <a:ext uri="{FF2B5EF4-FFF2-40B4-BE49-F238E27FC236}">
                <a16:creationId xmlns:a16="http://schemas.microsoft.com/office/drawing/2014/main" id="{EA77C709-AB30-43DB-B5F3-71FADAA7BAF4}"/>
              </a:ext>
            </a:extLst>
          </p:cNvPr>
          <p:cNvSpPr>
            <a:spLocks noGrp="1"/>
          </p:cNvSpPr>
          <p:nvPr/>
        </p:nvSpPr>
        <p:spPr>
          <a:xfrm>
            <a:off x="566928" y="2395728"/>
            <a:ext cx="5390388" cy="178308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3" name="Shape 10">
            <a:extLst>
              <a:ext uri="{FF2B5EF4-FFF2-40B4-BE49-F238E27FC236}">
                <a16:creationId xmlns:a16="http://schemas.microsoft.com/office/drawing/2014/main" id="{004AF0A0-CB9C-4BB0-81F1-ECFDA81B9531}"/>
              </a:ext>
            </a:extLst>
          </p:cNvPr>
          <p:cNvSpPr>
            <a:spLocks noGrp="1"/>
          </p:cNvSpPr>
          <p:nvPr/>
        </p:nvSpPr>
        <p:spPr>
          <a:xfrm>
            <a:off x="566928" y="2395728"/>
            <a:ext cx="5390388" cy="457200"/>
          </a:xfrm>
          <a:prstGeom prst="rect">
            <a:avLst/>
          </a:prstGeom>
          <a:solidFill>
            <a:srgbClr val="24343F"/>
          </a:solidFill>
        </p:spPr>
        <p:txBody>
          <a:bodyPr/>
          <a:lstStyle/>
          <a:p>
            <a:endParaRPr/>
          </a:p>
        </p:txBody>
      </p:sp>
      <p:sp>
        <p:nvSpPr>
          <p:cNvPr id="14" name="Text 11">
            <a:extLst>
              <a:ext uri="{FF2B5EF4-FFF2-40B4-BE49-F238E27FC236}">
                <a16:creationId xmlns:a16="http://schemas.microsoft.com/office/drawing/2014/main" id="{ABFDA9F5-F07E-48DC-97D9-8269ACE1118C}"/>
              </a:ext>
            </a:extLst>
          </p:cNvPr>
          <p:cNvSpPr>
            <a:spLocks noGrp="1"/>
          </p:cNvSpPr>
          <p:nvPr/>
        </p:nvSpPr>
        <p:spPr>
          <a:xfrm>
            <a:off x="768096" y="2395728"/>
            <a:ext cx="5024628" cy="457200"/>
          </a:xfrm>
          <a:prstGeom prst="rect">
            <a:avLst/>
          </a:prstGeom>
          <a:noFill/>
        </p:spPr>
        <p:txBody>
          <a:bodyPr wrap="square" lIns="0" tIns="0" rIns="0" bIns="0" anchor="ctr"/>
          <a:lstStyle/>
          <a:p>
            <a:pPr marL="0" indent="0">
              <a:buNone/>
            </a:pPr>
            <a:r>
              <a:rPr sz="1300" b="1" spc="200">
                <a:solidFill>
                  <a:srgbClr val="FFFFFF"/>
                </a:solidFill>
                <a:latin typeface="Calibri"/>
                <a:ea typeface="Calibri"/>
                <a:cs typeface="Calibri"/>
              </a:rPr>
              <a:t>3 use cases assessed</a:t>
            </a:r>
            <a:endParaRPr sz="1300"/>
          </a:p>
        </p:txBody>
      </p:sp>
      <p:sp>
        <p:nvSpPr>
          <p:cNvPr id="15" name="Text 12">
            <a:extLst>
              <a:ext uri="{FF2B5EF4-FFF2-40B4-BE49-F238E27FC236}">
                <a16:creationId xmlns:a16="http://schemas.microsoft.com/office/drawing/2014/main" id="{7293C100-FFFD-4654-9DE4-2C40B8A85FB5}"/>
              </a:ext>
            </a:extLst>
          </p:cNvPr>
          <p:cNvSpPr>
            <a:spLocks noGrp="1"/>
          </p:cNvSpPr>
          <p:nvPr/>
        </p:nvSpPr>
        <p:spPr>
          <a:xfrm>
            <a:off x="768096" y="2962656"/>
            <a:ext cx="4988052" cy="1051560"/>
          </a:xfrm>
          <a:prstGeom prst="rect">
            <a:avLst/>
          </a:prstGeom>
          <a:noFill/>
        </p:spPr>
        <p:txBody>
          <a:bodyPr wrap="square" lIns="0" tIns="0" rIns="0" bIns="0" anchor="t"/>
          <a:lstStyle/>
          <a:p>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a:ext uri="{FF2B5EF4-FFF2-40B4-BE49-F238E27FC236}">
                <a16:creationId xmlns:a16="http://schemas.microsoft.com/office/drawing/2014/main" id="{C3131531-AB17-45D6-8D65-E8E5B1D814AA}"/>
              </a:ext>
            </a:extLst>
          </p:cNvPr>
          <p:cNvSpPr>
            <a:spLocks noGrp="1"/>
          </p:cNvSpPr>
          <p:nvPr/>
        </p:nvSpPr>
        <p:spPr>
          <a:xfrm>
            <a:off x="6231636" y="2395728"/>
            <a:ext cx="5390388" cy="178308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7" name="Shape 14">
            <a:extLst>
              <a:ext uri="{FF2B5EF4-FFF2-40B4-BE49-F238E27FC236}">
                <a16:creationId xmlns:a16="http://schemas.microsoft.com/office/drawing/2014/main" id="{8A4AD0F1-C1B7-4067-9FAB-1217DDA133EA}"/>
              </a:ext>
            </a:extLst>
          </p:cNvPr>
          <p:cNvSpPr>
            <a:spLocks noGrp="1"/>
          </p:cNvSpPr>
          <p:nvPr/>
        </p:nvSpPr>
        <p:spPr>
          <a:xfrm>
            <a:off x="6231636" y="2395728"/>
            <a:ext cx="5390388" cy="457200"/>
          </a:xfrm>
          <a:prstGeom prst="rect">
            <a:avLst/>
          </a:prstGeom>
          <a:solidFill>
            <a:srgbClr val="445A69"/>
          </a:solidFill>
        </p:spPr>
        <p:txBody>
          <a:bodyPr/>
          <a:lstStyle/>
          <a:p>
            <a:endParaRPr/>
          </a:p>
        </p:txBody>
      </p:sp>
      <p:sp>
        <p:nvSpPr>
          <p:cNvPr id="18" name="Text 15">
            <a:extLst>
              <a:ext uri="{FF2B5EF4-FFF2-40B4-BE49-F238E27FC236}">
                <a16:creationId xmlns:a16="http://schemas.microsoft.com/office/drawing/2014/main" id="{BBC6DBF5-0942-45CD-96A0-C70E8D840C25}"/>
              </a:ext>
            </a:extLst>
          </p:cNvPr>
          <p:cNvSpPr>
            <a:spLocks noGrp="1"/>
          </p:cNvSpPr>
          <p:nvPr/>
        </p:nvSpPr>
        <p:spPr>
          <a:xfrm>
            <a:off x="6432804" y="2395728"/>
            <a:ext cx="5024628" cy="457200"/>
          </a:xfrm>
          <a:prstGeom prst="rect">
            <a:avLst/>
          </a:prstGeom>
          <a:noFill/>
        </p:spPr>
        <p:txBody>
          <a:bodyPr wrap="square" lIns="0" tIns="0" rIns="0" bIns="0" anchor="ctr"/>
          <a:lstStyle/>
          <a:p>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a:ext uri="{FF2B5EF4-FFF2-40B4-BE49-F238E27FC236}">
                <a16:creationId xmlns:a16="http://schemas.microsoft.com/office/drawing/2014/main" id="{D01D1EF2-03D9-4A3C-9320-19B9A0E8AEC3}"/>
              </a:ext>
            </a:extLst>
          </p:cNvPr>
          <p:cNvSpPr>
            <a:spLocks noGrp="1"/>
          </p:cNvSpPr>
          <p:nvPr/>
        </p:nvSpPr>
        <p:spPr>
          <a:xfrm>
            <a:off x="6432804" y="2962656"/>
            <a:ext cx="4988052" cy="1051560"/>
          </a:xfrm>
          <a:prstGeom prst="rect">
            <a:avLst/>
          </a:prstGeom>
          <a:noFill/>
        </p:spPr>
        <p:txBody>
          <a:bodyPr wrap="square" lIns="0" tIns="0" rIns="0" bIns="0" anchor="t"/>
          <a:lstStyle/>
          <a:p>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357C0BD-9E9F-48FA-9687-0F7C23228AFB}"/>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36F0793D-933B-406D-ADE8-4CA1F5CBC527}"/>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27"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D8BC6109-E56B-4ED1-8264-EC1A049C8A1F}"/>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a:ext uri="{FF2B5EF4-FFF2-40B4-BE49-F238E27FC236}">
                <a16:creationId xmlns:a16="http://schemas.microsoft.com/office/drawing/2014/main" id="{0342CC60-12E6-48FE-B354-827C4BFDCFE3}"/>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2C2C8831-A237-43A6-8D7B-C4CC38268D07}"/>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73285F2E-0D13-49AE-A0FD-BB5FBA119F0B}"/>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a:ext uri="{FF2B5EF4-FFF2-40B4-BE49-F238E27FC236}">
                <a16:creationId xmlns:a16="http://schemas.microsoft.com/office/drawing/2014/main" id="{43DB66DD-BF89-4675-9C08-60AEFD77041A}"/>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C9878604-E02A-4631-A48F-A38A0E43F96D}"/>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a:ext uri="{FF2B5EF4-FFF2-40B4-BE49-F238E27FC236}">
                <a16:creationId xmlns:a16="http://schemas.microsoft.com/office/drawing/2014/main" id="{537800B2-E9CD-45D8-82AF-3EC010099300}"/>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7</a:t>
            </a:r>
            <a:endParaRPr sz="850"/>
          </a:p>
        </p:txBody>
      </p:sp>
      <p:sp>
        <p:nvSpPr>
          <p:cNvPr id="12" name="Shape 9">
            <a:extLst>
              <a:ext uri="{FF2B5EF4-FFF2-40B4-BE49-F238E27FC236}">
                <a16:creationId xmlns:a16="http://schemas.microsoft.com/office/drawing/2014/main" id="{56BE8F92-A63B-40E8-A062-6F2D09607B7F}"/>
              </a:ext>
            </a:extLst>
          </p:cNvPr>
          <p:cNvSpPr>
            <a:spLocks noGrp="1"/>
          </p:cNvSpPr>
          <p:nvPr/>
        </p:nvSpPr>
        <p:spPr>
          <a:xfrm>
            <a:off x="566928" y="2395728"/>
            <a:ext cx="6411956" cy="329184"/>
          </a:xfrm>
          <a:prstGeom prst="rect">
            <a:avLst/>
          </a:prstGeom>
          <a:solidFill>
            <a:srgbClr val="24343F"/>
          </a:solidFill>
        </p:spPr>
        <p:txBody>
          <a:bodyPr/>
          <a:lstStyle/>
          <a:p>
            <a:endParaRPr/>
          </a:p>
        </p:txBody>
      </p:sp>
      <p:sp>
        <p:nvSpPr>
          <p:cNvPr id="13" name="Text 10">
            <a:extLst>
              <a:ext uri="{FF2B5EF4-FFF2-40B4-BE49-F238E27FC236}">
                <a16:creationId xmlns:a16="http://schemas.microsoft.com/office/drawing/2014/main" id="{EDA69E92-44CC-4758-815F-5A8254927599}"/>
              </a:ext>
            </a:extLst>
          </p:cNvPr>
          <p:cNvSpPr>
            <a:spLocks noGrp="1"/>
          </p:cNvSpPr>
          <p:nvPr/>
        </p:nvSpPr>
        <p:spPr>
          <a:xfrm>
            <a:off x="713232" y="2395728"/>
            <a:ext cx="6137636" cy="329184"/>
          </a:xfrm>
          <a:prstGeom prst="rect">
            <a:avLst/>
          </a:prstGeom>
          <a:noFill/>
        </p:spPr>
        <p:txBody>
          <a:bodyPr wrap="square" lIns="0" tIns="0" rIns="0" bIns="0" anchor="ctr"/>
          <a:lstStyle/>
          <a:p>
            <a:pPr marL="0" indent="0">
              <a:buNone/>
            </a:pPr>
            <a:r>
              <a:rPr sz="1050">
                <a:solidFill>
                  <a:srgbClr val="FFFFFF"/>
                </a:solidFill>
                <a:latin typeface="Calibri"/>
                <a:ea typeface="Calibri"/>
                <a:cs typeface="Calibri"/>
              </a:rPr>
              <a:t>Managing an account  —  19.9%</a:t>
            </a:r>
            <a:endParaRPr sz="1050"/>
          </a:p>
        </p:txBody>
      </p:sp>
      <p:sp>
        <p:nvSpPr>
          <p:cNvPr id="14" name="Shape 11">
            <a:extLst>
              <a:ext uri="{FF2B5EF4-FFF2-40B4-BE49-F238E27FC236}">
                <a16:creationId xmlns:a16="http://schemas.microsoft.com/office/drawing/2014/main" id="{B0BAC1AB-01F2-4A94-A387-42DE8482826B}"/>
              </a:ext>
            </a:extLst>
          </p:cNvPr>
          <p:cNvSpPr>
            <a:spLocks noGrp="1"/>
          </p:cNvSpPr>
          <p:nvPr/>
        </p:nvSpPr>
        <p:spPr>
          <a:xfrm>
            <a:off x="676656" y="2793492"/>
            <a:ext cx="6302228" cy="329184"/>
          </a:xfrm>
          <a:prstGeom prst="rect">
            <a:avLst/>
          </a:prstGeom>
          <a:solidFill>
            <a:srgbClr val="24343F">
              <a:alpha val="94000"/>
            </a:srgbClr>
          </a:solidFill>
        </p:spPr>
        <p:txBody>
          <a:bodyPr/>
          <a:lstStyle/>
          <a:p>
            <a:endParaRPr/>
          </a:p>
        </p:txBody>
      </p:sp>
      <p:sp>
        <p:nvSpPr>
          <p:cNvPr id="15" name="Text 12">
            <a:extLst>
              <a:ext uri="{FF2B5EF4-FFF2-40B4-BE49-F238E27FC236}">
                <a16:creationId xmlns:a16="http://schemas.microsoft.com/office/drawing/2014/main" id="{15752F61-9A14-42F3-A779-7D6499CC1B6E}"/>
              </a:ext>
            </a:extLst>
          </p:cNvPr>
          <p:cNvSpPr>
            <a:spLocks noGrp="1"/>
          </p:cNvSpPr>
          <p:nvPr/>
        </p:nvSpPr>
        <p:spPr>
          <a:xfrm>
            <a:off x="822960" y="2793492"/>
            <a:ext cx="6027908" cy="329184"/>
          </a:xfrm>
          <a:prstGeom prst="rect">
            <a:avLst/>
          </a:prstGeom>
          <a:noFill/>
        </p:spPr>
        <p:txBody>
          <a:bodyPr wrap="square" lIns="0" tIns="0" rIns="0" bIns="0" anchor="ctr"/>
          <a:lstStyle/>
          <a:p>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a:ext uri="{FF2B5EF4-FFF2-40B4-BE49-F238E27FC236}">
                <a16:creationId xmlns:a16="http://schemas.microsoft.com/office/drawing/2014/main" id="{71D54875-B153-4C23-95D0-851678E85996}"/>
              </a:ext>
            </a:extLst>
          </p:cNvPr>
          <p:cNvSpPr>
            <a:spLocks noGrp="1"/>
          </p:cNvSpPr>
          <p:nvPr/>
        </p:nvSpPr>
        <p:spPr>
          <a:xfrm>
            <a:off x="786384" y="3191256"/>
            <a:ext cx="6192500" cy="329184"/>
          </a:xfrm>
          <a:prstGeom prst="rect">
            <a:avLst/>
          </a:prstGeom>
          <a:solidFill>
            <a:srgbClr val="24343F">
              <a:alpha val="88000"/>
            </a:srgbClr>
          </a:solidFill>
        </p:spPr>
        <p:txBody>
          <a:bodyPr/>
          <a:lstStyle/>
          <a:p>
            <a:endParaRPr/>
          </a:p>
        </p:txBody>
      </p:sp>
      <p:sp>
        <p:nvSpPr>
          <p:cNvPr id="17" name="Text 14">
            <a:extLst>
              <a:ext uri="{FF2B5EF4-FFF2-40B4-BE49-F238E27FC236}">
                <a16:creationId xmlns:a16="http://schemas.microsoft.com/office/drawing/2014/main" id="{D69ADEBB-615C-44A4-BEAB-3D651C0A2CAA}"/>
              </a:ext>
            </a:extLst>
          </p:cNvPr>
          <p:cNvSpPr>
            <a:spLocks noGrp="1"/>
          </p:cNvSpPr>
          <p:nvPr/>
        </p:nvSpPr>
        <p:spPr>
          <a:xfrm>
            <a:off x="932688" y="3191256"/>
            <a:ext cx="5918180" cy="329184"/>
          </a:xfrm>
          <a:prstGeom prst="rect">
            <a:avLst/>
          </a:prstGeom>
          <a:noFill/>
        </p:spPr>
        <p:txBody>
          <a:bodyPr wrap="square" lIns="0" tIns="0" rIns="0" bIns="0" anchor="ctr"/>
          <a:lstStyle/>
          <a:p>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a:ext uri="{FF2B5EF4-FFF2-40B4-BE49-F238E27FC236}">
                <a16:creationId xmlns:a16="http://schemas.microsoft.com/office/drawing/2014/main" id="{AE059A9D-A47E-445F-82E5-4F707A5EC080}"/>
              </a:ext>
            </a:extLst>
          </p:cNvPr>
          <p:cNvSpPr>
            <a:spLocks noGrp="1"/>
          </p:cNvSpPr>
          <p:nvPr/>
        </p:nvSpPr>
        <p:spPr>
          <a:xfrm>
            <a:off x="896112" y="3589020"/>
            <a:ext cx="6082772" cy="329184"/>
          </a:xfrm>
          <a:prstGeom prst="rect">
            <a:avLst/>
          </a:prstGeom>
          <a:solidFill>
            <a:srgbClr val="24343F">
              <a:alpha val="82000"/>
            </a:srgbClr>
          </a:solidFill>
        </p:spPr>
        <p:txBody>
          <a:bodyPr/>
          <a:lstStyle/>
          <a:p>
            <a:endParaRPr/>
          </a:p>
        </p:txBody>
      </p:sp>
      <p:sp>
        <p:nvSpPr>
          <p:cNvPr id="19" name="Text 16">
            <a:extLst>
              <a:ext uri="{FF2B5EF4-FFF2-40B4-BE49-F238E27FC236}">
                <a16:creationId xmlns:a16="http://schemas.microsoft.com/office/drawing/2014/main" id="{8DD74476-B68C-41F9-BC8A-5EC588FD8810}"/>
              </a:ext>
            </a:extLst>
          </p:cNvPr>
          <p:cNvSpPr>
            <a:spLocks noGrp="1"/>
          </p:cNvSpPr>
          <p:nvPr/>
        </p:nvSpPr>
        <p:spPr>
          <a:xfrm>
            <a:off x="1042416" y="3589020"/>
            <a:ext cx="5808452" cy="329184"/>
          </a:xfrm>
          <a:prstGeom prst="rect">
            <a:avLst/>
          </a:prstGeom>
          <a:noFill/>
        </p:spPr>
        <p:txBody>
          <a:bodyPr wrap="square" lIns="0" tIns="0" rIns="0" bIns="0" anchor="ctr"/>
          <a:lstStyle/>
          <a:p>
            <a:pPr marL="0" indent="0">
              <a:buNone/>
            </a:pPr>
            <a:r>
              <a:rPr sz="1050">
                <a:solidFill>
                  <a:srgbClr val="FFFFFF"/>
                </a:solidFill>
                <a:latin typeface="Calibri"/>
                <a:ea typeface="Calibri"/>
                <a:cs typeface="Calibri"/>
              </a:rPr>
              <a:t>Fraud or scam  —  4.8%</a:t>
            </a:r>
            <a:endParaRPr sz="1050"/>
          </a:p>
        </p:txBody>
      </p:sp>
      <p:sp>
        <p:nvSpPr>
          <p:cNvPr id="20" name="Shape 17">
            <a:extLst>
              <a:ext uri="{FF2B5EF4-FFF2-40B4-BE49-F238E27FC236}">
                <a16:creationId xmlns:a16="http://schemas.microsoft.com/office/drawing/2014/main" id="{D37CB98A-E6FF-4C2F-BF70-BDEEAA79AD63}"/>
              </a:ext>
            </a:extLst>
          </p:cNvPr>
          <p:cNvSpPr>
            <a:spLocks noGrp="1"/>
          </p:cNvSpPr>
          <p:nvPr/>
        </p:nvSpPr>
        <p:spPr>
          <a:xfrm>
            <a:off x="1005840" y="3986784"/>
            <a:ext cx="5973044" cy="329184"/>
          </a:xfrm>
          <a:prstGeom prst="rect">
            <a:avLst/>
          </a:prstGeom>
          <a:solidFill>
            <a:srgbClr val="24343F">
              <a:alpha val="76000"/>
            </a:srgbClr>
          </a:solidFill>
        </p:spPr>
        <p:txBody>
          <a:bodyPr/>
          <a:lstStyle/>
          <a:p>
            <a:endParaRPr/>
          </a:p>
        </p:txBody>
      </p:sp>
      <p:sp>
        <p:nvSpPr>
          <p:cNvPr id="21" name="Text 18">
            <a:extLst>
              <a:ext uri="{FF2B5EF4-FFF2-40B4-BE49-F238E27FC236}">
                <a16:creationId xmlns:a16="http://schemas.microsoft.com/office/drawing/2014/main" id="{8734A012-6B1D-45DF-809E-C36DEC901840}"/>
              </a:ext>
            </a:extLst>
          </p:cNvPr>
          <p:cNvSpPr>
            <a:spLocks noGrp="1"/>
          </p:cNvSpPr>
          <p:nvPr/>
        </p:nvSpPr>
        <p:spPr>
          <a:xfrm>
            <a:off x="1152144" y="3986784"/>
            <a:ext cx="5698724" cy="329184"/>
          </a:xfrm>
          <a:prstGeom prst="rect">
            <a:avLst/>
          </a:prstGeom>
          <a:noFill/>
        </p:spPr>
        <p:txBody>
          <a:bodyPr wrap="square" lIns="0" tIns="0" rIns="0" bIns="0" anchor="ctr"/>
          <a:lstStyle/>
          <a:p>
            <a:pPr marL="0" indent="0">
              <a:buNone/>
            </a:pPr>
            <a:r>
              <a:rPr sz="1050">
                <a:solidFill>
                  <a:srgbClr val="FFFFFF"/>
                </a:solidFill>
                <a:latin typeface="Calibri"/>
                <a:ea typeface="Calibri"/>
                <a:cs typeface="Calibri"/>
              </a:rPr>
              <a:t>Closing an account  —  4.6%</a:t>
            </a:r>
            <a:endParaRPr sz="1050"/>
          </a:p>
        </p:txBody>
      </p:sp>
      <p:sp>
        <p:nvSpPr>
          <p:cNvPr id="22" name="Shape 19">
            <a:extLst>
              <a:ext uri="{FF2B5EF4-FFF2-40B4-BE49-F238E27FC236}">
                <a16:creationId xmlns:a16="http://schemas.microsoft.com/office/drawing/2014/main" id="{59BC8660-8123-4C02-965A-F13742D90C3F}"/>
              </a:ext>
            </a:extLst>
          </p:cNvPr>
          <p:cNvSpPr>
            <a:spLocks noGrp="1"/>
          </p:cNvSpPr>
          <p:nvPr/>
        </p:nvSpPr>
        <p:spPr>
          <a:xfrm>
            <a:off x="7253204" y="2395728"/>
            <a:ext cx="4368820" cy="1920240"/>
          </a:xfrm>
          <a:prstGeom prst="rect">
            <a:avLst/>
          </a:prstGeom>
          <a:solidFill>
            <a:srgbClr val="24343F"/>
          </a:solidFill>
          <a:effectLst>
            <a:outerShdw blurRad="88900" dist="38100" dir="8100000" algn="bl" rotWithShape="0">
              <a:srgbClr val="1C2440">
                <a:alpha val="13000"/>
              </a:srgbClr>
            </a:outerShdw>
          </a:effectLst>
        </p:spPr>
        <p:txBody>
          <a:bodyPr/>
          <a:lstStyle/>
          <a:p>
            <a:endParaRPr/>
          </a:p>
        </p:txBody>
      </p:sp>
      <p:sp>
        <p:nvSpPr>
          <p:cNvPr id="23" name="Text 20">
            <a:extLst>
              <a:ext uri="{FF2B5EF4-FFF2-40B4-BE49-F238E27FC236}">
                <a16:creationId xmlns:a16="http://schemas.microsoft.com/office/drawing/2014/main" id="{65F2D466-EBB3-4CEF-98AD-131B92168419}"/>
              </a:ext>
            </a:extLst>
          </p:cNvPr>
          <p:cNvSpPr>
            <a:spLocks noGrp="1"/>
          </p:cNvSpPr>
          <p:nvPr/>
        </p:nvSpPr>
        <p:spPr>
          <a:xfrm>
            <a:off x="7509236" y="2596896"/>
            <a:ext cx="3856756" cy="1517904"/>
          </a:xfrm>
          <a:prstGeom prst="rect">
            <a:avLst/>
          </a:prstGeom>
          <a:noFill/>
        </p:spPr>
        <p:txBody>
          <a:bodyPr wrap="square" lIns="0" tIns="0" rIns="0" bIns="0" anchor="t"/>
          <a:lstStyle/>
          <a:p>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E38C168-76C0-4A55-8C17-DEB98038580E}"/>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E5E38E64-1936-46EC-BE8B-7E9DE57EE258}"/>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20"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31A691E1-1189-4036-BEEE-58B22D73C256}"/>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a:ext uri="{FF2B5EF4-FFF2-40B4-BE49-F238E27FC236}">
                <a16:creationId xmlns:a16="http://schemas.microsoft.com/office/drawing/2014/main" id="{6621DF98-207D-4A64-8241-48E8F0A9EB74}"/>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2A895384-D1D1-4017-B2AD-04D5F9DAC147}"/>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D5A310F4-5919-408D-87B1-3CE290AEF447}"/>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a:ext uri="{FF2B5EF4-FFF2-40B4-BE49-F238E27FC236}">
                <a16:creationId xmlns:a16="http://schemas.microsoft.com/office/drawing/2014/main" id="{67E25FD0-114A-43DA-B381-ED5ED615EB9B}"/>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ABFDB0A2-26F9-4AED-AB57-83F0F8331767}"/>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a:ext uri="{FF2B5EF4-FFF2-40B4-BE49-F238E27FC236}">
                <a16:creationId xmlns:a16="http://schemas.microsoft.com/office/drawing/2014/main" id="{490DFB8F-8291-44CF-AA0E-08D8F10D683C}"/>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566928" y="2395728"/>
          <a:ext cx="8686800" cy="1865376"/>
        </p:xfrm>
        <a:graphic>
          <a:graphicData uri="http://schemas.openxmlformats.org/drawingml/2006/table">
            <a:tbl>
              <a:tblPr/>
              <a:tblGrid>
                <a:gridCol w="3749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extLst>
                  <a:ext uri="{0D108BD9-81ED-4DB2-BD59-A6C34878D82A}">
                    <a16:rowId xmlns:a16="http://schemas.microsoft.com/office/drawing/2014/main" val="10000"/>
                  </a:ext>
                </a:extLst>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3" name="Shape 9">
            <a:extLst>
              <a:ext uri="{FF2B5EF4-FFF2-40B4-BE49-F238E27FC236}">
                <a16:creationId xmlns:a16="http://schemas.microsoft.com/office/drawing/2014/main" id="{058E1A81-D93E-4FDE-BBA8-FB47E36E48BB}"/>
              </a:ext>
            </a:extLst>
          </p:cNvPr>
          <p:cNvSpPr>
            <a:spLocks noGrp="1"/>
          </p:cNvSpPr>
          <p:nvPr/>
        </p:nvSpPr>
        <p:spPr>
          <a:xfrm>
            <a:off x="566928" y="4489704"/>
            <a:ext cx="11055096" cy="640080"/>
          </a:xfrm>
          <a:prstGeom prst="rect">
            <a:avLst/>
          </a:prstGeom>
          <a:solidFill>
            <a:srgbClr val="EFF5F9"/>
          </a:solidFill>
        </p:spPr>
        <p:txBody>
          <a:bodyPr/>
          <a:lstStyle/>
          <a:p>
            <a:endParaRPr/>
          </a:p>
        </p:txBody>
      </p:sp>
      <p:sp>
        <p:nvSpPr>
          <p:cNvPr id="14" name="Shape 10">
            <a:extLst>
              <a:ext uri="{FF2B5EF4-FFF2-40B4-BE49-F238E27FC236}">
                <a16:creationId xmlns:a16="http://schemas.microsoft.com/office/drawing/2014/main" id="{3D4B9AD0-36F3-4DF7-8AD1-76FBADC3E4D9}"/>
              </a:ext>
            </a:extLst>
          </p:cNvPr>
          <p:cNvSpPr>
            <a:spLocks noGrp="1"/>
          </p:cNvSpPr>
          <p:nvPr/>
        </p:nvSpPr>
        <p:spPr>
          <a:xfrm>
            <a:off x="566928" y="4489704"/>
            <a:ext cx="82296" cy="640080"/>
          </a:xfrm>
          <a:prstGeom prst="rect">
            <a:avLst/>
          </a:prstGeom>
          <a:solidFill>
            <a:srgbClr val="2A78D6"/>
          </a:solidFill>
        </p:spPr>
        <p:txBody>
          <a:bodyPr/>
          <a:lstStyle/>
          <a:p>
            <a:endParaRPr/>
          </a:p>
        </p:txBody>
      </p:sp>
      <p:sp>
        <p:nvSpPr>
          <p:cNvPr id="15" name="Text 11">
            <a:extLst>
              <a:ext uri="{FF2B5EF4-FFF2-40B4-BE49-F238E27FC236}">
                <a16:creationId xmlns:a16="http://schemas.microsoft.com/office/drawing/2014/main" id="{89924444-5835-4F06-9F8F-D36A8E66FF83}"/>
              </a:ext>
            </a:extLst>
          </p:cNvPr>
          <p:cNvSpPr>
            <a:spLocks noGrp="1"/>
          </p:cNvSpPr>
          <p:nvPr/>
        </p:nvSpPr>
        <p:spPr>
          <a:xfrm>
            <a:off x="822960" y="4489704"/>
            <a:ext cx="10597896" cy="640080"/>
          </a:xfrm>
          <a:prstGeom prst="rect">
            <a:avLst/>
          </a:prstGeom>
          <a:noFill/>
        </p:spPr>
        <p:txBody>
          <a:bodyPr wrap="square" lIns="0" tIns="0" rIns="0" bIns="0" anchor="ctr"/>
          <a:lstStyle/>
          <a:p>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A767F41-F5E3-4A08-8566-3D083A35ECEB}"/>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EE704676-748F-4BFF-8647-4340CF3BD0D2}"/>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20"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E78C994F-A3C9-4C9F-9790-7F14CC5985FC}"/>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a:ext uri="{FF2B5EF4-FFF2-40B4-BE49-F238E27FC236}">
                <a16:creationId xmlns:a16="http://schemas.microsoft.com/office/drawing/2014/main" id="{F4276BF7-BD11-427A-8D8C-D6578032A259}"/>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F65156A7-B4A3-4D02-934D-12DC414B0293}"/>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062D030E-4B15-4E2D-B412-E54D65E50934}"/>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a:ext uri="{FF2B5EF4-FFF2-40B4-BE49-F238E27FC236}">
                <a16:creationId xmlns:a16="http://schemas.microsoft.com/office/drawing/2014/main" id="{8D4174F3-C1DA-4F32-9978-34A92CD256E6}"/>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A7C1EA5D-7D52-4ED4-AD83-8ECBEECCF734}"/>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a:ext uri="{FF2B5EF4-FFF2-40B4-BE49-F238E27FC236}">
                <a16:creationId xmlns:a16="http://schemas.microsoft.com/office/drawing/2014/main" id="{FE5D79FF-1575-42D7-861B-5F2EA86FE970}"/>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9</a:t>
            </a:r>
            <a:endParaRPr sz="850"/>
          </a:p>
        </p:txBody>
      </p:sp>
      <p:graphicFrame>
        <p:nvGraphicFramePr>
          <p:cNvPr id="28" name="Table 0"/>
          <p:cNvGraphicFramePr/>
          <p:nvPr/>
        </p:nvGraphicFramePr>
        <p:xfrm>
          <a:off x="566928" y="2395728"/>
          <a:ext cx="11055096" cy="1682496"/>
        </p:xfrm>
        <a:graphic>
          <a:graphicData uri="http://schemas.openxmlformats.org/drawingml/2006/table">
            <a:tbl>
              <a:tblPr/>
              <a:tblGrid>
                <a:gridCol w="3931920">
                  <a:extLst>
                    <a:ext uri="{9D8B030D-6E8A-4147-A177-3AD203B41FA5}">
                      <a16:colId xmlns:a16="http://schemas.microsoft.com/office/drawing/2014/main" val="20000"/>
                    </a:ext>
                  </a:extLst>
                </a:gridCol>
                <a:gridCol w="7123176">
                  <a:extLst>
                    <a:ext uri="{9D8B030D-6E8A-4147-A177-3AD203B41FA5}">
                      <a16:colId xmlns:a16="http://schemas.microsoft.com/office/drawing/2014/main" val="20001"/>
                    </a:ext>
                  </a:extLst>
                </a:gridCol>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extLst>
                  <a:ext uri="{0D108BD9-81ED-4DB2-BD59-A6C34878D82A}">
                    <a16:rowId xmlns:a16="http://schemas.microsoft.com/office/drawing/2014/main" val="10000"/>
                  </a:ext>
                </a:extLst>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1"/>
                  </a:ext>
                </a:extLst>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extLst>
                  <a:ext uri="{0D108BD9-81ED-4DB2-BD59-A6C34878D82A}">
                    <a16:rowId xmlns:a16="http://schemas.microsoft.com/office/drawing/2014/main" val="10002"/>
                  </a:ext>
                </a:extLst>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3"/>
                  </a:ext>
                </a:extLst>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extLst>
                  <a:ext uri="{0D108BD9-81ED-4DB2-BD59-A6C34878D82A}">
                    <a16:rowId xmlns:a16="http://schemas.microsoft.com/office/drawing/2014/main" val="10004"/>
                  </a:ext>
                </a:extLst>
              </a:tr>
            </a:tbl>
          </a:graphicData>
        </a:graphic>
      </p:graphicFrame>
      <p:sp>
        <p:nvSpPr>
          <p:cNvPr id="13" name="Shape 9">
            <a:extLst>
              <a:ext uri="{FF2B5EF4-FFF2-40B4-BE49-F238E27FC236}">
                <a16:creationId xmlns:a16="http://schemas.microsoft.com/office/drawing/2014/main" id="{BA5697E4-693B-443D-B872-6C4AF59B87B8}"/>
              </a:ext>
            </a:extLst>
          </p:cNvPr>
          <p:cNvSpPr>
            <a:spLocks noGrp="1"/>
          </p:cNvSpPr>
          <p:nvPr/>
        </p:nvSpPr>
        <p:spPr>
          <a:xfrm>
            <a:off x="566928" y="4306824"/>
            <a:ext cx="11055096" cy="640080"/>
          </a:xfrm>
          <a:prstGeom prst="rect">
            <a:avLst/>
          </a:prstGeom>
          <a:solidFill>
            <a:srgbClr val="24343F"/>
          </a:solidFill>
        </p:spPr>
        <p:txBody>
          <a:bodyPr/>
          <a:lstStyle/>
          <a:p>
            <a:endParaRPr/>
          </a:p>
        </p:txBody>
      </p:sp>
      <p:sp>
        <p:nvSpPr>
          <p:cNvPr id="14" name="Shape 10">
            <a:extLst>
              <a:ext uri="{FF2B5EF4-FFF2-40B4-BE49-F238E27FC236}">
                <a16:creationId xmlns:a16="http://schemas.microsoft.com/office/drawing/2014/main" id="{C32452CF-E5A8-4881-8C96-FEDC013C53F7}"/>
              </a:ext>
            </a:extLst>
          </p:cNvPr>
          <p:cNvSpPr>
            <a:spLocks noGrp="1"/>
          </p:cNvSpPr>
          <p:nvPr/>
        </p:nvSpPr>
        <p:spPr>
          <a:xfrm>
            <a:off x="566928" y="4306824"/>
            <a:ext cx="82296" cy="640080"/>
          </a:xfrm>
          <a:prstGeom prst="rect">
            <a:avLst/>
          </a:prstGeom>
          <a:solidFill>
            <a:srgbClr val="2A78D6"/>
          </a:solidFill>
        </p:spPr>
        <p:txBody>
          <a:bodyPr/>
          <a:lstStyle/>
          <a:p>
            <a:endParaRPr/>
          </a:p>
        </p:txBody>
      </p:sp>
      <p:sp>
        <p:nvSpPr>
          <p:cNvPr id="15" name="Text 11">
            <a:extLst>
              <a:ext uri="{FF2B5EF4-FFF2-40B4-BE49-F238E27FC236}">
                <a16:creationId xmlns:a16="http://schemas.microsoft.com/office/drawing/2014/main" id="{702751CC-BFDE-4F56-9C13-C725FF460F90}"/>
              </a:ext>
            </a:extLst>
          </p:cNvPr>
          <p:cNvSpPr>
            <a:spLocks noGrp="1"/>
          </p:cNvSpPr>
          <p:nvPr/>
        </p:nvSpPr>
        <p:spPr>
          <a:xfrm>
            <a:off x="822960" y="4306824"/>
            <a:ext cx="10597896" cy="640080"/>
          </a:xfrm>
          <a:prstGeom prst="rect">
            <a:avLst/>
          </a:prstGeom>
          <a:noFill/>
        </p:spPr>
        <p:txBody>
          <a:bodyPr wrap="square" lIns="0" tIns="0" rIns="0" bIns="0" anchor="ctr"/>
          <a:lstStyle/>
          <a:p>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05A42C3-6F98-4F0E-96B5-40C97376D3F3}"/>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8B8086FB-4698-4B5F-98D9-A60291BFBB96}"/>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23"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31E8D3B7-3B23-46BB-BE16-77F38CF7AE50}"/>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a:ext uri="{FF2B5EF4-FFF2-40B4-BE49-F238E27FC236}">
                <a16:creationId xmlns:a16="http://schemas.microsoft.com/office/drawing/2014/main" id="{9FBDD608-80F8-4840-9B69-E494B42BC080}"/>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0513622E-9512-441B-865E-4F9C4EE748A1}"/>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8293D481-229D-499D-9F2A-6816F93280D3}"/>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a:ext uri="{FF2B5EF4-FFF2-40B4-BE49-F238E27FC236}">
                <a16:creationId xmlns:a16="http://schemas.microsoft.com/office/drawing/2014/main" id="{DD003455-8344-4140-8412-E65222CF9572}"/>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62991595-1CB2-4A39-BBD5-33A93C2E377B}"/>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Sources: Project evaluation vs CFPB-derived labels; OpenAI API pricing; agreement, not accuracy.</a:t>
            </a:r>
            <a:endParaRPr sz="850"/>
          </a:p>
        </p:txBody>
      </p:sp>
      <p:sp>
        <p:nvSpPr>
          <p:cNvPr id="11" name="Text 8">
            <a:extLst>
              <a:ext uri="{FF2B5EF4-FFF2-40B4-BE49-F238E27FC236}">
                <a16:creationId xmlns:a16="http://schemas.microsoft.com/office/drawing/2014/main" id="{F2439A02-322A-4F99-AD37-0D2B77FEC6D7}"/>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10</a:t>
            </a:r>
            <a:endParaRPr sz="850"/>
          </a:p>
        </p:txBody>
      </p:sp>
      <p:sp>
        <p:nvSpPr>
          <p:cNvPr id="12" name="Shape 9">
            <a:extLst>
              <a:ext uri="{FF2B5EF4-FFF2-40B4-BE49-F238E27FC236}">
                <a16:creationId xmlns:a16="http://schemas.microsoft.com/office/drawing/2014/main" id="{6355D7D4-E8DE-4C77-ADC3-1937CD5D66FE}"/>
              </a:ext>
            </a:extLst>
          </p:cNvPr>
          <p:cNvSpPr>
            <a:spLocks noGrp="1"/>
          </p:cNvSpPr>
          <p:nvPr/>
        </p:nvSpPr>
        <p:spPr>
          <a:xfrm>
            <a:off x="566928" y="2395728"/>
            <a:ext cx="5390388" cy="187452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3" name="Shape 10">
            <a:extLst>
              <a:ext uri="{FF2B5EF4-FFF2-40B4-BE49-F238E27FC236}">
                <a16:creationId xmlns:a16="http://schemas.microsoft.com/office/drawing/2014/main" id="{A831C8F0-AABE-41C7-AF53-2F66F3A1DE2B}"/>
              </a:ext>
            </a:extLst>
          </p:cNvPr>
          <p:cNvSpPr>
            <a:spLocks noGrp="1"/>
          </p:cNvSpPr>
          <p:nvPr/>
        </p:nvSpPr>
        <p:spPr>
          <a:xfrm>
            <a:off x="566928" y="2395728"/>
            <a:ext cx="5390388" cy="457200"/>
          </a:xfrm>
          <a:prstGeom prst="rect">
            <a:avLst/>
          </a:prstGeom>
          <a:solidFill>
            <a:srgbClr val="24343F"/>
          </a:solidFill>
        </p:spPr>
        <p:txBody>
          <a:bodyPr/>
          <a:lstStyle/>
          <a:p>
            <a:endParaRPr/>
          </a:p>
        </p:txBody>
      </p:sp>
      <p:sp>
        <p:nvSpPr>
          <p:cNvPr id="14" name="Text 11">
            <a:extLst>
              <a:ext uri="{FF2B5EF4-FFF2-40B4-BE49-F238E27FC236}">
                <a16:creationId xmlns:a16="http://schemas.microsoft.com/office/drawing/2014/main" id="{6725D714-AAD5-471A-911D-869302B968F5}"/>
              </a:ext>
            </a:extLst>
          </p:cNvPr>
          <p:cNvSpPr>
            <a:spLocks noGrp="1"/>
          </p:cNvSpPr>
          <p:nvPr/>
        </p:nvSpPr>
        <p:spPr>
          <a:xfrm>
            <a:off x="768096" y="2395728"/>
            <a:ext cx="5024628" cy="457200"/>
          </a:xfrm>
          <a:prstGeom prst="rect">
            <a:avLst/>
          </a:prstGeom>
          <a:noFill/>
        </p:spPr>
        <p:txBody>
          <a:bodyPr wrap="square" lIns="0" tIns="0" rIns="0" bIns="0" anchor="ctr"/>
          <a:lstStyle/>
          <a:p>
            <a:pPr marL="0" indent="0">
              <a:buNone/>
            </a:pPr>
            <a:r>
              <a:rPr sz="1300" b="1" spc="200">
                <a:solidFill>
                  <a:srgbClr val="FFFFFF"/>
                </a:solidFill>
                <a:latin typeface="Calibri"/>
                <a:ea typeface="Calibri"/>
                <a:cs typeface="Calibri"/>
              </a:rPr>
              <a:t>What I measured</a:t>
            </a:r>
            <a:endParaRPr sz="1300"/>
          </a:p>
        </p:txBody>
      </p:sp>
      <p:sp>
        <p:nvSpPr>
          <p:cNvPr id="15" name="Text 12">
            <a:extLst>
              <a:ext uri="{FF2B5EF4-FFF2-40B4-BE49-F238E27FC236}">
                <a16:creationId xmlns:a16="http://schemas.microsoft.com/office/drawing/2014/main" id="{2EEE9339-A6F5-4E49-BD59-DE93F216C3BF}"/>
              </a:ext>
            </a:extLst>
          </p:cNvPr>
          <p:cNvSpPr>
            <a:spLocks noGrp="1"/>
          </p:cNvSpPr>
          <p:nvPr/>
        </p:nvSpPr>
        <p:spPr>
          <a:xfrm>
            <a:off x="768096" y="2962656"/>
            <a:ext cx="4988052" cy="1143000"/>
          </a:xfrm>
          <a:prstGeom prst="rect">
            <a:avLst/>
          </a:prstGeom>
          <a:noFill/>
        </p:spPr>
        <p:txBody>
          <a:bodyPr wrap="square" lIns="0" tIns="0" rIns="0" bIns="0" anchor="t"/>
          <a:lstStyle/>
          <a:p>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a:pPr marL="152400" indent="-152400">
              <a:spcAft>
                <a:spcPts val="600"/>
              </a:spcAft>
              <a:buSzPct val="100000"/>
              <a:buChar char="•"/>
            </a:pPr>
            <a:r>
              <a:rPr sz="1150">
                <a:solidFill>
                  <a:srgbClr val="1B2730"/>
                </a:solidFill>
                <a:latin typeface="Calibri"/>
                <a:ea typeface="Calibri"/>
                <a:cs typeface="Calibri"/>
              </a:rPr>
              <a:t>Paying 17× as much improved agreement by 3.7 percentage points</a:t>
            </a:r>
            <a:endParaRPr sz="1150"/>
          </a:p>
          <a:p>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a:ext uri="{FF2B5EF4-FFF2-40B4-BE49-F238E27FC236}">
                <a16:creationId xmlns:a16="http://schemas.microsoft.com/office/drawing/2014/main" id="{4CD963AE-872A-4031-923D-EAB3A8AB0851}"/>
              </a:ext>
            </a:extLst>
          </p:cNvPr>
          <p:cNvSpPr>
            <a:spLocks noGrp="1"/>
          </p:cNvSpPr>
          <p:nvPr/>
        </p:nvSpPr>
        <p:spPr>
          <a:xfrm>
            <a:off x="6231636" y="2395728"/>
            <a:ext cx="5390388" cy="1874520"/>
          </a:xfrm>
          <a:prstGeom prst="rect">
            <a:avLst/>
          </a:prstGeom>
          <a:solidFill>
            <a:srgbClr val="FFFFFF"/>
          </a:solidFill>
          <a:ln w="12700">
            <a:solidFill>
              <a:srgbClr val="D9E3EA"/>
            </a:solidFill>
            <a:prstDash val="solid"/>
          </a:ln>
          <a:effectLst>
            <a:outerShdw blurRad="88900" dist="38100" dir="8100000" algn="bl" rotWithShape="0">
              <a:srgbClr val="1C2440">
                <a:alpha val="13000"/>
              </a:srgbClr>
            </a:outerShdw>
          </a:effectLst>
        </p:spPr>
        <p:txBody>
          <a:bodyPr/>
          <a:lstStyle/>
          <a:p>
            <a:endParaRPr/>
          </a:p>
        </p:txBody>
      </p:sp>
      <p:sp>
        <p:nvSpPr>
          <p:cNvPr id="17" name="Shape 14">
            <a:extLst>
              <a:ext uri="{FF2B5EF4-FFF2-40B4-BE49-F238E27FC236}">
                <a16:creationId xmlns:a16="http://schemas.microsoft.com/office/drawing/2014/main" id="{BE6A9CED-BCC4-47BE-A107-C353F0177F31}"/>
              </a:ext>
            </a:extLst>
          </p:cNvPr>
          <p:cNvSpPr>
            <a:spLocks noGrp="1"/>
          </p:cNvSpPr>
          <p:nvPr/>
        </p:nvSpPr>
        <p:spPr>
          <a:xfrm>
            <a:off x="6231636" y="2395728"/>
            <a:ext cx="5390388" cy="457200"/>
          </a:xfrm>
          <a:prstGeom prst="rect">
            <a:avLst/>
          </a:prstGeom>
          <a:solidFill>
            <a:srgbClr val="445A69"/>
          </a:solidFill>
        </p:spPr>
        <p:txBody>
          <a:bodyPr/>
          <a:lstStyle/>
          <a:p>
            <a:endParaRPr/>
          </a:p>
        </p:txBody>
      </p:sp>
      <p:sp>
        <p:nvSpPr>
          <p:cNvPr id="18" name="Text 15">
            <a:extLst>
              <a:ext uri="{FF2B5EF4-FFF2-40B4-BE49-F238E27FC236}">
                <a16:creationId xmlns:a16="http://schemas.microsoft.com/office/drawing/2014/main" id="{11123818-7162-4AC2-ACDC-5939A76B78DB}"/>
              </a:ext>
            </a:extLst>
          </p:cNvPr>
          <p:cNvSpPr>
            <a:spLocks noGrp="1"/>
          </p:cNvSpPr>
          <p:nvPr/>
        </p:nvSpPr>
        <p:spPr>
          <a:xfrm>
            <a:off x="6432804" y="2395728"/>
            <a:ext cx="5024628" cy="457200"/>
          </a:xfrm>
          <a:prstGeom prst="rect">
            <a:avLst/>
          </a:prstGeom>
          <a:noFill/>
        </p:spPr>
        <p:txBody>
          <a:bodyPr wrap="square" lIns="0" tIns="0" rIns="0" bIns="0" anchor="ctr"/>
          <a:lstStyle/>
          <a:p>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a:ext uri="{FF2B5EF4-FFF2-40B4-BE49-F238E27FC236}">
                <a16:creationId xmlns:a16="http://schemas.microsoft.com/office/drawing/2014/main" id="{870AAE1A-23E1-4755-A50B-5C762E29D08C}"/>
              </a:ext>
            </a:extLst>
          </p:cNvPr>
          <p:cNvSpPr>
            <a:spLocks noGrp="1"/>
          </p:cNvSpPr>
          <p:nvPr/>
        </p:nvSpPr>
        <p:spPr>
          <a:xfrm>
            <a:off x="6432804" y="2962656"/>
            <a:ext cx="4988052" cy="1143000"/>
          </a:xfrm>
          <a:prstGeom prst="rect">
            <a:avLst/>
          </a:prstGeom>
          <a:noFill/>
        </p:spPr>
        <p:txBody>
          <a:bodyPr wrap="square" lIns="0" tIns="0" rIns="0" bIns="0" anchor="t"/>
          <a:lstStyle/>
          <a:p>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6EDDBBD-9505-4469-98ED-7D40ADEAAD89}"/>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604B142D-325D-4235-8F0A-6E25C5330DAB}"/>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16"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E1E2E2F5-F661-4E6F-8DEE-CE78E261F400}"/>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a:ext uri="{FF2B5EF4-FFF2-40B4-BE49-F238E27FC236}">
                <a16:creationId xmlns:a16="http://schemas.microsoft.com/office/drawing/2014/main" id="{54DDBA36-09BA-413C-9CCF-726371215AE6}"/>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977388FD-A653-436D-89AB-018D2BA05E7C}"/>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BC7AC2FA-8922-47DA-BBC7-628716BA8471}"/>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a:ext uri="{FF2B5EF4-FFF2-40B4-BE49-F238E27FC236}">
                <a16:creationId xmlns:a16="http://schemas.microsoft.com/office/drawing/2014/main" id="{F746F43D-58C3-4F77-BFC5-4611442E3CF9}"/>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5717993E-EF41-4851-B13D-1382A01FDD4F}"/>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a:ext uri="{FF2B5EF4-FFF2-40B4-BE49-F238E27FC236}">
                <a16:creationId xmlns:a16="http://schemas.microsoft.com/office/drawing/2014/main" id="{5C005951-6E2B-4167-AE24-99AE11B6E227}"/>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566928" y="2395728"/>
          <a:ext cx="11055096" cy="1344168"/>
        </p:xfrm>
        <a:graphic>
          <a:graphicData uri="http://schemas.openxmlformats.org/drawingml/2006/table">
            <a:tbl>
              <a:tblPr/>
              <a:tblGrid>
                <a:gridCol w="4206240">
                  <a:extLst>
                    <a:ext uri="{9D8B030D-6E8A-4147-A177-3AD203B41FA5}">
                      <a16:colId xmlns:a16="http://schemas.microsoft.com/office/drawing/2014/main" val="20000"/>
                    </a:ext>
                  </a:extLst>
                </a:gridCol>
                <a:gridCol w="6848856">
                  <a:extLst>
                    <a:ext uri="{9D8B030D-6E8A-4147-A177-3AD203B41FA5}">
                      <a16:colId xmlns:a16="http://schemas.microsoft.com/office/drawing/2014/main" val="20001"/>
                    </a:ext>
                  </a:extLst>
                </a:gridCol>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extLst>
                  <a:ext uri="{0D108BD9-81ED-4DB2-BD59-A6C34878D82A}">
                    <a16:rowId xmlns:a16="http://schemas.microsoft.com/office/drawing/2014/main" val="10000"/>
                  </a:ext>
                </a:extLst>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1"/>
                  </a:ext>
                </a:extLst>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extLst>
                  <a:ext uri="{0D108BD9-81ED-4DB2-BD59-A6C34878D82A}">
                    <a16:rowId xmlns:a16="http://schemas.microsoft.com/office/drawing/2014/main" val="10002"/>
                  </a:ext>
                </a:extLst>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8617828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DD022C4-638E-44EA-B6EA-A52B0F431FED}"/>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EA919AC1-4394-406C-98C1-A02015AB5ED9}"/>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16"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97741F4D-F167-4BA5-8D0E-0CEABD3E91B9}"/>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a:ext uri="{FF2B5EF4-FFF2-40B4-BE49-F238E27FC236}">
                <a16:creationId xmlns:a16="http://schemas.microsoft.com/office/drawing/2014/main" id="{A1350174-4B90-47AB-87E6-4B9537D675C6}"/>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829B278E-1B55-4A02-A5BC-A48973FBADF9}"/>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EC54657B-BD9C-453F-B170-B6DF5EF7186C}"/>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a:ext uri="{FF2B5EF4-FFF2-40B4-BE49-F238E27FC236}">
                <a16:creationId xmlns:a16="http://schemas.microsoft.com/office/drawing/2014/main" id="{4778F047-D2F3-485F-8F42-175910086159}"/>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B7BBCBD9-14CC-4F2A-9C62-7DEBC4D4FE36}"/>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a:ext uri="{FF2B5EF4-FFF2-40B4-BE49-F238E27FC236}">
                <a16:creationId xmlns:a16="http://schemas.microsoft.com/office/drawing/2014/main" id="{087E6D7C-9A22-40B4-8314-3A91929D36B2}"/>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566928" y="2395728"/>
          <a:ext cx="8686800" cy="2340864"/>
        </p:xfrm>
        <a:graphic>
          <a:graphicData uri="http://schemas.openxmlformats.org/drawingml/2006/table">
            <a:tbl>
              <a:tblPr/>
              <a:tblGrid>
                <a:gridCol w="329184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extLst>
                  <a:ext uri="{0D108BD9-81ED-4DB2-BD59-A6C34878D82A}">
                    <a16:rowId xmlns:a16="http://schemas.microsoft.com/office/drawing/2014/main" val="10000"/>
                  </a:ext>
                </a:extLst>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818523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ABDF90F-91E1-48A9-AEC3-AB8689DD0758}"/>
              </a:ext>
            </a:extLst>
          </p:cNvPr>
          <p:cNvSpPr>
            <a:spLocks noGrp="1"/>
          </p:cNvSpPr>
          <p:nvPr/>
        </p:nvSpPr>
        <p:spPr>
          <a:xfrm>
            <a:off x="566928" y="310896"/>
            <a:ext cx="11055096" cy="274320"/>
          </a:xfrm>
          <a:prstGeom prst="rect">
            <a:avLst/>
          </a:prstGeom>
          <a:noFill/>
        </p:spPr>
        <p:txBody>
          <a:bodyPr wrap="square" lIns="0" tIns="0" rIns="0" bIns="0" anchor="ctr"/>
          <a:lstStyle/>
          <a:p>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a:ext uri="{FF2B5EF4-FFF2-40B4-BE49-F238E27FC236}">
                <a16:creationId xmlns:a16="http://schemas.microsoft.com/office/drawing/2014/main" id="{F70B1A62-2D66-44DB-9089-7B731F580057}"/>
              </a:ext>
            </a:extLst>
          </p:cNvPr>
          <p:cNvSpPr>
            <a:spLocks noGrp="1"/>
          </p:cNvSpPr>
          <p:nvPr/>
        </p:nvSpPr>
        <p:spPr>
          <a:xfrm>
            <a:off x="566928" y="658368"/>
            <a:ext cx="566928" cy="566928"/>
          </a:xfrm>
          <a:prstGeom prst="ellipse">
            <a:avLst/>
          </a:prstGeom>
          <a:solidFill>
            <a:srgbClr val="24343F"/>
          </a:solidFill>
        </p:spPr>
        <p:txBody>
          <a:bodyPr/>
          <a:lstStyle/>
          <a:p>
            <a:endParaRPr/>
          </a:p>
        </p:txBody>
      </p:sp>
      <p:pic>
        <p:nvPicPr>
          <p:cNvPr id="16" name="Image 0"/>
          <p:cNvPicPr>
            <a:picLocks noChangeAspect="1"/>
          </p:cNvPicPr>
          <p:nvPr/>
        </p:nvPicPr>
        <p:blipFill>
          <a:blip r:embed="rId3"/>
          <a:stretch>
            <a:fillRect/>
          </a:stretch>
        </p:blipFill>
        <p:spPr>
          <a:xfrm>
            <a:off x="708660" y="800100"/>
            <a:ext cx="283464" cy="283464"/>
          </a:xfrm>
          <a:prstGeom prst="rect">
            <a:avLst/>
          </a:prstGeom>
        </p:spPr>
      </p:pic>
      <p:sp>
        <p:nvSpPr>
          <p:cNvPr id="5" name="Text 2">
            <a:extLst>
              <a:ext uri="{FF2B5EF4-FFF2-40B4-BE49-F238E27FC236}">
                <a16:creationId xmlns:a16="http://schemas.microsoft.com/office/drawing/2014/main" id="{00221943-D41C-4834-8289-185472238871}"/>
              </a:ext>
            </a:extLst>
          </p:cNvPr>
          <p:cNvSpPr>
            <a:spLocks noGrp="1"/>
          </p:cNvSpPr>
          <p:nvPr/>
        </p:nvSpPr>
        <p:spPr>
          <a:xfrm>
            <a:off x="1316736" y="621792"/>
            <a:ext cx="10305288" cy="658368"/>
          </a:xfrm>
          <a:prstGeom prst="rect">
            <a:avLst/>
          </a:prstGeom>
          <a:noFill/>
        </p:spPr>
        <p:txBody>
          <a:bodyPr wrap="square" lIns="0" tIns="0" rIns="0" bIns="0" anchor="ctr"/>
          <a:lstStyle/>
          <a:p>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a:ext uri="{FF2B5EF4-FFF2-40B4-BE49-F238E27FC236}">
                <a16:creationId xmlns:a16="http://schemas.microsoft.com/office/drawing/2014/main" id="{8483479E-4296-401A-8867-CC6428197FCE}"/>
              </a:ext>
            </a:extLst>
          </p:cNvPr>
          <p:cNvSpPr>
            <a:spLocks noGrp="1"/>
          </p:cNvSpPr>
          <p:nvPr/>
        </p:nvSpPr>
        <p:spPr>
          <a:xfrm>
            <a:off x="566928" y="1481328"/>
            <a:ext cx="11055096" cy="676656"/>
          </a:xfrm>
          <a:prstGeom prst="rect">
            <a:avLst/>
          </a:prstGeom>
          <a:solidFill>
            <a:srgbClr val="EFF5F9"/>
          </a:solidFill>
        </p:spPr>
        <p:txBody>
          <a:bodyPr/>
          <a:lstStyle/>
          <a:p>
            <a:endParaRPr/>
          </a:p>
        </p:txBody>
      </p:sp>
      <p:sp>
        <p:nvSpPr>
          <p:cNvPr id="7" name="Shape 4">
            <a:extLst>
              <a:ext uri="{FF2B5EF4-FFF2-40B4-BE49-F238E27FC236}">
                <a16:creationId xmlns:a16="http://schemas.microsoft.com/office/drawing/2014/main" id="{3C793C62-6C32-4C88-93F0-B3BBCC29D2B7}"/>
              </a:ext>
            </a:extLst>
          </p:cNvPr>
          <p:cNvSpPr>
            <a:spLocks noGrp="1"/>
          </p:cNvSpPr>
          <p:nvPr/>
        </p:nvSpPr>
        <p:spPr>
          <a:xfrm>
            <a:off x="566928" y="1481328"/>
            <a:ext cx="82296" cy="676656"/>
          </a:xfrm>
          <a:prstGeom prst="rect">
            <a:avLst/>
          </a:prstGeom>
          <a:solidFill>
            <a:srgbClr val="2A78D6"/>
          </a:solidFill>
        </p:spPr>
        <p:txBody>
          <a:bodyPr/>
          <a:lstStyle/>
          <a:p>
            <a:endParaRPr/>
          </a:p>
        </p:txBody>
      </p:sp>
      <p:sp>
        <p:nvSpPr>
          <p:cNvPr id="8" name="Text 5">
            <a:extLst>
              <a:ext uri="{FF2B5EF4-FFF2-40B4-BE49-F238E27FC236}">
                <a16:creationId xmlns:a16="http://schemas.microsoft.com/office/drawing/2014/main" id="{D647D352-3DC6-4028-B2BA-AC66D1C89F1B}"/>
              </a:ext>
            </a:extLst>
          </p:cNvPr>
          <p:cNvSpPr>
            <a:spLocks noGrp="1"/>
          </p:cNvSpPr>
          <p:nvPr/>
        </p:nvSpPr>
        <p:spPr>
          <a:xfrm>
            <a:off x="822960" y="1481328"/>
            <a:ext cx="10597896" cy="676656"/>
          </a:xfrm>
          <a:prstGeom prst="rect">
            <a:avLst/>
          </a:prstGeom>
          <a:noFill/>
        </p:spPr>
        <p:txBody>
          <a:bodyPr wrap="square" lIns="0" tIns="0" rIns="0" bIns="0" anchor="ctr"/>
          <a:lstStyle/>
          <a:p>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a:ext uri="{FF2B5EF4-FFF2-40B4-BE49-F238E27FC236}">
                <a16:creationId xmlns:a16="http://schemas.microsoft.com/office/drawing/2014/main" id="{544C8F67-CF99-49B0-8DD0-934686D98AA2}"/>
              </a:ext>
            </a:extLst>
          </p:cNvPr>
          <p:cNvSpPr>
            <a:spLocks noGrp="1"/>
          </p:cNvSpPr>
          <p:nvPr/>
        </p:nvSpPr>
        <p:spPr>
          <a:xfrm>
            <a:off x="566928" y="6437376"/>
            <a:ext cx="11055096" cy="0"/>
          </a:xfrm>
          <a:prstGeom prst="line">
            <a:avLst/>
          </a:prstGeom>
          <a:noFill/>
          <a:ln w="12700">
            <a:solidFill>
              <a:srgbClr val="D9E3EA"/>
            </a:solidFill>
            <a:prstDash val="solid"/>
          </a:ln>
        </p:spPr>
        <p:txBody>
          <a:bodyPr/>
          <a:lstStyle/>
          <a:p>
            <a:endParaRPr/>
          </a:p>
        </p:txBody>
      </p:sp>
      <p:sp>
        <p:nvSpPr>
          <p:cNvPr id="10" name="Text 7">
            <a:extLst>
              <a:ext uri="{FF2B5EF4-FFF2-40B4-BE49-F238E27FC236}">
                <a16:creationId xmlns:a16="http://schemas.microsoft.com/office/drawing/2014/main" id="{9D412CF9-850D-439D-82D4-20F29652C975}"/>
              </a:ext>
            </a:extLst>
          </p:cNvPr>
          <p:cNvSpPr>
            <a:spLocks noGrp="1"/>
          </p:cNvSpPr>
          <p:nvPr/>
        </p:nvSpPr>
        <p:spPr>
          <a:xfrm>
            <a:off x="566928" y="6473952"/>
            <a:ext cx="7315200" cy="274320"/>
          </a:xfrm>
          <a:prstGeom prst="rect">
            <a:avLst/>
          </a:prstGeom>
          <a:noFill/>
        </p:spPr>
        <p:txBody>
          <a:bodyPr wrap="square" lIns="0" tIns="0" rIns="0" bIns="0" anchor="ctr"/>
          <a:lstStyle/>
          <a:p>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a:ext uri="{FF2B5EF4-FFF2-40B4-BE49-F238E27FC236}">
                <a16:creationId xmlns:a16="http://schemas.microsoft.com/office/drawing/2014/main" id="{E4A337CA-DF2F-49FE-AAC2-296DB8D87B1F}"/>
              </a:ext>
            </a:extLst>
          </p:cNvPr>
          <p:cNvSpPr>
            <a:spLocks noGrp="1"/>
          </p:cNvSpPr>
          <p:nvPr/>
        </p:nvSpPr>
        <p:spPr>
          <a:xfrm>
            <a:off x="10524744" y="6473952"/>
            <a:ext cx="1097280" cy="274320"/>
          </a:xfrm>
          <a:prstGeom prst="rect">
            <a:avLst/>
          </a:prstGeom>
          <a:noFill/>
        </p:spPr>
        <p:txBody>
          <a:bodyPr wrap="square" lIns="0" tIns="0" rIns="0" bIns="0" anchor="ctr"/>
          <a:lstStyle/>
          <a:p>
            <a:pPr marL="0" indent="0" algn="r">
              <a:buNone/>
            </a:pPr>
            <a:r>
              <a:rPr sz="850">
                <a:solidFill>
                  <a:srgbClr val="6B7C88"/>
                </a:solidFill>
                <a:latin typeface="Calibri"/>
                <a:ea typeface="Calibri"/>
                <a:cs typeface="Calibri"/>
              </a:rPr>
              <a:t>13</a:t>
            </a:r>
            <a:endParaRPr sz="850"/>
          </a:p>
        </p:txBody>
      </p:sp>
      <p:graphicFrame>
        <p:nvGraphicFramePr>
          <p:cNvPr id="24" name="Table 0"/>
          <p:cNvGraphicFramePr/>
          <p:nvPr/>
        </p:nvGraphicFramePr>
        <p:xfrm>
          <a:off x="566928" y="2395728"/>
          <a:ext cx="8686800" cy="2261616"/>
        </p:xfrm>
        <a:graphic>
          <a:graphicData uri="http://schemas.openxmlformats.org/drawingml/2006/table">
            <a:tbl>
              <a:tblPr/>
              <a:tblGrid>
                <a:gridCol w="32004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extLst>
                  <a:ext uri="{0D108BD9-81ED-4DB2-BD59-A6C34878D82A}">
                    <a16:rowId xmlns:a16="http://schemas.microsoft.com/office/drawing/2014/main" val="10000"/>
                  </a:ext>
                </a:extLst>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571414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277</TotalTime>
  <Words>4326</Words>
  <Application>Microsoft Macintosh PowerPoint</Application>
  <DocSecurity>0</DocSecurity>
  <PresentationFormat>Widescreen</PresentationFormat>
  <Paragraphs>403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Nnanyelugo Ahukannah</cp:lastModifiedBy>
  <cp:revision>4</cp:revision>
  <dcterms:created xsi:type="dcterms:W3CDTF">2026-08-30T15:54:48Z</dcterms:created>
  <dcterms:modified xsi:type="dcterms:W3CDTF">2026-08-31T12:06:06Z</dcterms:modified>
</cp:coreProperties>
</file>