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4f5485d97f4f1e" /><Relationship Type="http://schemas.openxmlformats.org/officeDocument/2006/relationships/extended-properties" Target="/docProps/app.xml" Id="R6ff2e6312df942f1" /><Relationship Type="http://schemas.openxmlformats.org/officeDocument/2006/relationships/officeDocument" Target="/ppt/presentation.xml" Id="Ree0b9f6f551540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da7196703a4393"/>
  </p:sldMasterIdLst>
  <p:notesMasterIdLst>
    <p:notesMasterId xmlns:r="http://schemas.openxmlformats.org/officeDocument/2006/relationships" r:id="R92d66e7d3ccb4018"/>
  </p:notesMasterIdLst>
  <p:sldIdLst>
    <p:sldId xmlns:r="http://schemas.openxmlformats.org/officeDocument/2006/relationships" id="256" r:id="R08f91a46d2104ac6"/>
    <p:sldId xmlns:r="http://schemas.openxmlformats.org/officeDocument/2006/relationships" id="257" r:id="R1261f58107d3431f"/>
    <p:sldId xmlns:r="http://schemas.openxmlformats.org/officeDocument/2006/relationships" id="258" r:id="Rc6ee7ebe5dbf4a5a"/>
    <p:sldId xmlns:r="http://schemas.openxmlformats.org/officeDocument/2006/relationships" id="259" r:id="R65cd48b1e33d4e31"/>
    <p:sldId xmlns:r="http://schemas.openxmlformats.org/officeDocument/2006/relationships" id="260" r:id="R625f5b2b6e4143fb"/>
    <p:sldId xmlns:r="http://schemas.openxmlformats.org/officeDocument/2006/relationships" id="261" r:id="Ra6528e22c8934a92"/>
    <p:sldId xmlns:r="http://schemas.openxmlformats.org/officeDocument/2006/relationships" id="262" r:id="R97b2a3ebeba14210"/>
    <p:sldId xmlns:r="http://schemas.openxmlformats.org/officeDocument/2006/relationships" id="263" r:id="R93fb42d7c15e46ff"/>
    <p:sldId xmlns:r="http://schemas.openxmlformats.org/officeDocument/2006/relationships" id="264" r:id="R2c5b8a9f372f415d"/>
    <p:sldId xmlns:r="http://schemas.openxmlformats.org/officeDocument/2006/relationships" id="265" r:id="R23abdbb0a25c48b7"/>
    <p:sldId xmlns:r="http://schemas.openxmlformats.org/officeDocument/2006/relationships" id="266" r:id="R09fe25216cc84801"/>
    <p:sldId xmlns:r="http://schemas.openxmlformats.org/officeDocument/2006/relationships" id="267" r:id="R9428aafad30c49e7"/>
    <p:sldId xmlns:r="http://schemas.openxmlformats.org/officeDocument/2006/relationships" id="268" r:id="R3500dabf3b03468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92b5e3286948f1" /><Relationship Type="http://schemas.openxmlformats.org/officeDocument/2006/relationships/slideMaster" Target="/ppt/slideMasters/slideMaster1.xml" Id="R92da7196703a4393" /><Relationship Type="http://schemas.openxmlformats.org/officeDocument/2006/relationships/notesMaster" Target="/ppt/notesMasters/notesMaster1.xml" Id="R92d66e7d3ccb4018" /><Relationship Type="http://schemas.openxmlformats.org/officeDocument/2006/relationships/presProps" Target="/ppt/presProps.xml" Id="R954c6ae584d14f2f" /><Relationship Type="http://schemas.openxmlformats.org/officeDocument/2006/relationships/viewProps" Target="/ppt/viewProps.xml" Id="R061269fd4efb4feb" /><Relationship Type="http://schemas.openxmlformats.org/officeDocument/2006/relationships/tableStyles" Target="/ppt/tableStyles.xml" Id="Rcb181fe1a7f74d6e" /><Relationship Type="http://schemas.openxmlformats.org/officeDocument/2006/relationships/slide" Target="/ppt/slides/slide1.xml" Id="R08f91a46d2104ac6" /><Relationship Type="http://schemas.openxmlformats.org/officeDocument/2006/relationships/slide" Target="/ppt/slides/slide2.xml" Id="R1261f58107d3431f" /><Relationship Type="http://schemas.openxmlformats.org/officeDocument/2006/relationships/slide" Target="/ppt/slides/slide3.xml" Id="Rc6ee7ebe5dbf4a5a" /><Relationship Type="http://schemas.openxmlformats.org/officeDocument/2006/relationships/slide" Target="/ppt/slides/slide4.xml" Id="R65cd48b1e33d4e31" /><Relationship Type="http://schemas.openxmlformats.org/officeDocument/2006/relationships/slide" Target="/ppt/slides/slide5.xml" Id="R625f5b2b6e4143fb" /><Relationship Type="http://schemas.openxmlformats.org/officeDocument/2006/relationships/slide" Target="/ppt/slides/slide6.xml" Id="Ra6528e22c8934a92" /><Relationship Type="http://schemas.openxmlformats.org/officeDocument/2006/relationships/slide" Target="/ppt/slides/slide7.xml" Id="R97b2a3ebeba14210" /><Relationship Type="http://schemas.openxmlformats.org/officeDocument/2006/relationships/slide" Target="/ppt/slides/slide8.xml" Id="R93fb42d7c15e46ff" /><Relationship Type="http://schemas.openxmlformats.org/officeDocument/2006/relationships/slide" Target="/ppt/slides/slide9.xml" Id="R2c5b8a9f372f415d" /><Relationship Type="http://schemas.openxmlformats.org/officeDocument/2006/relationships/slide" Target="/ppt/slides/slide10.xml" Id="R23abdbb0a25c48b7" /><Relationship Type="http://schemas.openxmlformats.org/officeDocument/2006/relationships/slide" Target="/ppt/slides/slide11.xml" Id="R09fe25216cc84801" /><Relationship Type="http://schemas.openxmlformats.org/officeDocument/2006/relationships/slide" Target="/ppt/slides/slide12.xml" Id="R9428aafad30c49e7" /><Relationship Type="http://schemas.openxmlformats.org/officeDocument/2006/relationships/slide" Target="/ppt/slides/slide13.xml" Id="R3500dabf3b03468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0704e6f04d40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c6eac29f3748ae" /><Relationship Type="http://schemas.openxmlformats.org/officeDocument/2006/relationships/notesMaster" Target="/ppt/notesMasters/notesMaster1.xml" Id="R38fb6f80384c4a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8f6a7cbf3844f62" /><Relationship Type="http://schemas.openxmlformats.org/officeDocument/2006/relationships/notesMaster" Target="/ppt/notesMasters/notesMaster1.xml" Id="R26e243ae2a7b45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21fd419f974193" /><Relationship Type="http://schemas.openxmlformats.org/officeDocument/2006/relationships/notesMaster" Target="/ppt/notesMasters/notesMaster1.xml" Id="R7a5e8c19bc394e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14d67eb0a14f08" /><Relationship Type="http://schemas.openxmlformats.org/officeDocument/2006/relationships/notesMaster" Target="/ppt/notesMasters/notesMaster1.xml" Id="R1ce8e72fe64145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eadf3af2c943b4" /><Relationship Type="http://schemas.openxmlformats.org/officeDocument/2006/relationships/notesMaster" Target="/ppt/notesMasters/notesMaster1.xml" Id="R5d908d183dd7410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7d9b5b05e54535" /><Relationship Type="http://schemas.openxmlformats.org/officeDocument/2006/relationships/notesMaster" Target="/ppt/notesMasters/notesMaster1.xml" Id="Re6e488ae7e06442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7a1a5225db42cb" /><Relationship Type="http://schemas.openxmlformats.org/officeDocument/2006/relationships/notesMaster" Target="/ppt/notesMasters/notesMaster1.xml" Id="R47b680d5066b463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7a08e31f5af48a6" /><Relationship Type="http://schemas.openxmlformats.org/officeDocument/2006/relationships/notesMaster" Target="/ppt/notesMasters/notesMaster1.xml" Id="Ra084a721b31346b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5d8ac93599f492e" /><Relationship Type="http://schemas.openxmlformats.org/officeDocument/2006/relationships/notesMaster" Target="/ppt/notesMasters/notesMaster1.xml" Id="R54887ae24446491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225e157c4b345b1" /><Relationship Type="http://schemas.openxmlformats.org/officeDocument/2006/relationships/notesMaster" Target="/ppt/notesMasters/notesMaster1.xml" Id="R722a71791cda426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1da2b9859874df4" /><Relationship Type="http://schemas.openxmlformats.org/officeDocument/2006/relationships/notesMaster" Target="/ppt/notesMasters/notesMaster1.xml" Id="R2c744c19b9fa490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dee9d900eb4649" /><Relationship Type="http://schemas.openxmlformats.org/officeDocument/2006/relationships/notesMaster" Target="/ppt/notesMasters/notesMaster1.xml" Id="R900e909beeb6429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bcffe69f8f6407e" /><Relationship Type="http://schemas.openxmlformats.org/officeDocument/2006/relationships/notesMaster" Target="/ppt/notesMasters/notesMaster1.xml" Id="Rd5cbc014f8324f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met over dinner, and you told me you do not trust AI because you cannot see what it does.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 I am not asking you to believe a promise. I am going to show you a single decision from start to finish.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workflow runs, its reasoning is visible, and every number traces back to the project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 END OF SPOKEN NOTES 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README.md and linked evidence deliverables.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asked 2 questions: what exactly is the AI, and how would you see what it is doing?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 considered 3 use cases: complaint triage, anomaly flagging, and reporting assistance. I ranked them by how clearly we can inspect the reasoning, not by the largest promised saving.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Triage comes first because we can watch the decision. The system proposes a team, shows the supporting words, and lets a person confirm or reject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 am ruling out a chatbot because it can fail publicly in the firm’s voice. I am ruling out credit scoring because it is an Annex III high-risk use under the EU AI 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fastest way to earn your trust is to be clear about what you should not buy.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 let me show you the opportunity in real complaint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 END OF SPOKEN NOTES 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research/use_cases.md.</a:t>
            </a:r>
          </a:p>
          <a:p xmlns:a="http://schemas.openxmlformats.org/drawingml/2006/main">
            <a:r>
              <a:t>- EU AI Act, Annex III: https://eur-lex.europa.eu/eli/reg/2024/1689/oj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dashboard uses public CFPB data as a proxy. These are not your firm’s numbers; Phase 0 measures your real complaint mix and volume.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analysis contains 16,839 complaints. 98.0% received a timely response, while 12.7% ended with monetary relief.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key number is 46.1%: 5 of 64 issue categories account for almost half of the complaints. That suggests a bounded starting point instead of asking a model to handle every issue equally well.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public data tells us where to investigate. Your own data decides what enters the pilot.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 let me show you a decision you can inspect.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 END OF SPOKEN NOTES 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CFPB Consumer Complaint Database: https://www.consumerfinance.gov/data-research/consumer-complaints/</a:t>
            </a:r>
          </a:p>
          <a:p xmlns:a="http://schemas.openxmlformats.org/drawingml/2006/main">
            <a:r>
              <a:t>- Project repository: README.md and research/sector_research.md.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Here is the workflow processing a real complaint. It proposes the Disputes and Fraud team, quotes the customer’s words as evidence, and stops for a person to confirm.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monitoring view records every decision. Of 60 cases, 52 produced a proposal. 4 stopped for low confidence, and 4 because the quoted evidence was not in the complaint.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Those fabricated quotations matter most. The model sounded convincing, but the validation check caught them and sent each case to human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broader evaluation produced 60.5% team-level agreement against consumer-selected CFPB labels. That is not deployment-quality evidence, and those labels are not expert routing decisions.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process runs and can be observed. Accuracy must now be measured against the client’s expert-labelled complaints. That is why the proposal is staged.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 END OF SPOKEN NOTES 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langsmith/experiment_summary.json.</a:t>
            </a:r>
          </a:p>
          <a:p xmlns:a="http://schemas.openxmlformats.org/drawingml/2006/main">
            <a:r>
              <a:t>- Project repository: classifier/eval_results_gpt-4o.json and classifier/FINDINGS.md.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proposal uses a fixed fee for each phase because the problem is uncertainty.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Phase 0 costs €5,600. 2 experienced handlers label 300 complaints independently, creating the trustworthy reference set we need.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Phase 1 costs €8,400 and runs an assist-only pilot beside the existing process. Together, the phases cost €14,000 and reach a real decision 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Annual operation is estimated at €7,400, almost entirely for human oversight and the platform. Under the stated assumptions, the model calls cost about €0.29 per year. The model is not the expensive part; accountable operation 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 am not claiming it will prevent 4 ombudsman referrals a year. The pilot must test that hypothesis.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ask is €14,000 to reach an evidence-based decision, not €24,500 for a deployment that has not earned approval.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That is my proposal. Thank you. For Round 2, I would most value your view on whether the evidence, controls, and staged investment make Phase 0 a credible next step.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 END OF SPOKEN NOTES 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cost_estimation/cost_model.json and cost_estimation/cost_analysis.md.</a:t>
            </a:r>
          </a:p>
          <a:p xmlns:a="http://schemas.openxmlformats.org/drawingml/2006/main">
            <a:r>
              <a:t>- Financial Ombudsman Service case fees: https://www.financial-ombudsman.org.uk/businesses/resolving-complaint/case-fees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ranked the 3 proposed use cases by how visible and controllable their reasoning can be.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Complaint triage can propose a team and show the exact evidence behind the proposal. Anomaly flagging can identify unusual patterns for a person to investigate. Reporting assistance can draft material while leaving approval with a named employee.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 ruled out 2 uses. A customer-facing chatbot could make public errors in the firm’s voice. Credit scoring directly affects access to financial services and is classified as high-risk under the EU AI 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point is not to find the most impressive use case. It is to choose a use case whose risks can be bounded and whose decisions can be examined.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 END OF SPOKEN NOTES 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research/use_cases.md.</a:t>
            </a:r>
          </a:p>
          <a:p xmlns:a="http://schemas.openxmlformats.org/drawingml/2006/main">
            <a:r>
              <a:t>- EU AI Act, Annex III: https://eur-lex.europa.eu/eli/reg/2024/1689/oj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chart explains how I bounded the initial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 the public dataset, 5 of 64 issue categories account for 46.1% of complaints. That makes it possible to test a narrow, high-volume starting point instead of pretending the model can handle the entire taxonomy equally well.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 would not assume that 46.1% applies to the client. Phase 0 must measure the client’s own concentration and decide which categories belong in the pilot.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public result is a reason to investigate a focused scope, not a forecast of the client’s complaint 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 END OF SPOKEN NOTES 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README.md and research/sector_research.md.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separates how often complaints occur from how consequential they may be.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Checking and savings accounts and credit cards produce most of the complaint volume in this dataset. But monetary relief appears in 17.2% of credit-card complaints, compared with 3.0% for vehicle-lending complaints. That is a 5.7× difference.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implication is that routing priorities should not be based on volume alone. Product type and likely consequence also matter.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a signal from public data, not a forecast for the client. The client’s own product mix, resolution costs, and escalation patterns must be measured during discovery and the pilot.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 END OF SPOKEN NOTES 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research/sector_research.md and dashboard evidence.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 the 60-case monitoring sample, 52 complaints passed all validation checks and produced a proposal.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 were sent to human review because the model’s evidence quotation was not present verbatim in the complaint. Another 4 were sent to human review because confidence was below the threshold.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Every case in the sample has a recorded outcome and a reason code. 0 cases disappeared into an unexplained bucket.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does not prove that every proposal was correct. It proves that proposals, rejections, and non-decisions can all be traced and discussed.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 END OF SPOKEN NOTES 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langsmith/experiment_summary.json.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60.5% result should not be interpreted as a clean measure of model accuracy.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When the same model classified the same complaints again, it selected the same team approximately 89% of the time. It was relatively consistent with itself but disagreed much more often with the CFPB label.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CFPB issue label is selected by the person filing the complaint, using a product-specific menu. It is not an expert judgement about which internal team should handle the case.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suggests label quality is a major measurement bottleneck, but it does not prove that the model is correct. Phase 0 resolves that uncertainty by asking experienced handlers to create an expert-labelled reference set and by measuring their agreement with one another.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 END OF SPOKEN NOTES 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classifier/eval_results_gpt-4o.json.</a:t>
            </a:r>
          </a:p>
          <a:p xmlns:a="http://schemas.openxmlformats.org/drawingml/2006/main">
            <a:r>
              <a:t>- Project repository: classifier/FINDINGS.md.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 data problems could have produced confident but misleading conclusions.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First, recent complaint volume appeared to collapse by 73% because the regulator publishes complaints only after the company responds or enough time passes. I removed the incomplete period and ended the analysis window on 27 June.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Second, the apparent response-time field was 0 for 96% of records because it measured the regulator’s routing process, not the firm’s handling time. I excluded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Third, 2 different timeliness fields created apparently conflicting percentages. I separated their meanings instead of treating them as the same metric.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lesson is that a field can be complete and still mean the wrong thing for the business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 END OF SPOKEN NOTES 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README.md and the documented data-quality checks.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My Round 1 compliance position is deliberately preliminary.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system proposes an internal complaint-routing team. It does not assess creditworthiness, determine access to a financial service, or make the final decision on a customer’s complaint. A human remains responsible for confirming the route and resolving the case.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On that intended use, I do not currently see it matching the Annex III creditworthiness use that is classified as high-risk. However, classification depends on the exact intended purpose, deployment context, data flows, and degree of human control.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Round 2 therefore needs a step-by-step classification and obligations assessment. If the system begins routing automatically or influencing substantive customer outcomes, that is a new assessment, not a minor product upgrade.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 END OF SPOKEN NOTES 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research/compliance_analysis.md.</a:t>
            </a:r>
          </a:p>
          <a:p xmlns:a="http://schemas.openxmlformats.org/drawingml/2006/main">
            <a:r>
              <a:t>- EU AI Act: https://eur-lex.europa.eu/eli/reg/2024/1689/oj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figure in the pitch fits 1 of 3 categories: measured in this project, taken from a named public source, or explicitly labelled as an assumption or professional judgement.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complaint analysis comes from the public CFPB dataset. The client-size and complaint-rate estimates use stated FCA benchmarks and scenario assumptions. The model behaviour comes from the project’s own evaluations. Soft inputs such as minutes per complaint, employer on-costs, and platform cost are labelled as judgements in the cost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purpose of this slide is not to claim certainty. It is to make clear which figures are evidence, which are external benchmarks, and which must be validated during Phase 0 and the pilot.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 END OF SPOKEN NOTES 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CFPB Consumer Complaint Database: https://www.consumerfinance.gov/data-research/consumer-complaints/</a:t>
            </a:r>
          </a:p>
          <a:p xmlns:a="http://schemas.openxmlformats.org/drawingml/2006/main">
            <a:r>
              <a:t>- Project repository: README.md, classifier evaluation files, and cost_estimation/cost_model.json.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27f8f28ccb48a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922139f99304463" /><Relationship Type="http://schemas.openxmlformats.org/officeDocument/2006/relationships/slideLayout" Target="/ppt/slideLayouts/slideLayout1.xml" Id="Ra08236cf2a85407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8236cf2a854077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d29599b6e04d43" /><Relationship Type="http://schemas.openxmlformats.org/officeDocument/2006/relationships/notesSlide" Target="/ppt/notesSlides/notesSlide1.xml" Id="R3fea4cbfb66045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cc461b3a04914" /><Relationship Type="http://schemas.openxmlformats.org/officeDocument/2006/relationships/image" Target="/ppt/media/image.png" Id="R6e5699fe50fe467e" /><Relationship Type="http://schemas.openxmlformats.org/officeDocument/2006/relationships/notesSlide" Target="/ppt/notesSlides/notesSlide2.xml" Id="Re882dff39a4742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44cfa1ce75407a" /><Relationship Type="http://schemas.openxmlformats.org/officeDocument/2006/relationships/image" Target="/ppt/media/image2.png" Id="R0b8251a3718b497e" /><Relationship Type="http://schemas.openxmlformats.org/officeDocument/2006/relationships/image" Target="/ppt/media/image3.png" Id="R13d65269fb0f4c0a" /><Relationship Type="http://schemas.openxmlformats.org/officeDocument/2006/relationships/notesSlide" Target="/ppt/notesSlides/notesSlide3.xml" Id="R5700dd580fd74b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b68b6c262b4280" /><Relationship Type="http://schemas.openxmlformats.org/officeDocument/2006/relationships/image" Target="/ppt/media/image4.png" Id="Rce04a60dc9d14f70" /><Relationship Type="http://schemas.openxmlformats.org/officeDocument/2006/relationships/image" Target="/ppt/media/image5.png" Id="R7d38f3f1a2774910" /><Relationship Type="http://schemas.openxmlformats.org/officeDocument/2006/relationships/image" Target="/ppt/media/image6.png" Id="R1f63a93852f04afc" /><Relationship Type="http://schemas.openxmlformats.org/officeDocument/2006/relationships/notesSlide" Target="/ppt/notesSlides/notesSlide4.xml" Id="R768aaba209d24b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3f87bfcc3643b6" /><Relationship Type="http://schemas.openxmlformats.org/officeDocument/2006/relationships/image" Target="/ppt/media/image7.png" Id="R13e6730f99fc4e9b" /><Relationship Type="http://schemas.openxmlformats.org/officeDocument/2006/relationships/notesSlide" Target="/ppt/notesSlides/notesSlide5.xml" Id="R3c359ee820964f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8f669900be4e29" /><Relationship Type="http://schemas.openxmlformats.org/officeDocument/2006/relationships/image" Target="/ppt/media/image8.png" Id="R00c066079d0349d3" /><Relationship Type="http://schemas.openxmlformats.org/officeDocument/2006/relationships/notesSlide" Target="/ppt/notesSlides/notesSlide6.xml" Id="R5641d773315b48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2ae84384ce4f3f" /><Relationship Type="http://schemas.openxmlformats.org/officeDocument/2006/relationships/image" Target="/ppt/media/image9.png" Id="Rd1952b5d32ef4c72" /><Relationship Type="http://schemas.openxmlformats.org/officeDocument/2006/relationships/notesSlide" Target="/ppt/notesSlides/notesSlide7.xml" Id="R5e6585322c8646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a110a49d1644ed" /><Relationship Type="http://schemas.openxmlformats.org/officeDocument/2006/relationships/image" Target="/ppt/media/image10.png" Id="R4a772d607aaa4ac9" /><Relationship Type="http://schemas.openxmlformats.org/officeDocument/2006/relationships/notesSlide" Target="/ppt/notesSlides/notesSlide8.xml" Id="R45326cf273174f1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f232b1eff4476e" /><Relationship Type="http://schemas.openxmlformats.org/officeDocument/2006/relationships/image" Target="/ppt/media/image11.png" Id="Rb5284b16b98e42e3" /><Relationship Type="http://schemas.openxmlformats.org/officeDocument/2006/relationships/notesSlide" Target="/ppt/notesSlides/notesSlide9.xml" Id="Ra16253b95a28405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20528b7ba541b5" /><Relationship Type="http://schemas.openxmlformats.org/officeDocument/2006/relationships/image" Target="/ppt/media/image12.png" Id="R0f3d894925b04885" /><Relationship Type="http://schemas.openxmlformats.org/officeDocument/2006/relationships/notesSlide" Target="/ppt/notesSlides/notesSlide10.xml" Id="R2186ba6b2c3648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3772455f9b46d7" /><Relationship Type="http://schemas.openxmlformats.org/officeDocument/2006/relationships/image" Target="/ppt/media/image13.png" Id="R1886efa8b461432c" /><Relationship Type="http://schemas.openxmlformats.org/officeDocument/2006/relationships/notesSlide" Target="/ppt/notesSlides/notesSlide11.xml" Id="R2139a628993e43f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bdb2e41ea5427d" /><Relationship Type="http://schemas.openxmlformats.org/officeDocument/2006/relationships/image" Target="/ppt/media/image14.png" Id="Rff11f4af29194410" /><Relationship Type="http://schemas.openxmlformats.org/officeDocument/2006/relationships/notesSlide" Target="/ppt/notesSlides/notesSlide12.xml" Id="Re55ee151ba5c455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fdff41cf24278" /><Relationship Type="http://schemas.openxmlformats.org/officeDocument/2006/relationships/image" Target="/ppt/media/image15.png" Id="Ree956af79c8448bb" /><Relationship Type="http://schemas.openxmlformats.org/officeDocument/2006/relationships/notesSlide" Target="/ppt/notesSlides/notesSlide13.xml" Id="Ree78a054ecfb419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D2A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C972677-03F9-446D-B185-192350B7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>
            <a:off x="9902952" y="-1005840"/>
            <a:ext cx="2011680" cy="2011680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445A69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BCB1693-028E-4F5C-B3BD-DA0F5B89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>
            <a:off x="10451592" y="-457200"/>
            <a:ext cx="914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>
              <a:alpha val="22000"/>
            </a:srgbClr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427C93D-CF3D-4624-997A-1991753E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874520"/>
            <a:ext cx="1105509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400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CAPSTONE ROUND 1  ·  PITCH TO CHLEO</a:t>
            </a:r>
            <a:endParaRPr sz="13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098B855-6157-4307-9AA0-621368231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286000"/>
            <a:ext cx="11055096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80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See exactly what the AI does</a:t>
            </a:r>
            <a:endParaRPr sz="48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02E3BC8-2816-4B43-86A6-973371BC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310128"/>
            <a:ext cx="1105509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i="1">
                <a:solidFill>
                  <a:srgbClr val="C6D8E4"/>
                </a:solidFill>
                <a:latin typeface="Trebuchet MS"/>
                <a:ea typeface="Trebuchet MS"/>
                <a:cs typeface="Trebuchet MS"/>
              </a:rPr>
              <a:t>Complaint triage for a mid-size financial services firm</a:t>
            </a:r>
            <a:endParaRPr sz="1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4B16C05-2335-45DE-A7E7-2A26D2BB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14800"/>
            <a:ext cx="274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78D6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945BCC3-EFBF-4E18-94A8-E756912D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297680"/>
            <a:ext cx="1105509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Ugo Ahukannah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Round 1 — research, dashboard, POC, monitoring, cost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590A296-C572-430F-A25E-6BCB177C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550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Public CFPB data · 16,839 complaints    </a:t>
            </a:r>
            <a:r>
              <a:rPr sz="9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All figures reproducible from the repo    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8F0C9F4-27CE-4BDE-9DED-6D2C4254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-1645920"/>
            <a:ext cx="3200400" cy="3246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A32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01A879C-1BF6-4095-99C6-7AC4FBBC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6304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8534FFA-FF96-4977-9790-6B705D59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6304" cy="2880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BFF0"/>
          </a:solidFill>
        </p:spPr>
      </p:sp>
    </p:spTree>
    <p:extLst>
      <p:ext uri="{BB962C8B-B14F-4D97-AF65-F5344CB8AC3E}">
        <p14:creationId xmlns:p14="http://schemas.microsoft.com/office/powerpoint/2010/main" val="17289599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C0A68A0-885A-41B8-BFB7-7EAB3F14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110550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2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CAPSTONE ROUND 1  ·  AI CONSULTING PITCH</a:t>
            </a:r>
            <a:endParaRPr sz="105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EA3FEC7-4E1D-403B-825F-806056AD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836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43F"/>
          </a:solidFill>
        </p:spPr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5699fe50fe46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" y="800100"/>
            <a:ext cx="283464" cy="283464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B470AE5-51D9-42A7-A49E-754C77E4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621792"/>
            <a:ext cx="1030528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A mid-size bank needs AI it can inspect</a:t>
            </a:r>
            <a:endParaRPr sz="3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DFB73B41-3264-417E-B0E9-AA0D45C36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110550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9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1920A8D3-56B9-411E-9B95-52B0BA1B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822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9EE23009-4616-4F6C-A88E-F1CACA6D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81328"/>
            <a:ext cx="1059789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100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TAKEAWAY   </a:t>
            </a:r>
            <a:r>
              <a:rPr sz="130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You never asked whether AI works. You asked what it is, and how you would see it.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6F0A0BB3-7686-41A5-93A2-9AE66F8B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10550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3E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4BAFE3E-0BD1-4052-8B5E-2400E8C5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09982725-8484-4FCC-BB50-C1BB31C3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744" y="647395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1</a:t>
            </a:r>
            <a:endParaRPr sz="85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9488555-424B-4DF3-85D1-91FB62B0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395728"/>
            <a:ext cx="3502152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A"/>
            </a:solidFill>
            <a:prstDash val="solid"/>
          </a:ln>
          <a:effectLst xmlns:a="http://schemas.openxmlformats.org/drawingml/2006/main">
            <a:outerShdw blurRad="88900" dist="38100" dir="8100000" sx="100000" sy="100000" kx="0" ky="0" algn="bl" rotWithShape="0">
              <a:srgbClr val="1C2440">
                <a:alpha val="13000"/>
              </a:srgbClr>
            </a:outerShdw>
          </a:effectLst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E6FEE50B-D1FD-4509-ABD3-84BFFEEE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578608"/>
            <a:ext cx="30998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 spc="150">
                <a:solidFill>
                  <a:srgbClr val="445A69"/>
                </a:solidFill>
                <a:latin typeface="Calibri"/>
                <a:ea typeface="Calibri"/>
                <a:cs typeface="Calibri"/>
              </a:rPr>
              <a:t>THE FIRM</a:t>
            </a:r>
            <a:endParaRPr sz="9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28754D22-995A-4107-B9A8-F6029364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852928"/>
            <a:ext cx="309981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Financial services, mid-size</a:t>
            </a:r>
            <a:endParaRPr sz="16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D7CBBD6-CBFE-4EE5-9F94-8F7AD8C0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3474720"/>
            <a:ext cx="309981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~500 staff, ~250,000 retail customers, EU. Current accounts, cards, personal and vehicle lending.</a:t>
            </a:r>
            <a:endParaRPr sz="11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4010573-4DFA-4F58-A410-87A15A8C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95728"/>
            <a:ext cx="3502152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43F"/>
          </a:solidFill>
          <a:effectLst xmlns:a="http://schemas.openxmlformats.org/drawingml/2006/main">
            <a:outerShdw blurRad="88900" dist="38100" dir="8100000" sx="100000" sy="100000" kx="0" ky="0" algn="bl" rotWithShape="0">
              <a:srgbClr val="1C2440">
                <a:alpha val="13000"/>
              </a:srgbClr>
            </a:outerShdw>
          </a:effectLst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2604AE16-3005-47A4-9C1E-A143C7BA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2578608"/>
            <a:ext cx="30998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 spc="150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THE FEAR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D2DF7392-AF5B-49AC-A8F8-861F9C1C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2852928"/>
            <a:ext cx="309981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“AI is not transparent”</a:t>
            </a:r>
            <a:endParaRPr sz="16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F25935AC-ED8F-410F-A5DF-11C25BAB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3474720"/>
            <a:ext cx="309981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Your words. You could not say what “the AI” would be, or how you would sign up.</a:t>
            </a:r>
            <a:endParaRPr sz="11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A3CA519-F1F5-4896-B10F-F9A52070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395728"/>
            <a:ext cx="3502152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A"/>
            </a:solidFill>
            <a:prstDash val="solid"/>
          </a:ln>
          <a:effectLst xmlns:a="http://schemas.openxmlformats.org/drawingml/2006/main">
            <a:outerShdw blurRad="88900" dist="38100" dir="8100000" sx="100000" sy="100000" kx="0" ky="0" algn="bl" rotWithShape="0">
              <a:srgbClr val="1C2440">
                <a:alpha val="13000"/>
              </a:srgbClr>
            </a:outerShdw>
          </a:effectLst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50ADA36-242C-40AE-A33D-692D2A69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578608"/>
            <a:ext cx="30998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 spc="150">
                <a:solidFill>
                  <a:srgbClr val="445A69"/>
                </a:solidFill>
                <a:latin typeface="Calibri"/>
                <a:ea typeface="Calibri"/>
                <a:cs typeface="Calibri"/>
              </a:rPr>
              <a:t>THE PITCH</a:t>
            </a:r>
            <a:endParaRPr sz="95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E150AC1D-0D78-43D2-A31D-F250C60A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852928"/>
            <a:ext cx="309981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3 use cases</a:t>
            </a:r>
            <a:endParaRPr sz="16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35B1CEDB-5A05-46CE-84C6-80930859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474720"/>
            <a:ext cx="309981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1. Complaint triage  ·  2. Anomaly flagging  ·  3. Reporting assistance. Ranked by how visible the reasoning is.</a:t>
            </a:r>
            <a:endParaRPr sz="11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0862710D-6A4B-4F66-A9D5-5AA02317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73168"/>
            <a:ext cx="11055096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9"/>
          </a:solidFill>
        </p:spPr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3F883784-EC2A-4C68-800E-F814E1EE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73168"/>
            <a:ext cx="82296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4C6A863-FE5A-4EF0-8B82-E38C8B66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73168"/>
            <a:ext cx="1059789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And 2 I refuse to build</a:t>
            </a:r>
            <a:r>
              <a:rPr sz="1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:  </a:t>
            </a:r>
            <a:r>
              <a:rPr sz="125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 customer-facing chatbot, which fails in public in your customer's voice; and credit scoring, which is Annex III high-risk under the EU AI Act.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10281674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CC232A2-4369-498C-9D85-A582B78E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110550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2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CAPSTONE ROUND 1  ·  AI CONSULTING PITCH</a:t>
            </a:r>
            <a:endParaRPr sz="105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42AE54-5296-4410-90D8-64C4275D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836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43F"/>
          </a:solidFill>
        </p:spPr>
      </p:sp>
      <p:pic>
        <p:nvPicPr>
          <p:cNvPr id="1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8251a3718b49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" y="800100"/>
            <a:ext cx="283464" cy="283464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D8468A89-22F4-4FF3-82DC-36C3F33BD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621792"/>
            <a:ext cx="1030528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4 numbers define the opportunity</a:t>
            </a:r>
            <a:endParaRPr sz="3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BE407897-6C6D-4A4D-9142-0FDC2C94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10550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3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C2F9421-0A72-44F9-B19B-7CBE6664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85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A1C608C6-76BA-4C20-844C-AB7C1CFF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744" y="647395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2</a:t>
            </a:r>
            <a:endParaRPr sz="850"/>
          </a:p>
        </p:txBody>
      </p:sp>
      <p:pic>
        <p:nvPicPr>
          <p:cNvPr id="2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d65269fb0f4c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1481328"/>
            <a:ext cx="6964710" cy="4873752"/>
          </a:xfrm>
          <a:prstGeom xmlns:a="http://schemas.openxmlformats.org/drawingml/2006/main" prst="rect">
            <a:avLst/>
          </a:prstGeom>
        </p:spPr>
      </p:pic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0524DD7-5E36-4BD5-BB42-CA9F47B6C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4246" y="1481328"/>
            <a:ext cx="3797778" cy="48737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43F"/>
          </a:solidFill>
          <a:effectLst xmlns:a="http://schemas.openxmlformats.org/drawingml/2006/main">
            <a:outerShdw blurRad="88900" dist="38100" dir="8100000" sx="100000" sy="100000" kx="0" ky="0" algn="bl" rotWithShape="0">
              <a:srgbClr val="1C2440">
                <a:alpha val="13000"/>
              </a:srgbClr>
            </a:outerShdw>
          </a:effectLst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016CEC6A-785C-4977-B162-F7D07A76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1990" y="1700784"/>
            <a:ext cx="334057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■ </a:t>
            </a: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Why each one matters to you</a:t>
            </a:r>
            <a:endParaRPr sz="11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D7524D0-516C-413D-9B47-AF9B76D2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1990" y="2139696"/>
            <a:ext cx="3322290" cy="3959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500"/>
              </a:spcAft>
              <a:buSzPct val="100000"/>
              <a:buChar char="•"/>
            </a:pPr>
            <a:r>
              <a:rPr sz="1250">
                <a:solidFill>
                  <a:srgbClr val="C6D8E4"/>
                </a:solidFill>
              </a:rPr>
              <a:t>16,839 complaints — the size of the job, not a sample</a:t>
            </a:r>
            <a:endParaRPr sz="1250"/>
          </a:p>
          <a:p xmlns:a="http://schemas.openxmlformats.org/drawingml/2006/main">
            <a:pPr marL="152400" indent="-152400">
              <a:spcAft>
                <a:spcPts val="500"/>
              </a:spcAft>
              <a:buSzPct val="100000"/>
              <a:buChar char="•"/>
            </a:pPr>
            <a:r>
              <a:rPr sz="1250">
                <a:solidFill>
                  <a:srgbClr val="C6D8E4"/>
                </a:solidFill>
              </a:rPr>
              <a:t>98.0% answered on time — the measure you already report to your regulator</a:t>
            </a:r>
            <a:endParaRPr sz="1250"/>
          </a:p>
          <a:p xmlns:a="http://schemas.openxmlformats.org/drawingml/2006/main">
            <a:pPr marL="152400" indent="-152400">
              <a:spcAft>
                <a:spcPts val="500"/>
              </a:spcAft>
              <a:buSzPct val="100000"/>
              <a:buChar char="•"/>
            </a:pPr>
            <a:r>
              <a:rPr sz="1250">
                <a:solidFill>
                  <a:srgbClr val="C6D8E4"/>
                </a:solidFill>
              </a:rPr>
              <a:t>12.7% cost money to resolve — the only figure here in your currency</a:t>
            </a:r>
            <a:endParaRPr sz="1250"/>
          </a:p>
          <a:p xmlns:a="http://schemas.openxmlformats.org/drawingml/2006/main">
            <a:pPr marL="152400" indent="-152400">
              <a:spcAft>
                <a:spcPts val="500"/>
              </a:spcAft>
              <a:buSzPct val="100000"/>
              <a:buChar char="•"/>
            </a:pPr>
            <a:r>
              <a:rPr sz="1250">
                <a:solidFill>
                  <a:srgbClr val="C6D8E4"/>
                </a:solidFill>
              </a:rPr>
              <a:t>46% sit in 5 of 64 categories</a:t>
            </a:r>
            <a:r>
              <a:rPr sz="1250">
                <a:solidFill>
                  <a:srgbClr val="C6D8E4"/>
                </a:solidFill>
              </a:rPr>
              <a:t> — the opportunity, as a share not a promise</a:t>
            </a:r>
            <a:endParaRPr sz="1250"/>
          </a:p>
          <a:p xmlns:a="http://schemas.openxmlformats.org/drawingml/2006/main">
            <a:pPr marL="152400" indent="-152400">
              <a:spcAft>
                <a:spcPts val="500"/>
              </a:spcAft>
              <a:buSzPct val="100000"/>
              <a:buChar char="•"/>
            </a:pPr>
            <a:r>
              <a:rPr sz="1250">
                <a:solidFill>
                  <a:srgbClr val="C6D8E4"/>
                </a:solidFill>
              </a:rPr>
              <a:t>Whose numbers? Not yours. Public regulator data standing in for your book until Phase 0. The shape transfers; the volume does not.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17359816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C7FF10D-37B4-41A5-8143-24E70F67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110550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2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CAPSTONE ROUND 1  ·  AI CONSULTING PITCH</a:t>
            </a:r>
            <a:endParaRPr sz="105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82312DF-455D-446D-AD40-65F4D88D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836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43F"/>
          </a:solidFill>
        </p:spPr>
      </p:sp>
      <p:pic>
        <p:nvPicPr>
          <p:cNvPr id="8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04a60dc9d14f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" y="800100"/>
            <a:ext cx="283464" cy="283464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E3E6B6EA-B7A2-4979-909F-94D34DC1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621792"/>
            <a:ext cx="1030528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Every decision is visible—and uncertain cases stop</a:t>
            </a:r>
            <a:endParaRPr sz="3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FE4397E1-6A53-4C1A-9094-131B5383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10550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3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D8AB955-FEC5-4F62-8C28-33E4EFDB6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85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C221B9F-17F9-4A1F-89DD-E980721F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744" y="647395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3</a:t>
            </a:r>
            <a:endParaRPr sz="850"/>
          </a:p>
        </p:txBody>
      </p:sp>
      <p:pic>
        <p:nvPicPr>
          <p:cNvPr id="8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38f3f1a27749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1481328"/>
            <a:ext cx="4016045" cy="2788920"/>
          </a:xfrm>
          <a:prstGeom xmlns:a="http://schemas.openxmlformats.org/drawingml/2006/main" prst="rect">
            <a:avLst/>
          </a:prstGeom>
        </p:spPr>
      </p:pic>
      <p:pic>
        <p:nvPicPr>
          <p:cNvPr id="8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63a93852f04a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57293" y="1481328"/>
            <a:ext cx="4016045" cy="2788920"/>
          </a:xfrm>
          <a:prstGeom xmlns:a="http://schemas.openxmlformats.org/drawingml/2006/main" prst="rect">
            <a:avLst/>
          </a:prstGeom>
        </p:spPr>
      </p:pic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33C6C0BB-056F-45C4-8F41-D47DDD8B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401604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The workflow, running on 1 real complaint</a:t>
            </a:r>
            <a:endParaRPr sz="1050"/>
          </a:p>
        </p:txBody>
      </p:sp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5DA08784-B166-4BC8-B049-18730944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293" y="4315968"/>
            <a:ext cx="401604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The same decision, opened up in monitoring</a:t>
            </a:r>
            <a:endParaRPr sz="1050"/>
          </a:p>
        </p:txBody>
      </p:sp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ACFFE720-9A0B-497C-9373-48808C4E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188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C0FC9119-6B9E-4E45-B9A9-2465707C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667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B75B420C-6E37-4B78-96F1-D5436E04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146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6A8A0A97-8FC1-4AEA-9A8E-C1F6E7D4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625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79B494EE-32B9-4F45-B7F9-F970321B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1104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D21CAFA9-C50A-400B-B016-3FA31270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7584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36401BD1-FAD4-4C17-9841-868E19E3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063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2A3C6744-62E3-469E-8088-8696096B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0542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FD0DDD33-F5B8-4C99-918E-0BD579875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7021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17CDC898-6107-4875-AD3E-BBE3236D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500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4C3CF4E3-00AA-4F09-96C8-E28CD6AA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9980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003996E9-609B-468D-963F-C7DC5009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6459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910307AF-1A62-410C-A135-31AAF8BF1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2938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26" name="Shape 21">
            <a:extLst xmlns:a="http://schemas.openxmlformats.org/drawingml/2006/main">
              <a:ext uri="{FF2B5EF4-FFF2-40B4-BE49-F238E27FC236}">
                <a16:creationId xmlns:a16="http://schemas.microsoft.com/office/drawing/2014/main" id="{8E0742CE-2E77-45D5-B95E-4D64BA48F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9417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27" name="Shape 22">
            <a:extLst xmlns:a="http://schemas.openxmlformats.org/drawingml/2006/main">
              <a:ext uri="{FF2B5EF4-FFF2-40B4-BE49-F238E27FC236}">
                <a16:creationId xmlns:a16="http://schemas.microsoft.com/office/drawing/2014/main" id="{FF96A4FB-0ADC-4784-B3FC-A746DE1B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5896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FA9B4D88-DFEB-43BE-BCA3-FA7A9E3C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376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29" name="Shape 24">
            <a:extLst xmlns:a="http://schemas.openxmlformats.org/drawingml/2006/main">
              <a:ext uri="{FF2B5EF4-FFF2-40B4-BE49-F238E27FC236}">
                <a16:creationId xmlns:a16="http://schemas.microsoft.com/office/drawing/2014/main" id="{13C8E69F-4789-4A38-B2E1-419D7CF4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855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A880B6D3-8639-400B-BBDF-B0BC3D8F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5334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31" name="Shape 26">
            <a:extLst xmlns:a="http://schemas.openxmlformats.org/drawingml/2006/main">
              <a:ext uri="{FF2B5EF4-FFF2-40B4-BE49-F238E27FC236}">
                <a16:creationId xmlns:a16="http://schemas.microsoft.com/office/drawing/2014/main" id="{965B65B9-43DA-4F73-A0B3-68DE46F6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1813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32" name="Shape 27">
            <a:extLst xmlns:a="http://schemas.openxmlformats.org/drawingml/2006/main">
              <a:ext uri="{FF2B5EF4-FFF2-40B4-BE49-F238E27FC236}">
                <a16:creationId xmlns:a16="http://schemas.microsoft.com/office/drawing/2014/main" id="{F658E15E-0CEF-4AFE-BA95-A4A59637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292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33" name="Shape 28">
            <a:extLst xmlns:a="http://schemas.openxmlformats.org/drawingml/2006/main">
              <a:ext uri="{FF2B5EF4-FFF2-40B4-BE49-F238E27FC236}">
                <a16:creationId xmlns:a16="http://schemas.microsoft.com/office/drawing/2014/main" id="{0DF9E185-7252-449F-AAAA-E2F056E5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4772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34" name="Shape 29">
            <a:extLst xmlns:a="http://schemas.openxmlformats.org/drawingml/2006/main">
              <a:ext uri="{FF2B5EF4-FFF2-40B4-BE49-F238E27FC236}">
                <a16:creationId xmlns:a16="http://schemas.microsoft.com/office/drawing/2014/main" id="{40BC5556-B19C-48B1-B680-8A3A5496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51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35" name="Shape 30">
            <a:extLst xmlns:a="http://schemas.openxmlformats.org/drawingml/2006/main">
              <a:ext uri="{FF2B5EF4-FFF2-40B4-BE49-F238E27FC236}">
                <a16:creationId xmlns:a16="http://schemas.microsoft.com/office/drawing/2014/main" id="{7EA3C5DD-2B57-40C6-A286-BEA72A1D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730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36" name="Shape 31">
            <a:extLst xmlns:a="http://schemas.openxmlformats.org/drawingml/2006/main">
              <a:ext uri="{FF2B5EF4-FFF2-40B4-BE49-F238E27FC236}">
                <a16:creationId xmlns:a16="http://schemas.microsoft.com/office/drawing/2014/main" id="{C8C4BD3F-B00B-49F7-ACEC-74852F53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4209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37" name="Shape 32">
            <a:extLst xmlns:a="http://schemas.openxmlformats.org/drawingml/2006/main">
              <a:ext uri="{FF2B5EF4-FFF2-40B4-BE49-F238E27FC236}">
                <a16:creationId xmlns:a16="http://schemas.microsoft.com/office/drawing/2014/main" id="{4FC7EF4F-4CD0-4BE3-9B1A-C71BBC16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0688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38" name="Shape 33">
            <a:extLst xmlns:a="http://schemas.openxmlformats.org/drawingml/2006/main">
              <a:ext uri="{FF2B5EF4-FFF2-40B4-BE49-F238E27FC236}">
                <a16:creationId xmlns:a16="http://schemas.microsoft.com/office/drawing/2014/main" id="{F860FAAA-C289-40E4-9D6E-642A59E3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7168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39" name="Shape 34">
            <a:extLst xmlns:a="http://schemas.openxmlformats.org/drawingml/2006/main">
              <a:ext uri="{FF2B5EF4-FFF2-40B4-BE49-F238E27FC236}">
                <a16:creationId xmlns:a16="http://schemas.microsoft.com/office/drawing/2014/main" id="{9EB429E7-EC17-447B-ACC6-C6F93C40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3647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40" name="Shape 35">
            <a:extLst xmlns:a="http://schemas.openxmlformats.org/drawingml/2006/main">
              <a:ext uri="{FF2B5EF4-FFF2-40B4-BE49-F238E27FC236}">
                <a16:creationId xmlns:a16="http://schemas.microsoft.com/office/drawing/2014/main" id="{AFF60252-1B04-497E-910B-23BB7EDEC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0126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D2CC6FF2-9CE5-450B-BC31-4AA2CBAD6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6605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62A1652B-70A0-4A93-BBDD-558B34E0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3084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43" name="Shape 38">
            <a:extLst xmlns:a="http://schemas.openxmlformats.org/drawingml/2006/main">
              <a:ext uri="{FF2B5EF4-FFF2-40B4-BE49-F238E27FC236}">
                <a16:creationId xmlns:a16="http://schemas.microsoft.com/office/drawing/2014/main" id="{C37E4613-89D8-4AE3-A1AC-E30CFEAE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9564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44" name="Shape 39">
            <a:extLst xmlns:a="http://schemas.openxmlformats.org/drawingml/2006/main">
              <a:ext uri="{FF2B5EF4-FFF2-40B4-BE49-F238E27FC236}">
                <a16:creationId xmlns:a16="http://schemas.microsoft.com/office/drawing/2014/main" id="{7E3A059D-BF52-4D32-A0F7-3B0A21EC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043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45" name="Shape 40">
            <a:extLst xmlns:a="http://schemas.openxmlformats.org/drawingml/2006/main">
              <a:ext uri="{FF2B5EF4-FFF2-40B4-BE49-F238E27FC236}">
                <a16:creationId xmlns:a16="http://schemas.microsoft.com/office/drawing/2014/main" id="{61F40BE0-A9B6-4BEB-B8D9-1CBD0D23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2522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E5DBEB2C-726F-4233-81CB-3B3A8964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9001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47" name="Shape 42">
            <a:extLst xmlns:a="http://schemas.openxmlformats.org/drawingml/2006/main">
              <a:ext uri="{FF2B5EF4-FFF2-40B4-BE49-F238E27FC236}">
                <a16:creationId xmlns:a16="http://schemas.microsoft.com/office/drawing/2014/main" id="{0602B37C-C7EF-4D71-A0C1-E420E8A5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5480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48" name="Shape 43">
            <a:extLst xmlns:a="http://schemas.openxmlformats.org/drawingml/2006/main">
              <a:ext uri="{FF2B5EF4-FFF2-40B4-BE49-F238E27FC236}">
                <a16:creationId xmlns:a16="http://schemas.microsoft.com/office/drawing/2014/main" id="{1FEF6B27-6781-48F6-BB88-903FCE74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960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49" name="Shape 44">
            <a:extLst xmlns:a="http://schemas.openxmlformats.org/drawingml/2006/main">
              <a:ext uri="{FF2B5EF4-FFF2-40B4-BE49-F238E27FC236}">
                <a16:creationId xmlns:a16="http://schemas.microsoft.com/office/drawing/2014/main" id="{639FA67E-34DF-4BD7-9E5D-5E2F74D3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8439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50" name="Shape 45">
            <a:extLst xmlns:a="http://schemas.openxmlformats.org/drawingml/2006/main">
              <a:ext uri="{FF2B5EF4-FFF2-40B4-BE49-F238E27FC236}">
                <a16:creationId xmlns:a16="http://schemas.microsoft.com/office/drawing/2014/main" id="{C30D92DF-1961-4B02-9A7B-922EEA9B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4918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51" name="Shape 46">
            <a:extLst xmlns:a="http://schemas.openxmlformats.org/drawingml/2006/main">
              <a:ext uri="{FF2B5EF4-FFF2-40B4-BE49-F238E27FC236}">
                <a16:creationId xmlns:a16="http://schemas.microsoft.com/office/drawing/2014/main" id="{5E70CC61-018A-417C-9303-19D71FF4E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1397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52" name="Shape 47">
            <a:extLst xmlns:a="http://schemas.openxmlformats.org/drawingml/2006/main">
              <a:ext uri="{FF2B5EF4-FFF2-40B4-BE49-F238E27FC236}">
                <a16:creationId xmlns:a16="http://schemas.microsoft.com/office/drawing/2014/main" id="{F3152E9F-AE28-42F6-916C-5DCB00BF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7876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53" name="Shape 48">
            <a:extLst xmlns:a="http://schemas.openxmlformats.org/drawingml/2006/main">
              <a:ext uri="{FF2B5EF4-FFF2-40B4-BE49-F238E27FC236}">
                <a16:creationId xmlns:a16="http://schemas.microsoft.com/office/drawing/2014/main" id="{5260BAD8-D867-4453-B5E4-99B917CC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356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54" name="Shape 49">
            <a:extLst xmlns:a="http://schemas.openxmlformats.org/drawingml/2006/main">
              <a:ext uri="{FF2B5EF4-FFF2-40B4-BE49-F238E27FC236}">
                <a16:creationId xmlns:a16="http://schemas.microsoft.com/office/drawing/2014/main" id="{56E54696-8635-450A-84B2-061111BF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835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55" name="Shape 50">
            <a:extLst xmlns:a="http://schemas.openxmlformats.org/drawingml/2006/main">
              <a:ext uri="{FF2B5EF4-FFF2-40B4-BE49-F238E27FC236}">
                <a16:creationId xmlns:a16="http://schemas.microsoft.com/office/drawing/2014/main" id="{DB536434-A60C-47D0-979E-7583A647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314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9671775D-9177-440A-B6C4-ED88C6878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3793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57" name="Shape 52">
            <a:extLst xmlns:a="http://schemas.openxmlformats.org/drawingml/2006/main">
              <a:ext uri="{FF2B5EF4-FFF2-40B4-BE49-F238E27FC236}">
                <a16:creationId xmlns:a16="http://schemas.microsoft.com/office/drawing/2014/main" id="{5B85FAF2-03EF-4C55-B3A6-148083A6C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0272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58" name="Shape 53">
            <a:extLst xmlns:a="http://schemas.openxmlformats.org/drawingml/2006/main">
              <a:ext uri="{FF2B5EF4-FFF2-40B4-BE49-F238E27FC236}">
                <a16:creationId xmlns:a16="http://schemas.microsoft.com/office/drawing/2014/main" id="{7589433D-F397-4277-8E4F-3E59C6AE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6752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59" name="Shape 54">
            <a:extLst xmlns:a="http://schemas.openxmlformats.org/drawingml/2006/main">
              <a:ext uri="{FF2B5EF4-FFF2-40B4-BE49-F238E27FC236}">
                <a16:creationId xmlns:a16="http://schemas.microsoft.com/office/drawing/2014/main" id="{55D6EDA1-D942-4EE2-8986-A5297DDD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231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60" name="Shape 55">
            <a:extLst xmlns:a="http://schemas.openxmlformats.org/drawingml/2006/main">
              <a:ext uri="{FF2B5EF4-FFF2-40B4-BE49-F238E27FC236}">
                <a16:creationId xmlns:a16="http://schemas.microsoft.com/office/drawing/2014/main" id="{6F2CDF07-EFFE-4724-A242-97DFBC45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9710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61" name="Shape 56">
            <a:extLst xmlns:a="http://schemas.openxmlformats.org/drawingml/2006/main">
              <a:ext uri="{FF2B5EF4-FFF2-40B4-BE49-F238E27FC236}">
                <a16:creationId xmlns:a16="http://schemas.microsoft.com/office/drawing/2014/main" id="{47619F20-027C-4E37-92D8-6AE96E6D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189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62" name="Shape 57">
            <a:extLst xmlns:a="http://schemas.openxmlformats.org/drawingml/2006/main">
              <a:ext uri="{FF2B5EF4-FFF2-40B4-BE49-F238E27FC236}">
                <a16:creationId xmlns:a16="http://schemas.microsoft.com/office/drawing/2014/main" id="{5B520302-9670-47FD-AF3D-740F04C1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668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63" name="Shape 58">
            <a:extLst xmlns:a="http://schemas.openxmlformats.org/drawingml/2006/main">
              <a:ext uri="{FF2B5EF4-FFF2-40B4-BE49-F238E27FC236}">
                <a16:creationId xmlns:a16="http://schemas.microsoft.com/office/drawing/2014/main" id="{006E55FF-8814-4126-B2B5-913F7168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148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64" name="Shape 59">
            <a:extLst xmlns:a="http://schemas.openxmlformats.org/drawingml/2006/main">
              <a:ext uri="{FF2B5EF4-FFF2-40B4-BE49-F238E27FC236}">
                <a16:creationId xmlns:a16="http://schemas.microsoft.com/office/drawing/2014/main" id="{291A7943-AB58-436C-8101-FC653012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5627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65" name="Shape 60">
            <a:extLst xmlns:a="http://schemas.openxmlformats.org/drawingml/2006/main">
              <a:ext uri="{FF2B5EF4-FFF2-40B4-BE49-F238E27FC236}">
                <a16:creationId xmlns:a16="http://schemas.microsoft.com/office/drawing/2014/main" id="{13D19CF4-C181-4576-977C-A83266B2A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2106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B219"/>
          </a:solidFill>
        </p:spPr>
      </p:sp>
      <p:sp>
        <p:nvSpPr>
          <p:cNvPr id="66" name="Shape 61">
            <a:extLst xmlns:a="http://schemas.openxmlformats.org/drawingml/2006/main">
              <a:ext uri="{FF2B5EF4-FFF2-40B4-BE49-F238E27FC236}">
                <a16:creationId xmlns:a16="http://schemas.microsoft.com/office/drawing/2014/main" id="{51D04CE0-F5B4-4A17-96AA-E4511F1E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585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B219"/>
          </a:solidFill>
        </p:spPr>
      </p:sp>
      <p:sp>
        <p:nvSpPr>
          <p:cNvPr id="67" name="Shape 62">
            <a:extLst xmlns:a="http://schemas.openxmlformats.org/drawingml/2006/main">
              <a:ext uri="{FF2B5EF4-FFF2-40B4-BE49-F238E27FC236}">
                <a16:creationId xmlns:a16="http://schemas.microsoft.com/office/drawing/2014/main" id="{734FE86E-A5DE-44B7-822B-9FA3B6DE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5064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B219"/>
          </a:solidFill>
        </p:spPr>
      </p:sp>
      <p:sp>
        <p:nvSpPr>
          <p:cNvPr id="68" name="Shape 63">
            <a:extLst xmlns:a="http://schemas.openxmlformats.org/drawingml/2006/main">
              <a:ext uri="{FF2B5EF4-FFF2-40B4-BE49-F238E27FC236}">
                <a16:creationId xmlns:a16="http://schemas.microsoft.com/office/drawing/2014/main" id="{3E9A4E7D-B039-40A4-8508-4C003FB9B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1544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B219"/>
          </a:solidFill>
        </p:spPr>
      </p:sp>
      <p:sp>
        <p:nvSpPr>
          <p:cNvPr id="69" name="Shape 64">
            <a:extLst xmlns:a="http://schemas.openxmlformats.org/drawingml/2006/main">
              <a:ext uri="{FF2B5EF4-FFF2-40B4-BE49-F238E27FC236}">
                <a16:creationId xmlns:a16="http://schemas.microsoft.com/office/drawing/2014/main" id="{F846DDB9-2784-4B85-B813-5EC4353D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023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3B3B"/>
          </a:solidFill>
        </p:spPr>
      </p:sp>
      <p:sp>
        <p:nvSpPr>
          <p:cNvPr id="70" name="Shape 65">
            <a:extLst xmlns:a="http://schemas.openxmlformats.org/drawingml/2006/main">
              <a:ext uri="{FF2B5EF4-FFF2-40B4-BE49-F238E27FC236}">
                <a16:creationId xmlns:a16="http://schemas.microsoft.com/office/drawing/2014/main" id="{43D61DA4-0F20-4428-8AF4-99A8C7F6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4502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3B3B"/>
          </a:solidFill>
        </p:spPr>
      </p:sp>
      <p:sp>
        <p:nvSpPr>
          <p:cNvPr id="71" name="Shape 66">
            <a:extLst xmlns:a="http://schemas.openxmlformats.org/drawingml/2006/main">
              <a:ext uri="{FF2B5EF4-FFF2-40B4-BE49-F238E27FC236}">
                <a16:creationId xmlns:a16="http://schemas.microsoft.com/office/drawing/2014/main" id="{8FF15708-C2A6-4A07-901C-0D53FB53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0981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3B3B"/>
          </a:solidFill>
        </p:spPr>
      </p:sp>
      <p:sp>
        <p:nvSpPr>
          <p:cNvPr id="72" name="Shape 67">
            <a:extLst xmlns:a="http://schemas.openxmlformats.org/drawingml/2006/main">
              <a:ext uri="{FF2B5EF4-FFF2-40B4-BE49-F238E27FC236}">
                <a16:creationId xmlns:a16="http://schemas.microsoft.com/office/drawing/2014/main" id="{CFE7FFF6-EF63-469C-BC6C-7D4F38018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7460" y="4654296"/>
            <a:ext cx="146304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3B3B"/>
          </a:solidFill>
        </p:spPr>
      </p:sp>
      <p:sp>
        <p:nvSpPr>
          <p:cNvPr id="73" name="Text 68">
            <a:extLst xmlns:a="http://schemas.openxmlformats.org/drawingml/2006/main">
              <a:ext uri="{FF2B5EF4-FFF2-40B4-BE49-F238E27FC236}">
                <a16:creationId xmlns:a16="http://schemas.microsoft.com/office/drawing/2014/main" id="{A544DDC8-B8A2-4203-A663-CFE1C4DD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892040"/>
            <a:ext cx="110550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B2730"/>
                </a:solidFill>
              </a:rPr>
              <a:t>60 decisions traced.   </a:t>
            </a:r>
            <a:r>
              <a:rPr sz="1200">
                <a:solidFill>
                  <a:srgbClr val="2A78D6"/>
                </a:solidFill>
              </a:rPr>
              <a:t>■ </a:t>
            </a:r>
            <a:r>
              <a:rPr sz="1150">
                <a:solidFill>
                  <a:srgbClr val="1B2730"/>
                </a:solidFill>
              </a:rPr>
              <a:t>52 proposed a team    </a:t>
            </a:r>
            <a:r>
              <a:rPr sz="1200">
                <a:solidFill>
                  <a:srgbClr val="FAB219"/>
                </a:solidFill>
              </a:rPr>
              <a:t>■ </a:t>
            </a:r>
            <a:r>
              <a:rPr sz="1150">
                <a:solidFill>
                  <a:srgbClr val="1B2730"/>
                </a:solidFill>
              </a:rPr>
              <a:t>4 stopped, not confident enough    </a:t>
            </a:r>
            <a:r>
              <a:rPr sz="1200">
                <a:solidFill>
                  <a:srgbClr val="D03B3B"/>
                </a:solidFill>
              </a:rPr>
              <a:t>■ </a:t>
            </a:r>
            <a:r>
              <a:rPr sz="1150">
                <a:solidFill>
                  <a:srgbClr val="1B2730"/>
                </a:solidFill>
              </a:rPr>
              <a:t>4 stopped, quoted a sentence that was not there</a:t>
            </a:r>
            <a:endParaRPr sz="1150"/>
          </a:p>
        </p:txBody>
      </p:sp>
      <p:sp>
        <p:nvSpPr>
          <p:cNvPr id="74" name="Shape 69">
            <a:extLst xmlns:a="http://schemas.openxmlformats.org/drawingml/2006/main">
              <a:ext uri="{FF2B5EF4-FFF2-40B4-BE49-F238E27FC236}">
                <a16:creationId xmlns:a16="http://schemas.microsoft.com/office/drawing/2014/main" id="{2E986C9C-2D2B-4555-A9E5-52DA4B2E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257800"/>
            <a:ext cx="11055096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43F"/>
          </a:solidFill>
        </p:spPr>
      </p:sp>
      <p:sp>
        <p:nvSpPr>
          <p:cNvPr id="75" name="Shape 70">
            <a:extLst xmlns:a="http://schemas.openxmlformats.org/drawingml/2006/main">
              <a:ext uri="{FF2B5EF4-FFF2-40B4-BE49-F238E27FC236}">
                <a16:creationId xmlns:a16="http://schemas.microsoft.com/office/drawing/2014/main" id="{11A2A76C-AEF1-4C5C-A766-BDF38EB2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257800"/>
            <a:ext cx="82296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76" name="Text 71">
            <a:extLst xmlns:a="http://schemas.openxmlformats.org/drawingml/2006/main">
              <a:ext uri="{FF2B5EF4-FFF2-40B4-BE49-F238E27FC236}">
                <a16:creationId xmlns:a16="http://schemas.microsoft.com/office/drawing/2014/main" id="{B0838855-C47F-4A08-AD67-6646D931F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57800"/>
            <a:ext cx="10597896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Demo, not production.  </a:t>
            </a:r>
            <a:r>
              <a:rPr sz="1250">
                <a:solidFill>
                  <a:srgbClr val="C6D8E4"/>
                </a:solidFill>
                <a:latin typeface="Calibri"/>
                <a:ea typeface="Calibri"/>
                <a:cs typeface="Calibri"/>
              </a:rPr>
              <a:t>It picks the right team 60% of the time on public data — not good enough to route on its own. So it proposes, and a person decides. That is the honest configuration until a pilot on your data says otherwise.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19882294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991618E-0545-4CC8-A815-21B4446D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110550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2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CAPSTONE ROUND 1  ·  AI CONSULTING PITCH</a:t>
            </a:r>
            <a:endParaRPr sz="105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B3C23C-D53C-420F-91F4-52164785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836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43F"/>
          </a:solidFill>
        </p:spPr>
      </p:sp>
      <p:pic>
        <p:nvPicPr>
          <p:cNvPr id="3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e6730f99fc4e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" y="800100"/>
            <a:ext cx="283464" cy="283464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D137115D-5BE4-4531-9FA6-02CABF44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621792"/>
            <a:ext cx="1030528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€14,000 to decide, not €24,500 to deploy</a:t>
            </a:r>
            <a:endParaRPr sz="3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5813B7D0-25F1-40E1-A2C0-2CB6F581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10550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3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9120800-12BE-45E5-99CF-04C217B7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85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07233EE9-0720-4F65-9BD4-12A1EA40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744" y="647395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4</a:t>
            </a:r>
            <a:endParaRPr sz="8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E8D24EB9-4483-4AB9-B4E5-9AC9100C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8366019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43F"/>
          </a:solidFill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8570CB80-AD16-409E-BDC1-E97ACED3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235" y="1481328"/>
            <a:ext cx="2670789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5A69"/>
          </a:solidFill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B38FE65-75FB-4936-83F6-F821DF91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5448" y="1481328"/>
            <a:ext cx="36576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D4A237E-B424-41C0-84C5-C5A48296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481328"/>
            <a:ext cx="8091699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Someone accountable for watching it  —  €5,600</a:t>
            </a:r>
            <a:endParaRPr sz="12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2D3B592-9B51-480F-8C42-E48F791E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0963" y="1481328"/>
            <a:ext cx="2414757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Platform  €1,800</a:t>
            </a:r>
            <a:endParaRPr sz="11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CE7B140-0BEC-4A64-8F2A-14A0B73C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911096"/>
            <a:ext cx="831189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€7,400 a year to run</a:t>
            </a:r>
            <a:endParaRPr sz="11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096FC78-88F8-4FCF-AA1F-20161D7D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8824" y="1911096"/>
            <a:ext cx="2743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b="1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▲ the AI itself — €0.29 a year</a:t>
            </a:r>
            <a:endParaRPr sz="11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C0F26839-9EF9-4AB3-82CF-C1D1DEFE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484" y="2706624"/>
            <a:ext cx="749198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C6D8E4"/>
            </a:solidFill>
            <a:prstDash val="solid"/>
          </a:ln>
        </p:spPr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A92809E-5F3F-40CA-800E-DAB58E8E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436" y="2322576"/>
            <a:ext cx="768096" cy="7680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 w="31750">
            <a:solidFill>
              <a:srgbClr val="FFFFFF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C4FE7562-235D-47A5-8470-DFA9B578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436" y="2322576"/>
            <a:ext cx="768096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D2A32"/>
                </a:solidFill>
                <a:latin typeface="Trebuchet MS"/>
                <a:ea typeface="Trebuchet MS"/>
                <a:cs typeface="Trebuchet MS"/>
              </a:rPr>
              <a:t>0</a:t>
            </a:r>
            <a:endParaRPr sz="2200"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411B7DA-1CB3-44EC-865D-8DFBBDED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282696"/>
            <a:ext cx="3563112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A"/>
            </a:solidFill>
            <a:prstDash val="solid"/>
          </a:ln>
          <a:effectLst xmlns:a="http://schemas.openxmlformats.org/drawingml/2006/main">
            <a:outerShdw blurRad="88900" dist="38100" dir="8100000" sx="100000" sy="100000" kx="0" ky="0" algn="bl" rotWithShape="0">
              <a:srgbClr val="1C2440">
                <a:alpha val="13000"/>
              </a:srgbClr>
            </a:outerShdw>
          </a:effectLst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7BDE7D1A-2084-4D3D-9B26-99FE3D41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392424"/>
            <a:ext cx="338023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Discovery + labelling — €5,600</a:t>
            </a:r>
            <a:endParaRPr sz="125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C223037-267E-499A-B588-320E4C6D3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3886200"/>
            <a:ext cx="33436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8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2 weeks. 2 of your handlers</a:t>
            </a:r>
            <a:r>
              <a:rPr sz="98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 label 300 complaints. Produces the ground truth you do not have.</a:t>
            </a:r>
            <a:endParaRPr sz="98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E7574B19-E501-4B2C-BE59-E607845B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0428" y="2322576"/>
            <a:ext cx="768096" cy="7680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43F"/>
          </a:solidFill>
          <a:ln xmlns:a="http://schemas.openxmlformats.org/drawingml/2006/main" w="31750">
            <a:solidFill>
              <a:srgbClr val="FFFFFF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2F305791-8F72-4ED3-8780-7AB8CDC1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0428" y="2322576"/>
            <a:ext cx="768096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1</a:t>
            </a:r>
            <a:endParaRPr sz="22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A5811A1-0E2B-4D96-8206-49938934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920" y="3282696"/>
            <a:ext cx="3563112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A"/>
            </a:solidFill>
            <a:prstDash val="solid"/>
          </a:ln>
          <a:effectLst xmlns:a="http://schemas.openxmlformats.org/drawingml/2006/main">
            <a:outerShdw blurRad="88900" dist="38100" dir="8100000" sx="100000" sy="100000" kx="0" ky="0" algn="bl" rotWithShape="0">
              <a:srgbClr val="1C2440">
                <a:alpha val="13000"/>
              </a:srgbClr>
            </a:outerShdw>
          </a:effectLst>
        </p:spPr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A431772-A438-4D58-93B1-847C1E97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4360" y="3392424"/>
            <a:ext cx="338023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Pilot, 60-day shadow run — €8,400</a:t>
            </a:r>
            <a:endParaRPr sz="125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3086F45-14F3-46CE-B55D-59B74567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2648" y="3886200"/>
            <a:ext cx="33436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8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11 weeks. It proposes, nobody acts on it, we measure against your labels.</a:t>
            </a:r>
            <a:endParaRPr sz="980"/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B5CB28DB-BDB7-40A1-9B3E-739D80B8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2322576"/>
            <a:ext cx="768096" cy="7680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43F"/>
          </a:solidFill>
          <a:ln xmlns:a="http://schemas.openxmlformats.org/drawingml/2006/main" w="31750">
            <a:solidFill>
              <a:srgbClr val="FFFFFF"/>
            </a:solidFill>
            <a:prstDash val="solid"/>
          </a:ln>
        </p:spPr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8F9F5553-5E9D-43BB-8DA8-83313C5D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2322576"/>
            <a:ext cx="768096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2</a:t>
            </a:r>
            <a:endParaRPr sz="2200"/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320DD752-B98E-4A95-8DFB-A617FE3E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912" y="3282696"/>
            <a:ext cx="3563112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A"/>
            </a:solidFill>
            <a:prstDash val="solid"/>
          </a:ln>
          <a:effectLst xmlns:a="http://schemas.openxmlformats.org/drawingml/2006/main">
            <a:outerShdw blurRad="88900" dist="38100" dir="8100000" sx="100000" sy="100000" kx="0" ky="0" algn="bl" rotWithShape="0">
              <a:srgbClr val="1C2440">
                <a:alpha val="13000"/>
              </a:srgbClr>
            </a:outerShdw>
          </a:effectLst>
        </p:spPr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59ABE45F-B2A7-40A1-9D4D-1075BD81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0352" y="3392424"/>
            <a:ext cx="338023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Deployment, only if it passes — €10,500</a:t>
            </a:r>
            <a:endParaRPr sz="1250"/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DCAC4CFF-2A10-4424-B32C-B5D05440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3886200"/>
            <a:ext cx="33436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8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4 weeks. Assist-only. Autonomous routing is a separate decision.</a:t>
            </a:r>
            <a:endParaRPr sz="980"/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37785C60-0E23-4C9F-BED7-75CF7705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608576"/>
            <a:ext cx="11055096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9"/>
          </a:solidFill>
        </p:spPr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7944A24F-9460-41C3-A134-096BBEAF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608576"/>
            <a:ext cx="82296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A0E272B-6CA9-4A7B-A1C7-2E3128A8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08576"/>
            <a:ext cx="10597896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 assumptions:</a:t>
            </a:r>
            <a:r>
              <a:rPr sz="1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125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volume comes from the regulator's own complaint rate applied to a firm your size, so treat the euros as an order of magnitude. And the return rests on avoided ombudsman referrals — </a:t>
            </a:r>
            <a:r>
              <a:rPr sz="125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 a year covers the running cost</a:t>
            </a:r>
            <a:r>
              <a:rPr sz="125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The pilot is what tests it.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18242869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BBC4387-AAE2-4FA8-B556-4C3658FA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110550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2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CAPSTONE ROUND 1  ·  AI CONSULTING PITCH</a:t>
            </a:r>
            <a:endParaRPr sz="105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7B3EF20-7C5E-47D7-B466-E18CD7083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836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43F"/>
          </a:solidFill>
        </p:spPr>
      </p:sp>
      <p:pic>
        <p:nvPicPr>
          <p:cNvPr id="2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c066079d0349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" y="800100"/>
            <a:ext cx="283464" cy="283464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5BE29DF-B1DE-4146-8602-CDAA067A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621792"/>
            <a:ext cx="1030528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Why complaint triage comes first</a:t>
            </a:r>
            <a:endParaRPr sz="3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770716BA-8F2C-4628-B18D-FBB58B5D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110550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9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D2B466BD-9140-4658-A9A6-9413DD8F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822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D559D77-40DA-4451-A7FD-0DF2C3AC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81328"/>
            <a:ext cx="1059789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100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TAKEAWAY   </a:t>
            </a:r>
            <a:r>
              <a:rPr sz="130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Ranked by how visible the reasoning is, not by the size of the prize.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04A8531E-9407-4000-84C5-B211EDF3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10550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3E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C7DE3C6-152F-483D-A112-1EC60159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020A240E-F0FD-468E-B5CD-E0DC3862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744" y="647395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5</a:t>
            </a:r>
            <a:endParaRPr sz="85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15DC0B06-039E-4496-B2A7-C8DF9C86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395728"/>
            <a:ext cx="5390388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A"/>
            </a:solidFill>
            <a:prstDash val="solid"/>
          </a:ln>
          <a:effectLst xmlns:a="http://schemas.openxmlformats.org/drawingml/2006/main">
            <a:outerShdw blurRad="88900" dist="38100" dir="8100000" sx="100000" sy="100000" kx="0" ky="0" algn="bl" rotWithShape="0">
              <a:srgbClr val="1C2440">
                <a:alpha val="13000"/>
              </a:srgbClr>
            </a:outerShdw>
          </a:effectLst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94D29F0-AC07-42D5-B51C-715CCA3A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395728"/>
            <a:ext cx="53903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43F"/>
          </a:solidFill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244631B8-29AE-4DB6-A931-09470CB7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395728"/>
            <a:ext cx="502462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I would build</a:t>
            </a:r>
            <a:endParaRPr sz="13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4E438EE-50D0-4FAA-AC24-2E376FE2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962656"/>
            <a:ext cx="4988052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Complaint triage — reads a complaint, proposes a team, quotes its reason</a:t>
            </a:r>
            <a:endParaRPr sz="1150"/>
          </a:p>
          <a:p xmlns:a="http://schemas.openxmlformats.org/drawingml/2006/main">
            <a:pPr marL="152400" indent="-1524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Anomaly flagging — every flag carries a reason, a human decides</a:t>
            </a:r>
            <a:endParaRPr sz="1150"/>
          </a:p>
          <a:p xmlns:a="http://schemas.openxmlformats.org/drawingml/2006/main">
            <a:pPr marL="152400" indent="-1524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Reporting assistance — drafts what a person signs</a:t>
            </a:r>
            <a:endParaRPr sz="115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991E72CD-A0C5-4D13-8089-551BDF5C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636" y="2395728"/>
            <a:ext cx="5390388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A"/>
            </a:solidFill>
            <a:prstDash val="solid"/>
          </a:ln>
          <a:effectLst xmlns:a="http://schemas.openxmlformats.org/drawingml/2006/main">
            <a:outerShdw blurRad="88900" dist="38100" dir="8100000" sx="100000" sy="100000" kx="0" ky="0" algn="bl" rotWithShape="0">
              <a:srgbClr val="1C2440">
                <a:alpha val="13000"/>
              </a:srgbClr>
            </a:outerShdw>
          </a:effectLst>
        </p:spPr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5D0A3-36B2-4285-98C7-9234A95B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636" y="2395728"/>
            <a:ext cx="53903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5A69"/>
          </a:solidFill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F7F83E1-8865-4A44-AEE0-D5A0D7EA3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2804" y="2395728"/>
            <a:ext cx="502462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I refuse to build</a:t>
            </a:r>
            <a:endParaRPr sz="13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8111AB7C-FC00-4C8D-A5EC-0A01B128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2804" y="2962656"/>
            <a:ext cx="4988052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Customer-facing chatbot — fails in public, in your customer's voice</a:t>
            </a:r>
            <a:endParaRPr sz="1150"/>
          </a:p>
          <a:p xmlns:a="http://schemas.openxmlformats.org/drawingml/2006/main">
            <a:pPr marL="152400" indent="-1524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Credit scoring — Annex III high-risk under the EU AI Act</a:t>
            </a:r>
            <a:endParaRPr sz="1150"/>
          </a:p>
          <a:p xmlns:a="http://schemas.openxmlformats.org/drawingml/2006/main">
            <a:pPr marL="152400" indent="-1524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Predicting which complaints cost money — creates the wrong incentive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17966994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402FA8B-A990-4FB0-9609-490958A57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110550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2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CAPSTONE ROUND 1  ·  AI CONSULTING PITCH</a:t>
            </a:r>
            <a:endParaRPr sz="105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1CC9238-5826-4857-A64A-991A382B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836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43F"/>
          </a:solidFill>
        </p:spPr>
      </p:sp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952b5d32ef4c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" y="800100"/>
            <a:ext cx="283464" cy="283464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0D7D6FA-1141-4C84-BF26-C8EABC52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621792"/>
            <a:ext cx="1030528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5 categories account for 46.1% of complaints</a:t>
            </a:r>
            <a:endParaRPr sz="3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C990284C-E931-42AD-A536-44CD12C9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110550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9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FEA0F68C-DAC9-4AF3-947A-C164ABAD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822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F832347F-3061-4497-9112-1FBD766F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81328"/>
            <a:ext cx="1059789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100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TAKEAWAY   </a:t>
            </a:r>
            <a:r>
              <a:rPr sz="130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The model needs to be </a:t>
            </a:r>
            <a:r>
              <a:rPr sz="130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good at 5 things</a:t>
            </a:r>
            <a:r>
              <a:rPr sz="130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 and honest about the rest.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86ADBAB7-D347-4AA8-B8B1-ADFC66BC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10550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3E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73E5D00-32A5-4F1D-B4CF-DD775217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8DC5310-3909-4C5C-A8BF-8644A1B1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744" y="647395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6</a:t>
            </a:r>
            <a:endParaRPr sz="85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51A692B8-546F-47CE-A328-11F0F436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395728"/>
            <a:ext cx="6411956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43F"/>
          </a:solidFill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19957CF-33C0-4128-9E91-0458D2B2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95728"/>
            <a:ext cx="613763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Managing an account  —  19.9%</a:t>
            </a:r>
            <a:endParaRPr sz="105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8A56EF1E-31D0-4582-98E2-56FB701E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2793492"/>
            <a:ext cx="6302228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43F">
              <a:alpha val="94000"/>
            </a:srgbClr>
          </a:solidFill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74374469-6E9D-479C-B3E6-7F183035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93492"/>
            <a:ext cx="602790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Problem with a purchase on your statement  —  11.2%</a:t>
            </a:r>
            <a:endParaRPr sz="105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67A2B8C-E8D1-4838-876E-FB5DF351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91256"/>
            <a:ext cx="6192500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43F">
              <a:alpha val="88000"/>
            </a:srgbClr>
          </a:solidFill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A0DB4522-006F-4102-9983-0C98BCE4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91256"/>
            <a:ext cx="59181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lender or company charging your account  —  5.6%</a:t>
            </a:r>
            <a:endParaRPr sz="105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A5AD339-25EA-49E7-844B-61179B6F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89020"/>
            <a:ext cx="6082772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43F">
              <a:alpha val="82000"/>
            </a:srgbClr>
          </a:solidFill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B0F7237-C2F7-47C9-801D-968E9E60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" y="3589020"/>
            <a:ext cx="580845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Fraud or scam  —  4.8%</a:t>
            </a:r>
            <a:endParaRPr sz="105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8A1BD88-BBC2-4875-BA35-7C457D01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986784"/>
            <a:ext cx="5973044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43F">
              <a:alpha val="76000"/>
            </a:srgbClr>
          </a:solidFill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6375E24B-79CB-487E-AF82-739D0365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3986784"/>
            <a:ext cx="569872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Closing an account  —  4.6%</a:t>
            </a:r>
            <a:endParaRPr sz="10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2D49FFE4-EC8B-44A3-9A71-52ADFC12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04" y="2395728"/>
            <a:ext cx="4368820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43F"/>
          </a:solidFill>
          <a:effectLst xmlns:a="http://schemas.openxmlformats.org/drawingml/2006/main">
            <a:outerShdw blurRad="88900" dist="38100" dir="8100000" sx="100000" sy="100000" kx="0" ky="0" algn="bl" rotWithShape="0">
              <a:srgbClr val="1C2440">
                <a:alpha val="13000"/>
              </a:srgbClr>
            </a:outerShdw>
          </a:effectLst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060195E1-E318-48F7-8E1F-6C237A2C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236" y="2596896"/>
            <a:ext cx="3856756" cy="1517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2A78D6"/>
                </a:solidFill>
                <a:latin typeface="Trebuchet MS"/>
                <a:ea typeface="Trebuchet MS"/>
                <a:cs typeface="Trebuchet MS"/>
              </a:rPr>
              <a:t>46.1%
</a:t>
            </a:r>
            <a:r>
              <a:rPr sz="1300">
                <a:solidFill>
                  <a:srgbClr val="FFFFFF"/>
                </a:solidFill>
              </a:rPr>
              <a:t>of all complaints sit in just 5 of 64 categories.
</a:t>
            </a:r>
            <a:r>
              <a:rPr sz="1200" i="1">
                <a:solidFill>
                  <a:srgbClr val="8FBFF0"/>
                </a:solidFill>
              </a:rPr>
              <a:t>Concentration like that is a property of complaint books, not of one firm.</a:t>
            </a:r>
            <a:endParaRPr sz="4000"/>
          </a:p>
        </p:txBody>
      </p:sp>
    </p:spTree>
    <p:extLst>
      <p:ext uri="{BB962C8B-B14F-4D97-AF65-F5344CB8AC3E}">
        <p14:creationId xmlns:p14="http://schemas.microsoft.com/office/powerpoint/2010/main" val="3609254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0AAD76-5C0B-4F32-8012-AEB777EF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110550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2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CAPSTONE ROUND 1  ·  AI CONSULTING PITCH</a:t>
            </a:r>
            <a:endParaRPr sz="105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CF2F71B-C40D-48DB-9B32-653D6618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836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43F"/>
          </a:solidFill>
        </p:spPr>
      </p:sp>
      <p:pic>
        <p:nvPicPr>
          <p:cNvPr id="2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772d607aaa4a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" y="800100"/>
            <a:ext cx="283464" cy="283464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C69CFA2-CE5E-4C52-AEBE-EDD2D6A9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621792"/>
            <a:ext cx="1030528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Complaint volume does not predict monetary relief</a:t>
            </a:r>
            <a:endParaRPr sz="3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4AEC6EF6-AE28-4D5A-8B4A-4F59C688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110550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9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892751A9-B1C2-42B8-9304-BA77C9E0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822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1F45C33-5567-4D20-A50F-EF28DAE7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81328"/>
            <a:ext cx="1059789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100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TAKEAWAY   </a:t>
            </a:r>
            <a:r>
              <a:rPr sz="130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Cards pay out 5.7× more often than vehicle loans. Routing has money attached.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7E6E1D91-CD1C-4B97-ABB0-95171929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10550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3E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376413C-65FA-4B69-94CC-DAF2ECAB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081777D3-6905-4917-BE52-1B8BF12E3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744" y="647395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7</a:t>
            </a:r>
            <a:endParaRPr sz="850"/>
          </a:p>
        </p:txBody>
      </p:sp>
      <p:graphicFrame>
        <p:nvGraphicFramePr>
          <p:cNvPr id="28" name="Table 0"/>
          <p:cNvGraphicFramePr/>
          <p:nvPr/>
        </p:nvGraphicFramePr>
        <p:xfrm>
          <a:off xmlns:a="http://schemas.openxmlformats.org/drawingml/2006/main" x="566928" y="2395728"/>
          <a:ext xmlns:a="http://schemas.openxmlformats.org/drawingml/2006/main" cx="11055096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49040"/>
                <a:gridCol w="1371600"/>
                <a:gridCol w="1188720"/>
                <a:gridCol w="2377440"/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Product</a:t>
                      </a:r>
                      <a:endParaRPr sz="110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Complaints</a:t>
                      </a:r>
                      <a:endParaRPr sz="110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Share</a:t>
                      </a:r>
                      <a:endParaRPr sz="110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Closed with money paid</a:t>
                      </a:r>
                      <a:endParaRPr sz="110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445A6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Checking or savings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5,835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34.7%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14.0%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Credit card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5,382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32.0%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17.2%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Money transfer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2,551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15.1%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10.6%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Vehicle loan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1,523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9.0%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3.0%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BD600CB7-E0F6-48DA-AB68-56D158EF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489704"/>
            <a:ext cx="11055096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9"/>
          </a:solidFill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F2B0A2D-C084-45E1-993D-1A4A33C0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489704"/>
            <a:ext cx="82296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10B44F1-100A-41D1-9DCD-D7732C29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89704"/>
            <a:ext cx="1059789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That ratio should hold for her, because it follows from how the products work — not from who the firm is.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0226557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E6BBFD1-76F4-4264-AAFC-AA06B52A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110550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2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CAPSTONE ROUND 1  ·  AI CONSULTING PITCH</a:t>
            </a:r>
            <a:endParaRPr sz="105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9F7D223-2961-4759-9A4D-FB5D65BF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836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43F"/>
          </a:solidFill>
        </p:spPr>
      </p:sp>
      <p:pic>
        <p:nvPicPr>
          <p:cNvPr id="2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284b16b98e42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" y="800100"/>
            <a:ext cx="283464" cy="283464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1C40A9-6942-40A2-9939-1E219E6C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621792"/>
            <a:ext cx="1030528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All 60 monitored decisions are accounted for</a:t>
            </a:r>
            <a:endParaRPr sz="3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C2695AF7-C40E-4C3B-96FF-2B39034E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110550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9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9031ADDA-3B1D-41FC-AF8D-3C14853F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822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4FDC3F0-CA8E-480E-9F2A-89CB67E98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81328"/>
            <a:ext cx="1059789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100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TAKEAWAY   </a:t>
            </a:r>
            <a:r>
              <a:rPr sz="130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60 decisions traced. Nothing silently wrong.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35F65E03-4EAC-4FA0-AE67-48134FDA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10550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3E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F3AF063-45B0-4DE8-9680-14F33E75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3E66F24-BD78-4918-BACC-CD2EE7D89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744" y="647395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8</a:t>
            </a:r>
            <a:endParaRPr sz="850"/>
          </a:p>
        </p:txBody>
      </p:sp>
      <p:graphicFrame>
        <p:nvGraphicFramePr>
          <p:cNvPr id="28" name="Table 0"/>
          <p:cNvGraphicFramePr/>
          <p:nvPr/>
        </p:nvGraphicFramePr>
        <p:xfrm>
          <a:off xmlns:a="http://schemas.openxmlformats.org/drawingml/2006/main" x="566928" y="2395728"/>
          <a:ext xmlns:a="http://schemas.openxmlformats.org/drawingml/2006/main" cx="11055096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31920"/>
                <a:gridCol w="7123176"/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 spc="100">
                          <a:solidFill>
                            <a:srgbClr val="FFFFFF"/>
                          </a:solidFill>
                        </a:rPr>
                        <a:t>WHAT HAPPENED</a:t>
                      </a:r>
                      <a:endParaRPr sz="110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 spc="100">
                          <a:solidFill>
                            <a:srgbClr val="1D2A32"/>
                          </a:solidFill>
                        </a:rPr>
                        <a:t>HOW OFTEN, IN 60 DECISIONS</a:t>
                      </a:r>
                      <a:endParaRPr sz="110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Proposed a team, all checks passed</a:t>
                      </a:r>
                      <a:endParaRPr sz="105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52</a:t>
                      </a:r>
                      <a:endParaRPr sz="105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Quote was not actually in the complaint</a:t>
                      </a:r>
                      <a:endParaRPr sz="105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4  —  caught, sent to a human</a:t>
                      </a:r>
                      <a:endParaRPr sz="105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Confidence below the 0.70 threshold</a:t>
                      </a:r>
                      <a:endParaRPr sz="105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4  —  caught, sent to a human</a:t>
                      </a:r>
                      <a:endParaRPr sz="105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Silently wrong, with no record</a:t>
                      </a:r>
                      <a:endParaRPr sz="105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0</a:t>
                      </a:r>
                      <a:endParaRPr sz="105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FF7A1D08-7399-458B-89FA-223DAFA0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06824"/>
            <a:ext cx="11055096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43F"/>
          </a:solidFill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20C0D579-94D8-42B4-88DB-5392DA93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06824"/>
            <a:ext cx="82296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E905AE75-9F7C-4FA4-90A1-E31D25DD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06824"/>
            <a:ext cx="1059789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system that explains itself convincingly but falsely is more dangerous than one that says nothing.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11855875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0A25C4C-57C3-4BDE-BE43-9210861A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110550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2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CAPSTONE ROUND 1  ·  AI CONSULTING PITCH</a:t>
            </a:r>
            <a:endParaRPr sz="105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4EF64D4-78E7-4514-8A8C-2952E1FF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836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43F"/>
          </a:solidFill>
        </p:spPr>
      </p:sp>
      <p:pic>
        <p:nvPicPr>
          <p:cNvPr id="2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3d894925b048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" y="800100"/>
            <a:ext cx="283464" cy="283464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EA7DE29F-449A-419C-A327-119801B3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621792"/>
            <a:ext cx="1030528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60.5% agreement makes expert labels essential</a:t>
            </a:r>
            <a:endParaRPr sz="3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819C5C1-9638-47E9-B189-C77D62A7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110550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9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B5B28C81-663C-4EF7-A9D9-ED761D82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822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F0350ED-10A8-4F4C-90A7-9C219A19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81328"/>
            <a:ext cx="1059789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100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TAKEAWAY   </a:t>
            </a:r>
            <a:r>
              <a:rPr sz="130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The bottleneck is the labels, not the model. That is what Phase 0 buys.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26FF6090-019B-4287-BF4C-BB290F17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10550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3E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45CD869-0CFB-48F3-A22B-FA063D6C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8F91122-B8FA-4F14-87D2-560D627C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744" y="647395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9</a:t>
            </a:r>
            <a:endParaRPr sz="85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51442248-F74B-4413-876D-3E969AFB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395728"/>
            <a:ext cx="5390388" cy="1874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A"/>
            </a:solidFill>
            <a:prstDash val="solid"/>
          </a:ln>
          <a:effectLst xmlns:a="http://schemas.openxmlformats.org/drawingml/2006/main">
            <a:outerShdw blurRad="88900" dist="38100" dir="8100000" sx="100000" sy="100000" kx="0" ky="0" algn="bl" rotWithShape="0">
              <a:srgbClr val="1C2440">
                <a:alpha val="13000"/>
              </a:srgbClr>
            </a:outerShdw>
          </a:effectLst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9E852DC-F8EB-47F3-AFA3-0CBB762E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395728"/>
            <a:ext cx="53903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43F"/>
          </a:solidFill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A8E3CAF-26FF-4359-8EDF-8B3CD3C3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395728"/>
            <a:ext cx="502462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I measured</a:t>
            </a:r>
            <a:endParaRPr sz="13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415FA64-4146-423F-B5D6-80A1B590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962656"/>
            <a:ext cx="4988052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60.5% correct team (gpt-4o, 240 complaints)</a:t>
            </a:r>
            <a:endParaRPr sz="1150"/>
          </a:p>
          <a:p xmlns:a="http://schemas.openxmlformats.org/drawingml/2006/main">
            <a:pPr marL="152400" indent="-1524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A 6× more expensive model buys 4 points</a:t>
            </a:r>
            <a:endParaRPr sz="1150"/>
          </a:p>
          <a:p xmlns:a="http://schemas.openxmlformats.org/drawingml/2006/main">
            <a:pPr marL="152400" indent="-1524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So the bottleneck is not the model</a:t>
            </a:r>
            <a:endParaRPr sz="115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06124659-08F8-4FFF-BF5E-B2DBA58F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636" y="2395728"/>
            <a:ext cx="5390388" cy="1874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A"/>
            </a:solidFill>
            <a:prstDash val="solid"/>
          </a:ln>
          <a:effectLst xmlns:a="http://schemas.openxmlformats.org/drawingml/2006/main">
            <a:outerShdw blurRad="88900" dist="38100" dir="8100000" sx="100000" sy="100000" kx="0" ky="0" algn="bl" rotWithShape="0">
              <a:srgbClr val="1C2440">
                <a:alpha val="13000"/>
              </a:srgbClr>
            </a:outerShdw>
          </a:effectLst>
        </p:spPr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2969ADD-8F8D-4765-B6B8-72FC8BBF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636" y="2395728"/>
            <a:ext cx="53903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5A69"/>
          </a:solidFill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303969F6-A7A6-41DC-92DC-58C5FD5A8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2804" y="2395728"/>
            <a:ext cx="502462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Why the number is what it is</a:t>
            </a:r>
            <a:endParaRPr sz="13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3822FCE5-490F-49A2-B378-A8C58BD0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2804" y="2962656"/>
            <a:ext cx="4988052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Ask it the same complaint twice and it answers the same way ~9 times in 10</a:t>
            </a:r>
            <a:endParaRPr sz="1150"/>
          </a:p>
          <a:p xmlns:a="http://schemas.openxmlformats.org/drawingml/2006/main">
            <a:pPr marL="152400" indent="-1524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So it is consistent — it just disagrees with the official label</a:t>
            </a:r>
            <a:endParaRPr sz="1150"/>
          </a:p>
          <a:p xmlns:a="http://schemas.openxmlformats.org/drawingml/2006/main">
            <a:pPr marL="152400" indent="-152400">
              <a:spcAft>
                <a:spcPts val="600"/>
              </a:spcAft>
              <a:buSzPct val="100000"/>
              <a:buChar char="•"/>
            </a:pPr>
            <a:r>
              <a:rPr sz="11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That label was picked by the customer filing the complaint, from a menu, untrained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99838988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1B797C0-867C-4486-9542-96B116F7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110550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2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CAPSTONE ROUND 1  ·  AI CONSULTING PITCH</a:t>
            </a:r>
            <a:endParaRPr sz="105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09AB220-2E9D-4025-B4F9-BFA540084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836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43F"/>
          </a:solidFill>
        </p:spPr>
      </p:sp>
      <p:pic>
        <p:nvPicPr>
          <p:cNvPr id="1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6efa8b46143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" y="800100"/>
            <a:ext cx="283464" cy="283464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28F93C-8962-41DB-8FC4-81C34B5C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621792"/>
            <a:ext cx="1030528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3 data corrections changed the story</a:t>
            </a:r>
            <a:endParaRPr sz="3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4C302D49-06DB-4C94-AD06-C4BABE3D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110550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9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C7BCFB64-BF64-4A53-925C-26F107EF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822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A1E8FE47-E567-4718-83AD-6BA649B3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81328"/>
            <a:ext cx="1059789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100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TAKEAWAY   </a:t>
            </a:r>
            <a:r>
              <a:rPr sz="130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Each one would have produced a confident wrong answer.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2DD0C8A0-917E-442E-8C32-E8139163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10550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3E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77719BE-BC51-411C-B4DB-FFAEE5BF0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1E59461-6BA8-48A5-8D80-6067B691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744" y="647395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10</a:t>
            </a:r>
            <a:endParaRPr sz="850"/>
          </a:p>
        </p:txBody>
      </p:sp>
      <p:graphicFrame>
        <p:nvGraphicFramePr>
          <p:cNvPr id="24" name="Table 0"/>
          <p:cNvGraphicFramePr/>
          <p:nvPr/>
        </p:nvGraphicFramePr>
        <p:xfrm>
          <a:off xmlns:a="http://schemas.openxmlformats.org/drawingml/2006/main" x="566928" y="2395728"/>
          <a:ext xmlns:a="http://schemas.openxmlformats.org/drawingml/2006/main" cx="11055096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206240"/>
                <a:gridCol w="6848856"/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 spc="100">
                          <a:solidFill>
                            <a:srgbClr val="FFFFFF"/>
                          </a:solidFill>
                        </a:rPr>
                        <a:t>WHAT THE DATA APPEARED TO SAY</a:t>
                      </a:r>
                      <a:endParaRPr sz="110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 spc="100">
                          <a:solidFill>
                            <a:srgbClr val="1D2A32"/>
                          </a:solidFill>
                        </a:rPr>
                        <a:t>WHAT WAS ACTUALLY HAPPENING</a:t>
                      </a:r>
                      <a:endParaRPr sz="110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Complaints fell 73% in July</a:t>
                      </a:r>
                      <a:endParaRPr sz="105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Publication lag — the regulator only publishes once a firm responds. Window cut at 2026-06-27</a:t>
                      </a:r>
                      <a:endParaRPr sz="105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Handling time is 0 days</a:t>
                      </a:r>
                      <a:endParaRPr sz="105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It measures the regulator's routing, not any firm's speed. Metric dropped</a:t>
                      </a:r>
                      <a:endParaRPr sz="105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Timeliness 98.0% vs 0.6% untimely</a:t>
                      </a:r>
                      <a:endParaRPr sz="105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Two different fields. Relabelled so a CEO is not shown a contradiction</a:t>
                      </a:r>
                      <a:endParaRPr sz="1050"/>
                    </a:p>
                  </a:txBody>
                  <a:tcPr marL="101600" marR="101600" marT="25400" marB="254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08272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CEB5714-0C61-4C92-AC55-C65CB72C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110550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2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CAPSTONE ROUND 1  ·  AI CONSULTING PITCH</a:t>
            </a:r>
            <a:endParaRPr sz="105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FB4EB2D-7D93-48DE-AE9C-9FBB8E6B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836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43F"/>
          </a:solidFill>
        </p:spPr>
      </p:sp>
      <p:pic>
        <p:nvPicPr>
          <p:cNvPr id="1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11f4af291944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" y="800100"/>
            <a:ext cx="283464" cy="283464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0C3DB0-F326-4C02-B88F-D961BCED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621792"/>
            <a:ext cx="1030528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Human review bounds the compliance position</a:t>
            </a:r>
            <a:endParaRPr sz="3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43F0BF2-C250-4E3B-9DCA-A087651B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110550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9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4C143B7A-4823-42FF-859E-65EAA8DE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822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4965641-EC02-4443-B902-0C023A8F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81328"/>
            <a:ext cx="1059789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100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TAKEAWAY   </a:t>
            </a:r>
            <a:r>
              <a:rPr sz="130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A preliminary view with reasoning beats a confident label with none.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95CECDBE-C262-4D7D-975A-42B577830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10550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3E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3385318-51E4-4DB5-844B-FEC4975C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D9D6560-6EE1-4039-849B-C23B9F97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744" y="647395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11</a:t>
            </a:r>
            <a:endParaRPr sz="850"/>
          </a:p>
        </p:txBody>
      </p:sp>
      <p:graphicFrame>
        <p:nvGraphicFramePr>
          <p:cNvPr id="24" name="Table 0"/>
          <p:cNvGraphicFramePr/>
          <p:nvPr/>
        </p:nvGraphicFramePr>
        <p:xfrm>
          <a:off xmlns:a="http://schemas.openxmlformats.org/drawingml/2006/main" x="566928" y="2395728"/>
          <a:ext xmlns:a="http://schemas.openxmlformats.org/drawingml/2006/main" cx="11055096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91840"/>
                <a:gridCol w="5394960"/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sz="110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Position for Round 1</a:t>
                      </a:r>
                      <a:endParaRPr sz="110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445A6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EU AI Act tier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Limited risk — it classifies and routes, a human resolves. Not Annex III creditworthiness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What keeps it there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The human decision boundary. Autonomous routing is a new assessment, not an upgrade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GDPR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Complaint text is personal data. Legal basis, retention and a DPIA are Round 2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Open risk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Model hosting region — an EU customer's text must not leave the EEA by accident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37560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045123A-39BE-472E-A326-C43A9C55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110550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20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CAPSTONE ROUND 1  ·  AI CONSULTING PITCH</a:t>
            </a:r>
            <a:endParaRPr sz="105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506872A-79F9-4EDA-AA74-DAD407DA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836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43F"/>
          </a:solidFill>
        </p:spPr>
      </p:sp>
      <p:pic>
        <p:nvPicPr>
          <p:cNvPr id="1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56af79c8448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" y="800100"/>
            <a:ext cx="283464" cy="283464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2AADD72-12AA-4669-91D7-76A59FD9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621792"/>
            <a:ext cx="1030528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43F"/>
                </a:solidFill>
                <a:latin typeface="Trebuchet MS"/>
                <a:ea typeface="Trebuchet MS"/>
                <a:cs typeface="Trebuchet MS"/>
              </a:rPr>
              <a:t>Every number is measured, sourced, or assumed</a:t>
            </a:r>
            <a:endParaRPr sz="3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12972ACF-710E-4D54-9AC0-430ABEBB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110550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9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D7F55A7D-008E-4963-8F1C-AE87DFF4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82296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46B1D22-C4B9-4BD3-9290-1C9FB50A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81328"/>
            <a:ext cx="1059789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100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TAKEAWAY   </a:t>
            </a:r>
            <a:r>
              <a:rPr sz="1300">
                <a:solidFill>
                  <a:srgbClr val="1B2730"/>
                </a:solidFill>
                <a:latin typeface="Calibri"/>
                <a:ea typeface="Calibri"/>
                <a:cs typeface="Calibri"/>
              </a:rPr>
              <a:t>Nothing on these slides is an estimate dressed as a measurement.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727291EC-B71B-48C8-B860-DE2AD76B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10550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3E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B285854-D890-4FB3-9897-7B1267C9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8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1446FB4D-D31E-42ED-BD93-78B21A68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744" y="647395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C88"/>
                </a:solidFill>
                <a:latin typeface="Calibri"/>
                <a:ea typeface="Calibri"/>
                <a:cs typeface="Calibri"/>
              </a:rPr>
              <a:t>12</a:t>
            </a:r>
            <a:endParaRPr sz="850"/>
          </a:p>
        </p:txBody>
      </p:sp>
      <p:graphicFrame>
        <p:nvGraphicFramePr>
          <p:cNvPr id="24" name="Table 0"/>
          <p:cNvGraphicFramePr/>
          <p:nvPr/>
        </p:nvGraphicFramePr>
        <p:xfrm>
          <a:off xmlns:a="http://schemas.openxmlformats.org/drawingml/2006/main" x="566928" y="2395728"/>
          <a:ext xmlns:a="http://schemas.openxmlformats.org/drawingml/2006/main" cx="11055096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00400"/>
                <a:gridCol w="1828800"/>
                <a:gridCol w="3657600"/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Figure</a:t>
                      </a:r>
                      <a:endParaRPr sz="110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Value</a:t>
                      </a:r>
                      <a:endParaRPr sz="110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  <a:endParaRPr sz="110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445A6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Complaint corpus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16,839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CFPB public API, 2026-05-01 to 06-27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Complaint rate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3.7 per 1,000 accounts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FCA aggregate complaints 2025 H2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Ombudsman case fee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£650, 3 free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Financial Ombudsman Service 2025/26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Tokens per complaint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684 in / 49 out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Measured, n=12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24343F"/>
                          </a:solidFill>
                        </a:rPr>
                        <a:t>Team accuracy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60.5%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B2730"/>
                          </a:solidFill>
                        </a:rPr>
                        <a:t>gpt-4o, 240 complaints, seed 42</a:t>
                      </a:r>
                      <a:endParaRPr sz="1050"/>
                    </a:p>
                  </a:txBody>
                  <a:tcPr marL="76200" marR="76200" marT="38100" marB="38100" anchor="ctr">
                    <a:lnL w="12700" cmpd="sng">
                      <a:solidFill>
                        <a:srgbClr val="D9E3EA"/>
                      </a:solidFill>
                      <a:prstDash val="solid"/>
                    </a:lnL>
                    <a:lnR w="12700" cmpd="sng">
                      <a:solidFill>
                        <a:srgbClr val="D9E3EA"/>
                      </a:solidFill>
                      <a:prstDash val="solid"/>
                    </a:lnR>
                    <a:lnT w="12700" cmpd="sng">
                      <a:solidFill>
                        <a:srgbClr val="D9E3EA"/>
                      </a:solidFill>
                      <a:prstDash val="solid"/>
                    </a:lnT>
                    <a:lnB w="12700" cmpd="sng">
                      <a:solidFill>
                        <a:srgbClr val="D9E3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228970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2026-08-30T05:52:41.1600000Z</dcterms:created>
  <dcterms:modified xsi:type="dcterms:W3CDTF">2026-08-30T05:52:41.1600000Z</dcterms:modified>
</coreProperties>
</file>