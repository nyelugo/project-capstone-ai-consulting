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[Beat before you start. Do not read the slide.]</a:t>
            </a:r>
          </a:p>
          <a:p>
            <a:r>
              <a:t>[Convention for the whole deck: you are in Chleo's meeting. Speak to the room as "you",</a:t>
            </a:r>
          </a:p>
          <a:p>
            <a:r>
              <a:t>never about her as "she". The only exception is Slide 11, where you step out.]</a:t>
            </a:r>
          </a:p>
          <a:p/>
          <a:p>
            <a:r>
              <a:t>We met at a dinner, and you told me you do not trust AI because you cannot see what it does.</a:t>
            </a:r>
          </a:p>
          <a:p/>
          <a:p>
            <a:r>
              <a:t>So this is not a pitch about what AI could do for you. It is about one decision you can</a:t>
            </a:r>
          </a:p>
          <a:p>
            <a:r>
              <a:t>watch happen.</a:t>
            </a:r>
          </a:p>
          <a:p/>
          <a:p>
            <a:r>
              <a:t>Everything here runs. Every number traces back to a repository you can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[Point at the middle card, not the left one. The fear is the slide.]</a:t>
            </a:r>
          </a:p>
          <a:p/>
          <a:p>
            <a:r>
              <a:t>You never asked me whether AI works. You asked what it is, and how you would see it.</a:t>
            </a:r>
          </a:p>
          <a:p/>
          <a:p>
            <a:r>
              <a:t>Those are the two questions your regulator will ask you as well, which is why I have built</a:t>
            </a:r>
          </a:p>
          <a:p>
            <a:r>
              <a:t>the answer to them rather than a demo.</a:t>
            </a:r>
          </a:p>
          <a:p/>
          <a:p>
            <a:r>
              <a:t>So I am not proposing a platform. I am proposing one place in your business where you can</a:t>
            </a:r>
          </a:p>
          <a:p>
            <a:r>
              <a:t>watch a machine decide — and overrule it.</a:t>
            </a:r>
          </a:p>
          <a:p/>
          <a:p>
            <a:r>
              <a:t>[Q: Is this too small to matter? — Small is the point. You cannot audit something you</a:t>
            </a:r>
          </a:p>
          <a:p>
            <a:r>
              <a:t>bought whole.]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[Do not read the six items. Give them four seconds to scan, then talk about the ordering.]</a:t>
            </a:r>
          </a:p>
          <a:p/>
          <a:p>
            <a:r>
              <a:t>The three on the left are ranked by one thing only: how visible the reasoning is. Not by</a:t>
            </a:r>
          </a:p>
          <a:p>
            <a:r>
              <a:t>which saves the most money.</a:t>
            </a:r>
          </a:p>
          <a:p/>
          <a:p>
            <a:r>
              <a:t>The two on the right I am refusing, and I want to be explicit about why. A chatbot fails</a:t>
            </a:r>
          </a:p>
          <a:p>
            <a:r>
              <a:t>in public, in your customer's voice, with errors nobody can bound. Credit scoring is</a:t>
            </a:r>
          </a:p>
          <a:p>
            <a:r>
              <a:t>Annex III high-risk under the AI Act — conformity assessment and a fundamental-rights</a:t>
            </a:r>
          </a:p>
          <a:p>
            <a:r>
              <a:t>impact assessment before a single decision goes live.</a:t>
            </a:r>
          </a:p>
          <a:p/>
          <a:p>
            <a:r>
              <a:t>[Land this:] The fastest way to earn your trust is to tell you what not to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dashboard now if the room is warm. Otherwise stay on the table.]</a:t>
            </a:r>
          </a:p>
          <a:p/>
          <a:p>
            <a:r>
              <a:t>Read the last column, not the first.</a:t>
            </a:r>
          </a:p>
          <a:p/>
          <a:p>
            <a:r>
              <a:t>Deposits and cards are two thirds of your volume — but a card complaint ends with money</a:t>
            </a:r>
          </a:p>
          <a:p>
            <a:r>
              <a:t>leaving the building 5.7 times more often than a vehicle loan complaint does.</a:t>
            </a:r>
          </a:p>
          <a:p/>
          <a:p>
            <a:r>
              <a:t>So which queue a complaint lands in is not administration. It is money. That is your</a:t>
            </a:r>
          </a:p>
          <a:p>
            <a:r>
              <a:t>argument for accurate routing, and I am only pointing at it.</a:t>
            </a:r>
          </a:p>
          <a:p/>
          <a:p>
            <a:r>
              <a:t>[Q: Is this your data? — No. It is the US regulator's public complaint database, 16,839</a:t>
            </a:r>
          </a:p>
          <a:p>
            <a:r>
              <a:t>complaints, used as a proxy for the shape of a complaint inbox — the mix and the</a:t>
            </a:r>
          </a:p>
          <a:p>
            <a:r>
              <a:t>language. Not a forecast of your volumes. Your real numbers come from Phase 0.]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[Let the 46.1% sit. This is the slide the whole proposal rests on.]</a:t>
            </a:r>
          </a:p>
          <a:p/>
          <a:p>
            <a:r>
              <a:t>Sixty-four categories exist. Five of them are nearly half your inbox.</a:t>
            </a:r>
          </a:p>
          <a:p/>
          <a:p>
            <a:r>
              <a:t>That is what makes this buildable. I am not asking a model to be good at sixty-four</a:t>
            </a:r>
          </a:p>
          <a:p>
            <a:r>
              <a:t>things — I am asking it to be good at five and to admit when it is outside them.</a:t>
            </a:r>
          </a:p>
          <a:p/>
          <a:p>
            <a:r>
              <a:t>It is the difference between "AI for complaints", which I could not finish, and something</a:t>
            </a:r>
          </a:p>
          <a:p>
            <a:r>
              <a:t>I can hand you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window. If the demo is cold, narrate the chevrons and play the</a:t>
            </a:r>
          </a:p>
          <a:p>
            <a:r>
              <a:t>recording.]</a:t>
            </a:r>
          </a:p>
          <a:p/>
          <a:p>
            <a:r>
              <a:t>This is running now. Not a mockup.</a:t>
            </a:r>
          </a:p>
          <a:p/>
          <a:p>
            <a:r>
              <a:t>Here is the part that answers your actual question: you can open any step and read the</a:t>
            </a:r>
          </a:p>
          <a:p>
            <a:r>
              <a:t>real data going through it. Not my description of what it did — the thing itself.</a:t>
            </a:r>
          </a:p>
          <a:p/>
          <a:p>
            <a:r>
              <a:t>And notice where the chain ends. A person decides. The machine never routes anything on</a:t>
            </a:r>
          </a:p>
          <a:p>
            <a:r>
              <a:t>its own.</a:t>
            </a:r>
          </a:p>
          <a:p/>
          <a:p>
            <a:r>
              <a:t>[If you have time, expand one guard:] The fourth check is the interesting one. The model</a:t>
            </a:r>
          </a:p>
          <a:p>
            <a:r>
              <a:t>has to quote your customer's own words back, and we verify that quote is really in the</a:t>
            </a:r>
          </a:p>
          <a:p>
            <a:r>
              <a:t>complaint before anyone sees it.</a:t>
            </a:r>
          </a:p>
          <a:p/>
          <a:p>
            <a:r>
              <a:t>[Q: Why n8n rather than code? — Because you can read it. That is the entire reason.]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[Slow right down. This is the most important slide in the deck.]</a:t>
            </a:r>
          </a:p>
          <a:p/>
          <a:p>
            <a:r>
              <a:t>Four times out of sixty, the model invented its justification — it produced a quote that</a:t>
            </a:r>
          </a:p>
          <a:p>
            <a:r>
              <a:t>was not in the complaint at all. Confidently.</a:t>
            </a:r>
          </a:p>
          <a:p/>
          <a:p>
            <a:r>
              <a:t>Every one was caught, because the system checks the quote against the text instead of</a:t>
            </a:r>
          </a:p>
          <a:p>
            <a:r>
              <a:t>trusting it.</a:t>
            </a:r>
          </a:p>
          <a:p/>
          <a:p>
            <a:r>
              <a:t>That bottom row is the one to look at. Nothing was silently wrong. A system that explains</a:t>
            </a:r>
          </a:p>
          <a:p>
            <a:r>
              <a:t>itself convincingly but falsely is far more dangerous than one that says nothing, and it</a:t>
            </a:r>
          </a:p>
          <a:p>
            <a:r>
              <a:t>is the failure I have instrumented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[Do not soften this. Say the number plainly.]</a:t>
            </a:r>
          </a:p>
          <a:p/>
          <a:p>
            <a:r>
              <a:t>Sixty per cent. That is not good enough to deploy, and I am showing you rather than</a:t>
            </a:r>
          </a:p>
          <a:p>
            <a:r>
              <a:t>burying it, because the reason matters more than the number.</a:t>
            </a:r>
          </a:p>
          <a:p/>
          <a:p>
            <a:r>
              <a:t>I checked whether the model was simply weak. It agrees with itself nearly ninety per</a:t>
            </a:r>
          </a:p>
          <a:p>
            <a:r>
              <a:t>cent of the time — it is stable. It disagrees with the public label systematically.</a:t>
            </a:r>
          </a:p>
          <a:p/>
          <a:p>
            <a:r>
              <a:t>So I looked at who writes that label. Your customer does, from a dropdown, untrained. It</a:t>
            </a:r>
          </a:p>
          <a:p>
            <a:r>
              <a:t>records which box a member of the public ticked. It is not a record of which team should</a:t>
            </a:r>
          </a:p>
          <a:p>
            <a:r>
              <a:t>have handled the case.</a:t>
            </a:r>
          </a:p>
          <a:p/>
          <a:p>
            <a:r>
              <a:t>Measured against it, any vendor's accuracy figure means less than it appears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[Pause on the first row. Let someone react to 29 cents.]</a:t>
            </a:r>
          </a:p>
          <a:p/>
          <a:p>
            <a:r>
              <a:t>Twenty-nine cents a year. That is measured, not estimated.</a:t>
            </a:r>
          </a:p>
          <a:p/>
          <a:p>
            <a:r>
              <a:t>What actually costs money is the review — someone accountable for watching it. That is</a:t>
            </a:r>
          </a:p>
          <a:p>
            <a:r>
              <a:t>the £5,600 line, and I would not remove it.</a:t>
            </a:r>
          </a:p>
          <a:p/>
          <a:p>
            <a:r>
              <a:t>Which means at your volume, choosing a model is not a budget decision at all. It is an</a:t>
            </a:r>
          </a:p>
          <a:p>
            <a:r>
              <a:t>accuracy decision. The model six times more expensive would still cost about five euro a</a:t>
            </a:r>
          </a:p>
          <a:p>
            <a:r>
              <a:t>year.</a:t>
            </a:r>
          </a:p>
          <a:p/>
          <a:p>
            <a:r>
              <a:t>[Q: So why not always use the best model? — At this volume you should. That is the point.]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[Slow on Phase 0. It is the unusual part and the part they will question.]</a:t>
            </a:r>
          </a:p>
          <a:p/>
          <a:p>
            <a:r>
              <a:t>Fixed fee per phase, because you told me your problem is uncertainty and I am not going</a:t>
            </a:r>
          </a:p>
          <a:p>
            <a:r>
              <a:t>to hand you an open-ended commitment.</a:t>
            </a:r>
          </a:p>
          <a:p/>
          <a:p>
            <a:r>
              <a:t>Phase 0 buys something odd: two of your own handlers labelling three hundred complaints,</a:t>
            </a:r>
          </a:p>
          <a:p>
            <a:r>
              <a:t>before any AI at all. It is worth buying even if you never build this, because it tells</a:t>
            </a:r>
          </a:p>
          <a:p>
            <a:r>
              <a:t>you whether your own categories can be applied consistently by anybody.</a:t>
            </a:r>
          </a:p>
          <a:p/>
          <a:p>
            <a:r>
              <a:t>You are committing fourteen thousand to reach a decision — not twenty-four and a half to</a:t>
            </a:r>
          </a:p>
          <a:p>
            <a:r>
              <a:t>a deployment. Phase 2 only happens if the pilot earns it.</a:t>
            </a:r>
          </a:p>
          <a:p/>
          <a:p>
            <a:r>
              <a:t>[If pressed on ROI:] The break-even is four avoided ombudsman referrals a year. I am not</a:t>
            </a:r>
          </a:p>
          <a:p>
            <a:r>
              <a:t>claiming we hit it. That is what the pilot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[Stop pitching. Drop the client voice — this is to you as assessors, not as Chleo.]</a:t>
            </a:r>
          </a:p>
          <a:p/>
          <a:p>
            <a:r>
              <a:t>The questions are on the slide, so I will not read them.</a:t>
            </a:r>
          </a:p>
          <a:p/>
          <a:p>
            <a:r>
              <a:t>The one I actually want pushed on is the first. I have built this pitch around admitting</a:t>
            </a:r>
          </a:p>
          <a:p>
            <a:r>
              <a:t>a weak number early, on the bet that an honest sixty per cent buys more trust than a</a:t>
            </a:r>
          </a:p>
          <a:p>
            <a:r>
              <a:t>confident eighty-five would.</a:t>
            </a:r>
          </a:p>
          <a:p/>
          <a:p>
            <a:r>
              <a:t>I think that is right. I am not certain it survives contact with a real client, and that</a:t>
            </a:r>
          </a:p>
          <a:p>
            <a:r>
              <a:t>is the thing I would most like you to take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[Only if data quality is questioned.]</a:t>
            </a:r>
          </a:p>
          <a:p/>
          <a:p>
            <a:r>
              <a:t>Three things the data appeared to say, and did not.</a:t>
            </a:r>
          </a:p>
          <a:p/>
          <a:p>
            <a:r>
              <a:t>The July cliff is the one that would have caught me. The CFPB only publishes a complaint</a:t>
            </a:r>
          </a:p>
          <a:p>
            <a:r>
              <a:t>once the firm has responded, so the newest weeks are always thin. Read naively it is a</a:t>
            </a:r>
          </a:p>
          <a:p>
            <a:r>
              <a:t>73% collapse in complaints and a wonderful slide. It is an artefact — I cut the window at</a:t>
            </a:r>
          </a:p>
          <a:p>
            <a:r>
              <a:t>27 June.</a:t>
            </a:r>
          </a:p>
          <a:p/>
          <a:p>
            <a:r>
              <a:t>The other two are on the slide. The pattern is the point: each would have produced a</a:t>
            </a:r>
          </a:p>
          <a:p>
            <a:r>
              <a:t>confident, wrong answer that no test would have caught.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[Only if the legal seat asks.]</a:t>
            </a:r>
          </a:p>
          <a:p/>
          <a:p>
            <a:r>
              <a:t>Limited risk, and the reasoning is what matters: it classifies and routes, a human</a:t>
            </a:r>
          </a:p>
          <a:p>
            <a:r>
              <a:t>resolves, and it never touches creditworthiness.</a:t>
            </a:r>
          </a:p>
          <a:p/>
          <a:p>
            <a:r>
              <a:t>What holds it there is the human decision boundary. If it ever routes autonomously that</a:t>
            </a:r>
          </a:p>
          <a:p>
            <a:r>
              <a:t>is a new assessment, not an upgrade to this one.</a:t>
            </a:r>
          </a:p>
          <a:p/>
          <a:p>
            <a:r>
              <a:t>I am deliberately not giving you a final classification today. Round 2 owes the</a:t>
            </a:r>
          </a:p>
          <a:p>
            <a:r>
              <a:t>step-by-step reasoning. A confident tier label without that work is exactly the unearned</a:t>
            </a:r>
          </a:p>
          <a:p>
            <a:r>
              <a:t>certainty you were right to distrust in the first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[Only if sourcing is challenged.]</a:t>
            </a:r>
          </a:p>
          <a:p/>
          <a:p>
            <a:r>
              <a:t>Everything on these slides is either measured by me or cited to a regulator.</a:t>
            </a:r>
          </a:p>
          <a:p/>
          <a:p>
            <a:r>
              <a:t>Where a figure is a judgement rather than a measurement — the minutes per complaint, the</a:t>
            </a:r>
          </a:p>
          <a:p>
            <a:r>
              <a:t>employer on-costs — it is labelled as a judgement in the cost model. I have not dressed</a:t>
            </a:r>
          </a:p>
          <a:p>
            <a:r>
              <a:t>an estimate up as a finding anywhere in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9902952" y="-1005840"/>
            <a:ext cx="2011680" cy="2011680"/>
          </a:xfrm>
          <a:prstGeom prst="rect">
            <a:avLst/>
          </a:prstGeom>
          <a:ln w="12700">
            <a:solidFill>
              <a:srgbClr val="445A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10451592" y="-457200"/>
            <a:ext cx="914400" cy="914400"/>
          </a:xfrm>
          <a:prstGeom prst="rect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PITCH TO CHLEO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Show her what the AI does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66928" y="331012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Complaint triage for a mid-size financial services firm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2743200" cy="0"/>
          </a:xfrm>
          <a:prstGeom prst="line">
            <a:avLst/>
          </a:prstGeom>
          <a:noFill/>
          <a:ln w="19050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29768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Ugo Ahukannah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— research, dashboard, POC, monitoring, cost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63550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CFPB data · 16,839 complaints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reproducible from the repo    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217152" y="-1645920"/>
            <a:ext cx="3200400" cy="3246120"/>
          </a:xfrm>
          <a:prstGeom prst="rect">
            <a:avLst/>
          </a:prstGeom>
          <a:solidFill>
            <a:srgbClr val="1D2A32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0"/>
            <a:ext cx="146304" cy="2880360"/>
          </a:xfrm>
          <a:prstGeom prst="rect">
            <a:avLst/>
          </a:prstGeom>
          <a:solidFill>
            <a:srgbClr val="8FBFF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Chleo's objection is trust, not capability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never asked whether AI works. She asked what it is and how she would see it.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8096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FIRM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68096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Mid-size, EU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68096" y="34747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 staff, ~250,000 retail customers. Current accounts, cards, personal and vehicle lending.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43400" y="2395728"/>
            <a:ext cx="3502152" cy="2148840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544568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FEAR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44568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“AI is not transparent”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44568" y="34747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words at dinner. She could not say what “the AI” would be, or how she would sign up.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19872" y="2395728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321040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JOB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321040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 one decision visible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321040" y="34747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platform. One place where she can watch the machine decide, and disagree with it.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use cases — and two I will not build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how visible the reasoning is, not by the size of the prize.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build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triage — reads a complaint, proposes a team, quotes its reason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flagging — every flag carries a reason, a human decides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assistance — drafts what a person signs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refuse to build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Customer-facing chatbot — fails in public, in your customer's voice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scoring — Annex III high-risk under the EU AI Act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which complaints cost money — creates the wrong incentive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Volume and cost are not the same picture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complaint lands has money attached to it — cards pay out 5.7× more often than vehicle loans.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371600"/>
                <a:gridCol w="1188720"/>
                <a:gridCol w="23774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Product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Complaints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Share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Closed with money paid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Checking or savings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5,835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34.7%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14.0%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Credit card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5,382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32.0%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17.2%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Money transfer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2,551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15.1%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10.6%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Vehicle loan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1,523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9.0%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3.0%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489704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48970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48970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thirds of volume sits in deposits and cards — and so does the money.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Five categories are half of everything that arrives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 not need to understand 64 things. It needs five, and it needs to say “I don't know” about the rest.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6411956" cy="329184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" y="2395728"/>
            <a:ext cx="61376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an account  —  19.9%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76656" y="2793492"/>
            <a:ext cx="6302228" cy="329184"/>
          </a:xfrm>
          <a:prstGeom prst="rect">
            <a:avLst/>
          </a:prstGeom>
          <a:solidFill>
            <a:srgbClr val="24343F">
              <a:alpha val="94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2793492"/>
            <a:ext cx="60279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with a purchase on your statement  —  11.2%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86384" y="3191256"/>
            <a:ext cx="6192500" cy="329184"/>
          </a:xfrm>
          <a:prstGeom prst="rect">
            <a:avLst/>
          </a:prstGeom>
          <a:solidFill>
            <a:srgbClr val="24343F">
              <a:alpha val="88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932688" y="3191256"/>
            <a:ext cx="59181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lender or company charging your account  —  5.6%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96112" y="3589020"/>
            <a:ext cx="6082772" cy="329184"/>
          </a:xfrm>
          <a:prstGeom prst="rect">
            <a:avLst/>
          </a:prstGeom>
          <a:solidFill>
            <a:srgbClr val="24343F">
              <a:alpha val="82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1042416" y="3589020"/>
            <a:ext cx="58084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or scam  —  4.8%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005840" y="3986784"/>
            <a:ext cx="5973044" cy="329184"/>
          </a:xfrm>
          <a:prstGeom prst="rect">
            <a:avLst/>
          </a:prstGeom>
          <a:solidFill>
            <a:srgbClr val="24343F">
              <a:alpha val="76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1152144" y="3986784"/>
            <a:ext cx="56987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an account  —  4.6%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253204" y="2395728"/>
            <a:ext cx="4368820" cy="1920240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509236" y="2596896"/>
            <a:ext cx="38567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46.1%
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of all complaints sit in just 5 of 64 categories.
</a:t>
            </a:r>
            <a:pPr indent="0" marL="0">
              <a:buNone/>
            </a:pPr>
            <a:r>
              <a:rPr lang="en-US" sz="1200" i="1" dirty="0">
                <a:solidFill>
                  <a:srgbClr val="8FBFF0"/>
                </a:solidFill>
              </a:rPr>
              <a:t>That is what makes the scope small enough to be honest about.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can watch it decide — and every branch ends at a person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now on the cohort n8n instance. Open any step and read the exact data going in and out.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2681478" cy="749808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" y="2395728"/>
            <a:ext cx="25717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arrives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358134" y="2395728"/>
            <a:ext cx="2681478" cy="749808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5" name="Text 12"/>
          <p:cNvSpPr/>
          <p:nvPr/>
        </p:nvSpPr>
        <p:spPr>
          <a:xfrm>
            <a:off x="3403854" y="2395728"/>
            <a:ext cx="25717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proposes a team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149340" y="2395728"/>
            <a:ext cx="2681478" cy="749808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7" name="Text 14"/>
          <p:cNvSpPr/>
          <p:nvPr/>
        </p:nvSpPr>
        <p:spPr>
          <a:xfrm>
            <a:off x="6195060" y="2395728"/>
            <a:ext cx="25717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guards check it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940546" y="2395728"/>
            <a:ext cx="2681478" cy="749808"/>
          </a:xfrm>
          <a:prstGeom prst="rightArrow">
            <a:avLst/>
          </a:prstGeom>
          <a:solidFill>
            <a:srgbClr val="2A78D6"/>
          </a:solidFill>
          <a:ln/>
        </p:spPr>
      </p:sp>
      <p:sp>
        <p:nvSpPr>
          <p:cNvPr id="19" name="Text 16"/>
          <p:cNvSpPr/>
          <p:nvPr/>
        </p:nvSpPr>
        <p:spPr>
          <a:xfrm>
            <a:off x="8986266" y="2395728"/>
            <a:ext cx="25717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3419856"/>
            <a:ext cx="11055096" cy="8686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3419856"/>
            <a:ext cx="82296" cy="868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3419856"/>
            <a:ext cx="10597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answer is a claim, not a result.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return valid JSON, name a queue that exists for that product, clear 0.70 confidence, and quote the complaint verbatim. Any failure goes to a human, with the reason stated.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caught itself fabricating a reason — four times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decisions traced in LangSmith. Every one accounted for, including every refusal.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2317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</a:rPr>
                        <a:t>WHAT HAPPENED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1D2A32"/>
                          </a:solidFill>
                        </a:rPr>
                        <a:t>HOW OFTEN, IN 60 DECISIONS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Proposed a team, all checks passed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52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Quote was not actually in the complaint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4  —  caught, sent to a human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Confidence below the 0.70 threshold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4  —  caught, sent to a human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Silently wrong, with no record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306824"/>
            <a:ext cx="11055096" cy="64008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30682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30682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explains itself convincingly but falsely is more dangerous than one that says nothing.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cannot do yet, and why that is not the model's fault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60.5% team accuracy. Not deployable — and the reason changes what you should buy first.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measured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60.5% correct team (gpt-4o, 240 complaints)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6× more expensive model buys 4 points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bottleneck is not the model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number is what it is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agrees with itself 88–89% of the time — it is stable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disagrees with the public label systematically, not randomly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label was picked by the customer filing the complaint, from a menu, untrained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model is not the cost. Oversight is.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 of the running cost is human review and platform. 0.004% is the model.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554480"/>
                <a:gridCol w="4114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Running cost, per year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Amount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What it actually buys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LLM API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€0.29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684 input + 49 output tokens per complaint, measured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Platform and monitoring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€1,800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n8n hosting, LangSmith, logging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Quarterly accuracy review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€5,600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Someone accountable for watching it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€7,400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Against a realistic labour saving of €4,578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562856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562856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562856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choice is not a financial decision at your volume — it is an accuracy decision.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would do next, and what it costs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€14,000 commits you to a decision, not to a deployment.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348484" y="2779776"/>
            <a:ext cx="7491984" cy="0"/>
          </a:xfrm>
          <a:prstGeom prst="line">
            <a:avLst/>
          </a:prstGeom>
          <a:noFill/>
          <a:ln w="25400">
            <a:solidFill>
              <a:srgbClr val="C6D8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64436" y="2395728"/>
            <a:ext cx="768096" cy="768096"/>
          </a:xfrm>
          <a:prstGeom prst="ellipse">
            <a:avLst/>
          </a:prstGeom>
          <a:solidFill>
            <a:srgbClr val="2A78D6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64436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2A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66928" y="3355848"/>
            <a:ext cx="3563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8368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 + labelling — €5,600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76656" y="3959352"/>
            <a:ext cx="3343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weeks. Two of your handlers label 300 complaints. Produces the ground truth you do not have.</a:t>
            </a:r>
            <a:endParaRPr lang="en-US" sz="980" dirty="0"/>
          </a:p>
        </p:txBody>
      </p:sp>
      <p:sp>
        <p:nvSpPr>
          <p:cNvPr id="18" name="Shape 15"/>
          <p:cNvSpPr/>
          <p:nvPr/>
        </p:nvSpPr>
        <p:spPr>
          <a:xfrm>
            <a:off x="5710428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0428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4312920" y="3355848"/>
            <a:ext cx="3563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404360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Pilot, 60-day shadow run — €8,400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422648" y="3959352"/>
            <a:ext cx="3343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weeks. It proposes, nobody acts on it, we measure against your labels.</a:t>
            </a:r>
            <a:endParaRPr lang="en-US" sz="980" dirty="0"/>
          </a:p>
        </p:txBody>
      </p:sp>
      <p:sp>
        <p:nvSpPr>
          <p:cNvPr id="23" name="Shape 20"/>
          <p:cNvSpPr/>
          <p:nvPr/>
        </p:nvSpPr>
        <p:spPr>
          <a:xfrm>
            <a:off x="9456420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456420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058912" y="3355848"/>
            <a:ext cx="3563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8150352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Deployment, only if it passes — €10,500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168640" y="3959352"/>
            <a:ext cx="3343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8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weeks. Assist-only. Autonomous routing is a separate decision.</a:t>
            </a:r>
            <a:endParaRPr lang="en-US" sz="980" dirty="0"/>
          </a:p>
        </p:txBody>
      </p:sp>
      <p:sp>
        <p:nvSpPr>
          <p:cNvPr id="28" name="Shape 25"/>
          <p:cNvSpPr/>
          <p:nvPr/>
        </p:nvSpPr>
        <p:spPr>
          <a:xfrm>
            <a:off x="566928" y="4681728"/>
            <a:ext cx="11055096" cy="77724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9" name="Shape 26"/>
          <p:cNvSpPr/>
          <p:nvPr/>
        </p:nvSpPr>
        <p:spPr>
          <a:xfrm>
            <a:off x="566928" y="4681728"/>
            <a:ext cx="82296" cy="777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7"/>
          <p:cNvSpPr/>
          <p:nvPr/>
        </p:nvSpPr>
        <p:spPr>
          <a:xfrm>
            <a:off x="822960" y="4681728"/>
            <a:ext cx="10597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cost is covered if this prevents four ombudsman referrals a year (€760 each). Whether it does is what the pilot is for — I am not claiming it does.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Stepping out of the pitch — what I want your feedback on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828800"/>
            <a:ext cx="1105509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Is “this is not deployable yet, and here is the number” the right thing to lead a client pitch with — or does it lose the room?</a:t>
            </a:r>
            <a:endParaRPr lang="en-US" sz="14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Phase 0 sells a labelling exercise before any AI. Does that read as rigour, or as stalling?</a:t>
            </a:r>
            <a:endParaRPr lang="en-US" sz="14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 refuse two use cases on stage. Does that build authority, or sound negative?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" y="3749040"/>
            <a:ext cx="11055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FF0"/>
                </a:solidFill>
              </a:rPr>
              <a:t>The one thing I most want challenged:  </a:t>
            </a:r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that an honest 60.5% is a stronger pitch than a confident 85%.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three corrections made before any analysis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would have produced a confident wrong answer.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4885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</a:rPr>
                        <a:t>WHAT THE DATA APPEARED TO SAY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1D2A32"/>
                          </a:solidFill>
                        </a:rPr>
                        <a:t>WHAT WAS ACTUALLY HAPPENING</a:t>
                      </a:r>
                      <a:endParaRPr lang="en-US" sz="11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Complaints fell 73% in July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Publication lag — the CFPB only publishes once a firm responds. Window cut at 2026-06-27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Handling time is 0 days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It measures the regulator's routing, not any firm's speed. Metric dropped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Timeliness 98.0% vs 0.6% untimely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Two different fields. Relabelled so a CEO is not shown a contradiction</a:t>
                      </a:r>
                      <a:endParaRPr lang="en-US" sz="10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the compliance position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preliminary view with reasoning beats a confident label with none.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5394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Position for Round 1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EU AI Act tier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Limited risk — it classifies and routes, a human resolves. Not Annex III creditworthiness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What keeps it there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The human decision boundary. Autonomous routing is a new assessment, not an upgrade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GDPR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Complaint text is personal data. Legal basis, retention and a DPIA are Round 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Open risk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Model hosting region — an EU customer's text must not leave the EEA by accident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1  ·  AI CONSULTING PITCH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— every number, and where it came from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on these slides is an estimate dressed as a measurement.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3657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Figure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Complaint corpus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16,839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CFPB public API, 2026-05-01 to 06-27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Complaint rate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3.7 per 1,000 accounts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FCA aggregate complaints 2025 H2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Ombudsman case fee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£650, 3 free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Financial Ombudsman Service 2025/26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Tokens per complaint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684 in / 49 out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Measured, n=12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4343F"/>
                          </a:solidFill>
                        </a:rPr>
                        <a:t>Team accuracy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60.5%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730"/>
                          </a:solidFill>
                        </a:rPr>
                        <a:t>gpt-4o, 240 complaints, seed 42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Round 1 — Complaint Triage</dc:title>
  <dc:subject>PptxGenJS Presentation</dc:subject>
  <dc:creator/>
  <cp:lastModifiedBy/>
  <cp:revision>1</cp:revision>
  <dcterms:created xsi:type="dcterms:W3CDTF">2026-08-28T11:03:54Z</dcterms:created>
  <dcterms:modified xsi:type="dcterms:W3CDTF">2026-08-28T11:03:54Z</dcterms:modified>
</cp:coreProperties>
</file>