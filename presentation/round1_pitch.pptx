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e1e0c2b6aba4050" Type="http://schemas.openxmlformats.org/package/2006/relationships/metadata/core-properties" Target="docProps/core.xml"/><Relationship Id="R92dba8efb8c04d87" Type="http://schemas.openxmlformats.org/officeDocument/2006/relationships/officeDocument" Target="ppt/presentation.xml"/><Relationship Id="Rd73e7f461d61465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3b9547b469547b3"/>
  </p:sldMasterIdLst>
  <p:notesMasterIdLst>
    <p:notesMasterId xmlns:r="http://schemas.openxmlformats.org/officeDocument/2006/relationships" r:id="R56410e7f2b5445be"/>
  </p:notesMasterIdLst>
  <p:sldIdLst>
    <p:sldId xmlns:r="http://schemas.openxmlformats.org/officeDocument/2006/relationships" id="256" r:id="Rd26def38410049a6"/>
    <p:sldId xmlns:r="http://schemas.openxmlformats.org/officeDocument/2006/relationships" id="257" r:id="R3b22b0014225498d"/>
    <p:sldId xmlns:r="http://schemas.openxmlformats.org/officeDocument/2006/relationships" id="258" r:id="R2380e23fe235466c"/>
    <p:sldId xmlns:r="http://schemas.openxmlformats.org/officeDocument/2006/relationships" id="259" r:id="R71735fc5ac9245f7"/>
    <p:sldId xmlns:r="http://schemas.openxmlformats.org/officeDocument/2006/relationships" id="260" r:id="R4465b0b26c30493c"/>
    <p:sldId xmlns:r="http://schemas.openxmlformats.org/officeDocument/2006/relationships" id="261" r:id="Ree76443202e54b62"/>
    <p:sldId xmlns:r="http://schemas.openxmlformats.org/officeDocument/2006/relationships" id="262" r:id="Re572e4008d7043db"/>
    <p:sldId xmlns:r="http://schemas.openxmlformats.org/officeDocument/2006/relationships" id="263" r:id="R91b3ac2167354724"/>
    <p:sldId xmlns:r="http://schemas.openxmlformats.org/officeDocument/2006/relationships" id="264" r:id="R2f801f5078704be1"/>
    <p:sldId xmlns:r="http://schemas.openxmlformats.org/officeDocument/2006/relationships" id="265" r:id="Reba12b63adad48d7"/>
    <p:sldId xmlns:r="http://schemas.openxmlformats.org/officeDocument/2006/relationships" id="266" r:id="R752d83818c864954"/>
    <p:sldId xmlns:r="http://schemas.openxmlformats.org/officeDocument/2006/relationships" id="267" r:id="R05b391fee938463e"/>
    <p:sldId xmlns:r="http://schemas.openxmlformats.org/officeDocument/2006/relationships" id="268" r:id="R794c731530f349d4"/>
    <p:sldId xmlns:r="http://schemas.openxmlformats.org/officeDocument/2006/relationships" id="269" r:id="R97516b33145147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b391fee938463e" Type="http://schemas.openxmlformats.org/officeDocument/2006/relationships/slide" Target="slides/slide12.xml"/><Relationship Id="R0c39fe3e158e4717" Type="http://schemas.openxmlformats.org/officeDocument/2006/relationships/theme" Target="theme/theme1.xml"/><Relationship Id="R2380e23fe235466c" Type="http://schemas.openxmlformats.org/officeDocument/2006/relationships/slide" Target="slides/slide3.xml"/><Relationship Id="R2f801f5078704be1" Type="http://schemas.openxmlformats.org/officeDocument/2006/relationships/slide" Target="slides/slide9.xml"/><Relationship Id="R3b22b0014225498d" Type="http://schemas.openxmlformats.org/officeDocument/2006/relationships/slide" Target="slides/slide2.xml"/><Relationship Id="R4465b0b26c30493c" Type="http://schemas.openxmlformats.org/officeDocument/2006/relationships/slide" Target="slides/slide5.xml"/><Relationship Id="R56410e7f2b5445be" Type="http://schemas.openxmlformats.org/officeDocument/2006/relationships/notesMaster" Target="notesMasters/notesMaster1.xml"/><Relationship Id="R59c53db04e5d42f6" Type="http://schemas.openxmlformats.org/officeDocument/2006/relationships/tableStyles" Target="tableStyles.xml"/><Relationship Id="R71735fc5ac9245f7" Type="http://schemas.openxmlformats.org/officeDocument/2006/relationships/slide" Target="slides/slide4.xml"/><Relationship Id="R73b9547b469547b3" Type="http://schemas.openxmlformats.org/officeDocument/2006/relationships/slideMaster" Target="slideMasters/slideMaster1.xml"/><Relationship Id="R752d83818c864954" Type="http://schemas.openxmlformats.org/officeDocument/2006/relationships/slide" Target="slides/slide11.xml"/><Relationship Id="R794c731530f349d4" Type="http://schemas.openxmlformats.org/officeDocument/2006/relationships/slide" Target="slides/slide13.xml"/><Relationship Id="R91b3ac2167354724" Type="http://schemas.openxmlformats.org/officeDocument/2006/relationships/slide" Target="slides/slide8.xml"/><Relationship Id="R97516b331451472e" Type="http://schemas.openxmlformats.org/officeDocument/2006/relationships/slide" Target="slides/slide14.xml"/><Relationship Id="Rc939ecb4416c4b50" Type="http://schemas.openxmlformats.org/officeDocument/2006/relationships/presProps" Target="presProps.xml"/><Relationship Id="Rcbd12519ac27466b" Type="http://schemas.openxmlformats.org/officeDocument/2006/relationships/viewProps" Target="viewProps.xml"/><Relationship Id="Rd26def38410049a6" Type="http://schemas.openxmlformats.org/officeDocument/2006/relationships/slide" Target="slides/slide1.xml"/><Relationship Id="Re572e4008d7043db" Type="http://schemas.openxmlformats.org/officeDocument/2006/relationships/slide" Target="slides/slide7.xml"/><Relationship Id="Reba12b63adad48d7" Type="http://schemas.openxmlformats.org/officeDocument/2006/relationships/slide" Target="slides/slide10.xml"/><Relationship Id="Ree76443202e54b6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9d23b69b0317481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7e3479fb9b442fd" Type="http://schemas.openxmlformats.org/officeDocument/2006/relationships/slide" Target="../slides/slide1.xml"/><Relationship Id="Ra8b1597f544146f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c1bb1f7ccdb4f78" Type="http://schemas.openxmlformats.org/officeDocument/2006/relationships/slide" Target="../slides/slide2.xml"/><Relationship Id="Rb0a895984bde40b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c7786f6f06d423b" Type="http://schemas.openxmlformats.org/officeDocument/2006/relationships/notesMaster" Target="../notesMasters/notesMaster1.xml"/><Relationship Id="R6d6338f074af474c"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acc1820378e45cc" Type="http://schemas.openxmlformats.org/officeDocument/2006/relationships/notesMaster" Target="../notesMasters/notesMaster1.xml"/><Relationship Id="R7cb777d302f44a1f"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cc21c76666e8465d" Type="http://schemas.openxmlformats.org/officeDocument/2006/relationships/slide" Target="../slides/slide5.xml"/><Relationship Id="Rf3dee3a27bef4cd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483f12a221b4088" Type="http://schemas.openxmlformats.org/officeDocument/2006/relationships/slide" Target="../slides/slide7.xml"/><Relationship Id="R51c7883cea9c434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c481381cb0048b1" Type="http://schemas.openxmlformats.org/officeDocument/2006/relationships/slide" Target="../slides/slide8.xml"/><Relationship Id="Re09b42d3896d464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d5120b0100e74e89" Type="http://schemas.openxmlformats.org/officeDocument/2006/relationships/notesMaster" Target="../notesMasters/notesMaster1.xml"/><Relationship Id="Re5fedb2af0ec49ec"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0080a91a1fb54d38" Type="http://schemas.openxmlformats.org/officeDocument/2006/relationships/slide" Target="../slides/slide10.xml"/><Relationship Id="Rb38b2db1080c435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a77e67eedde402a" Type="http://schemas.openxmlformats.org/officeDocument/2006/relationships/notesMaster" Target="../notesMasters/notesMaster1.xml"/><Relationship Id="Rd3cf14adcc2d4a48"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83a91c51d9124410" Type="http://schemas.openxmlformats.org/officeDocument/2006/relationships/slide" Target="../slides/slide12.xml"/><Relationship Id="R91d4a178fa7248b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ea0525cf8cc1447a" Type="http://schemas.openxmlformats.org/officeDocument/2006/relationships/notesMaster" Target="../notesMasters/notesMaster1.xml"/><Relationship Id="Ree06c338aaf944ee"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3658d0db7504cbe" Type="http://schemas.openxmlformats.org/officeDocument/2006/relationships/slide" Target="../slides/slide14.xml"/><Relationship Id="Rce58d3947e594ab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a:t>
            </a:r>
          </a:p>
          <a:p xmlns:a="http://schemas.openxmlformats.org/drawingml/2006/main">
            <a:r>
              <a:t/>
            </a:r>
          </a:p>
          <a:p xmlns:a="http://schemas.openxmlformats.org/drawingml/2006/main">
            <a:r>
              <a:t>So I am not asking you to believe a promise. I am going to show you 1 complaint-routing decision from start to finish.</a:t>
            </a:r>
          </a:p>
          <a:p xmlns:a="http://schemas.openxmlformats.org/drawingml/2006/main">
            <a:r>
              <a:t/>
            </a:r>
          </a:p>
          <a:p xmlns:a="http://schemas.openxmlformats.org/drawingml/2006/main">
            <a:r>
              <a:t>The workflow runs, its reasoning is visible, and every number traces to project evidence, including public complaint data from the U.S. Consumer Financial Protection Bureau, or CFPB.</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asked 2 questions: what exactly is the AI, and how would you see what it is doing?</a:t>
            </a:r>
          </a:p>
          <a:p xmlns:a="http://schemas.openxmlformats.org/drawingml/2006/main">
            <a:r>
              <a:t/>
            </a:r>
          </a:p>
          <a:p xmlns:a="http://schemas.openxmlformats.org/drawingml/2006/main">
            <a:r>
              <a:t>I assessed 3 use cases: complaint triage, anomaly flagging, and reporting assistance. I ranked them by inspectability, not the largest promised saving.</a:t>
            </a:r>
          </a:p>
          <a:p xmlns:a="http://schemas.openxmlformats.org/drawingml/2006/main">
            <a:r>
              <a:t/>
            </a:r>
          </a:p>
          <a:p xmlns:a="http://schemas.openxmlformats.org/drawingml/2006/main">
            <a:r>
              <a:t>Triage comes first because the system proposes a team, shows the supporting words, and lets a person confirm or reject it.</a:t>
            </a:r>
          </a:p>
          <a:p xmlns:a="http://schemas.openxmlformats.org/drawingml/2006/main">
            <a:r>
              <a:t/>
            </a:r>
          </a:p>
          <a:p xmlns:a="http://schemas.openxmlformats.org/drawingml/2006/main">
            <a:r>
              <a:t>I ruled out a chatbot because it can fail publicly in the firm’s voice, and creditworthiness scoring because it is an Annex III high-risk use under the EU AI Act.</a:t>
            </a:r>
          </a:p>
          <a:p xmlns:a="http://schemas.openxmlformats.org/drawingml/2006/main">
            <a:r>
              <a:t/>
            </a:r>
          </a:p>
          <a:p xmlns:a="http://schemas.openxmlformats.org/drawingml/2006/main">
            <a:r>
              <a:t>The fastest way to earn your trust is to be clear about what you should not buy.</a:t>
            </a:r>
          </a:p>
          <a:p xmlns:a="http://schemas.openxmlformats.org/drawingml/2006/main">
            <a:r>
              <a:t/>
            </a:r>
          </a:p>
          <a:p xmlns:a="http://schemas.openxmlformats.org/drawingml/2006/main">
            <a:r>
              <a:t>Now let me show you the opportunity suggested by public complaint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stops for human review.</a:t>
            </a:r>
          </a:p>
          <a:p xmlns:a="http://schemas.openxmlformats.org/drawingml/2006/main">
            <a:r>
              <a:t/>
            </a:r>
          </a:p>
          <a:p xmlns:a="http://schemas.openxmlformats.org/drawingml/2006/main">
            <a:r>
              <a:t>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a:t>
            </a:r>
          </a:p>
          <a:p xmlns:a="http://schemas.openxmlformats.org/drawingml/2006/main">
            <a:r>
              <a:t>- Project repository: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5b686a32cec434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ae2d3123579845d1" Type="http://schemas.openxmlformats.org/officeDocument/2006/relationships/theme" Target="theme/theme2.xml"/><Relationship Id="Rfe782b5d4bde487d"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782b5d4bde487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6a1fc62cdb24083" Type="http://schemas.openxmlformats.org/officeDocument/2006/relationships/notesSlide" Target="../notesSlides/notesSlide1.xml"/><Relationship Id="R80fdc96b28ad4efe"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0d3f0c9fbe146ac" Type="http://schemas.openxmlformats.org/officeDocument/2006/relationships/slideLayout" Target="../slideLayouts/slideLayout1.xml"/><Relationship Id="R4788d223b6b24253" Type="http://schemas.openxmlformats.org/officeDocument/2006/relationships/notesSlide" Target="../notesSlides/notesSlide2.xml"/><Relationship Id="R90326f3209cd47fa" Type="http://schemas.openxmlformats.org/officeDocument/2006/relationships/image" Target="../media/image.png"/></Relationships>
</file>

<file path=ppt/slides/_rels/slide3.xml.rels><?xml version='1.0' encoding='UTF-8' standalone='yes'?>
<Relationships xmlns="http://schemas.openxmlformats.org/package/2006/relationships"><Relationship Id="R587d10ba70a340d2" Type="http://schemas.openxmlformats.org/officeDocument/2006/relationships/notesSlide" Target="../notesSlides/notesSlide3.xml"/><Relationship Id="R810e605741cb4c66" Type="http://schemas.openxmlformats.org/officeDocument/2006/relationships/image" Target="../media/image2.png"/><Relationship Id="R84080be2017a4bce" Type="http://schemas.openxmlformats.org/officeDocument/2006/relationships/image" Target="../media/image3.png"/><Relationship Id="Rf5ad4b3851c84ec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b63f16244bda4fa8" Type="http://schemas.openxmlformats.org/officeDocument/2006/relationships/image" Target="../media/image5.png"/><Relationship Id="Rbecef9ec958e49ea" Type="http://schemas.openxmlformats.org/officeDocument/2006/relationships/image" Target="../media/image4.png"/><Relationship Id="Rd23cd8af3344431f" Type="http://schemas.openxmlformats.org/officeDocument/2006/relationships/slideLayout" Target="../slideLayouts/slideLayout1.xml"/><Relationship Id="Re6590ee393054a00" Type="http://schemas.openxmlformats.org/officeDocument/2006/relationships/notesSlide" Target="../notesSlides/notesSlide4.xml"/><Relationship Id="Rfb0a7e79a69d41d1" Type="http://schemas.openxmlformats.org/officeDocument/2006/relationships/image" Target="../media/image6.png"/></Relationships>
</file>

<file path=ppt/slides/_rels/slide5.xml.rels><?xml version='1.0' encoding='UTF-8' standalone='yes'?>
<Relationships xmlns="http://schemas.openxmlformats.org/package/2006/relationships"><Relationship Id="R1cec721bd7c54551" Type="http://schemas.openxmlformats.org/officeDocument/2006/relationships/image" Target="../media/image7.png"/><Relationship Id="R20f62969c7064600" Type="http://schemas.openxmlformats.org/officeDocument/2006/relationships/notesSlide" Target="../notesSlides/notesSlide5.xml"/><Relationship Id="Rcaa6c09e6be24f6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b9b44309f94744d1" Type="http://schemas.openxmlformats.org/officeDocument/2006/relationships/slideLayout" Target="../slideLayouts/slideLayout1.xml"/><Relationship Id="Rf6c7ee433bda429f" Type="http://schemas.openxmlformats.org/officeDocument/2006/relationships/image" Target="../media/image8.png"/></Relationships>
</file>

<file path=ppt/slides/_rels/slide7.xml.rels><?xml version='1.0' encoding='UTF-8' standalone='yes'?>
<Relationships xmlns="http://schemas.openxmlformats.org/package/2006/relationships"><Relationship Id="R380e739bb4934b50" Type="http://schemas.openxmlformats.org/officeDocument/2006/relationships/image" Target="../media/image9.png"/><Relationship Id="R5d4f40548a1341be" Type="http://schemas.openxmlformats.org/officeDocument/2006/relationships/notesSlide" Target="../notesSlides/notesSlide6.xml"/><Relationship Id="R867589e3b4ae4d0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6f2841d48071433e" Type="http://schemas.openxmlformats.org/officeDocument/2006/relationships/image" Target="../media/image10.png"/><Relationship Id="R8365726fe0974a84" Type="http://schemas.openxmlformats.org/officeDocument/2006/relationships/slideLayout" Target="../slideLayouts/slideLayout1.xml"/><Relationship Id="Rfbbb3e6786044261"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13c84005b60948cb" Type="http://schemas.openxmlformats.org/officeDocument/2006/relationships/image" Target="../media/image11.png"/><Relationship Id="R7e2de182c11346ad" Type="http://schemas.openxmlformats.org/officeDocument/2006/relationships/slideLayout" Target="../slideLayouts/slideLayout1.xml"/><Relationship Id="Rd24ab6a5cd944bd9"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0e4194775f0846d6" Type="http://schemas.openxmlformats.org/officeDocument/2006/relationships/image" Target="../media/image12.png"/><Relationship Id="R198ab19d8635493c" Type="http://schemas.openxmlformats.org/officeDocument/2006/relationships/notesSlide" Target="../notesSlides/notesSlide9.xml"/><Relationship Id="R63fb3305aa9a4fac"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543fca6b436a4ca0" Type="http://schemas.openxmlformats.org/officeDocument/2006/relationships/slideLayout" Target="../slideLayouts/slideLayout1.xml"/><Relationship Id="R96d7754618464975" Type="http://schemas.openxmlformats.org/officeDocument/2006/relationships/notesSlide" Target="../notesSlides/notesSlide10.xml"/><Relationship Id="Rf3668b642f14462f" Type="http://schemas.openxmlformats.org/officeDocument/2006/relationships/image" Target="../media/image13.png"/></Relationships>
</file>

<file path=ppt/slides/_rels/slide12.xml.rels><?xml version='1.0' encoding='UTF-8' standalone='yes'?>
<Relationships xmlns="http://schemas.openxmlformats.org/package/2006/relationships"><Relationship Id="R101fb8bc4b45479f" Type="http://schemas.openxmlformats.org/officeDocument/2006/relationships/image" Target="../media/image14.png"/><Relationship Id="R12308f6e29594def" Type="http://schemas.openxmlformats.org/officeDocument/2006/relationships/notesSlide" Target="../notesSlides/notesSlide11.xml"/><Relationship Id="R6da636e9f4bf482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60769df49824fd5" Type="http://schemas.openxmlformats.org/officeDocument/2006/relationships/slideLayout" Target="../slideLayouts/slideLayout1.xml"/><Relationship Id="R755aed03094c477a" Type="http://schemas.openxmlformats.org/officeDocument/2006/relationships/image" Target="../media/image15.png"/><Relationship Id="Rd0506c0cc7c9427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101a42eaeb144afb" Type="http://schemas.openxmlformats.org/officeDocument/2006/relationships/slideLayout" Target="../slideLayouts/slideLayout1.xml"/><Relationship Id="R249988292d84451b" Type="http://schemas.openxmlformats.org/officeDocument/2006/relationships/notesSlide" Target="../notesSlides/notesSlide13.xml"/><Relationship Id="Ree2210f3f94f46c4" Type="http://schemas.openxmlformats.org/officeDocument/2006/relationships/image" Target="../media/image16.png"/></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xmlns:a="http://schemas.openxmlformats.org/drawingml/2006/main">
          <a:bodyPr/>
          <a:p/>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xmlns:a="http://schemas.openxmlformats.org/drawingml/2006/main">
          <a:bodyPr/>
          <a:p/>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xmlns:a="http://schemas.openxmlformats.org/drawingml/2006/main">
          <a:bodyPr/>
          <a:p/>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90326f3209cd47f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810e605741cb4c6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84080be2017a4bce"/>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becef9ec958e49e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b63f16244bda4fa8"/>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fb0a7e79a69d41d1"/>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same demo case in LangSmith monitoring</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stops for human review;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1cec721bd7c54551"/>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complaint benchmark; Financial Ombudsman Service case fee;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xmlns:a="http://schemas.openxmlformats.org/drawingml/2006/main">
          <a:bodyPr/>
          <a:p/>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6.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f6c7ee433bda42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80e739bb4934b5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6f2841d48071433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xmlns:a="http://schemas.openxmlformats.org/drawingml/2006/main">
          <a:bodyPr/>
          <a:p/>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xmlns:a="http://schemas.openxmlformats.org/drawingml/2006/main">
          <a:bodyPr/>
          <a:p/>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13c84005b60948c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0e4194775f0846d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f3668b642f14462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evaluation vs CFPB-derived labels (gpt-4o, n=240);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 model costing 17× more improved agreement by 4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101fb8bc4b4547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5aed03094c477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ee2210f3f94f46c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2026-08-30T08:02:25.8520000Z</dcterms:created>
  <dcterms:modified xsi:type="dcterms:W3CDTF">2026-08-30T08:02:25.8520000Z</dcterms:modified>
</coreProperties>
</file>