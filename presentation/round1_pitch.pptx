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 not read the slide.]</a:t>
            </a:r>
          </a:p>
          <a:p>
            <a:r>
              <a:t>[Whole deck: you are in Chleo's meeting. Speak to the room as "you". The exception is the</a:t>
            </a:r>
          </a:p>
          <a:p>
            <a:r>
              <a:t>close, where you step out and address the staff.]</a:t>
            </a:r>
          </a:p>
          <a:p/>
          <a:p>
            <a:r>
              <a:t>We met at a dinner, and you told me you don't trust AI because you can't see what it does.</a:t>
            </a:r>
          </a:p>
          <a:p/>
          <a:p>
            <a:r>
              <a:t>So this isn't a pitch about what AI could do for you. It's about one decision you can watch</a:t>
            </a:r>
          </a:p>
          <a:p>
            <a:r>
              <a:t>happen. Everything here runs, and every number traces back to a repository you can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never asked me whether AI works. You asked what it is, and how you'd see it. Those</a:t>
            </a:r>
          </a:p>
          <a:p>
            <a:r>
              <a:t>are the two questions your regulator will ask you as well.</a:t>
            </a:r>
          </a:p>
          <a:p/>
          <a:p>
            <a:r>
              <a:t>So: a firm your size, and three candidates — triage, anomaly flagging, reporting help. They</a:t>
            </a:r>
          </a:p>
          <a:p>
            <a:r>
              <a:t>are ranked by one thing only, which is how visible the reasoning is. Not by which saves</a:t>
            </a:r>
          </a:p>
          <a:p>
            <a:r>
              <a:t>most. Triage is first because you can watch it work.</a:t>
            </a:r>
          </a:p>
          <a:p/>
          <a:p>
            <a:r>
              <a:t>And two I'm refusing. A chatbot fails in public, in your customer's voice. Credit scoring</a:t>
            </a:r>
          </a:p>
          <a:p>
            <a:r>
              <a:t>is high-risk under the AI Act — months of conformity work before a single decision goes</a:t>
            </a:r>
          </a:p>
          <a:p>
            <a:r>
              <a:t>live.</a:t>
            </a:r>
          </a:p>
          <a:p/>
          <a:p>
            <a:r>
              <a:t>[Land this:] The fastest way to earn your trust is to tell you what not to buy.</a:t>
            </a:r>
          </a:p>
          <a:p/>
          <a:p>
            <a:r>
              <a:t>Let me show you what triage looks like on real complaints.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dashboard if you can. This screenshot is the fallback.]</a:t>
            </a:r>
          </a:p>
          <a:p/>
          <a:p>
            <a:r>
              <a:t>First, whose numbers these are, because it matters — they're not yours. This is the public</a:t>
            </a:r>
          </a:p>
          <a:p>
            <a:r>
              <a:t>regulator's database standing in for your book until Phase 0 measures the real thing. The</a:t>
            </a:r>
          </a:p>
          <a:p>
            <a:r>
              <a:t>shape transfers: the mix of issues, the language, how cases end. The volume doesn't, and I</a:t>
            </a:r>
          </a:p>
          <a:p>
            <a:r>
              <a:t>won't pretend otherwise.</a:t>
            </a:r>
          </a:p>
          <a:p/>
          <a:p>
            <a:r>
              <a:t>Four numbers across the top. Two of them you already report to your regulator, so they need</a:t>
            </a:r>
          </a:p>
          <a:p>
            <a:r>
              <a:t>no explaining. The third is the only one in money — one complaint in eight ends with you</a:t>
            </a:r>
          </a:p>
          <a:p>
            <a:r>
              <a:t>paying something out.</a:t>
            </a:r>
          </a:p>
          <a:p/>
          <a:p>
            <a:r>
              <a:t>The fourth is the one to hold on to. Forty-six per cent of everything that arrives sits in</a:t>
            </a:r>
          </a:p>
          <a:p>
            <a:r>
              <a:t>five of sixty-four categories. That's what makes this small enough to build honestly: I'm</a:t>
            </a:r>
          </a:p>
          <a:p>
            <a:r>
              <a:t>not asking a machine to be good at sixty-four things.</a:t>
            </a:r>
          </a:p>
          <a:p/>
          <a:p>
            <a:r>
              <a:t>Here it is doing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window, then the monitoring view. The screenshots are the fallback</a:t>
            </a:r>
          </a:p>
          <a:p>
            <a:r>
              <a:t>if either demo is cold.]</a:t>
            </a:r>
          </a:p>
          <a:p/>
          <a:p>
            <a:r>
              <a:t>On the left, the workflow running on a real complaint. Green ticks mean every step</a:t>
            </a:r>
          </a:p>
          <a:p>
            <a:r>
              <a:t>executed. It proposed Disputes and fraud — quoting your customer's own words as its reason</a:t>
            </a:r>
          </a:p>
          <a:p>
            <a:r>
              <a:t>— and then it stopped and waited for a person.</a:t>
            </a:r>
          </a:p>
          <a:p/>
          <a:p>
            <a:r>
              <a:t>On the right, that same decision opened up in monitoring. Sixty decisions traced, every one</a:t>
            </a:r>
          </a:p>
          <a:p>
            <a:r>
              <a:t>on the record, including the ones where nothing happened.</a:t>
            </a:r>
          </a:p>
          <a:p/>
          <a:p>
            <a:r>
              <a:t>And this is the part I'd want you to hear. Four times out of sixty, the model made up its</a:t>
            </a:r>
          </a:p>
          <a:p>
            <a:r>
              <a:t>justification — it quoted words that weren't in the complaint at all, confidently. The</a:t>
            </a:r>
          </a:p>
          <a:p>
            <a:r>
              <a:t>check caught every one and sent it to a person with the reason written down.</a:t>
            </a:r>
          </a:p>
          <a:p/>
          <a:p>
            <a:r>
              <a:t>[Point at the dark strip.] Which is why I'm not asking you to switch anything on. It picks</a:t>
            </a:r>
          </a:p>
          <a:p>
            <a:r>
              <a:t>the right team sixty per cent of the time on this data. That is not good enough to route on</a:t>
            </a:r>
          </a:p>
          <a:p>
            <a:r>
              <a:t>its own — so it proposes, and a person decides. That's the honest configuration until a</a:t>
            </a:r>
          </a:p>
          <a:p>
            <a:r>
              <a:t>pilot on your data says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fee per phase, because your problem is uncertainty and I won't hand you an open-ended</a:t>
            </a:r>
          </a:p>
          <a:p>
            <a:r>
              <a:t>commitment.</a:t>
            </a:r>
          </a:p>
          <a:p/>
          <a:p>
            <a:r>
              <a:t>Phase 0 buys something odd: two of your handlers labelling three hundred complaints before</a:t>
            </a:r>
          </a:p>
          <a:p>
            <a:r>
              <a:t>any AI at all. That's the ground truth that doesn't exist today, and it's worth buying even</a:t>
            </a:r>
          </a:p>
          <a:p>
            <a:r>
              <a:t>if you never build this — it tells you whether your own categories can be applied</a:t>
            </a:r>
          </a:p>
          <a:p>
            <a:r>
              <a:t>consistently by anybody.</a:t>
            </a:r>
          </a:p>
          <a:p/>
          <a:p>
            <a:r>
              <a:t>Running cost is seven thousand four hundred a year, of which the AI itself is twenty-nine</a:t>
            </a:r>
          </a:p>
          <a:p>
            <a:r>
              <a:t>cents. The rest is someone accountable for watching it, and I wouldn't remove it.</a:t>
            </a:r>
          </a:p>
          <a:p/>
          <a:p>
            <a:r>
              <a:t>Two assumptions, on the slide. The volume is the regulator's rate applied to a firm your</a:t>
            </a:r>
          </a:p>
          <a:p>
            <a:r>
              <a:t>size, so treat the euros as an order of magnitude. And the return rests on avoiding</a:t>
            </a:r>
          </a:p>
          <a:p>
            <a:r>
              <a:t>ombudsman referrals — four a year covers the running cost. I'm not claiming we hit it.</a:t>
            </a:r>
          </a:p>
          <a:p>
            <a:r>
              <a:t>That's what the pilot measures.</a:t>
            </a:r>
          </a:p>
          <a:p/>
          <a:p>
            <a:r>
              <a:t>Fourteen thousand to reach a decision. Not twenty-four and a half to a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 Drop the client voice — this is to you as assessors, not as Chleo.]</a:t>
            </a:r>
          </a:p>
          <a:p/>
          <a:p>
            <a:r>
              <a:t>One thing I'd genuinely like taken apart.</a:t>
            </a:r>
          </a:p>
          <a:p/>
          <a:p>
            <a:r>
              <a:t>I've built this pitch around admitting a weak number early rather than a confident one. I</a:t>
            </a:r>
          </a:p>
          <a:p>
            <a:r>
              <a:t>think an honest sixty per cent buys more trust from a sceptical client than a polished</a:t>
            </a:r>
          </a:p>
          <a:p>
            <a:r>
              <a:t>eighty-five would.</a:t>
            </a:r>
          </a:p>
          <a:p/>
          <a:p>
            <a:r>
              <a:t>I think that's right. I'm not certain it survives contact with a real client, and that's</a:t>
            </a:r>
          </a:p>
          <a:p>
            <a:r>
              <a:t>what I'd most like you to push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why these three, or why not a chatbot.]</a:t>
            </a:r>
          </a:p>
          <a:p/>
          <a:p>
            <a:r>
              <a:t>Ranked by visible reasoning. The refusals matter as much: a chatbot's errors are unbounded</a:t>
            </a:r>
          </a:p>
          <a:p>
            <a:r>
              <a:t>and public, and credit scoring is Annex III high-risk — conformity assessment and a</a:t>
            </a:r>
          </a:p>
          <a:p>
            <a:r>
              <a:t>fundamental-rights impact assessment before go-live.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scope was bounded.]</a:t>
            </a:r>
          </a:p>
          <a:p/>
          <a:p>
            <a:r>
              <a:t>Five of sixty-four categories carry 46.1% of the volume. Concentration like that is a</a:t>
            </a:r>
          </a:p>
          <a:p>
            <a:r>
              <a:t>property of complaint books generally, not of one firm — which is why I'd expect it to</a:t>
            </a:r>
          </a:p>
          <a:p>
            <a:r>
              <a:t>hold for you even though the volume won't.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where the money actually goes.]</a:t>
            </a:r>
          </a:p>
          <a:p/>
          <a:p>
            <a:r>
              <a:t>Deposits and cards are two thirds of the volume here, but money leaves the building 5.7</a:t>
            </a:r>
          </a:p>
          <a:p>
            <a:r>
              <a:t>times more often on a card complaint than a vehicle loan. That ratio follows from how the</a:t>
            </a:r>
          </a:p>
          <a:p>
            <a:r>
              <a:t>products work, not from who the firm is — so it should hold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often it fails, or what happens then.]</a:t>
            </a:r>
          </a:p>
          <a:p/>
          <a:p>
            <a:r>
              <a:t>Fifty-two proposed cleanly. Four stopped because the quote wasn't real, four because</a:t>
            </a:r>
          </a:p>
          <a:p>
            <a:r>
              <a:t>confidence was too low. Bottom row is the one that matters: nothing was silently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 — so it's</a:t>
            </a:r>
          </a:p>
          <a:p>
            <a:r>
              <a:t>consistent, it just disagrees with the official label. And that label was picked by the</a:t>
            </a:r>
          </a:p>
          <a:p>
            <a:r>
              <a:t>customer filing the complaint, from a dropdown, untrained.</a:t>
            </a:r>
          </a:p>
          <a:p/>
          <a:p>
            <a:r>
              <a:t>So the fix isn't a cleverer model, it's better labels. That is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quality is questioned.]</a:t>
            </a:r>
          </a:p>
          <a:p/>
          <a:p>
            <a:r>
              <a:t>The July cliff would have caught me. The regulator only publishes a complaint once the firm</a:t>
            </a:r>
          </a:p>
          <a:p>
            <a:r>
              <a:t>has responded, so recent weeks are always thin — read naively that's a 73% collapse and a</a:t>
            </a:r>
          </a:p>
          <a:p>
            <a:r>
              <a:t>wonderful slide. It's an artefact. I cut the window at 27 June. The other two are the same</a:t>
            </a:r>
          </a:p>
          <a:p>
            <a:r>
              <a:t>pattern: confident, wrong, and invisible to any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the legal seat asks.]</a:t>
            </a:r>
          </a:p>
          <a:p/>
          <a:p>
            <a:r>
              <a:t>Limited risk, and the reasoning matters more than the label: it classifies and routes, a</a:t>
            </a:r>
          </a:p>
          <a:p>
            <a:r>
              <a:t>human resolves, it never touches creditworthiness. What holds it there is the human</a:t>
            </a:r>
          </a:p>
          <a:p>
            <a:r>
              <a:t>decision boundary — if it ever routes on its own that's a new assessment, not an upgrade.</a:t>
            </a:r>
          </a:p>
          <a:p/>
          <a:p>
            <a:r>
              <a:t>I'm deliberately not giving a final classification today. Round 2 owes the step-by-step</a:t>
            </a:r>
          </a:p>
          <a:p>
            <a:r>
              <a:t>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sourcing is challenged.]</a:t>
            </a:r>
          </a:p>
          <a:p/>
          <a:p>
            <a:r>
              <a:t>Everything is either measured by me or cited to a regulator. Where a figure is a judgement</a:t>
            </a:r>
          </a:p>
          <a:p>
            <a:r>
              <a:t>rather than a measurement — minutes per complaint, employer on-costs — it's labelled as a</a:t>
            </a:r>
          </a:p>
          <a:p>
            <a:r>
              <a:t>judgement in the cost model, not dressed up as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PITCH TO CHLEO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her what the AI does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triage for a mid-size financial services firm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research, dashboard, POC, monitoring, 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CFPB data · 16,839 complaints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reproducible from the repo    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17152" y="-1645920"/>
            <a:ext cx="3200400" cy="3246120"/>
          </a:xfrm>
          <a:prstGeom prst="rect">
            <a:avLst/>
          </a:prstGeom>
          <a:solidFill>
            <a:srgbClr val="1D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46304" cy="2880360"/>
          </a:xfrm>
          <a:prstGeom prst="rect">
            <a:avLst/>
          </a:prstGeom>
          <a:solidFill>
            <a:srgbClr val="8FBFF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mid-size bank that does not trust AI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asked whether AI works. You asked what it is, and how you would see it.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services, mid-size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staff, ~250,000 retail customers, EU. Current accounts, cards, personal and vehicle lending.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1488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“AI is not transparent”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words. You could not say what “the AI” would be, or how you would sign up.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use cases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Complaint triage  ·  2. Anomaly flagging  ·  3. Reporting assistance. Ranked by how visible the reasoning is.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77316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477316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77316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two I refuse to build: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customer-facing chatbot, which fails in public in your customer's voice; and credit scoring, which is Annex III high-risk under the EU AI Act.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dashboard: four numbers a CEO reads first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dashboard/screenshots/dash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964710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24246" y="1481328"/>
            <a:ext cx="379777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61990" y="1700784"/>
            <a:ext cx="3340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one matters to you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61990" y="2139696"/>
            <a:ext cx="332229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16,839 complaints — the size of the job, not a sample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98.0% answered on time — the measure you already report to your regulator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12.7% cost money to resolve — the only figure here in your currency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46% sit in five of 64 categories — the opportunity, as a share not a promise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Whose numbers? Not yours. Public regulator data standing in for your book until Phase 0. The shape transfers; the volume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runs, it is watched, and it stops itself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n8n/screenshots/n8n-exec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4608576" cy="3200400"/>
          </a:xfrm>
          <a:prstGeom prst="rect">
            <a:avLst/>
          </a:prstGeom>
        </p:spPr>
      </p:pic>
      <p:pic>
        <p:nvPicPr>
          <p:cNvPr id="10" name="Image 2" descr="/Users/nnanyelugoahukannah/Learning/Ironhack/PROJECT-Capstone-AI-Consulting/langsmith/screenshots/trace-detail-guard-fi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824" y="1481328"/>
            <a:ext cx="6172200" cy="3200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66928" y="4846320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730"/>
                </a:solidFill>
              </a:rPr>
              <a:t>LEFT — the workflow, running on a real complaint.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730"/>
                </a:solidFill>
              </a:rPr>
              <a:t>  Green ticks: every step executed. It proposed Disputes and fraud, quoting the customer's own words — and a person still decides.
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730"/>
                </a:solidFill>
              </a:rPr>
              <a:t>RIGHT — the same decision, opened up in monitoring.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730"/>
                </a:solidFill>
              </a:rPr>
              <a:t>  60 decisions traced. Four times the model invented its quote; the check caught every one and sent it to a person with the reason.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66928" y="5577840"/>
            <a:ext cx="11055096" cy="7863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3" name="Shape 8"/>
          <p:cNvSpPr/>
          <p:nvPr/>
        </p:nvSpPr>
        <p:spPr>
          <a:xfrm>
            <a:off x="566928" y="5577840"/>
            <a:ext cx="82296" cy="7863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9"/>
          <p:cNvSpPr/>
          <p:nvPr/>
        </p:nvSpPr>
        <p:spPr>
          <a:xfrm>
            <a:off x="822960" y="5577840"/>
            <a:ext cx="10597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not production.  </a:t>
            </a:r>
            <a:pPr indent="0" marL="0">
              <a:buNone/>
            </a:pPr>
            <a:r>
              <a:rPr lang="en-US" sz="125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the right team 60% of the time on public data — not good enough to route on its own. So it proposes, and a person decides. That is the honest configuration until a pilot on your data says otherwise.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to a decision, not €24,500 to a deployment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 is €7,400 a year — of which the AI itself is €0.29. The rest is human oversight.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+ labelling — €5,600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weeks. Two of your handlers label 300 complaints. Produces the ground truth you do not have.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Pilot, 60-day shadow run — €8,400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weeks. It proposes, nobody acts on it, we measure against your labels.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Deployment, only if it passes — €10,500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weeks. Assist-only. Autonomous routing is a separate decision.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566928" y="4681728"/>
            <a:ext cx="11055096" cy="82296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4681728"/>
            <a:ext cx="82296" cy="8229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4681728"/>
            <a:ext cx="10597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assumptions: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comes from the regulator's own complaint rate applied to a firm your size, so treat the euros as an order of magnitude. And the return rests on avoided ombudsman referrals — four a year covers the running cost. The pilot is what tests 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most want your feedback 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2057400"/>
            <a:ext cx="9507383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I lead this pitch by admitting a weak number — 60% — instead of a confident one.
</a:t>
            </a:r>
            <a:pPr indent="0" marL="0">
              <a:buNone/>
            </a:pPr>
            <a:r>
              <a:rPr lang="en-US" sz="1700" b="1" dirty="0">
                <a:solidFill>
                  <a:srgbClr val="8FBFF0"/>
                </a:solidFill>
              </a:rPr>
              <a:t>Does that earn a sceptical client's trust, or lose the room?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three use cases, and the two refusals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visible the reasoning is, not by the size of the prize.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— reads a complaint, proposes a team, quotes its reason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— every flag carries a reason, a human decides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— drafts what a person signs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refuse to build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chatbot — fails in public, in your customer's voice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— Annex III high-risk under the EU AI Act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which complaints cost money — creates the wrong incentive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five categories are half of every complaint in the 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needs to be good at five things and honest about the rest.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6411956" cy="3291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395728"/>
            <a:ext cx="6137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an account  —  19.9%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" y="2793492"/>
            <a:ext cx="6302228" cy="329184"/>
          </a:xfrm>
          <a:prstGeom prst="rect">
            <a:avLst/>
          </a:prstGeom>
          <a:solidFill>
            <a:srgbClr val="24343F">
              <a:alpha val="9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793492"/>
            <a:ext cx="60279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with a purchase on your statement  —  11.2%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6384" y="3191256"/>
            <a:ext cx="6192500" cy="329184"/>
          </a:xfrm>
          <a:prstGeom prst="rect">
            <a:avLst/>
          </a:prstGeom>
          <a:solidFill>
            <a:srgbClr val="24343F">
              <a:alpha val="8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191256"/>
            <a:ext cx="5918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or company charging your account  —  5.6%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6112" y="3589020"/>
            <a:ext cx="6082772" cy="329184"/>
          </a:xfrm>
          <a:prstGeom prst="rect">
            <a:avLst/>
          </a:prstGeom>
          <a:solidFill>
            <a:srgbClr val="24343F">
              <a:alpha val="8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042416" y="3589020"/>
            <a:ext cx="5808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or scam  —  4.8%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05840" y="3986784"/>
            <a:ext cx="5973044" cy="329184"/>
          </a:xfrm>
          <a:prstGeom prst="rect">
            <a:avLst/>
          </a:prstGeom>
          <a:solidFill>
            <a:srgbClr val="24343F">
              <a:alpha val="76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3986784"/>
            <a:ext cx="56987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account  —  4.6%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53204" y="2395728"/>
            <a:ext cx="4368820" cy="19202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509236" y="2596896"/>
            <a:ext cx="385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46.1%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all complaints sit in just 5 of 64 categories.
</a:t>
            </a:r>
            <a:pPr indent="0" marL="0">
              <a:buNone/>
            </a:pPr>
            <a:r>
              <a:rPr lang="en-US" sz="1200" i="1" dirty="0">
                <a:solidFill>
                  <a:srgbClr val="8FBFF0"/>
                </a:solidFill>
              </a:rPr>
              <a:t>Concentration like that is a property of complaint books, not of one firm.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volume and cost are not the same picture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pay out 5.7× more often than vehicle loans. Routing has money attached.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Checking or savings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5,835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34.7%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14.0%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Credit card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5,382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32.0%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17.2%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Money transfer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2,551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15.1%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10.6%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Vehicle loan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1,523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9.0%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48970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48970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48970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ratio should hold for her, because it follows from how the products work — not from who the firm is.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decision accounted for, including the refusals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decisions traced. Nothing silently wrong.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HOW OFTEN, IN 60 DECISIONS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Proposed a team, all checks passed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52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Quote was not actually in the complaint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Confidence below the 0.70 threshold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Silently wrong, with no record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306824"/>
            <a:ext cx="11055096" cy="64008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30682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30682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explains itself convincingly but falsely is more dangerous than one that says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why 60% is not the model's fault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is the labels, not the model. That is what Phase 0 buys.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measured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correct team (gpt-4o, 240 complaints)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6× more expensive model buys 4 points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bottleneck is not the model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the same complaint twice and it answers the same way ~9 times in 10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is consistent — it just disagrees with the official label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label was picked by the customer filing the complaint, from a menu, untrained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three corrections made before any analysis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would have produced a confident wrong answer.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WHAT WAS ACTUALLY HAPPENING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Complaints fell 73% in July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Publication lag — the regulator only publishes once a firm responds. Window cut at 2026-06-27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Handling time is 0 days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It measures the regulator's routing, not any firm's speed. Metric dropped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Timeliness 98.0% vs 0.6% untimely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Two different fields. Relabelled so a CEO is not shown a contradiction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compliance position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view with reasoning beats a confident label with none.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EU AI Act tier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Limited risk — it classifies and routes, a human resolves. Not Annex III creditworthiness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What keeps it there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The human decision boundary. Autonomous routing is a new assessment, not an upgrade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GDPR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Complaint text is personal data. Legal basis, retention and a DPIA are Round 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Open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Model hosting region — an EU customer's text must not leave the EEA by accident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number, and where it came from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these slides is an estimate dressed as a measurement.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Figure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corpus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16,839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CFPB public API, 2026-05-01 to 06-27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rate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3.7 per 1,000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FCA aggregate complaints 2025 H2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Ombudsman case fee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£650, 3 free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Financial Ombudsman Service 2025/26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Tokens per complaint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 / 49 out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Measured, n=12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Team accuracy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gpt-4o, 240 complaints, seed 42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1 — Complaint Triage</dc:title>
  <dc:subject>PptxGenJS Presentation</dc:subject>
  <dc:creator/>
  <cp:lastModifiedBy/>
  <cp:revision>1</cp:revision>
  <dcterms:created xsi:type="dcterms:W3CDTF">2026-08-28T13:12:39Z</dcterms:created>
  <dcterms:modified xsi:type="dcterms:W3CDTF">2026-08-28T13:12:39Z</dcterms:modified>
</cp:coreProperties>
</file>