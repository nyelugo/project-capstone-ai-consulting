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10.xml" ContentType="application/vnd.openxmlformats-officedocument.presentationml.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Override PartName="/ppt/slides/slide13.xml" ContentType="application/vnd.openxmlformats-officedocument.presentationml.slide+xml"/>
  <Override PartName="/ppt/notesSlides/notesSlide12.xml" ContentType="application/vnd.openxmlformats-officedocument.presentationml.notesSlide+xml"/>
  <Override PartName="/ppt/slides/slide14.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e09db4ad844950" /><Relationship Type="http://schemas.openxmlformats.org/officeDocument/2006/relationships/extended-properties" Target="/docProps/app.xml" Id="R5a5af9618d2645c6" /><Relationship Type="http://schemas.openxmlformats.org/officeDocument/2006/relationships/officeDocument" Target="/ppt/presentation.xml" Id="R8c075a6fcee24373" /></Relationships>
</file>

<file path=ppt/presentation.xml><?xml version="1.0" encoding="utf-8"?>
<p:presentation xmlns:p="http://schemas.openxmlformats.org/presentationml/2006/main">
  <p:sldMasterIdLst>
    <p:sldMasterId xmlns:r="http://schemas.openxmlformats.org/officeDocument/2006/relationships" id="2147483648" r:id="R7a76bfd0bcea46e7"/>
  </p:sldMasterIdLst>
  <p:notesMasterIdLst>
    <p:notesMasterId xmlns:r="http://schemas.openxmlformats.org/officeDocument/2006/relationships" r:id="Rd73e6dfdb0d84c88"/>
  </p:notesMasterIdLst>
  <p:sldIdLst>
    <p:sldId xmlns:r="http://schemas.openxmlformats.org/officeDocument/2006/relationships" id="256" r:id="R883a0ea1f87f416d"/>
    <p:sldId xmlns:r="http://schemas.openxmlformats.org/officeDocument/2006/relationships" id="257" r:id="Rb55d5a90365f436f"/>
    <p:sldId xmlns:r="http://schemas.openxmlformats.org/officeDocument/2006/relationships" id="258" r:id="R1f725f9b78f24821"/>
    <p:sldId xmlns:r="http://schemas.openxmlformats.org/officeDocument/2006/relationships" id="259" r:id="R06706de16095453b"/>
    <p:sldId xmlns:r="http://schemas.openxmlformats.org/officeDocument/2006/relationships" id="260" r:id="R14347f17fb71450f"/>
    <p:sldId xmlns:r="http://schemas.openxmlformats.org/officeDocument/2006/relationships" id="261" r:id="R0be6c43eccec450a"/>
    <p:sldId xmlns:r="http://schemas.openxmlformats.org/officeDocument/2006/relationships" id="262" r:id="R76707a4419354669"/>
    <p:sldId xmlns:r="http://schemas.openxmlformats.org/officeDocument/2006/relationships" id="263" r:id="R356748d9a6ed48ab"/>
    <p:sldId xmlns:r="http://schemas.openxmlformats.org/officeDocument/2006/relationships" id="264" r:id="R3ab75f0f4b3f4b0c"/>
    <p:sldId xmlns:r="http://schemas.openxmlformats.org/officeDocument/2006/relationships" id="265" r:id="R40d8dc9b2fd54897"/>
    <p:sldId xmlns:r="http://schemas.openxmlformats.org/officeDocument/2006/relationships" id="266" r:id="R1e277a1a106642de"/>
    <p:sldId xmlns:r="http://schemas.openxmlformats.org/officeDocument/2006/relationships" id="267" r:id="R7b0132ac71e74b48"/>
    <p:sldId xmlns:r="http://schemas.openxmlformats.org/officeDocument/2006/relationships" id="268" r:id="R0fbe23acbb8144d5"/>
    <p:sldId xmlns:r="http://schemas.openxmlformats.org/officeDocument/2006/relationships" id="269" r:id="R26e6a4bb631f41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99c712845094934" /><Relationship Type="http://schemas.openxmlformats.org/officeDocument/2006/relationships/slideMaster" Target="/ppt/slideMasters/slideMaster1.xml" Id="R7a76bfd0bcea46e7" /><Relationship Type="http://schemas.openxmlformats.org/officeDocument/2006/relationships/notesMaster" Target="/ppt/notesMasters/notesMaster1.xml" Id="Rd73e6dfdb0d84c88" /><Relationship Type="http://schemas.openxmlformats.org/officeDocument/2006/relationships/presProps" Target="/ppt/presProps.xml" Id="Rd36522e969cf4b2e" /><Relationship Type="http://schemas.openxmlformats.org/officeDocument/2006/relationships/viewProps" Target="/ppt/viewProps.xml" Id="R5ff790dcb7af4be0" /><Relationship Type="http://schemas.openxmlformats.org/officeDocument/2006/relationships/tableStyles" Target="/ppt/tableStyles.xml" Id="R0e276d12407940e6" /><Relationship Type="http://schemas.openxmlformats.org/officeDocument/2006/relationships/slide" Target="/ppt/slides/slide1.xml" Id="R883a0ea1f87f416d" /><Relationship Type="http://schemas.openxmlformats.org/officeDocument/2006/relationships/slide" Target="/ppt/slides/slide2.xml" Id="Rb55d5a90365f436f" /><Relationship Type="http://schemas.openxmlformats.org/officeDocument/2006/relationships/slide" Target="/ppt/slides/slide3.xml" Id="R1f725f9b78f24821" /><Relationship Type="http://schemas.openxmlformats.org/officeDocument/2006/relationships/slide" Target="/ppt/slides/slide4.xml" Id="R06706de16095453b" /><Relationship Type="http://schemas.openxmlformats.org/officeDocument/2006/relationships/slide" Target="/ppt/slides/slide5.xml" Id="R14347f17fb71450f" /><Relationship Type="http://schemas.openxmlformats.org/officeDocument/2006/relationships/slide" Target="/ppt/slides/slide6.xml" Id="R0be6c43eccec450a" /><Relationship Type="http://schemas.openxmlformats.org/officeDocument/2006/relationships/slide" Target="/ppt/slides/slide7.xml" Id="R76707a4419354669" /><Relationship Type="http://schemas.openxmlformats.org/officeDocument/2006/relationships/slide" Target="/ppt/slides/slide8.xml" Id="R356748d9a6ed48ab" /><Relationship Type="http://schemas.openxmlformats.org/officeDocument/2006/relationships/slide" Target="/ppt/slides/slide9.xml" Id="R3ab75f0f4b3f4b0c" /><Relationship Type="http://schemas.openxmlformats.org/officeDocument/2006/relationships/slide" Target="/ppt/slides/slide10.xml" Id="R40d8dc9b2fd54897" /><Relationship Type="http://schemas.openxmlformats.org/officeDocument/2006/relationships/slide" Target="/ppt/slides/slide11.xml" Id="R1e277a1a106642de" /><Relationship Type="http://schemas.openxmlformats.org/officeDocument/2006/relationships/slide" Target="/ppt/slides/slide12.xml" Id="R7b0132ac71e74b48" /><Relationship Type="http://schemas.openxmlformats.org/officeDocument/2006/relationships/slide" Target="/ppt/slides/slide13.xml" Id="R0fbe23acbb8144d5" /><Relationship Type="http://schemas.openxmlformats.org/officeDocument/2006/relationships/slide" Target="/ppt/slides/slide14.xml" Id="R26e6a4bb631f41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5bf9f4a23e4a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8a632b925a4847" /><Relationship Type="http://schemas.openxmlformats.org/officeDocument/2006/relationships/notesMaster" Target="/ppt/notesMasters/notesMaster1.xml" Id="R0e1767b400ab4c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c2873e05ce4052" /><Relationship Type="http://schemas.openxmlformats.org/officeDocument/2006/relationships/notesMaster" Target="/ppt/notesMasters/notesMaster1.xml" Id="R4a1dc782b8a744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569f15f4624dd8" /><Relationship Type="http://schemas.openxmlformats.org/officeDocument/2006/relationships/notesMaster" Target="/ppt/notesMasters/notesMaster1.xml" Id="R0e7feae4c6bd47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254904808a46d5" /><Relationship Type="http://schemas.openxmlformats.org/officeDocument/2006/relationships/notesMaster" Target="/ppt/notesMasters/notesMaster1.xml" Id="Re6aee9fd3c194b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d87a1322784f2a" /><Relationship Type="http://schemas.openxmlformats.org/officeDocument/2006/relationships/notesMaster" Target="/ppt/notesMasters/notesMaster1.xml" Id="R8556a03a48754aea" /></Relationships>
</file>

<file path=ppt/notesSlides/_rels/notesSlide6.xml.rels>&#65279;<?xml version="1.0" encoding="utf-8"?><Relationships xmlns="http://schemas.openxmlformats.org/package/2006/relationships"><Relationship Type="http://schemas.openxmlformats.org/officeDocument/2006/relationships/slide" Target="/ppt/slides/slide7.xml" Id="R14dd9e7be7d1496f" /><Relationship Type="http://schemas.openxmlformats.org/officeDocument/2006/relationships/notesMaster" Target="/ppt/notesMasters/notesMaster1.xml" Id="R6e93df2c5ad847e0" /></Relationships>
</file>

<file path=ppt/notesSlides/_rels/notesSlide7.xml.rels>&#65279;<?xml version="1.0" encoding="utf-8"?><Relationships xmlns="http://schemas.openxmlformats.org/package/2006/relationships"><Relationship Type="http://schemas.openxmlformats.org/officeDocument/2006/relationships/slide" Target="/ppt/slides/slide8.xml" Id="Rb2727b64b3de429d" /><Relationship Type="http://schemas.openxmlformats.org/officeDocument/2006/relationships/notesMaster" Target="/ppt/notesMasters/notesMaster1.xml" Id="R7bf2f676967a43f9" /></Relationships>
</file>

<file path=ppt/notesSlides/_rels/notesSlide8.xml.rels>&#65279;<?xml version="1.0" encoding="utf-8"?><Relationships xmlns="http://schemas.openxmlformats.org/package/2006/relationships"><Relationship Type="http://schemas.openxmlformats.org/officeDocument/2006/relationships/slide" Target="/ppt/slides/slide9.xml" Id="Raef5e8d713124e4e" /><Relationship Type="http://schemas.openxmlformats.org/officeDocument/2006/relationships/notesMaster" Target="/ppt/notesMasters/notesMaster1.xml" Id="Reb871928d0164037" /></Relationships>
</file>

<file path=ppt/notesSlides/_rels/notesSlide9.xml.rels>&#65279;<?xml version="1.0" encoding="utf-8"?><Relationships xmlns="http://schemas.openxmlformats.org/package/2006/relationships"><Relationship Type="http://schemas.openxmlformats.org/officeDocument/2006/relationships/slide" Target="/ppt/slides/slide10.xml" Id="R69c8d6a577af4cb9" /><Relationship Type="http://schemas.openxmlformats.org/officeDocument/2006/relationships/notesMaster" Target="/ppt/notesMasters/notesMaster1.xml" Id="R82b93402774f4992" /></Relationships>
</file>

<file path=ppt/notesSlides/_rels/notesSlide10.xml.rels>&#65279;<?xml version="1.0" encoding="utf-8"?><Relationships xmlns="http://schemas.openxmlformats.org/package/2006/relationships"><Relationship Type="http://schemas.openxmlformats.org/officeDocument/2006/relationships/slide" Target="/ppt/slides/slide11.xml" Id="R82a4758d55464523" /><Relationship Type="http://schemas.openxmlformats.org/officeDocument/2006/relationships/notesMaster" Target="/ppt/notesMasters/notesMaster1.xml" Id="Rf3307ac40aa44a27" /></Relationships>
</file>

<file path=ppt/notesSlides/_rels/notesSlide11.xml.rels>&#65279;<?xml version="1.0" encoding="utf-8"?><Relationships xmlns="http://schemas.openxmlformats.org/package/2006/relationships"><Relationship Type="http://schemas.openxmlformats.org/officeDocument/2006/relationships/slide" Target="/ppt/slides/slide12.xml" Id="Rf4b4344276df495e" /><Relationship Type="http://schemas.openxmlformats.org/officeDocument/2006/relationships/notesMaster" Target="/ppt/notesMasters/notesMaster1.xml" Id="R9d11d32673ef49e5" /></Relationships>
</file>

<file path=ppt/notesSlides/_rels/notesSlide12.xml.rels>&#65279;<?xml version="1.0" encoding="utf-8"?><Relationships xmlns="http://schemas.openxmlformats.org/package/2006/relationships"><Relationship Type="http://schemas.openxmlformats.org/officeDocument/2006/relationships/slide" Target="/ppt/slides/slide13.xml" Id="Ra3599f8791b44cf5" /><Relationship Type="http://schemas.openxmlformats.org/officeDocument/2006/relationships/notesMaster" Target="/ppt/notesMasters/notesMaster1.xml" Id="R6a2c9e588ed54cfb" /></Relationships>
</file>

<file path=ppt/notesSlides/_rels/notesSlide13.xml.rels>&#65279;<?xml version="1.0" encoding="utf-8"?><Relationships xmlns="http://schemas.openxmlformats.org/package/2006/relationships"><Relationship Type="http://schemas.openxmlformats.org/officeDocument/2006/relationships/slide" Target="/ppt/slides/slide14.xml" Id="R8de7568b4af04827" /><Relationship Type="http://schemas.openxmlformats.org/officeDocument/2006/relationships/notesMaster" Target="/ppt/notesMasters/notesMaster1.xml" Id="R93d903c362cd46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 dinner, you told me you do not trust AI because you cannot see what it does.</a:t>
            </a:r>
          </a:p>
          <a:p xmlns:a="http://schemas.openxmlformats.org/drawingml/2006/main">
            <a:r>
              <a:t/>
            </a:r>
          </a:p>
          <a:p xmlns:a="http://schemas.openxmlformats.org/drawingml/2006/main">
            <a:r>
              <a:t>So I am not asking you to believe a promise. I am going to show you 1 complaint-routing decision from start to finish.</a:t>
            </a:r>
          </a:p>
          <a:p xmlns:a="http://schemas.openxmlformats.org/drawingml/2006/main">
            <a:r>
              <a:t/>
            </a:r>
          </a:p>
          <a:p xmlns:a="http://schemas.openxmlformats.org/drawingml/2006/main">
            <a:r>
              <a:t>The workflow runs, its reasoning is visible, and every number traces to project evidence.</a:t>
            </a:r>
          </a:p>
          <a:p xmlns:a="http://schemas.openxmlformats.org/drawingml/2006/main">
            <a:r>
              <a:t/>
            </a:r>
          </a:p>
          <a:p xmlns:a="http://schemas.openxmlformats.org/drawingml/2006/main">
            <a:r>
              <a:t>--- END OF SPOKEN NOTES ---</a:t>
            </a:r>
          </a:p>
          <a:p xmlns:a="http://schemas.openxmlformats.org/drawingml/2006/main">
            <a:r>
              <a:t/>
            </a:r>
          </a:p>
          <a:p xmlns:a="http://schemas.openxmlformats.org/drawingml/2006/main">
            <a:r>
              <a:t>[Sources]</a:t>
            </a:r>
          </a:p>
          <a:p xmlns:a="http://schemas.openxmlformats.org/drawingml/2006/main">
            <a:r>
              <a:t>- Project repository: README.md and linked evidence deliverables.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asked 2 questions: what exactly is the AI, and how would you see what it is doing?</a:t>
            </a:r>
          </a:p>
          <a:p xmlns:a="http://schemas.openxmlformats.org/drawingml/2006/main">
            <a:r>
              <a:t/>
            </a:r>
          </a:p>
          <a:p xmlns:a="http://schemas.openxmlformats.org/drawingml/2006/main">
            <a:r>
              <a:t>I assessed 3 use cases: complaint triage, anomaly flagging, and reporting assistance. I ranked them by inspectability, not the largest promised saving.</a:t>
            </a:r>
          </a:p>
          <a:p xmlns:a="http://schemas.openxmlformats.org/drawingml/2006/main">
            <a:r>
              <a:t/>
            </a:r>
          </a:p>
          <a:p xmlns:a="http://schemas.openxmlformats.org/drawingml/2006/main">
            <a:r>
              <a:t>Triage comes first because the system proposes a team, shows the supporting words, and lets a person confirm or reject it.</a:t>
            </a:r>
          </a:p>
          <a:p xmlns:a="http://schemas.openxmlformats.org/drawingml/2006/main">
            <a:r>
              <a:t/>
            </a:r>
          </a:p>
          <a:p xmlns:a="http://schemas.openxmlformats.org/drawingml/2006/main">
            <a:r>
              <a:t>I ruled out a chatbot because it can fail publicly in the firm’s voice, and creditworthiness scoring because it is an Annex III high-risk use under the EU AI Act.</a:t>
            </a:r>
          </a:p>
          <a:p xmlns:a="http://schemas.openxmlformats.org/drawingml/2006/main">
            <a:r>
              <a:t/>
            </a:r>
          </a:p>
          <a:p xmlns:a="http://schemas.openxmlformats.org/drawingml/2006/main">
            <a:r>
              <a:t>The fastest way to earn your trust is to be clear about what you should not buy.</a:t>
            </a:r>
          </a:p>
          <a:p xmlns:a="http://schemas.openxmlformats.org/drawingml/2006/main">
            <a:r>
              <a:t/>
            </a:r>
          </a:p>
          <a:p xmlns:a="http://schemas.openxmlformats.org/drawingml/2006/main">
            <a:r>
              <a:t>Now let me show you the opportunity suggested by public complaint data.</a:t>
            </a:r>
          </a:p>
          <a:p xmlns:a="http://schemas.openxmlformats.org/drawingml/2006/main">
            <a:r>
              <a:t/>
            </a:r>
          </a:p>
          <a:p xmlns:a="http://schemas.openxmlformats.org/drawingml/2006/main">
            <a:r>
              <a:t>--- END OF SPOKEN NOTES ---</a:t>
            </a:r>
          </a:p>
          <a:p xmlns:a="http://schemas.openxmlformats.org/drawingml/2006/main">
            <a:r>
              <a:t/>
            </a:r>
          </a:p>
          <a:p xmlns:a="http://schemas.openxmlformats.org/drawingml/2006/main">
            <a:r>
              <a:t>[Sources]</a:t>
            </a:r>
          </a:p>
          <a:p xmlns:a="http://schemas.openxmlformats.org/drawingml/2006/main">
            <a:r>
              <a:t>- Project repository: research/use_cases.md.</a:t>
            </a:r>
          </a:p>
          <a:p xmlns:a="http://schemas.openxmlformats.org/drawingml/2006/main">
            <a:r>
              <a:t>- EU AI Act, Annex III: https://eur-lex.europa.eu/eli/reg/2024/1689/oj</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dashboard uses public CFPB data as a proxy. These are not your firm’s numbers; Phase 0 measures your real complaint mix and volume.</a:t>
            </a:r>
          </a:p>
          <a:p xmlns:a="http://schemas.openxmlformats.org/drawingml/2006/main">
            <a:r>
              <a:t/>
            </a:r>
          </a:p>
          <a:p xmlns:a="http://schemas.openxmlformats.org/drawingml/2006/main">
            <a:r>
              <a:t>The analysis contains 16,839 public complaints across 567 firms. The CFPB timely-response field is 98.0%, while 12.7% ended with monetary relief. Neither figure describes your firm’s performance.</a:t>
            </a:r>
          </a:p>
          <a:p xmlns:a="http://schemas.openxmlformats.org/drawingml/2006/main">
            <a:r>
              <a:t/>
            </a:r>
          </a:p>
          <a:p xmlns:a="http://schemas.openxmlformats.org/drawingml/2006/main">
            <a:r>
              <a:t>The key number is 46.1%: 5 of 64 issue categories account for almost half the complaints. That suggests a bounded start rather than asking a model to handle every issue equally well.</a:t>
            </a:r>
          </a:p>
          <a:p xmlns:a="http://schemas.openxmlformats.org/drawingml/2006/main">
            <a:r>
              <a:t/>
            </a:r>
          </a:p>
          <a:p xmlns:a="http://schemas.openxmlformats.org/drawingml/2006/main">
            <a:r>
              <a:t>The public data tells us where to investigate; your data decides what enters the pilot.</a:t>
            </a:r>
          </a:p>
          <a:p xmlns:a="http://schemas.openxmlformats.org/drawingml/2006/main">
            <a:r>
              <a:t/>
            </a:r>
          </a:p>
          <a:p xmlns:a="http://schemas.openxmlformats.org/drawingml/2006/main">
            <a:r>
              <a:t>Now let me show you a decision you can inspect.</a:t>
            </a:r>
          </a:p>
          <a:p xmlns:a="http://schemas.openxmlformats.org/drawingml/2006/main">
            <a:r>
              <a:t/>
            </a:r>
          </a:p>
          <a:p xmlns:a="http://schemas.openxmlformats.org/drawingml/2006/main">
            <a:r>
              <a:t>--- END OF SPOKEN NOTES ---</a:t>
            </a:r>
          </a:p>
          <a:p xmlns:a="http://schemas.openxmlformats.org/drawingml/2006/main">
            <a:r>
              <a:t/>
            </a:r>
          </a:p>
          <a:p xmlns:a="http://schemas.openxmlformats.org/drawingml/2006/main">
            <a:r>
              <a:t>[Sources]</a:t>
            </a:r>
          </a:p>
          <a:p xmlns:a="http://schemas.openxmlformats.org/drawingml/2006/main">
            <a:r>
              <a:t>- CFPB Consumer Complaint Database: https://www.consumerfinance.gov/data-research/consumer-complaints/</a:t>
            </a:r>
          </a:p>
          <a:p xmlns:a="http://schemas.openxmlformats.org/drawingml/2006/main">
            <a:r>
              <a:t>- Project repository: README.md and research/sector_research.md.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demo workflow processing 1 public CFPB complaint. It proposes the Disputes and Fraud team, quotes the customer’s words as evidence, and stops for human review.</a:t>
            </a:r>
          </a:p>
          <a:p xmlns:a="http://schemas.openxmlformats.org/drawingml/2006/main">
            <a:r>
              <a:t/>
            </a:r>
          </a:p>
          <a:p xmlns:a="http://schemas.openxmlformats.org/drawingml/2006/main">
            <a:r>
              <a:t>LangSmith records every evaluation outcome. Of 60 cases, 52 produced a proposal; 4 stopped for low confidence and 4 because the quoted evidence was absent from the complaint.</a:t>
            </a:r>
          </a:p>
          <a:p xmlns:a="http://schemas.openxmlformats.org/drawingml/2006/main">
            <a:r>
              <a:t/>
            </a:r>
          </a:p>
          <a:p xmlns:a="http://schemas.openxmlformats.org/drawingml/2006/main">
            <a:r>
              <a:t>Those fabricated quotations matter most. Validation caught them and sent each case to human review.</a:t>
            </a:r>
          </a:p>
          <a:p xmlns:a="http://schemas.openxmlformats.org/drawingml/2006/main">
            <a:r>
              <a:t/>
            </a:r>
          </a:p>
          <a:p xmlns:a="http://schemas.openxmlformats.org/drawingml/2006/main">
            <a:r>
              <a:t>The broader evaluation produced 60.5% team-level agreement against consumer-selected CFPB labels. That is not deployment-quality evidence, and those labels are not expert routing decisions.</a:t>
            </a:r>
          </a:p>
          <a:p xmlns:a="http://schemas.openxmlformats.org/drawingml/2006/main">
            <a:r>
              <a:t/>
            </a:r>
          </a:p>
          <a:p xmlns:a="http://schemas.openxmlformats.org/drawingml/2006/main">
            <a:r>
              <a:t>The demo is observable, but it does not establish deployment accuracy. Phase 0 creates expert labels from your complaints; Phase 1 measures performance in shadow mode. That is why the proposal is staged.</a:t>
            </a:r>
          </a:p>
          <a:p xmlns:a="http://schemas.openxmlformats.org/drawingml/2006/main">
            <a:r>
              <a:t/>
            </a:r>
          </a:p>
          <a:p xmlns:a="http://schemas.openxmlformats.org/drawingml/2006/main">
            <a:r>
              <a:t>--- END OF SPOKEN NOTES ---</a:t>
            </a:r>
          </a:p>
          <a:p xmlns:a="http://schemas.openxmlformats.org/drawingml/2006/main">
            <a:r>
              <a:t/>
            </a:r>
          </a:p>
          <a:p xmlns:a="http://schemas.openxmlformats.org/drawingml/2006/main">
            <a:r>
              <a:t>[Sources]</a:t>
            </a:r>
          </a:p>
          <a:p xmlns:a="http://schemas.openxmlformats.org/drawingml/2006/main">
            <a:r>
              <a:t>- Project repository: langsmith/experiment_summary.json.</a:t>
            </a:r>
          </a:p>
          <a:p xmlns:a="http://schemas.openxmlformats.org/drawingml/2006/main">
            <a:r>
              <a:t>- Project repository: classifier/eval_results_gpt-4o.json and classifier/FINDINGS.md.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pricing basis is €700 for each of my consulting days, contracted as a fixed fee per phase.</a:t>
            </a:r>
          </a:p>
          <a:p xmlns:a="http://schemas.openxmlformats.org/drawingml/2006/main">
            <a:r>
              <a:t/>
            </a:r>
          </a:p>
          <a:p xmlns:a="http://schemas.openxmlformats.org/drawingml/2006/main">
            <a:r>
              <a:t>Phase 0 includes 8 of my consulting days, or €5,600. Over 2 weeks, 2 of your handlers label 300 complaints; their time is not included in my fee.</a:t>
            </a:r>
          </a:p>
          <a:p xmlns:a="http://schemas.openxmlformats.org/drawingml/2006/main">
            <a:r>
              <a:t/>
            </a:r>
          </a:p>
          <a:p xmlns:a="http://schemas.openxmlformats.org/drawingml/2006/main">
            <a:r>
              <a:t>Phase 1 includes 12 of my consulting days, or €8,400. Over 11 weeks, that covers the build and 60-day shadow run. The system proposes; your handlers follow the existing process and do not act on suggestions. Results use the Phase 0 expert labels. Together, Phases 0 and 1 cost €14,000 and reach a decision point.</a:t>
            </a:r>
          </a:p>
          <a:p xmlns:a="http://schemas.openxmlformats.org/drawingml/2006/main">
            <a:r>
              <a:t/>
            </a:r>
          </a:p>
          <a:p xmlns:a="http://schemas.openxmlformats.org/drawingml/2006/main">
            <a:r>
              <a:t>Phase 2 is contingent on the pilot passing. It includes 15 of my consulting days, or €10,500, taking the full programme to €24,500. This phase is assist-only: your handlers may use proposals, but autonomous routing requires separate approval.</a:t>
            </a:r>
          </a:p>
          <a:p xmlns:a="http://schemas.openxmlformats.org/drawingml/2006/main">
            <a:r>
              <a:t/>
            </a:r>
          </a:p>
          <a:p xmlns:a="http://schemas.openxmlformats.org/drawingml/2006/main">
            <a:r>
              <a:t>Estimated annual operating cost is €7,400: 8 consultant review days cost €5,600, and the €150 monthly platform costs €1,800. Under the assumed volume, model calls add about €0.29. Accountable operation, not model calls, drives cost.</a:t>
            </a:r>
          </a:p>
          <a:p xmlns:a="http://schemas.openxmlformats.org/drawingml/2006/main">
            <a:r>
              <a:t/>
            </a:r>
          </a:p>
          <a:p xmlns:a="http://schemas.openxmlformats.org/drawingml/2006/main">
            <a:r>
              <a:t>I am not claiming it will prevent 4 ombudsman referrals a year. The pilot must test that hypothesis.</a:t>
            </a:r>
          </a:p>
          <a:p xmlns:a="http://schemas.openxmlformats.org/drawingml/2006/main">
            <a:r>
              <a:t/>
            </a:r>
          </a:p>
          <a:p xmlns:a="http://schemas.openxmlformats.org/drawingml/2006/main">
            <a:r>
              <a:t>The ask is €14,000 to reach an evidence-based decision, not €24,500 for a deployment that has not earned approval.</a:t>
            </a:r>
          </a:p>
          <a:p xmlns:a="http://schemas.openxmlformats.org/drawingml/2006/main">
            <a:r>
              <a:t/>
            </a:r>
          </a:p>
          <a:p xmlns:a="http://schemas.openxmlformats.org/drawingml/2006/main">
            <a:r>
              <a:t>That is my proposal. Thank you. For Round 2, I would most value your view on whether the evidence, controls, and staged investment make Phase 0 a credible next step.</a:t>
            </a:r>
          </a:p>
          <a:p xmlns:a="http://schemas.openxmlformats.org/drawingml/2006/main">
            <a:r>
              <a:t/>
            </a:r>
          </a:p>
          <a:p xmlns:a="http://schemas.openxmlformats.org/drawingml/2006/main">
            <a:r>
              <a:t>--- END OF SPOKEN NOTES ---</a:t>
            </a:r>
          </a:p>
          <a:p xmlns:a="http://schemas.openxmlformats.org/drawingml/2006/main">
            <a:r>
              <a:t/>
            </a:r>
          </a:p>
          <a:p xmlns:a="http://schemas.openxmlformats.org/drawingml/2006/main">
            <a:r>
              <a:t>[Sources]</a:t>
            </a:r>
          </a:p>
          <a:p xmlns:a="http://schemas.openxmlformats.org/drawingml/2006/main">
            <a:r>
              <a:t>- Project repository: cost_estimation/cost_model.json and cost_estimation/cost_analysis.md.</a:t>
            </a:r>
          </a:p>
          <a:p xmlns:a="http://schemas.openxmlformats.org/drawingml/2006/main">
            <a:r>
              <a:t>- Financial Ombudsman Service case fees: https://www.financial-ombudsman.org.uk/businesses/resolving-complaint/case-fees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ranked 3 candidate use cases by how visible and controllable their reasoning can be. Only complaint triage is proposed for Phase 0 and Phase 1; anomaly flagging and reporting assistance remain later options.</a:t>
            </a:r>
          </a:p>
          <a:p xmlns:a="http://schemas.openxmlformats.org/drawingml/2006/main">
            <a:r>
              <a:t/>
            </a:r>
          </a:p>
          <a:p xmlns:a="http://schemas.openxmlformats.org/drawingml/2006/main">
            <a:r>
              <a:t>Complaint triage can propose a team and show the exact evidence behind the proposal. Anomaly flagging can identify unusual patterns for one of your investigators to review. Reporting assistance can draft material while leaving approval with a named employee in your firm.</a:t>
            </a:r>
          </a:p>
          <a:p xmlns:a="http://schemas.openxmlformats.org/drawingml/2006/main">
            <a:r>
              <a:t/>
            </a:r>
          </a:p>
          <a:p xmlns:a="http://schemas.openxmlformats.org/drawingml/2006/main">
            <a:r>
              <a:t>I ruled out 2 uses. A customer-facing chatbot could make public errors in the firm’s voice. Creditworthiness scoring directly affects access to financial services and is classified as high-risk under the EU AI Act. A separate guardrail prevents predicted payout from determining routing priority.</a:t>
            </a:r>
          </a:p>
          <a:p xmlns:a="http://schemas.openxmlformats.org/drawingml/2006/main">
            <a:r>
              <a:t/>
            </a:r>
          </a:p>
          <a:p xmlns:a="http://schemas.openxmlformats.org/drawingml/2006/main">
            <a:r>
              <a:t>The point is not to find the most impressive use case. It is to choose a use case whose risks can be bounded and whose decisions can be examined.</a:t>
            </a:r>
          </a:p>
          <a:p xmlns:a="http://schemas.openxmlformats.org/drawingml/2006/main">
            <a:r>
              <a:t/>
            </a:r>
          </a:p>
          <a:p xmlns:a="http://schemas.openxmlformats.org/drawingml/2006/main">
            <a:r>
              <a:t>--- END OF SPOKEN NOTES ---</a:t>
            </a:r>
          </a:p>
          <a:p xmlns:a="http://schemas.openxmlformats.org/drawingml/2006/main">
            <a:r>
              <a:t/>
            </a:r>
          </a:p>
          <a:p xmlns:a="http://schemas.openxmlformats.org/drawingml/2006/main">
            <a:r>
              <a:t>[Sources]</a:t>
            </a:r>
          </a:p>
          <a:p xmlns:a="http://schemas.openxmlformats.org/drawingml/2006/main">
            <a:r>
              <a:t>- Project repository: research/use_cases.md.</a:t>
            </a:r>
          </a:p>
          <a:p xmlns:a="http://schemas.openxmlformats.org/drawingml/2006/main">
            <a:r>
              <a:t>- EU AI Act, Annex III: https://eur-lex.europa.eu/eli/reg/2024/1689/oj</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explains how the public data supports a bounded initial test.</a:t>
            </a:r>
          </a:p>
          <a:p xmlns:a="http://schemas.openxmlformats.org/drawingml/2006/main">
            <a:r>
              <a:t/>
            </a:r>
          </a:p>
          <a:p xmlns:a="http://schemas.openxmlformats.org/drawingml/2006/main">
            <a:r>
              <a:t>In the public dataset, 5 of 64 issue categories account for 46.1% of complaints. That makes it possible to test a narrow, high-volume starting point instead of pretending the model can handle the entire taxonomy equally well.</a:t>
            </a:r>
          </a:p>
          <a:p xmlns:a="http://schemas.openxmlformats.org/drawingml/2006/main">
            <a:r>
              <a:t/>
            </a:r>
          </a:p>
          <a:p xmlns:a="http://schemas.openxmlformats.org/drawingml/2006/main">
            <a:r>
              <a:t>I would not assume that 46.1% applies to the client. Phase 0 must measure the client’s own concentration and decide which categories belong in the pilot.</a:t>
            </a:r>
          </a:p>
          <a:p xmlns:a="http://schemas.openxmlformats.org/drawingml/2006/main">
            <a:r>
              <a:t/>
            </a:r>
          </a:p>
          <a:p xmlns:a="http://schemas.openxmlformats.org/drawingml/2006/main">
            <a:r>
              <a:t>The public result is a reason to investigate a focused scope, not a forecast of the client’s complaint book.</a:t>
            </a:r>
          </a:p>
          <a:p xmlns:a="http://schemas.openxmlformats.org/drawingml/2006/main">
            <a:r>
              <a:t/>
            </a:r>
          </a:p>
          <a:p xmlns:a="http://schemas.openxmlformats.org/drawingml/2006/main">
            <a:r>
              <a:t>--- END OF SPOKEN NOTES ---</a:t>
            </a:r>
          </a:p>
          <a:p xmlns:a="http://schemas.openxmlformats.org/drawingml/2006/main">
            <a:r>
              <a:t/>
            </a:r>
          </a:p>
          <a:p xmlns:a="http://schemas.openxmlformats.org/drawingml/2006/main">
            <a:r>
              <a:t>[Sources]</a:t>
            </a:r>
          </a:p>
          <a:p xmlns:a="http://schemas.openxmlformats.org/drawingml/2006/main">
            <a:r>
              <a:t>- Project repository: README.md and research/sector_research.md.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public-data slide separates how often complaints occur from how often they end with monetary relief.</a:t>
            </a:r>
          </a:p>
          <a:p xmlns:a="http://schemas.openxmlformats.org/drawingml/2006/main">
            <a:r>
              <a:t/>
            </a:r>
          </a:p>
          <a:p xmlns:a="http://schemas.openxmlformats.org/drawingml/2006/main">
            <a:r>
              <a:t>Checking and savings accounts and credit cards produce most of the complaint volume in this dataset. But monetary relief appears in 17.2% of credit-card complaints, compared with 3.0% for vehicle-lending complaints. That is a 5.7× difference.</a:t>
            </a:r>
          </a:p>
          <a:p xmlns:a="http://schemas.openxmlformats.org/drawingml/2006/main">
            <a:r>
              <a:t/>
            </a:r>
          </a:p>
          <a:p xmlns:a="http://schemas.openxmlformats.org/drawingml/2006/main">
            <a:r>
              <a:t>The implication is that volume alone does not describe likely monetary relief. That relationship is a hypothesis to test, not a routing rule.</a:t>
            </a:r>
          </a:p>
          <a:p xmlns:a="http://schemas.openxmlformats.org/drawingml/2006/main">
            <a:r>
              <a:t/>
            </a:r>
          </a:p>
          <a:p xmlns:a="http://schemas.openxmlformats.org/drawingml/2006/main">
            <a:r>
              <a:t>This is a signal from public data, not a forecast for the client. The client’s own product mix, resolution costs, and escalation patterns must be measured during discovery and the pilot.</a:t>
            </a:r>
          </a:p>
          <a:p xmlns:a="http://schemas.openxmlformats.org/drawingml/2006/main">
            <a:r>
              <a:t/>
            </a:r>
          </a:p>
          <a:p xmlns:a="http://schemas.openxmlformats.org/drawingml/2006/main">
            <a:r>
              <a:t>--- END OF SPOKEN NOTES ---</a:t>
            </a:r>
          </a:p>
          <a:p xmlns:a="http://schemas.openxmlformats.org/drawingml/2006/main">
            <a:r>
              <a:t/>
            </a:r>
          </a:p>
          <a:p xmlns:a="http://schemas.openxmlformats.org/drawingml/2006/main">
            <a:r>
              <a:t>[Sources]</a:t>
            </a:r>
          </a:p>
          <a:p xmlns:a="http://schemas.openxmlformats.org/drawingml/2006/main">
            <a:r>
              <a:t>- Project repository: research/sector_research.md and dashboard evidence.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60-case evaluation sample recorded in LangSmith, 52 complaints produced a proposal after passing the configured validation checks. Passing those checks does not prove that the proposed team was correct.</a:t>
            </a:r>
          </a:p>
          <a:p xmlns:a="http://schemas.openxmlformats.org/drawingml/2006/main">
            <a:r>
              <a:t/>
            </a:r>
          </a:p>
          <a:p xmlns:a="http://schemas.openxmlformats.org/drawingml/2006/main">
            <a:r>
              <a:t>4 were flagged for human review because the model’s evidence quotation was not present verbatim in the complaint. Another 4 were flagged because confidence was below the threshold.</a:t>
            </a:r>
          </a:p>
          <a:p xmlns:a="http://schemas.openxmlformats.org/drawingml/2006/main">
            <a:r>
              <a:t/>
            </a:r>
          </a:p>
          <a:p xmlns:a="http://schemas.openxmlformats.org/drawingml/2006/main">
            <a:r>
              <a:t>Every case in the sample has a recorded outcome and a reason code. 0 cases lack a recorded outcome.</a:t>
            </a:r>
          </a:p>
          <a:p xmlns:a="http://schemas.openxmlformats.org/drawingml/2006/main">
            <a:r>
              <a:t/>
            </a:r>
          </a:p>
          <a:p xmlns:a="http://schemas.openxmlformats.org/drawingml/2006/main">
            <a:r>
              <a:t>This does not prove that every proposal was correct. It proves that proposals and stops can be traced and discussed.</a:t>
            </a:r>
          </a:p>
          <a:p xmlns:a="http://schemas.openxmlformats.org/drawingml/2006/main">
            <a:r>
              <a:t/>
            </a:r>
          </a:p>
          <a:p xmlns:a="http://schemas.openxmlformats.org/drawingml/2006/main">
            <a:r>
              <a:t>--- END OF SPOKEN NOTES ---</a:t>
            </a:r>
          </a:p>
          <a:p xmlns:a="http://schemas.openxmlformats.org/drawingml/2006/main">
            <a:r>
              <a:t/>
            </a:r>
          </a:p>
          <a:p xmlns:a="http://schemas.openxmlformats.org/drawingml/2006/main">
            <a:r>
              <a:t>[Sources]</a:t>
            </a:r>
          </a:p>
          <a:p xmlns:a="http://schemas.openxmlformats.org/drawingml/2006/main">
            <a:r>
              <a:t>- Project repository: langsmith/experiment_summary.json.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60.5% result should not be interpreted as a clean measure of model accuracy.</a:t>
            </a:r>
          </a:p>
          <a:p xmlns:a="http://schemas.openxmlformats.org/drawingml/2006/main">
            <a:r>
              <a:t/>
            </a:r>
          </a:p>
          <a:p xmlns:a="http://schemas.openxmlformats.org/drawingml/2006/main">
            <a:r>
              <a:t>When the same model classified the same complaints again, it selected the same team approximately 89% of the time. It was relatively consistent with itself but disagreed much more often with the CFPB label.</a:t>
            </a:r>
          </a:p>
          <a:p xmlns:a="http://schemas.openxmlformats.org/drawingml/2006/main">
            <a:r>
              <a:t/>
            </a:r>
          </a:p>
          <a:p xmlns:a="http://schemas.openxmlformats.org/drawingml/2006/main">
            <a:r>
              <a:t>The CFPB issue label is selected by the person filing the complaint, using a product-specific menu. It is not an expert judgement about which internal team should handle the case.</a:t>
            </a:r>
          </a:p>
          <a:p xmlns:a="http://schemas.openxmlformats.org/drawingml/2006/main">
            <a:r>
              <a:t/>
            </a:r>
          </a:p>
          <a:p xmlns:a="http://schemas.openxmlformats.org/drawingml/2006/main">
            <a:r>
              <a:t>The 60.5% result therefore mixes model error with label mismatch; it cannot separate them. Phase 0 resolves that uncertainty by asking experienced handlers to create an expert-labelled reference set and by measuring their agreement with one another.</a:t>
            </a:r>
          </a:p>
          <a:p xmlns:a="http://schemas.openxmlformats.org/drawingml/2006/main">
            <a:r>
              <a:t/>
            </a:r>
          </a:p>
          <a:p xmlns:a="http://schemas.openxmlformats.org/drawingml/2006/main">
            <a:r>
              <a:t>--- END OF SPOKEN NOTES ---</a:t>
            </a:r>
          </a:p>
          <a:p xmlns:a="http://schemas.openxmlformats.org/drawingml/2006/main">
            <a:r>
              <a:t/>
            </a:r>
          </a:p>
          <a:p xmlns:a="http://schemas.openxmlformats.org/drawingml/2006/main">
            <a:r>
              <a:t>[Sources]</a:t>
            </a:r>
          </a:p>
          <a:p xmlns:a="http://schemas.openxmlformats.org/drawingml/2006/main">
            <a:r>
              <a:t>- Project repository: classifier/eval_results_gpt-4o.json.</a:t>
            </a:r>
          </a:p>
          <a:p xmlns:a="http://schemas.openxmlformats.org/drawingml/2006/main">
            <a:r>
              <a:t>- Project repository: classifier/FINDINGS.md.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data problems could have produced confident but misleading conclusions.</a:t>
            </a:r>
          </a:p>
          <a:p xmlns:a="http://schemas.openxmlformats.org/drawingml/2006/main">
            <a:r>
              <a:t/>
            </a:r>
          </a:p>
          <a:p xmlns:a="http://schemas.openxmlformats.org/drawingml/2006/main">
            <a:r>
              <a:t>First, recent complaint volume appeared to collapse by 73% because the CFPB publishes complaints only after the company responds or enough time passes. I removed the incomplete period and ended the analysis window on 27 June 2026.</a:t>
            </a:r>
          </a:p>
          <a:p xmlns:a="http://schemas.openxmlformats.org/drawingml/2006/main">
            <a:r>
              <a:t/>
            </a:r>
          </a:p>
          <a:p xmlns:a="http://schemas.openxmlformats.org/drawingml/2006/main">
            <a:r>
              <a:t>Second, the apparent response-time field was 0 for 96% of records because it measured the regulator’s routing process, not the firm’s handling time. I excluded it.</a:t>
            </a:r>
          </a:p>
          <a:p xmlns:a="http://schemas.openxmlformats.org/drawingml/2006/main">
            <a:r>
              <a:t/>
            </a:r>
          </a:p>
          <a:p xmlns:a="http://schemas.openxmlformats.org/drawingml/2006/main">
            <a:r>
              <a:t>Third, 2 different timeliness fields created apparently conflicting percentages. I separated their meanings instead of treating them as the same metric.</a:t>
            </a:r>
          </a:p>
          <a:p xmlns:a="http://schemas.openxmlformats.org/drawingml/2006/main">
            <a:r>
              <a:t/>
            </a:r>
          </a:p>
          <a:p xmlns:a="http://schemas.openxmlformats.org/drawingml/2006/main">
            <a:r>
              <a:t>The lesson is that a field can be complete and still mean the wrong thing for the business question.</a:t>
            </a:r>
          </a:p>
          <a:p xmlns:a="http://schemas.openxmlformats.org/drawingml/2006/main">
            <a:r>
              <a:t/>
            </a:r>
          </a:p>
          <a:p xmlns:a="http://schemas.openxmlformats.org/drawingml/2006/main">
            <a:r>
              <a:t>--- END OF SPOKEN NOTES ---</a:t>
            </a:r>
          </a:p>
          <a:p xmlns:a="http://schemas.openxmlformats.org/drawingml/2006/main">
            <a:r>
              <a:t/>
            </a:r>
          </a:p>
          <a:p xmlns:a="http://schemas.openxmlformats.org/drawingml/2006/main">
            <a:r>
              <a:t>[Sources]</a:t>
            </a:r>
          </a:p>
          <a:p xmlns:a="http://schemas.openxmlformats.org/drawingml/2006/main">
            <a:r>
              <a:t>- Project repository: README.md and the documented data-quality checks.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Round 1 compliance position is deliberately preliminary. It is not a final legal classification.</a:t>
            </a:r>
          </a:p>
          <a:p xmlns:a="http://schemas.openxmlformats.org/drawingml/2006/main">
            <a:r>
              <a:t/>
            </a:r>
          </a:p>
          <a:p xmlns:a="http://schemas.openxmlformats.org/drawingml/2006/main">
            <a:r>
              <a:t>This system proposes an internal complaint-routing team. It does not assess creditworthiness, determine access to a financial service, or make the final decision on a customer’s complaint. A human remains responsible for confirming the route and resolving the case.</a:t>
            </a:r>
          </a:p>
          <a:p xmlns:a="http://schemas.openxmlformats.org/drawingml/2006/main">
            <a:r>
              <a:t/>
            </a:r>
          </a:p>
          <a:p xmlns:a="http://schemas.openxmlformats.org/drawingml/2006/main">
            <a:r>
              <a:t>On that intended use, I have not identified it as matching the Annex III creditworthiness use classified as high-risk. However, classification depends on the exact intended purpose, deployment context, data flows, and degree of human control.</a:t>
            </a:r>
          </a:p>
          <a:p xmlns:a="http://schemas.openxmlformats.org/drawingml/2006/main">
            <a:r>
              <a:t/>
            </a:r>
          </a:p>
          <a:p xmlns:a="http://schemas.openxmlformats.org/drawingml/2006/main">
            <a:r>
              <a:t>Round 2 therefore needs a step-by-step classification and obligations assessment. If the system begins routing automatically or influencing substantive customer outcomes, that is a new assessment, not a minor product upgrade.</a:t>
            </a:r>
          </a:p>
          <a:p xmlns:a="http://schemas.openxmlformats.org/drawingml/2006/main">
            <a:r>
              <a:t/>
            </a:r>
          </a:p>
          <a:p xmlns:a="http://schemas.openxmlformats.org/drawingml/2006/main">
            <a:r>
              <a:t>Round 2 must also establish the GDPR legal basis and retention period, decide whether a DPIA is required, and verify the hosting region and cross-border transfer controls. Those controls are open work, not completed safeguards.</a:t>
            </a:r>
          </a:p>
          <a:p xmlns:a="http://schemas.openxmlformats.org/drawingml/2006/main">
            <a:r>
              <a:t/>
            </a:r>
          </a:p>
          <a:p xmlns:a="http://schemas.openxmlformats.org/drawingml/2006/main">
            <a:r>
              <a:t>--- END OF SPOKEN NOTES ---</a:t>
            </a:r>
          </a:p>
          <a:p xmlns:a="http://schemas.openxmlformats.org/drawingml/2006/main">
            <a:r>
              <a:t/>
            </a:r>
          </a:p>
          <a:p xmlns:a="http://schemas.openxmlformats.org/drawingml/2006/main">
            <a:r>
              <a:t>[Sources]</a:t>
            </a:r>
          </a:p>
          <a:p xmlns:a="http://schemas.openxmlformats.org/drawingml/2006/main">
            <a:r>
              <a:t>- Project repository: research/opportunities_risks.md, §4.</a:t>
            </a:r>
          </a:p>
          <a:p xmlns:a="http://schemas.openxmlformats.org/drawingml/2006/main">
            <a:r>
              <a:t>- EU AI Act: https://eur-lex.europa.eu/eli/reg/2024/1689/oj</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figure in the pitch fits 1 of 3 categories: measured in this project, taken from a named public source, or explicitly labelled as an assumption or professional judgement.</a:t>
            </a:r>
          </a:p>
          <a:p xmlns:a="http://schemas.openxmlformats.org/drawingml/2006/main">
            <a:r>
              <a:t/>
            </a:r>
          </a:p>
          <a:p xmlns:a="http://schemas.openxmlformats.org/drawingml/2006/main">
            <a:r>
              <a:t>The complaint analysis comes from the public CFPB dataset. The client-size and complaint-rate estimates use stated FCA benchmarks and scenario assumptions. The model behaviour comes from the project’s own evaluations. The 60.5% figure is agreement with CFPB-derived labels, not expert-routing accuracy. Soft inputs such as minutes per complaint, employer on-costs, and platform cost are labelled as judgements in the cost model.</a:t>
            </a:r>
          </a:p>
          <a:p xmlns:a="http://schemas.openxmlformats.org/drawingml/2006/main">
            <a:r>
              <a:t/>
            </a:r>
          </a:p>
          <a:p xmlns:a="http://schemas.openxmlformats.org/drawingml/2006/main">
            <a:r>
              <a:t>The purpose of this slide is not to claim certainty. It is to make clear which figures are evidence, which are external benchmarks, and which must be validated during Phase 0 and the pilot.</a:t>
            </a:r>
          </a:p>
          <a:p xmlns:a="http://schemas.openxmlformats.org/drawingml/2006/main">
            <a:r>
              <a:t/>
            </a:r>
          </a:p>
          <a:p xmlns:a="http://schemas.openxmlformats.org/drawingml/2006/main">
            <a:r>
              <a:t>--- END OF SPOKEN NOTES ---</a:t>
            </a:r>
          </a:p>
          <a:p xmlns:a="http://schemas.openxmlformats.org/drawingml/2006/main">
            <a:r>
              <a:t/>
            </a:r>
          </a:p>
          <a:p xmlns:a="http://schemas.openxmlformats.org/drawingml/2006/main">
            <a:r>
              <a:t>[Sources]</a:t>
            </a:r>
          </a:p>
          <a:p xmlns:a="http://schemas.openxmlformats.org/drawingml/2006/main">
            <a:r>
              <a:t>- CFPB Consumer Complaint Database: https://www.consumerfinance.gov/data-research/consumer-complaints/</a:t>
            </a:r>
          </a:p>
          <a:p xmlns:a="http://schemas.openxmlformats.org/drawingml/2006/main">
            <a:r>
              <a:t>- Project repository: README.md, classifier evaluation files, and cost_estimation/cost_model.json.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33dbf2a3f3462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129e559256408e" /><Relationship Type="http://schemas.openxmlformats.org/officeDocument/2006/relationships/slideLayout" Target="/ppt/slideLayouts/slideLayout1.xml" Id="R611ed53a67cf402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1ed53a67cf402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f27c8e6d3e4d5d" /><Relationship Type="http://schemas.openxmlformats.org/officeDocument/2006/relationships/notesSlide" Target="/ppt/notesSlides/notesSlide1.xml" Id="Rb262eef37a7d48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938306604c4402" /><Relationship Type="http://schemas.openxmlformats.org/officeDocument/2006/relationships/image" Target="/ppt/media/image.png" Id="Rb19c9506a58b4f5a" /><Relationship Type="http://schemas.openxmlformats.org/officeDocument/2006/relationships/notesSlide" Target="/ppt/notesSlides/notesSlide2.xml" Id="Rdade57dd8d3d42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e76e130edb4ad4" /><Relationship Type="http://schemas.openxmlformats.org/officeDocument/2006/relationships/image" Target="/ppt/media/image2.png" Id="R501dae6cfb1f4df3" /><Relationship Type="http://schemas.openxmlformats.org/officeDocument/2006/relationships/image" Target="/ppt/media/image3.png" Id="R14fc6e2c1bae4c89" /><Relationship Type="http://schemas.openxmlformats.org/officeDocument/2006/relationships/notesSlide" Target="/ppt/notesSlides/notesSlide3.xml" Id="R4c02180841a74e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3756eaa948415e" /><Relationship Type="http://schemas.openxmlformats.org/officeDocument/2006/relationships/image" Target="/ppt/media/image4.png" Id="R8a148e4e47ca48da" /><Relationship Type="http://schemas.openxmlformats.org/officeDocument/2006/relationships/image" Target="/ppt/media/image5.png" Id="R537d6012df9d4478" /><Relationship Type="http://schemas.openxmlformats.org/officeDocument/2006/relationships/image" Target="/ppt/media/image6.png" Id="Rc9b513322889402d" /><Relationship Type="http://schemas.openxmlformats.org/officeDocument/2006/relationships/notesSlide" Target="/ppt/notesSlides/notesSlide4.xml" Id="Re4974236e4e746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bbfa089baf4472" /><Relationship Type="http://schemas.openxmlformats.org/officeDocument/2006/relationships/image" Target="/ppt/media/image7.png" Id="R50a2a327e09c4824" /><Relationship Type="http://schemas.openxmlformats.org/officeDocument/2006/relationships/notesSlide" Target="/ppt/notesSlides/notesSlide5.xml" Id="Re3d81bfa7ed649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3399b43e6946a0" /><Relationship Type="http://schemas.openxmlformats.org/officeDocument/2006/relationships/image" Target="/ppt/media/image8.png" Id="R275f8c71fa7a42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98f981fd7948d7" /><Relationship Type="http://schemas.openxmlformats.org/officeDocument/2006/relationships/image" Target="/ppt/media/image9.png" Id="Rdd8a517d38d5495d" /><Relationship Type="http://schemas.openxmlformats.org/officeDocument/2006/relationships/notesSlide" Target="/ppt/notesSlides/notesSlide6.xml" Id="R398ca66928eb4e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1fe1bd88d8f4170" /><Relationship Type="http://schemas.openxmlformats.org/officeDocument/2006/relationships/image" Target="/ppt/media/image10.png" Id="R5848d6bc4082462c" /><Relationship Type="http://schemas.openxmlformats.org/officeDocument/2006/relationships/notesSlide" Target="/ppt/notesSlides/notesSlide7.xml" Id="Reda942e311c64a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574afaca9454c2f" /><Relationship Type="http://schemas.openxmlformats.org/officeDocument/2006/relationships/image" Target="/ppt/media/image11.png" Id="R0306a19abd3142e6" /><Relationship Type="http://schemas.openxmlformats.org/officeDocument/2006/relationships/notesSlide" Target="/ppt/notesSlides/notesSlide8.xml" Id="R23e4b105ed84423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94aff404cc24cbc" /><Relationship Type="http://schemas.openxmlformats.org/officeDocument/2006/relationships/image" Target="/ppt/media/image12.png" Id="R904af97ae8654a15" /><Relationship Type="http://schemas.openxmlformats.org/officeDocument/2006/relationships/notesSlide" Target="/ppt/notesSlides/notesSlide9.xml" Id="R079b07e7cf4948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9dce4573bda4fdc" /><Relationship Type="http://schemas.openxmlformats.org/officeDocument/2006/relationships/image" Target="/ppt/media/image13.png" Id="Raf04b2489948485a" /><Relationship Type="http://schemas.openxmlformats.org/officeDocument/2006/relationships/notesSlide" Target="/ppt/notesSlides/notesSlide10.xml" Id="R5a7cd0ca49e246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9bedf20cf9d4c7b" /><Relationship Type="http://schemas.openxmlformats.org/officeDocument/2006/relationships/image" Target="/ppt/media/image14.png" Id="R4584125345324127" /><Relationship Type="http://schemas.openxmlformats.org/officeDocument/2006/relationships/notesSlide" Target="/ppt/notesSlides/notesSlide11.xml" Id="R35a83275ee7849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b5eea3579b24b84" /><Relationship Type="http://schemas.openxmlformats.org/officeDocument/2006/relationships/image" Target="/ppt/media/image15.png" Id="R3b26cb9bdd7f4a2b" /><Relationship Type="http://schemas.openxmlformats.org/officeDocument/2006/relationships/notesSlide" Target="/ppt/notesSlides/notesSlide12.xml" Id="Rd45c2185bd9f4d4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3b9f4b9fafe4f9d" /><Relationship Type="http://schemas.openxmlformats.org/officeDocument/2006/relationships/image" Target="/ppt/media/image16.png" Id="R8a81df8573a04e21" /><Relationship Type="http://schemas.openxmlformats.org/officeDocument/2006/relationships/notesSlide" Target="/ppt/notesSlides/notesSlide13.xml" Id="Rdaf9f5abfd544c6f" /></Relationships>
</file>

<file path=ppt/slides/slide1.xml><?xml version="1.0" encoding="utf-8"?>
<p:sld xmlns:p="http://schemas.openxmlformats.org/presentationml/2006/main">
  <p:cSld>
    <p:bg>
      <p:bgPr>
        <a:solidFill xmlns:a="http://schemas.openxmlformats.org/drawingml/2006/main">
          <a:srgbClr val="1D2A32"/>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056916D-5056-42C6-BAD6-5AAEDE3D4E0E}"/>
              </a:ext>
            </a:extLst>
          </p:cNvPr>
          <p:cNvSpPr>
            <a:spLocks xmlns:a="http://schemas.openxmlformats.org/drawingml/2006/main" noGrp="1"/>
          </p:cNvSpPr>
          <p:nvPr/>
        </p:nvSpPr>
        <p:spPr>
          <a:xfrm xmlns:a="http://schemas.openxmlformats.org/drawingml/2006/main" rot="2700000">
            <a:off x="9902952" y="-1005840"/>
            <a:ext cx="2011680" cy="2011680"/>
          </a:xfrm>
          <a:prstGeom xmlns:a="http://schemas.openxmlformats.org/drawingml/2006/main" prst="rect">
            <a:avLst/>
          </a:prstGeom>
          <a:ln xmlns:a="http://schemas.openxmlformats.org/drawingml/2006/main" w="12700">
            <a:solidFill>
              <a:srgbClr val="445A69"/>
            </a:solidFill>
            <a:prstDash val="solid"/>
          </a:ln>
        </p:spPr>
      </p:sp>
      <p:sp>
        <p:nvSpPr>
          <p:cNvPr id="3" name="Shape 1">
            <a:extLst xmlns:a="http://schemas.openxmlformats.org/drawingml/2006/main">
              <a:ext uri="{FF2B5EF4-FFF2-40B4-BE49-F238E27FC236}">
                <a16:creationId xmlns:a16="http://schemas.microsoft.com/office/drawing/2014/main" id="{6A83C6B3-5B02-40D3-8DF9-118A874298E9}"/>
              </a:ext>
            </a:extLst>
          </p:cNvPr>
          <p:cNvSpPr>
            <a:spLocks xmlns:a="http://schemas.openxmlformats.org/drawingml/2006/main" noGrp="1"/>
          </p:cNvSpPr>
          <p:nvPr/>
        </p:nvSpPr>
        <p:spPr>
          <a:xfrm xmlns:a="http://schemas.openxmlformats.org/drawingml/2006/main" rot="2700000">
            <a:off x="10451592" y="-457200"/>
            <a:ext cx="914400" cy="914400"/>
          </a:xfrm>
          <a:prstGeom xmlns:a="http://schemas.openxmlformats.org/drawingml/2006/main" prst="rect">
            <a:avLst/>
          </a:prstGeom>
          <a:solidFill xmlns:a="http://schemas.openxmlformats.org/drawingml/2006/main">
            <a:srgbClr val="2A78D6">
              <a:alpha val="22000"/>
            </a:srgbClr>
          </a:solidFill>
        </p:spPr>
      </p:sp>
      <p:sp>
        <p:nvSpPr>
          <p:cNvPr id="4" name="Text 2">
            <a:extLst xmlns:a="http://schemas.openxmlformats.org/drawingml/2006/main">
              <a:ext uri="{FF2B5EF4-FFF2-40B4-BE49-F238E27FC236}">
                <a16:creationId xmlns:a16="http://schemas.microsoft.com/office/drawing/2014/main" id="{397CEAF3-7A33-478F-98E2-FD5BC3451AED}"/>
              </a:ext>
            </a:extLst>
          </p:cNvPr>
          <p:cNvSpPr>
            <a:spLocks xmlns:a="http://schemas.openxmlformats.org/drawingml/2006/main" noGrp="1"/>
          </p:cNvSpPr>
          <p:nvPr/>
        </p:nvSpPr>
        <p:spPr>
          <a:xfrm xmlns:a="http://schemas.openxmlformats.org/drawingml/2006/main">
            <a:off x="566928" y="1874520"/>
            <a:ext cx="1105509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400">
                <a:solidFill>
                  <a:srgbClr val="2A78D6"/>
                </a:solidFill>
                <a:latin typeface="Calibri"/>
                <a:ea typeface="Calibri"/>
                <a:cs typeface="Calibri"/>
              </a:rPr>
              <a:t>CAPSTONE ROUND 1  ·  PITCH TO CHLEO</a:t>
            </a:r>
            <a:endParaRPr sz="1300"/>
          </a:p>
        </p:txBody>
      </p:sp>
      <p:sp>
        <p:nvSpPr>
          <p:cNvPr id="5" name="Text 3">
            <a:extLst xmlns:a="http://schemas.openxmlformats.org/drawingml/2006/main">
              <a:ext uri="{FF2B5EF4-FFF2-40B4-BE49-F238E27FC236}">
                <a16:creationId xmlns:a16="http://schemas.microsoft.com/office/drawing/2014/main" id="{2273E1B8-6A2C-4DD9-A605-CD7DF863B525}"/>
              </a:ext>
            </a:extLst>
          </p:cNvPr>
          <p:cNvSpPr>
            <a:spLocks xmlns:a="http://schemas.openxmlformats.org/drawingml/2006/main" noGrp="1"/>
          </p:cNvSpPr>
          <p:nvPr/>
        </p:nvSpPr>
        <p:spPr>
          <a:xfrm xmlns:a="http://schemas.openxmlformats.org/drawingml/2006/main">
            <a:off x="566928" y="2286000"/>
            <a:ext cx="11055096"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FFFFF"/>
                </a:solidFill>
                <a:latin typeface="Trebuchet MS"/>
                <a:ea typeface="Trebuchet MS"/>
                <a:cs typeface="Trebuchet MS"/>
              </a:rPr>
              <a:t>See exactly what the AI does</a:t>
            </a:r>
            <a:endParaRPr sz="4800"/>
          </a:p>
        </p:txBody>
      </p:sp>
      <p:sp>
        <p:nvSpPr>
          <p:cNvPr id="6" name="Text 4">
            <a:extLst xmlns:a="http://schemas.openxmlformats.org/drawingml/2006/main">
              <a:ext uri="{FF2B5EF4-FFF2-40B4-BE49-F238E27FC236}">
                <a16:creationId xmlns:a16="http://schemas.microsoft.com/office/drawing/2014/main" id="{47DA406D-0B8A-4DA0-A893-8B083FBAFF6E}"/>
              </a:ext>
            </a:extLst>
          </p:cNvPr>
          <p:cNvSpPr>
            <a:spLocks xmlns:a="http://schemas.openxmlformats.org/drawingml/2006/main" noGrp="1"/>
          </p:cNvSpPr>
          <p:nvPr/>
        </p:nvSpPr>
        <p:spPr>
          <a:xfrm xmlns:a="http://schemas.openxmlformats.org/drawingml/2006/main">
            <a:off x="566928" y="3310128"/>
            <a:ext cx="1105509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i="1">
                <a:solidFill>
                  <a:srgbClr val="C6D8E4"/>
                </a:solidFill>
                <a:latin typeface="Trebuchet MS"/>
                <a:ea typeface="Trebuchet MS"/>
                <a:cs typeface="Trebuchet MS"/>
              </a:rPr>
              <a:t>Complaint triage for a mid-size financial services firm</a:t>
            </a:r>
            <a:endParaRPr sz="1900"/>
          </a:p>
        </p:txBody>
      </p:sp>
      <p:sp>
        <p:nvSpPr>
          <p:cNvPr id="7" name="Shape 5">
            <a:extLst xmlns:a="http://schemas.openxmlformats.org/drawingml/2006/main">
              <a:ext uri="{FF2B5EF4-FFF2-40B4-BE49-F238E27FC236}">
                <a16:creationId xmlns:a16="http://schemas.microsoft.com/office/drawing/2014/main" id="{EBF1142D-F742-43DD-AE16-111D2B47E084}"/>
              </a:ext>
            </a:extLst>
          </p:cNvPr>
          <p:cNvSpPr>
            <a:spLocks xmlns:a="http://schemas.openxmlformats.org/drawingml/2006/main" noGrp="1"/>
          </p:cNvSpPr>
          <p:nvPr/>
        </p:nvSpPr>
        <p:spPr>
          <a:xfrm xmlns:a="http://schemas.openxmlformats.org/drawingml/2006/main">
            <a:off x="566928" y="4114800"/>
            <a:ext cx="2743200" cy="0"/>
          </a:xfrm>
          <a:prstGeom xmlns:a="http://schemas.openxmlformats.org/drawingml/2006/main" prst="line">
            <a:avLst/>
          </a:prstGeom>
          <a:noFill xmlns:a="http://schemas.openxmlformats.org/drawingml/2006/main"/>
          <a:ln xmlns:a="http://schemas.openxmlformats.org/drawingml/2006/main" w="19050">
            <a:solidFill>
              <a:srgbClr val="2A78D6"/>
            </a:solidFill>
            <a:prstDash val="solid"/>
          </a:ln>
        </p:spPr>
      </p:sp>
      <p:sp>
        <p:nvSpPr>
          <p:cNvPr id="8" name="Text 6">
            <a:extLst xmlns:a="http://schemas.openxmlformats.org/drawingml/2006/main">
              <a:ext uri="{FF2B5EF4-FFF2-40B4-BE49-F238E27FC236}">
                <a16:creationId xmlns:a16="http://schemas.microsoft.com/office/drawing/2014/main" id="{3E8DE3FC-2D9E-4522-82D2-7E760966283E}"/>
              </a:ext>
            </a:extLst>
          </p:cNvPr>
          <p:cNvSpPr>
            <a:spLocks xmlns:a="http://schemas.openxmlformats.org/drawingml/2006/main" noGrp="1"/>
          </p:cNvSpPr>
          <p:nvPr/>
        </p:nvSpPr>
        <p:spPr>
          <a:xfrm xmlns:a="http://schemas.openxmlformats.org/drawingml/2006/main">
            <a:off x="566928" y="4297680"/>
            <a:ext cx="11055096"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Ugo Ahukannah</a:t>
            </a:r>
            <a:endParaRPr sz="1200"/>
          </a:p>
          <a:p xmlns:a="http://schemas.openxmlformats.org/drawingml/2006/main">
            <a:pPr marL="0" indent="0">
              <a:buNone/>
            </a:pPr>
            <a:r>
              <a:rPr sz="1100">
                <a:solidFill>
                  <a:srgbClr val="6B7C88"/>
                </a:solidFill>
                <a:latin typeface="Calibri"/>
                <a:ea typeface="Calibri"/>
                <a:cs typeface="Calibri"/>
              </a:rPr>
              <a:t>Round 1 — research, dashboard, proof of concept, monitoring, cost</a:t>
            </a:r>
            <a:endParaRPr sz="1200"/>
          </a:p>
        </p:txBody>
      </p:sp>
      <p:sp>
        <p:nvSpPr>
          <p:cNvPr id="9" name="Text 7">
            <a:extLst xmlns:a="http://schemas.openxmlformats.org/drawingml/2006/main">
              <a:ext uri="{FF2B5EF4-FFF2-40B4-BE49-F238E27FC236}">
                <a16:creationId xmlns:a16="http://schemas.microsoft.com/office/drawing/2014/main" id="{E132266D-BC7A-4D3A-8E77-89EF87BB3717}"/>
              </a:ext>
            </a:extLst>
          </p:cNvPr>
          <p:cNvSpPr>
            <a:spLocks xmlns:a="http://schemas.openxmlformats.org/drawingml/2006/main" noGrp="1"/>
          </p:cNvSpPr>
          <p:nvPr/>
        </p:nvSpPr>
        <p:spPr>
          <a:xfrm xmlns:a="http://schemas.openxmlformats.org/drawingml/2006/main">
            <a:off x="566928" y="6355080"/>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C88"/>
                </a:solidFill>
                <a:latin typeface="Calibri"/>
                <a:ea typeface="Calibri"/>
                <a:cs typeface="Calibri"/>
              </a:rPr>
              <a:t>Public CFPB data · 16,839 complaints    </a:t>
            </a:r>
            <a:r>
              <a:rPr sz="900">
                <a:solidFill>
                  <a:srgbClr val="6B7C88"/>
                </a:solidFill>
                <a:latin typeface="Calibri"/>
                <a:ea typeface="Calibri"/>
                <a:cs typeface="Calibri"/>
              </a:rPr>
              <a:t>All figures trace to the project repository</a:t>
            </a:r>
            <a:r>
              <a:rPr sz="900">
                <a:solidFill>
                  <a:srgbClr val="6B7C88"/>
                </a:solidFill>
                <a:latin typeface="Calibri"/>
                <a:ea typeface="Calibri"/>
                <a:cs typeface="Calibri"/>
              </a:rPr>
              <a:t>    </a:t>
            </a:r>
            <a:endParaRPr sz="900"/>
          </a:p>
        </p:txBody>
      </p:sp>
      <p:sp>
        <p:nvSpPr>
          <p:cNvPr id="10" name="Shape 8">
            <a:extLst xmlns:a="http://schemas.openxmlformats.org/drawingml/2006/main">
              <a:ext uri="{FF2B5EF4-FFF2-40B4-BE49-F238E27FC236}">
                <a16:creationId xmlns:a16="http://schemas.microsoft.com/office/drawing/2014/main" id="{F54583F0-2ED9-483A-B0AB-1F6C3F561E62}"/>
              </a:ext>
            </a:extLst>
          </p:cNvPr>
          <p:cNvSpPr>
            <a:spLocks xmlns:a="http://schemas.openxmlformats.org/drawingml/2006/main" noGrp="1"/>
          </p:cNvSpPr>
          <p:nvPr/>
        </p:nvSpPr>
        <p:spPr>
          <a:xfrm xmlns:a="http://schemas.openxmlformats.org/drawingml/2006/main">
            <a:off x="9217152" y="-1645920"/>
            <a:ext cx="3200400" cy="3246120"/>
          </a:xfrm>
          <a:prstGeom xmlns:a="http://schemas.openxmlformats.org/drawingml/2006/main" prst="rect">
            <a:avLst/>
          </a:prstGeom>
          <a:solidFill xmlns:a="http://schemas.openxmlformats.org/drawingml/2006/main">
            <a:srgbClr val="1D2A32"/>
          </a:solidFill>
        </p:spPr>
      </p:sp>
      <p:sp>
        <p:nvSpPr>
          <p:cNvPr id="11" name="Shape 9">
            <a:extLst xmlns:a="http://schemas.openxmlformats.org/drawingml/2006/main">
              <a:ext uri="{FF2B5EF4-FFF2-40B4-BE49-F238E27FC236}">
                <a16:creationId xmlns:a16="http://schemas.microsoft.com/office/drawing/2014/main" id="{6C59BF6E-78D9-4446-93A1-6A5B27E56056}"/>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2A78D6"/>
          </a:solidFill>
        </p:spPr>
      </p:sp>
      <p:sp>
        <p:nvSpPr>
          <p:cNvPr id="12" name="Shape 10">
            <a:extLst xmlns:a="http://schemas.openxmlformats.org/drawingml/2006/main">
              <a:ext uri="{FF2B5EF4-FFF2-40B4-BE49-F238E27FC236}">
                <a16:creationId xmlns:a16="http://schemas.microsoft.com/office/drawing/2014/main" id="{9476BFF2-3CB7-4EE6-85B5-7BF0561EDB75}"/>
              </a:ext>
            </a:extLst>
          </p:cNvPr>
          <p:cNvSpPr>
            <a:spLocks xmlns:a="http://schemas.openxmlformats.org/drawingml/2006/main" noGrp="1"/>
          </p:cNvSpPr>
          <p:nvPr/>
        </p:nvSpPr>
        <p:spPr>
          <a:xfrm xmlns:a="http://schemas.openxmlformats.org/drawingml/2006/main">
            <a:off x="0" y="0"/>
            <a:ext cx="146304" cy="2880360"/>
          </a:xfrm>
          <a:prstGeom xmlns:a="http://schemas.openxmlformats.org/drawingml/2006/main" prst="rect">
            <a:avLst/>
          </a:prstGeom>
          <a:solidFill xmlns:a="http://schemas.openxmlformats.org/drawingml/2006/main">
            <a:srgbClr val="8FBFF0"/>
          </a:solidFill>
        </p:spPr>
      </p:sp>
    </p:spTree>
    <p:extLst>
      <p:ext uri="{BB962C8B-B14F-4D97-AF65-F5344CB8AC3E}">
        <p14:creationId xmlns:p14="http://schemas.microsoft.com/office/powerpoint/2010/main" val="12391738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2A58E71-4D91-4029-A2BD-5A7F2CCFD9BD}"/>
              </a:ext>
            </a:extLst>
          </p:cNvPr>
          <p:cNvSpPr>
            <a:spLocks xmlns:a="http://schemas.openxmlformats.org/drawingml/2006/main" noGrp="1"/>
          </p:cNvSpPr>
          <p:nvPr/>
        </p:nvSpPr>
        <p:spPr>
          <a:xfrm xmlns:a="http://schemas.openxmlformats.org/drawingml/2006/main">
            <a:off x="566928" y="310896"/>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B7C88"/>
                </a:solidFill>
                <a:latin typeface="Calibri"/>
                <a:ea typeface="Calibri"/>
                <a:cs typeface="Calibri"/>
              </a:rPr>
              <a:t>CAPSTONE ROUND 1  ·  AI CONSULTING PITCH</a:t>
            </a:r>
            <a:endParaRPr sz="1050"/>
          </a:p>
        </p:txBody>
      </p:sp>
      <p:sp>
        <p:nvSpPr>
          <p:cNvPr id="3" name="Shape 1">
            <a:extLst xmlns:a="http://schemas.openxmlformats.org/drawingml/2006/main">
              <a:ext uri="{FF2B5EF4-FFF2-40B4-BE49-F238E27FC236}">
                <a16:creationId xmlns:a16="http://schemas.microsoft.com/office/drawing/2014/main" id="{C20FDC72-8FB4-481A-A1D3-ACEF768F7E61}"/>
              </a:ext>
            </a:extLst>
          </p:cNvPr>
          <p:cNvSpPr>
            <a:spLocks xmlns:a="http://schemas.openxmlformats.org/drawingml/2006/main" noGrp="1"/>
          </p:cNvSpPr>
          <p:nvPr/>
        </p:nvSpPr>
        <p:spPr>
          <a:xfrm xmlns:a="http://schemas.openxmlformats.org/drawingml/2006/main">
            <a:off x="566928" y="658368"/>
            <a:ext cx="566928" cy="566928"/>
          </a:xfrm>
          <a:prstGeom xmlns:a="http://schemas.openxmlformats.org/drawingml/2006/main" prst="ellipse">
            <a:avLst/>
          </a:prstGeom>
          <a:solidFill xmlns:a="http://schemas.openxmlformats.org/drawingml/2006/main">
            <a:srgbClr val="24343F"/>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b19c9506a58b4f5a"/>
          <a:stretch xmlns:a="http://schemas.openxmlformats.org/drawingml/2006/main">
            <a:fillRect l="0" t="0" r="0" b="0"/>
          </a:stretch>
        </p:blipFill>
        <p:spPr>
          <a:xfrm xmlns:a="http://schemas.openxmlformats.org/drawingml/2006/main">
            <a:off x="708660" y="800100"/>
            <a:ext cx="283464" cy="28346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FCD47B61-FDB3-418D-97F2-E1A7D53888AA}"/>
              </a:ext>
            </a:extLst>
          </p:cNvPr>
          <p:cNvSpPr>
            <a:spLocks xmlns:a="http://schemas.openxmlformats.org/drawingml/2006/main" noGrp="1"/>
          </p:cNvSpPr>
          <p:nvPr/>
        </p:nvSpPr>
        <p:spPr>
          <a:xfrm xmlns:a="http://schemas.openxmlformats.org/drawingml/2006/main">
            <a:off x="1316736" y="621792"/>
            <a:ext cx="1030528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343F"/>
                </a:solidFill>
                <a:latin typeface="Trebuchet MS"/>
                <a:ea typeface="Trebuchet MS"/>
                <a:cs typeface="Trebuchet MS"/>
              </a:rPr>
              <a:t>A mid-size bank needs AI it can inspect</a:t>
            </a:r>
            <a:endParaRPr sz="3000"/>
          </a:p>
        </p:txBody>
      </p:sp>
      <p:sp>
        <p:nvSpPr>
          <p:cNvPr id="6" name="Shape 3">
            <a:extLst xmlns:a="http://schemas.openxmlformats.org/drawingml/2006/main">
              <a:ext uri="{FF2B5EF4-FFF2-40B4-BE49-F238E27FC236}">
                <a16:creationId xmlns:a16="http://schemas.microsoft.com/office/drawing/2014/main" id="{C37099B5-A037-411E-A7B2-CDF4CD9450CC}"/>
              </a:ext>
            </a:extLst>
          </p:cNvPr>
          <p:cNvSpPr>
            <a:spLocks xmlns:a="http://schemas.openxmlformats.org/drawingml/2006/main" noGrp="1"/>
          </p:cNvSpPr>
          <p:nvPr/>
        </p:nvSpPr>
        <p:spPr>
          <a:xfrm xmlns:a="http://schemas.openxmlformats.org/drawingml/2006/main">
            <a:off x="566928" y="1481328"/>
            <a:ext cx="11055096" cy="676656"/>
          </a:xfrm>
          <a:prstGeom xmlns:a="http://schemas.openxmlformats.org/drawingml/2006/main" prst="rect">
            <a:avLst/>
          </a:prstGeom>
          <a:solidFill xmlns:a="http://schemas.openxmlformats.org/drawingml/2006/main">
            <a:srgbClr val="EFF5F9"/>
          </a:solidFill>
        </p:spPr>
      </p:sp>
      <p:sp>
        <p:nvSpPr>
          <p:cNvPr id="7" name="Shape 4">
            <a:extLst xmlns:a="http://schemas.openxmlformats.org/drawingml/2006/main">
              <a:ext uri="{FF2B5EF4-FFF2-40B4-BE49-F238E27FC236}">
                <a16:creationId xmlns:a16="http://schemas.microsoft.com/office/drawing/2014/main" id="{5A5A7132-CB8C-4F18-8253-9C8C05939D1E}"/>
              </a:ext>
            </a:extLst>
          </p:cNvPr>
          <p:cNvSpPr>
            <a:spLocks xmlns:a="http://schemas.openxmlformats.org/drawingml/2006/main" noGrp="1"/>
          </p:cNvSpPr>
          <p:nvPr/>
        </p:nvSpPr>
        <p:spPr>
          <a:xfrm xmlns:a="http://schemas.openxmlformats.org/drawingml/2006/main">
            <a:off x="566928" y="1481328"/>
            <a:ext cx="82296" cy="676656"/>
          </a:xfrm>
          <a:prstGeom xmlns:a="http://schemas.openxmlformats.org/drawingml/2006/main" prst="rect">
            <a:avLst/>
          </a:prstGeom>
          <a:solidFill xmlns:a="http://schemas.openxmlformats.org/drawingml/2006/main">
            <a:srgbClr val="2A78D6"/>
          </a:solidFill>
        </p:spPr>
      </p:sp>
      <p:sp>
        <p:nvSpPr>
          <p:cNvPr id="8" name="Text 5">
            <a:extLst xmlns:a="http://schemas.openxmlformats.org/drawingml/2006/main">
              <a:ext uri="{FF2B5EF4-FFF2-40B4-BE49-F238E27FC236}">
                <a16:creationId xmlns:a16="http://schemas.microsoft.com/office/drawing/2014/main" id="{A2248CCC-1018-4240-8772-124BE624E752}"/>
              </a:ext>
            </a:extLst>
          </p:cNvPr>
          <p:cNvSpPr>
            <a:spLocks xmlns:a="http://schemas.openxmlformats.org/drawingml/2006/main" noGrp="1"/>
          </p:cNvSpPr>
          <p:nvPr/>
        </p:nvSpPr>
        <p:spPr>
          <a:xfrm xmlns:a="http://schemas.openxmlformats.org/drawingml/2006/main">
            <a:off x="822960" y="1481328"/>
            <a:ext cx="1059789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00">
                <a:solidFill>
                  <a:srgbClr val="2A78D6"/>
                </a:solidFill>
                <a:latin typeface="Calibri"/>
                <a:ea typeface="Calibri"/>
                <a:cs typeface="Calibri"/>
              </a:rPr>
              <a:t>TAKEAWAY   </a:t>
            </a:r>
            <a:r>
              <a:rPr sz="1300">
                <a:solidFill>
                  <a:srgbClr val="1B2730"/>
                </a:solidFill>
                <a:latin typeface="Calibri"/>
                <a:ea typeface="Calibri"/>
                <a:cs typeface="Calibri"/>
              </a:rPr>
              <a:t>You never asked whether AI works. You asked what it is, and how you would see it.</a:t>
            </a:r>
            <a:endParaRPr sz="1050"/>
          </a:p>
        </p:txBody>
      </p:sp>
      <p:sp>
        <p:nvSpPr>
          <p:cNvPr id="9" name="Shape 6">
            <a:extLst xmlns:a="http://schemas.openxmlformats.org/drawingml/2006/main">
              <a:ext uri="{FF2B5EF4-FFF2-40B4-BE49-F238E27FC236}">
                <a16:creationId xmlns:a16="http://schemas.microsoft.com/office/drawing/2014/main" id="{826C9C09-5E5C-4999-AF0E-D98B2F0D5CD9}"/>
              </a:ext>
            </a:extLst>
          </p:cNvPr>
          <p:cNvSpPr>
            <a:spLocks xmlns:a="http://schemas.openxmlformats.org/drawingml/2006/main" noGrp="1"/>
          </p:cNvSpPr>
          <p:nvPr/>
        </p:nvSpPr>
        <p:spPr>
          <a:xfrm xmlns:a="http://schemas.openxmlformats.org/drawingml/2006/main">
            <a:off x="566928" y="6437376"/>
            <a:ext cx="11055096" cy="0"/>
          </a:xfrm>
          <a:prstGeom xmlns:a="http://schemas.openxmlformats.org/drawingml/2006/main" prst="line">
            <a:avLst/>
          </a:prstGeom>
          <a:noFill xmlns:a="http://schemas.openxmlformats.org/drawingml/2006/main"/>
          <a:ln xmlns:a="http://schemas.openxmlformats.org/drawingml/2006/main" w="12700">
            <a:solidFill>
              <a:srgbClr val="D9E3EA"/>
            </a:solidFill>
            <a:prstDash val="solid"/>
          </a:ln>
        </p:spPr>
      </p:sp>
      <p:sp>
        <p:nvSpPr>
          <p:cNvPr id="10" name="Text 7">
            <a:extLst xmlns:a="http://schemas.openxmlformats.org/drawingml/2006/main">
              <a:ext uri="{FF2B5EF4-FFF2-40B4-BE49-F238E27FC236}">
                <a16:creationId xmlns:a16="http://schemas.microsoft.com/office/drawing/2014/main" id="{1E677E53-A408-4F7A-9FEB-9DAE374160F4}"/>
              </a:ext>
            </a:extLst>
          </p:cNvPr>
          <p:cNvSpPr>
            <a:spLocks xmlns:a="http://schemas.openxmlformats.org/drawingml/2006/main" noGrp="1"/>
          </p:cNvSpPr>
          <p:nvPr/>
        </p:nvSpPr>
        <p:spPr>
          <a:xfrm xmlns:a="http://schemas.openxmlformats.org/drawingml/2006/main">
            <a:off x="566928" y="64739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850"/>
          </a:p>
        </p:txBody>
      </p:sp>
      <p:sp>
        <p:nvSpPr>
          <p:cNvPr id="11" name="Text 8">
            <a:extLst xmlns:a="http://schemas.openxmlformats.org/drawingml/2006/main">
              <a:ext uri="{FF2B5EF4-FFF2-40B4-BE49-F238E27FC236}">
                <a16:creationId xmlns:a16="http://schemas.microsoft.com/office/drawing/2014/main" id="{624F7F1D-3445-4FE2-9F43-FCB824BD86BD}"/>
              </a:ext>
            </a:extLst>
          </p:cNvPr>
          <p:cNvSpPr>
            <a:spLocks xmlns:a="http://schemas.openxmlformats.org/drawingml/2006/main" noGrp="1"/>
          </p:cNvSpPr>
          <p:nvPr/>
        </p:nvSpPr>
        <p:spPr>
          <a:xfrm xmlns:a="http://schemas.openxmlformats.org/drawingml/2006/main">
            <a:off x="10524744" y="647395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B7C88"/>
                </a:solidFill>
                <a:latin typeface="Calibri"/>
                <a:ea typeface="Calibri"/>
                <a:cs typeface="Calibri"/>
              </a:rPr>
              <a:t>1</a:t>
            </a:r>
            <a:endParaRPr sz="850"/>
          </a:p>
        </p:txBody>
      </p:sp>
      <p:sp>
        <p:nvSpPr>
          <p:cNvPr id="12" name="Shape 9">
            <a:extLst xmlns:a="http://schemas.openxmlformats.org/drawingml/2006/main">
              <a:ext uri="{FF2B5EF4-FFF2-40B4-BE49-F238E27FC236}">
                <a16:creationId xmlns:a16="http://schemas.microsoft.com/office/drawing/2014/main" id="{4FF37271-FF11-4479-8E84-3EE8C1C62EBD}"/>
              </a:ext>
            </a:extLst>
          </p:cNvPr>
          <p:cNvSpPr>
            <a:spLocks xmlns:a="http://schemas.openxmlformats.org/drawingml/2006/main" noGrp="1"/>
          </p:cNvSpPr>
          <p:nvPr/>
        </p:nvSpPr>
        <p:spPr>
          <a:xfrm xmlns:a="http://schemas.openxmlformats.org/drawingml/2006/main">
            <a:off x="566928" y="2395728"/>
            <a:ext cx="3502152" cy="2148840"/>
          </a:xfrm>
          <a:prstGeom xmlns:a="http://schemas.openxmlformats.org/drawingml/2006/main" prst="rect">
            <a:avLst/>
          </a:prstGeom>
          <a:solidFill xmlns:a="http://schemas.openxmlformats.org/drawingml/2006/main">
            <a:srgbClr val="FFFFFF"/>
          </a:solidFill>
          <a:ln xmlns:a="http://schemas.openxmlformats.org/drawingml/2006/main" w="12700">
            <a:solidFill>
              <a:srgbClr val="D9E3EA"/>
            </a:solidFill>
            <a:prstDash val="solid"/>
          </a:ln>
          <a:effectLst xmlns:a="http://schemas.openxmlformats.org/drawingml/2006/main">
            <a:outerShdw blurRad="88900" dist="38100" dir="8100000" sx="100000" sy="100000" kx="0" ky="0" algn="bl" rotWithShape="0">
              <a:srgbClr val="1C2440">
                <a:alpha val="13000"/>
              </a:srgbClr>
            </a:outerShdw>
          </a:effectLst>
        </p:spPr>
      </p:sp>
      <p:sp>
        <p:nvSpPr>
          <p:cNvPr id="13" name="Text 10">
            <a:extLst xmlns:a="http://schemas.openxmlformats.org/drawingml/2006/main">
              <a:ext uri="{FF2B5EF4-FFF2-40B4-BE49-F238E27FC236}">
                <a16:creationId xmlns:a16="http://schemas.microsoft.com/office/drawing/2014/main" id="{AEFF8FFE-0F7A-4731-BEFE-D5ACC80ED5F2}"/>
              </a:ext>
            </a:extLst>
          </p:cNvPr>
          <p:cNvSpPr>
            <a:spLocks xmlns:a="http://schemas.openxmlformats.org/drawingml/2006/main" noGrp="1"/>
          </p:cNvSpPr>
          <p:nvPr/>
        </p:nvSpPr>
        <p:spPr>
          <a:xfrm xmlns:a="http://schemas.openxmlformats.org/drawingml/2006/main">
            <a:off x="768096" y="2578608"/>
            <a:ext cx="30998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50">
                <a:solidFill>
                  <a:srgbClr val="445A69"/>
                </a:solidFill>
                <a:latin typeface="Calibri"/>
                <a:ea typeface="Calibri"/>
                <a:cs typeface="Calibri"/>
              </a:rPr>
              <a:t>ASSUMED CLIENT PROFILE</a:t>
            </a:r>
            <a:endParaRPr sz="950"/>
          </a:p>
        </p:txBody>
      </p:sp>
      <p:sp>
        <p:nvSpPr>
          <p:cNvPr id="14" name="Text 11">
            <a:extLst xmlns:a="http://schemas.openxmlformats.org/drawingml/2006/main">
              <a:ext uri="{FF2B5EF4-FFF2-40B4-BE49-F238E27FC236}">
                <a16:creationId xmlns:a16="http://schemas.microsoft.com/office/drawing/2014/main" id="{4ACF582F-575C-4EC1-A8C3-43C4DEABB72D}"/>
              </a:ext>
            </a:extLst>
          </p:cNvPr>
          <p:cNvSpPr>
            <a:spLocks xmlns:a="http://schemas.openxmlformats.org/drawingml/2006/main" noGrp="1"/>
          </p:cNvSpPr>
          <p:nvPr/>
        </p:nvSpPr>
        <p:spPr>
          <a:xfrm xmlns:a="http://schemas.openxmlformats.org/drawingml/2006/main">
            <a:off x="768096" y="2852928"/>
            <a:ext cx="3099816"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24343F"/>
                </a:solidFill>
                <a:latin typeface="Trebuchet MS"/>
                <a:ea typeface="Trebuchet MS"/>
                <a:cs typeface="Trebuchet MS"/>
              </a:rPr>
              <a:t>Financial services, mid-size</a:t>
            </a:r>
            <a:endParaRPr sz="1600"/>
          </a:p>
        </p:txBody>
      </p:sp>
      <p:sp>
        <p:nvSpPr>
          <p:cNvPr id="15" name="Text 12">
            <a:extLst xmlns:a="http://schemas.openxmlformats.org/drawingml/2006/main">
              <a:ext uri="{FF2B5EF4-FFF2-40B4-BE49-F238E27FC236}">
                <a16:creationId xmlns:a16="http://schemas.microsoft.com/office/drawing/2014/main" id="{96FA5068-14A6-478F-9438-572CC454E138}"/>
              </a:ext>
            </a:extLst>
          </p:cNvPr>
          <p:cNvSpPr>
            <a:spLocks xmlns:a="http://schemas.openxmlformats.org/drawingml/2006/main" noGrp="1"/>
          </p:cNvSpPr>
          <p:nvPr/>
        </p:nvSpPr>
        <p:spPr>
          <a:xfrm xmlns:a="http://schemas.openxmlformats.org/drawingml/2006/main">
            <a:off x="768096" y="3474720"/>
            <a:ext cx="3099816" cy="960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B2730"/>
                </a:solidFill>
                <a:latin typeface="Calibri"/>
                <a:ea typeface="Calibri"/>
                <a:cs typeface="Calibri"/>
              </a:rPr>
              <a:t>~500 staff, ~250,000 retail customers, EU. Current accounts, cards, personal and vehicle lending.</a:t>
            </a:r>
            <a:endParaRPr sz="1100"/>
          </a:p>
        </p:txBody>
      </p:sp>
      <p:sp>
        <p:nvSpPr>
          <p:cNvPr id="16" name="Shape 13">
            <a:extLst xmlns:a="http://schemas.openxmlformats.org/drawingml/2006/main">
              <a:ext uri="{FF2B5EF4-FFF2-40B4-BE49-F238E27FC236}">
                <a16:creationId xmlns:a16="http://schemas.microsoft.com/office/drawing/2014/main" id="{A5B56416-B0B1-4E3F-91C0-E8FADB7B9E35}"/>
              </a:ext>
            </a:extLst>
          </p:cNvPr>
          <p:cNvSpPr>
            <a:spLocks xmlns:a="http://schemas.openxmlformats.org/drawingml/2006/main" noGrp="1"/>
          </p:cNvSpPr>
          <p:nvPr/>
        </p:nvSpPr>
        <p:spPr>
          <a:xfrm xmlns:a="http://schemas.openxmlformats.org/drawingml/2006/main">
            <a:off x="4343400" y="2395728"/>
            <a:ext cx="3502152" cy="2148840"/>
          </a:xfrm>
          <a:prstGeom xmlns:a="http://schemas.openxmlformats.org/drawingml/2006/main" prst="rect">
            <a:avLst/>
          </a:prstGeom>
          <a:solidFill xmlns:a="http://schemas.openxmlformats.org/drawingml/2006/main">
            <a:srgbClr val="24343F"/>
          </a:solidFill>
          <a:effectLst xmlns:a="http://schemas.openxmlformats.org/drawingml/2006/main">
            <a:outerShdw blurRad="88900" dist="38100" dir="8100000" sx="100000" sy="100000" kx="0" ky="0" algn="bl" rotWithShape="0">
              <a:srgbClr val="1C2440">
                <a:alpha val="13000"/>
              </a:srgbClr>
            </a:outerShdw>
          </a:effectLst>
        </p:spPr>
      </p:sp>
      <p:sp>
        <p:nvSpPr>
          <p:cNvPr id="17" name="Text 14">
            <a:extLst xmlns:a="http://schemas.openxmlformats.org/drawingml/2006/main">
              <a:ext uri="{FF2B5EF4-FFF2-40B4-BE49-F238E27FC236}">
                <a16:creationId xmlns:a16="http://schemas.microsoft.com/office/drawing/2014/main" id="{66C09F7C-5821-43A7-A7AE-B976C51DDEF6}"/>
              </a:ext>
            </a:extLst>
          </p:cNvPr>
          <p:cNvSpPr>
            <a:spLocks xmlns:a="http://schemas.openxmlformats.org/drawingml/2006/main" noGrp="1"/>
          </p:cNvSpPr>
          <p:nvPr/>
        </p:nvSpPr>
        <p:spPr>
          <a:xfrm xmlns:a="http://schemas.openxmlformats.org/drawingml/2006/main">
            <a:off x="4544568" y="2578608"/>
            <a:ext cx="30998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50">
                <a:solidFill>
                  <a:srgbClr val="2A78D6"/>
                </a:solidFill>
                <a:latin typeface="Calibri"/>
                <a:ea typeface="Calibri"/>
                <a:cs typeface="Calibri"/>
              </a:rPr>
              <a:t>THE FEAR</a:t>
            </a:r>
            <a:endParaRPr sz="950"/>
          </a:p>
        </p:txBody>
      </p:sp>
      <p:sp>
        <p:nvSpPr>
          <p:cNvPr id="18" name="Text 15">
            <a:extLst xmlns:a="http://schemas.openxmlformats.org/drawingml/2006/main">
              <a:ext uri="{FF2B5EF4-FFF2-40B4-BE49-F238E27FC236}">
                <a16:creationId xmlns:a16="http://schemas.microsoft.com/office/drawing/2014/main" id="{5A6EF752-4BF8-4B37-8D46-E7DABA65B577}"/>
              </a:ext>
            </a:extLst>
          </p:cNvPr>
          <p:cNvSpPr>
            <a:spLocks xmlns:a="http://schemas.openxmlformats.org/drawingml/2006/main" noGrp="1"/>
          </p:cNvSpPr>
          <p:nvPr/>
        </p:nvSpPr>
        <p:spPr>
          <a:xfrm xmlns:a="http://schemas.openxmlformats.org/drawingml/2006/main">
            <a:off x="4544568" y="2852928"/>
            <a:ext cx="3099816"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FFFFFF"/>
                </a:solidFill>
                <a:latin typeface="Trebuchet MS"/>
                <a:ea typeface="Trebuchet MS"/>
                <a:cs typeface="Trebuchet MS"/>
              </a:rPr>
              <a:t>“AI is not transparent”</a:t>
            </a:r>
            <a:endParaRPr sz="1600"/>
          </a:p>
        </p:txBody>
      </p:sp>
      <p:sp>
        <p:nvSpPr>
          <p:cNvPr id="19" name="Text 16">
            <a:extLst xmlns:a="http://schemas.openxmlformats.org/drawingml/2006/main">
              <a:ext uri="{FF2B5EF4-FFF2-40B4-BE49-F238E27FC236}">
                <a16:creationId xmlns:a16="http://schemas.microsoft.com/office/drawing/2014/main" id="{BFDB2DFF-EAE9-4F62-AC35-863F875D594D}"/>
              </a:ext>
            </a:extLst>
          </p:cNvPr>
          <p:cNvSpPr>
            <a:spLocks xmlns:a="http://schemas.openxmlformats.org/drawingml/2006/main" noGrp="1"/>
          </p:cNvSpPr>
          <p:nvPr/>
        </p:nvSpPr>
        <p:spPr>
          <a:xfrm xmlns:a="http://schemas.openxmlformats.org/drawingml/2006/main">
            <a:off x="4544568" y="3474720"/>
            <a:ext cx="3099816" cy="960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FFFFFF"/>
                </a:solidFill>
                <a:latin typeface="Calibri"/>
                <a:ea typeface="Calibri"/>
                <a:cs typeface="Calibri"/>
              </a:rPr>
              <a:t>Your words. You could not say what “the AI” would be, or how you would sign up.</a:t>
            </a:r>
            <a:endParaRPr sz="1100"/>
          </a:p>
        </p:txBody>
      </p:sp>
      <p:sp>
        <p:nvSpPr>
          <p:cNvPr id="20" name="Shape 17">
            <a:extLst xmlns:a="http://schemas.openxmlformats.org/drawingml/2006/main">
              <a:ext uri="{FF2B5EF4-FFF2-40B4-BE49-F238E27FC236}">
                <a16:creationId xmlns:a16="http://schemas.microsoft.com/office/drawing/2014/main" id="{F2BE3AF1-9E89-47EA-AEC5-9ED0319010DD}"/>
              </a:ext>
            </a:extLst>
          </p:cNvPr>
          <p:cNvSpPr>
            <a:spLocks xmlns:a="http://schemas.openxmlformats.org/drawingml/2006/main" noGrp="1"/>
          </p:cNvSpPr>
          <p:nvPr/>
        </p:nvSpPr>
        <p:spPr>
          <a:xfrm xmlns:a="http://schemas.openxmlformats.org/drawingml/2006/main">
            <a:off x="8119872" y="2395728"/>
            <a:ext cx="3502152" cy="2148840"/>
          </a:xfrm>
          <a:prstGeom xmlns:a="http://schemas.openxmlformats.org/drawingml/2006/main" prst="rect">
            <a:avLst/>
          </a:prstGeom>
          <a:solidFill xmlns:a="http://schemas.openxmlformats.org/drawingml/2006/main">
            <a:srgbClr val="FFFFFF"/>
          </a:solidFill>
          <a:ln xmlns:a="http://schemas.openxmlformats.org/drawingml/2006/main" w="12700">
            <a:solidFill>
              <a:srgbClr val="D9E3EA"/>
            </a:solidFill>
            <a:prstDash val="solid"/>
          </a:ln>
          <a:effectLst xmlns:a="http://schemas.openxmlformats.org/drawingml/2006/main">
            <a:outerShdw blurRad="88900" dist="38100" dir="8100000" sx="100000" sy="100000" kx="0" ky="0" algn="bl" rotWithShape="0">
              <a:srgbClr val="1C2440">
                <a:alpha val="13000"/>
              </a:srgbClr>
            </a:outerShdw>
          </a:effectLst>
        </p:spPr>
      </p:sp>
      <p:sp>
        <p:nvSpPr>
          <p:cNvPr id="21" name="Text 18">
            <a:extLst xmlns:a="http://schemas.openxmlformats.org/drawingml/2006/main">
              <a:ext uri="{FF2B5EF4-FFF2-40B4-BE49-F238E27FC236}">
                <a16:creationId xmlns:a16="http://schemas.microsoft.com/office/drawing/2014/main" id="{88B3A65A-FB3F-4738-852A-58E53536F66E}"/>
              </a:ext>
            </a:extLst>
          </p:cNvPr>
          <p:cNvSpPr>
            <a:spLocks xmlns:a="http://schemas.openxmlformats.org/drawingml/2006/main" noGrp="1"/>
          </p:cNvSpPr>
          <p:nvPr/>
        </p:nvSpPr>
        <p:spPr>
          <a:xfrm xmlns:a="http://schemas.openxmlformats.org/drawingml/2006/main">
            <a:off x="8321040" y="2578608"/>
            <a:ext cx="30998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50">
                <a:solidFill>
                  <a:srgbClr val="445A69"/>
                </a:solidFill>
                <a:latin typeface="Calibri"/>
                <a:ea typeface="Calibri"/>
                <a:cs typeface="Calibri"/>
              </a:rPr>
              <a:t>THE PITCH</a:t>
            </a:r>
            <a:endParaRPr sz="950"/>
          </a:p>
        </p:txBody>
      </p:sp>
      <p:sp>
        <p:nvSpPr>
          <p:cNvPr id="22" name="Text 19">
            <a:extLst xmlns:a="http://schemas.openxmlformats.org/drawingml/2006/main">
              <a:ext uri="{FF2B5EF4-FFF2-40B4-BE49-F238E27FC236}">
                <a16:creationId xmlns:a16="http://schemas.microsoft.com/office/drawing/2014/main" id="{9B3AD434-E544-4A56-B0CB-5BC2FE44BE7D}"/>
              </a:ext>
            </a:extLst>
          </p:cNvPr>
          <p:cNvSpPr>
            <a:spLocks xmlns:a="http://schemas.openxmlformats.org/drawingml/2006/main" noGrp="1"/>
          </p:cNvSpPr>
          <p:nvPr/>
        </p:nvSpPr>
        <p:spPr>
          <a:xfrm xmlns:a="http://schemas.openxmlformats.org/drawingml/2006/main">
            <a:off x="8321040" y="2852928"/>
            <a:ext cx="3099816"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24343F"/>
                </a:solidFill>
                <a:latin typeface="Trebuchet MS"/>
                <a:ea typeface="Trebuchet MS"/>
                <a:cs typeface="Trebuchet MS"/>
              </a:rPr>
              <a:t>3 use cases</a:t>
            </a:r>
            <a:endParaRPr sz="1600"/>
          </a:p>
        </p:txBody>
      </p:sp>
      <p:sp>
        <p:nvSpPr>
          <p:cNvPr id="23" name="Text 20">
            <a:extLst xmlns:a="http://schemas.openxmlformats.org/drawingml/2006/main">
              <a:ext uri="{FF2B5EF4-FFF2-40B4-BE49-F238E27FC236}">
                <a16:creationId xmlns:a16="http://schemas.microsoft.com/office/drawing/2014/main" id="{EBE21BEA-284B-4E86-8037-A41C84D180A6}"/>
              </a:ext>
            </a:extLst>
          </p:cNvPr>
          <p:cNvSpPr>
            <a:spLocks xmlns:a="http://schemas.openxmlformats.org/drawingml/2006/main" noGrp="1"/>
          </p:cNvSpPr>
          <p:nvPr/>
        </p:nvSpPr>
        <p:spPr>
          <a:xfrm xmlns:a="http://schemas.openxmlformats.org/drawingml/2006/main">
            <a:off x="8321040" y="3474720"/>
            <a:ext cx="3099816" cy="960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B2730"/>
                </a:solidFill>
                <a:latin typeface="Calibri"/>
                <a:ea typeface="Calibri"/>
                <a:cs typeface="Calibri"/>
              </a:rPr>
              <a:t>1. Complaint triage  ·  2. Anomaly flagging  ·  3. Reporting assistance. Ranked by how visible the reasoning is.</a:t>
            </a:r>
            <a:endParaRPr sz="1100"/>
          </a:p>
        </p:txBody>
      </p:sp>
      <p:sp>
        <p:nvSpPr>
          <p:cNvPr id="24" name="Shape 21">
            <a:extLst xmlns:a="http://schemas.openxmlformats.org/drawingml/2006/main">
              <a:ext uri="{FF2B5EF4-FFF2-40B4-BE49-F238E27FC236}">
                <a16:creationId xmlns:a16="http://schemas.microsoft.com/office/drawing/2014/main" id="{29909F16-92B8-48C4-AD6E-70304175B3C4}"/>
              </a:ext>
            </a:extLst>
          </p:cNvPr>
          <p:cNvSpPr>
            <a:spLocks xmlns:a="http://schemas.openxmlformats.org/drawingml/2006/main" noGrp="1"/>
          </p:cNvSpPr>
          <p:nvPr/>
        </p:nvSpPr>
        <p:spPr>
          <a:xfrm xmlns:a="http://schemas.openxmlformats.org/drawingml/2006/main">
            <a:off x="566928" y="4773168"/>
            <a:ext cx="11055096" cy="640080"/>
          </a:xfrm>
          <a:prstGeom xmlns:a="http://schemas.openxmlformats.org/drawingml/2006/main" prst="rect">
            <a:avLst/>
          </a:prstGeom>
          <a:solidFill xmlns:a="http://schemas.openxmlformats.org/drawingml/2006/main">
            <a:srgbClr val="EFF5F9"/>
          </a:solidFill>
        </p:spPr>
      </p:sp>
      <p:sp>
        <p:nvSpPr>
          <p:cNvPr id="25" name="Shape 22">
            <a:extLst xmlns:a="http://schemas.openxmlformats.org/drawingml/2006/main">
              <a:ext uri="{FF2B5EF4-FFF2-40B4-BE49-F238E27FC236}">
                <a16:creationId xmlns:a16="http://schemas.microsoft.com/office/drawing/2014/main" id="{D1C9E604-91C7-40A4-9075-E4DF77D7D79D}"/>
              </a:ext>
            </a:extLst>
          </p:cNvPr>
          <p:cNvSpPr>
            <a:spLocks xmlns:a="http://schemas.openxmlformats.org/drawingml/2006/main" noGrp="1"/>
          </p:cNvSpPr>
          <p:nvPr/>
        </p:nvSpPr>
        <p:spPr>
          <a:xfrm xmlns:a="http://schemas.openxmlformats.org/drawingml/2006/main">
            <a:off x="566928" y="4773168"/>
            <a:ext cx="82296" cy="640080"/>
          </a:xfrm>
          <a:prstGeom xmlns:a="http://schemas.openxmlformats.org/drawingml/2006/main" prst="rect">
            <a:avLst/>
          </a:prstGeom>
          <a:solidFill xmlns:a="http://schemas.openxmlformats.org/drawingml/2006/main">
            <a:srgbClr val="2A78D6"/>
          </a:solidFill>
        </p:spPr>
      </p:sp>
      <p:sp>
        <p:nvSpPr>
          <p:cNvPr id="26" name="Text 23">
            <a:extLst xmlns:a="http://schemas.openxmlformats.org/drawingml/2006/main">
              <a:ext uri="{FF2B5EF4-FFF2-40B4-BE49-F238E27FC236}">
                <a16:creationId xmlns:a16="http://schemas.microsoft.com/office/drawing/2014/main" id="{6B459C27-945F-4261-A8FE-02289FA84C7D}"/>
              </a:ext>
            </a:extLst>
          </p:cNvPr>
          <p:cNvSpPr>
            <a:spLocks xmlns:a="http://schemas.openxmlformats.org/drawingml/2006/main" noGrp="1"/>
          </p:cNvSpPr>
          <p:nvPr/>
        </p:nvSpPr>
        <p:spPr>
          <a:xfrm xmlns:a="http://schemas.openxmlformats.org/drawingml/2006/main">
            <a:off x="822960" y="4773168"/>
            <a:ext cx="10597896"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00000"/>
                </a:solidFill>
                <a:latin typeface="Calibri"/>
                <a:ea typeface="Calibri"/>
                <a:cs typeface="Calibri"/>
              </a:rPr>
              <a:t>And 2 I refuse to build</a:t>
            </a:r>
            <a:r>
              <a:rPr sz="1250" b="1">
                <a:solidFill>
                  <a:srgbClr val="000000"/>
                </a:solidFill>
                <a:latin typeface="Calibri"/>
                <a:ea typeface="Calibri"/>
                <a:cs typeface="Calibri"/>
              </a:rPr>
              <a:t>:  </a:t>
            </a:r>
            <a:r>
              <a:rPr sz="1250">
                <a:solidFill>
                  <a:srgbClr val="000000"/>
                </a:solidFill>
                <a:latin typeface="Calibri"/>
                <a:ea typeface="Calibri"/>
                <a:cs typeface="Calibri"/>
              </a:rPr>
              <a:t>a customer-facing chatbot, which fails in public in your customer's voice; and </a:t>
            </a:r>
            <a:r>
              <a:rPr sz="1250">
                <a:solidFill>
                  <a:srgbClr val="000000"/>
                </a:solidFill>
                <a:latin typeface="Calibri"/>
                <a:ea typeface="Calibri"/>
                <a:cs typeface="Calibri"/>
              </a:rPr>
              <a:t>creditworthiness scoring, an Annex III high-risk use</a:t>
            </a:r>
            <a:r>
              <a:rPr sz="1250">
                <a:solidFill>
                  <a:srgbClr val="000000"/>
                </a:solidFill>
                <a:latin typeface="Calibri"/>
                <a:ea typeface="Calibri"/>
                <a:cs typeface="Calibri"/>
              </a:rPr>
              <a:t> under the EU AI Act.</a:t>
            </a:r>
            <a:endParaRPr sz="1250"/>
          </a:p>
        </p:txBody>
      </p:sp>
    </p:spTree>
    <p:extLst>
      <p:ext uri="{BB962C8B-B14F-4D97-AF65-F5344CB8AC3E}">
        <p14:creationId xmlns:p14="http://schemas.microsoft.com/office/powerpoint/2010/main" val="5453491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83B0BFE-769C-47A7-9677-1749477D5BE9}"/>
              </a:ext>
            </a:extLst>
          </p:cNvPr>
          <p:cNvSpPr>
            <a:spLocks xmlns:a="http://schemas.openxmlformats.org/drawingml/2006/main" noGrp="1"/>
          </p:cNvSpPr>
          <p:nvPr/>
        </p:nvSpPr>
        <p:spPr>
          <a:xfrm xmlns:a="http://schemas.openxmlformats.org/drawingml/2006/main">
            <a:off x="566928" y="310896"/>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B7C88"/>
                </a:solidFill>
                <a:latin typeface="Calibri"/>
                <a:ea typeface="Calibri"/>
                <a:cs typeface="Calibri"/>
              </a:rPr>
              <a:t>CAPSTONE ROUND 1  ·  AI CONSULTING PITCH</a:t>
            </a:r>
            <a:endParaRPr sz="1050"/>
          </a:p>
        </p:txBody>
      </p:sp>
      <p:sp>
        <p:nvSpPr>
          <p:cNvPr id="3" name="Shape 1">
            <a:extLst xmlns:a="http://schemas.openxmlformats.org/drawingml/2006/main">
              <a:ext uri="{FF2B5EF4-FFF2-40B4-BE49-F238E27FC236}">
                <a16:creationId xmlns:a16="http://schemas.microsoft.com/office/drawing/2014/main" id="{0A91866A-232D-4441-A636-989FB56AF36D}"/>
              </a:ext>
            </a:extLst>
          </p:cNvPr>
          <p:cNvSpPr>
            <a:spLocks xmlns:a="http://schemas.openxmlformats.org/drawingml/2006/main" noGrp="1"/>
          </p:cNvSpPr>
          <p:nvPr/>
        </p:nvSpPr>
        <p:spPr>
          <a:xfrm xmlns:a="http://schemas.openxmlformats.org/drawingml/2006/main">
            <a:off x="566928" y="658368"/>
            <a:ext cx="566928" cy="566928"/>
          </a:xfrm>
          <a:prstGeom xmlns:a="http://schemas.openxmlformats.org/drawingml/2006/main" prst="ellipse">
            <a:avLst/>
          </a:prstGeom>
          <a:solidFill xmlns:a="http://schemas.openxmlformats.org/drawingml/2006/main">
            <a:srgbClr val="24343F"/>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501dae6cfb1f4df3"/>
          <a:stretch xmlns:a="http://schemas.openxmlformats.org/drawingml/2006/main">
            <a:fillRect l="0" t="0" r="0" b="0"/>
          </a:stretch>
        </p:blipFill>
        <p:spPr>
          <a:xfrm xmlns:a="http://schemas.openxmlformats.org/drawingml/2006/main">
            <a:off x="708660" y="800100"/>
            <a:ext cx="283464" cy="28346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5358ACDD-FC2B-426B-BD5E-5952130A4048}"/>
              </a:ext>
            </a:extLst>
          </p:cNvPr>
          <p:cNvSpPr>
            <a:spLocks xmlns:a="http://schemas.openxmlformats.org/drawingml/2006/main" noGrp="1"/>
          </p:cNvSpPr>
          <p:nvPr/>
        </p:nvSpPr>
        <p:spPr>
          <a:xfrm xmlns:a="http://schemas.openxmlformats.org/drawingml/2006/main">
            <a:off x="1316736" y="621792"/>
            <a:ext cx="1030528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343F"/>
                </a:solidFill>
                <a:latin typeface="Trebuchet MS"/>
                <a:ea typeface="Trebuchet MS"/>
                <a:cs typeface="Trebuchet MS"/>
              </a:rPr>
              <a:t>4 numbers define the opportunity</a:t>
            </a:r>
            <a:endParaRPr sz="3000"/>
          </a:p>
        </p:txBody>
      </p:sp>
      <p:sp>
        <p:nvSpPr>
          <p:cNvPr id="6" name="Shape 3">
            <a:extLst xmlns:a="http://schemas.openxmlformats.org/drawingml/2006/main">
              <a:ext uri="{FF2B5EF4-FFF2-40B4-BE49-F238E27FC236}">
                <a16:creationId xmlns:a16="http://schemas.microsoft.com/office/drawing/2014/main" id="{4B8147D2-28B2-43C4-834B-5DDA718C8081}"/>
              </a:ext>
            </a:extLst>
          </p:cNvPr>
          <p:cNvSpPr>
            <a:spLocks xmlns:a="http://schemas.openxmlformats.org/drawingml/2006/main" noGrp="1"/>
          </p:cNvSpPr>
          <p:nvPr/>
        </p:nvSpPr>
        <p:spPr>
          <a:xfrm xmlns:a="http://schemas.openxmlformats.org/drawingml/2006/main">
            <a:off x="566928" y="6437376"/>
            <a:ext cx="11055096" cy="0"/>
          </a:xfrm>
          <a:prstGeom xmlns:a="http://schemas.openxmlformats.org/drawingml/2006/main" prst="line">
            <a:avLst/>
          </a:prstGeom>
          <a:noFill xmlns:a="http://schemas.openxmlformats.org/drawingml/2006/main"/>
          <a:ln xmlns:a="http://schemas.openxmlformats.org/drawingml/2006/main" w="12700">
            <a:solidFill>
              <a:srgbClr val="D9E3EA"/>
            </a:solidFill>
            <a:prstDash val="solid"/>
          </a:ln>
        </p:spPr>
      </p:sp>
      <p:sp>
        <p:nvSpPr>
          <p:cNvPr id="7" name="Text 4">
            <a:extLst xmlns:a="http://schemas.openxmlformats.org/drawingml/2006/main">
              <a:ext uri="{FF2B5EF4-FFF2-40B4-BE49-F238E27FC236}">
                <a16:creationId xmlns:a16="http://schemas.microsoft.com/office/drawing/2014/main" id="{9DD442BA-E48D-4F7C-B612-3DF3E855749B}"/>
              </a:ext>
            </a:extLst>
          </p:cNvPr>
          <p:cNvSpPr>
            <a:spLocks xmlns:a="http://schemas.openxmlformats.org/drawingml/2006/main" noGrp="1"/>
          </p:cNvSpPr>
          <p:nvPr/>
        </p:nvSpPr>
        <p:spPr>
          <a:xfrm xmlns:a="http://schemas.openxmlformats.org/drawingml/2006/main">
            <a:off x="566928" y="64739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850"/>
          </a:p>
        </p:txBody>
      </p:sp>
      <p:sp>
        <p:nvSpPr>
          <p:cNvPr id="8" name="Text 5">
            <a:extLst xmlns:a="http://schemas.openxmlformats.org/drawingml/2006/main">
              <a:ext uri="{FF2B5EF4-FFF2-40B4-BE49-F238E27FC236}">
                <a16:creationId xmlns:a16="http://schemas.microsoft.com/office/drawing/2014/main" id="{7E9377E3-BDEE-4E99-9379-94AFD9FC4292}"/>
              </a:ext>
            </a:extLst>
          </p:cNvPr>
          <p:cNvSpPr>
            <a:spLocks xmlns:a="http://schemas.openxmlformats.org/drawingml/2006/main" noGrp="1"/>
          </p:cNvSpPr>
          <p:nvPr/>
        </p:nvSpPr>
        <p:spPr>
          <a:xfrm xmlns:a="http://schemas.openxmlformats.org/drawingml/2006/main">
            <a:off x="10524744" y="647395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B7C88"/>
                </a:solidFill>
                <a:latin typeface="Calibri"/>
                <a:ea typeface="Calibri"/>
                <a:cs typeface="Calibri"/>
              </a:rPr>
              <a:t>2</a:t>
            </a:r>
            <a:endParaRPr sz="850"/>
          </a:p>
        </p:txBody>
      </p:sp>
      <p:pic>
        <p:nvPicPr>
          <p:cNvPr id="22" name="Image 1"/>
          <p:cNvPicPr>
            <a:picLocks xmlns:a="http://schemas.openxmlformats.org/drawingml/2006/main" noChangeAspect="1"/>
          </p:cNvPicPr>
          <p:nvPr/>
        </p:nvPicPr>
        <p:blipFill>
          <a:blip xmlns:r="http://schemas.openxmlformats.org/officeDocument/2006/relationships" xmlns:a="http://schemas.openxmlformats.org/drawingml/2006/main" r:embed="R14fc6e2c1bae4c89"/>
          <a:stretch xmlns:a="http://schemas.openxmlformats.org/drawingml/2006/main">
            <a:fillRect l="0" t="0" r="0" b="0"/>
          </a:stretch>
        </p:blipFill>
        <p:spPr>
          <a:xfrm xmlns:a="http://schemas.openxmlformats.org/drawingml/2006/main">
            <a:off x="566928" y="1481328"/>
            <a:ext cx="6964710" cy="4873752"/>
          </a:xfrm>
          <a:prstGeom xmlns:a="http://schemas.openxmlformats.org/drawingml/2006/main" prst="rect">
            <a:avLst/>
          </a:prstGeom>
        </p:spPr>
      </p:pic>
      <p:sp>
        <p:nvSpPr>
          <p:cNvPr id="10" name="Shape 6">
            <a:extLst xmlns:a="http://schemas.openxmlformats.org/drawingml/2006/main">
              <a:ext uri="{FF2B5EF4-FFF2-40B4-BE49-F238E27FC236}">
                <a16:creationId xmlns:a16="http://schemas.microsoft.com/office/drawing/2014/main" id="{BBE8E076-A2E6-44EE-A3B8-8122081F5B7A}"/>
              </a:ext>
            </a:extLst>
          </p:cNvPr>
          <p:cNvSpPr>
            <a:spLocks xmlns:a="http://schemas.openxmlformats.org/drawingml/2006/main" noGrp="1"/>
          </p:cNvSpPr>
          <p:nvPr/>
        </p:nvSpPr>
        <p:spPr>
          <a:xfrm xmlns:a="http://schemas.openxmlformats.org/drawingml/2006/main">
            <a:off x="7824246" y="1481328"/>
            <a:ext cx="3797778" cy="4873752"/>
          </a:xfrm>
          <a:prstGeom xmlns:a="http://schemas.openxmlformats.org/drawingml/2006/main" prst="rect">
            <a:avLst/>
          </a:prstGeom>
          <a:solidFill xmlns:a="http://schemas.openxmlformats.org/drawingml/2006/main">
            <a:srgbClr val="24343F"/>
          </a:solidFill>
          <a:effectLst xmlns:a="http://schemas.openxmlformats.org/drawingml/2006/main">
            <a:outerShdw blurRad="88900" dist="38100" dir="8100000" sx="100000" sy="100000" kx="0" ky="0" algn="bl" rotWithShape="0">
              <a:srgbClr val="1C2440">
                <a:alpha val="13000"/>
              </a:srgbClr>
            </a:outerShdw>
          </a:effectLst>
        </p:spPr>
      </p:sp>
      <p:sp>
        <p:nvSpPr>
          <p:cNvPr id="11" name="Text 7">
            <a:extLst xmlns:a="http://schemas.openxmlformats.org/drawingml/2006/main">
              <a:ext uri="{FF2B5EF4-FFF2-40B4-BE49-F238E27FC236}">
                <a16:creationId xmlns:a16="http://schemas.microsoft.com/office/drawing/2014/main" id="{A0D07527-6A45-4365-B601-75E07FBCBE50}"/>
              </a:ext>
            </a:extLst>
          </p:cNvPr>
          <p:cNvSpPr>
            <a:spLocks xmlns:a="http://schemas.openxmlformats.org/drawingml/2006/main" noGrp="1"/>
          </p:cNvSpPr>
          <p:nvPr/>
        </p:nvSpPr>
        <p:spPr>
          <a:xfrm xmlns:a="http://schemas.openxmlformats.org/drawingml/2006/main">
            <a:off x="8061990" y="1700784"/>
            <a:ext cx="334057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A78D6"/>
                </a:solidFill>
                <a:latin typeface="Calibri"/>
                <a:ea typeface="Calibri"/>
                <a:cs typeface="Calibri"/>
              </a:rPr>
              <a:t>■ </a:t>
            </a:r>
            <a:r>
              <a:rPr sz="1300" b="1">
                <a:solidFill>
                  <a:srgbClr val="FFFFFF"/>
                </a:solidFill>
                <a:latin typeface="Calibri"/>
                <a:ea typeface="Calibri"/>
                <a:cs typeface="Calibri"/>
              </a:rPr>
              <a:t>Why each one matters to you</a:t>
            </a:r>
            <a:endParaRPr sz="1100"/>
          </a:p>
        </p:txBody>
      </p:sp>
      <p:sp>
        <p:nvSpPr>
          <p:cNvPr id="12" name="Text 8">
            <a:extLst xmlns:a="http://schemas.openxmlformats.org/drawingml/2006/main">
              <a:ext uri="{FF2B5EF4-FFF2-40B4-BE49-F238E27FC236}">
                <a16:creationId xmlns:a16="http://schemas.microsoft.com/office/drawing/2014/main" id="{7564BCC4-8AAA-4062-812A-3DF4C85E9157}"/>
              </a:ext>
            </a:extLst>
          </p:cNvPr>
          <p:cNvSpPr>
            <a:spLocks xmlns:a="http://schemas.openxmlformats.org/drawingml/2006/main" noGrp="1"/>
          </p:cNvSpPr>
          <p:nvPr/>
        </p:nvSpPr>
        <p:spPr>
          <a:xfrm xmlns:a="http://schemas.openxmlformats.org/drawingml/2006/main">
            <a:off x="8061990" y="2139696"/>
            <a:ext cx="3322290" cy="3959352"/>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500"/>
              </a:spcAft>
              <a:buSzPct val="100000"/>
              <a:buChar char="•"/>
            </a:pPr>
            <a:r>
              <a:rPr sz="1250">
                <a:solidFill>
                  <a:srgbClr val="C6D8E4"/>
                </a:solidFill>
              </a:rPr>
              <a:t>16,839 public complaints — what I analysed, not your annual volume</a:t>
            </a:r>
            <a:endParaRPr sz="1250"/>
          </a:p>
          <a:p xmlns:a="http://schemas.openxmlformats.org/drawingml/2006/main">
            <a:pPr marL="152400" indent="-152400">
              <a:spcAft>
                <a:spcPts val="500"/>
              </a:spcAft>
              <a:buSzPct val="100000"/>
              <a:buChar char="•"/>
            </a:pPr>
            <a:r>
              <a:rPr sz="1250">
                <a:solidFill>
                  <a:srgbClr val="C6D8E4"/>
                </a:solidFill>
              </a:rPr>
              <a:t>98.0% timely responses — a CFPB field, not your performance</a:t>
            </a:r>
            <a:endParaRPr sz="1250"/>
          </a:p>
          <a:p xmlns:a="http://schemas.openxmlformats.org/drawingml/2006/main">
            <a:pPr marL="152400" indent="-152400">
              <a:spcAft>
                <a:spcPts val="500"/>
              </a:spcAft>
              <a:buSzPct val="100000"/>
              <a:buChar char="•"/>
            </a:pPr>
            <a:r>
              <a:rPr sz="1250">
                <a:solidFill>
                  <a:srgbClr val="C6D8E4"/>
                </a:solidFill>
              </a:rPr>
              <a:t>12.7% ended with monetary relief — not complaint-handling cost</a:t>
            </a:r>
            <a:endParaRPr sz="1250"/>
          </a:p>
          <a:p xmlns:a="http://schemas.openxmlformats.org/drawingml/2006/main">
            <a:pPr marL="152400" indent="-152400">
              <a:spcAft>
                <a:spcPts val="500"/>
              </a:spcAft>
              <a:buSzPct val="100000"/>
              <a:buChar char="•"/>
            </a:pPr>
            <a:r>
              <a:rPr sz="1250">
                <a:solidFill>
                  <a:srgbClr val="C6D8E4"/>
                </a:solidFill>
              </a:rPr>
              <a:t>46.1% fall in 5 of 64 categories — a hypothesis to test in your data</a:t>
            </a:r>
            <a:endParaRPr sz="1250"/>
          </a:p>
          <a:p xmlns:a="http://schemas.openxmlformats.org/drawingml/2006/main">
            <a:pPr marL="152400" indent="-152400">
              <a:spcAft>
                <a:spcPts val="500"/>
              </a:spcAft>
              <a:buSzPct val="100000"/>
              <a:buChar char="•"/>
            </a:pPr>
            <a:r>
              <a:rPr sz="1250">
                <a:solidFill>
                  <a:srgbClr val="C6D8E4"/>
                </a:solidFill>
              </a:rPr>
              <a:t>These are CFPB figures across 567 firms. Phase 0 measures your own volume, mix, and outcomes.</a:t>
            </a:r>
            <a:endParaRPr sz="1250"/>
          </a:p>
        </p:txBody>
      </p:sp>
    </p:spTree>
    <p:extLst>
      <p:ext uri="{BB962C8B-B14F-4D97-AF65-F5344CB8AC3E}">
        <p14:creationId xmlns:p14="http://schemas.microsoft.com/office/powerpoint/2010/main" val="12298862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06638FD-761A-4663-8308-CA3FD84D904D}"/>
              </a:ext>
            </a:extLst>
          </p:cNvPr>
          <p:cNvSpPr>
            <a:spLocks xmlns:a="http://schemas.openxmlformats.org/drawingml/2006/main" noGrp="1"/>
          </p:cNvSpPr>
          <p:nvPr/>
        </p:nvSpPr>
        <p:spPr>
          <a:xfrm xmlns:a="http://schemas.openxmlformats.org/drawingml/2006/main">
            <a:off x="566928" y="310896"/>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B7C88"/>
                </a:solidFill>
                <a:latin typeface="Calibri"/>
                <a:ea typeface="Calibri"/>
                <a:cs typeface="Calibri"/>
              </a:rPr>
              <a:t>CAPSTONE ROUND 1  ·  AI CONSULTING PITCH</a:t>
            </a:r>
            <a:endParaRPr sz="1050"/>
          </a:p>
        </p:txBody>
      </p:sp>
      <p:sp>
        <p:nvSpPr>
          <p:cNvPr id="3" name="Shape 1">
            <a:extLst xmlns:a="http://schemas.openxmlformats.org/drawingml/2006/main">
              <a:ext uri="{FF2B5EF4-FFF2-40B4-BE49-F238E27FC236}">
                <a16:creationId xmlns:a16="http://schemas.microsoft.com/office/drawing/2014/main" id="{B182C1EE-0F26-4870-859C-15860802062B}"/>
              </a:ext>
            </a:extLst>
          </p:cNvPr>
          <p:cNvSpPr>
            <a:spLocks xmlns:a="http://schemas.openxmlformats.org/drawingml/2006/main" noGrp="1"/>
          </p:cNvSpPr>
          <p:nvPr/>
        </p:nvSpPr>
        <p:spPr>
          <a:xfrm xmlns:a="http://schemas.openxmlformats.org/drawingml/2006/main">
            <a:off x="566928" y="658368"/>
            <a:ext cx="566928" cy="566928"/>
          </a:xfrm>
          <a:prstGeom xmlns:a="http://schemas.openxmlformats.org/drawingml/2006/main" prst="ellipse">
            <a:avLst/>
          </a:prstGeom>
          <a:solidFill xmlns:a="http://schemas.openxmlformats.org/drawingml/2006/main">
            <a:srgbClr val="24343F"/>
          </a:solidFill>
        </p:spPr>
      </p:sp>
      <p:pic>
        <p:nvPicPr>
          <p:cNvPr id="82" name="Image 0"/>
          <p:cNvPicPr>
            <a:picLocks xmlns:a="http://schemas.openxmlformats.org/drawingml/2006/main" noChangeAspect="1"/>
          </p:cNvPicPr>
          <p:nvPr/>
        </p:nvPicPr>
        <p:blipFill>
          <a:blip xmlns:r="http://schemas.openxmlformats.org/officeDocument/2006/relationships" xmlns:a="http://schemas.openxmlformats.org/drawingml/2006/main" r:embed="R8a148e4e47ca48da"/>
          <a:stretch xmlns:a="http://schemas.openxmlformats.org/drawingml/2006/main">
            <a:fillRect l="0" t="0" r="0" b="0"/>
          </a:stretch>
        </p:blipFill>
        <p:spPr>
          <a:xfrm xmlns:a="http://schemas.openxmlformats.org/drawingml/2006/main">
            <a:off x="708660" y="800100"/>
            <a:ext cx="283464" cy="28346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9BA90DFA-0E93-42E9-B514-87081EC312EA}"/>
              </a:ext>
            </a:extLst>
          </p:cNvPr>
          <p:cNvSpPr>
            <a:spLocks xmlns:a="http://schemas.openxmlformats.org/drawingml/2006/main" noGrp="1"/>
          </p:cNvSpPr>
          <p:nvPr/>
        </p:nvSpPr>
        <p:spPr>
          <a:xfrm xmlns:a="http://schemas.openxmlformats.org/drawingml/2006/main">
            <a:off x="1316736" y="621792"/>
            <a:ext cx="1030528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343F"/>
                </a:solidFill>
                <a:latin typeface="Trebuchet MS"/>
                <a:ea typeface="Trebuchet MS"/>
                <a:cs typeface="Trebuchet MS"/>
              </a:rPr>
              <a:t>Every decision is visible—and uncertain cases stop</a:t>
            </a:r>
            <a:endParaRPr sz="3000"/>
          </a:p>
        </p:txBody>
      </p:sp>
      <p:sp>
        <p:nvSpPr>
          <p:cNvPr id="6" name="Shape 3">
            <a:extLst xmlns:a="http://schemas.openxmlformats.org/drawingml/2006/main">
              <a:ext uri="{FF2B5EF4-FFF2-40B4-BE49-F238E27FC236}">
                <a16:creationId xmlns:a16="http://schemas.microsoft.com/office/drawing/2014/main" id="{2E38A821-6B4B-4F39-8194-3B109A38AA5B}"/>
              </a:ext>
            </a:extLst>
          </p:cNvPr>
          <p:cNvSpPr>
            <a:spLocks xmlns:a="http://schemas.openxmlformats.org/drawingml/2006/main" noGrp="1"/>
          </p:cNvSpPr>
          <p:nvPr/>
        </p:nvSpPr>
        <p:spPr>
          <a:xfrm xmlns:a="http://schemas.openxmlformats.org/drawingml/2006/main">
            <a:off x="566928" y="6437376"/>
            <a:ext cx="11055096" cy="0"/>
          </a:xfrm>
          <a:prstGeom xmlns:a="http://schemas.openxmlformats.org/drawingml/2006/main" prst="line">
            <a:avLst/>
          </a:prstGeom>
          <a:noFill xmlns:a="http://schemas.openxmlformats.org/drawingml/2006/main"/>
          <a:ln xmlns:a="http://schemas.openxmlformats.org/drawingml/2006/main" w="12700">
            <a:solidFill>
              <a:srgbClr val="D9E3EA"/>
            </a:solidFill>
            <a:prstDash val="solid"/>
          </a:ln>
        </p:spPr>
      </p:sp>
      <p:sp>
        <p:nvSpPr>
          <p:cNvPr id="7" name="Text 4">
            <a:extLst xmlns:a="http://schemas.openxmlformats.org/drawingml/2006/main">
              <a:ext uri="{FF2B5EF4-FFF2-40B4-BE49-F238E27FC236}">
                <a16:creationId xmlns:a16="http://schemas.microsoft.com/office/drawing/2014/main" id="{2E940304-9FFC-4C17-9992-B5FD9F9E4861}"/>
              </a:ext>
            </a:extLst>
          </p:cNvPr>
          <p:cNvSpPr>
            <a:spLocks xmlns:a="http://schemas.openxmlformats.org/drawingml/2006/main" noGrp="1"/>
          </p:cNvSpPr>
          <p:nvPr/>
        </p:nvSpPr>
        <p:spPr>
          <a:xfrm xmlns:a="http://schemas.openxmlformats.org/drawingml/2006/main">
            <a:off x="566928" y="64739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850"/>
          </a:p>
        </p:txBody>
      </p:sp>
      <p:sp>
        <p:nvSpPr>
          <p:cNvPr id="8" name="Text 5">
            <a:extLst xmlns:a="http://schemas.openxmlformats.org/drawingml/2006/main">
              <a:ext uri="{FF2B5EF4-FFF2-40B4-BE49-F238E27FC236}">
                <a16:creationId xmlns:a16="http://schemas.microsoft.com/office/drawing/2014/main" id="{8865DD5B-377B-4E2C-A576-5D21B8F0FE89}"/>
              </a:ext>
            </a:extLst>
          </p:cNvPr>
          <p:cNvSpPr>
            <a:spLocks xmlns:a="http://schemas.openxmlformats.org/drawingml/2006/main" noGrp="1"/>
          </p:cNvSpPr>
          <p:nvPr/>
        </p:nvSpPr>
        <p:spPr>
          <a:xfrm xmlns:a="http://schemas.openxmlformats.org/drawingml/2006/main">
            <a:off x="10524744" y="647395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B7C88"/>
                </a:solidFill>
                <a:latin typeface="Calibri"/>
                <a:ea typeface="Calibri"/>
                <a:cs typeface="Calibri"/>
              </a:rPr>
              <a:t>3</a:t>
            </a:r>
            <a:endParaRPr sz="850"/>
          </a:p>
        </p:txBody>
      </p:sp>
      <p:pic>
        <p:nvPicPr>
          <p:cNvPr id="87" name="Image 1"/>
          <p:cNvPicPr>
            <a:picLocks xmlns:a="http://schemas.openxmlformats.org/drawingml/2006/main" noChangeAspect="1"/>
          </p:cNvPicPr>
          <p:nvPr/>
        </p:nvPicPr>
        <p:blipFill>
          <a:blip xmlns:r="http://schemas.openxmlformats.org/officeDocument/2006/relationships" xmlns:a="http://schemas.openxmlformats.org/drawingml/2006/main" r:embed="R537d6012df9d4478"/>
          <a:stretch xmlns:a="http://schemas.openxmlformats.org/drawingml/2006/main">
            <a:fillRect l="0" t="0" r="0" b="0"/>
          </a:stretch>
        </p:blipFill>
        <p:spPr>
          <a:xfrm xmlns:a="http://schemas.openxmlformats.org/drawingml/2006/main">
            <a:off x="566928" y="1481328"/>
            <a:ext cx="4016045" cy="2788920"/>
          </a:xfrm>
          <a:prstGeom xmlns:a="http://schemas.openxmlformats.org/drawingml/2006/main" prst="rect">
            <a:avLst/>
          </a:prstGeom>
        </p:spPr>
      </p:pic>
      <p:pic>
        <p:nvPicPr>
          <p:cNvPr id="88" name="Image 2"/>
          <p:cNvPicPr>
            <a:picLocks xmlns:a="http://schemas.openxmlformats.org/drawingml/2006/main" noChangeAspect="1"/>
          </p:cNvPicPr>
          <p:nvPr/>
        </p:nvPicPr>
        <p:blipFill>
          <a:blip xmlns:r="http://schemas.openxmlformats.org/officeDocument/2006/relationships" xmlns:a="http://schemas.openxmlformats.org/drawingml/2006/main" r:embed="Rc9b513322889402d"/>
          <a:stretch xmlns:a="http://schemas.openxmlformats.org/drawingml/2006/main">
            <a:fillRect l="0" t="0" r="0" b="0"/>
          </a:stretch>
        </p:blipFill>
        <p:spPr>
          <a:xfrm xmlns:a="http://schemas.openxmlformats.org/drawingml/2006/main">
            <a:off x="4857293" y="1481328"/>
            <a:ext cx="4016045" cy="2788920"/>
          </a:xfrm>
          <a:prstGeom xmlns:a="http://schemas.openxmlformats.org/drawingml/2006/main" prst="rect">
            <a:avLst/>
          </a:prstGeom>
        </p:spPr>
      </p:pic>
      <p:sp>
        <p:nvSpPr>
          <p:cNvPr id="11" name="Text 6">
            <a:extLst xmlns:a="http://schemas.openxmlformats.org/drawingml/2006/main">
              <a:ext uri="{FF2B5EF4-FFF2-40B4-BE49-F238E27FC236}">
                <a16:creationId xmlns:a16="http://schemas.microsoft.com/office/drawing/2014/main" id="{4A907EE2-2189-4349-BAE7-55AF17C3A0C4}"/>
              </a:ext>
            </a:extLst>
          </p:cNvPr>
          <p:cNvSpPr>
            <a:spLocks xmlns:a="http://schemas.openxmlformats.org/drawingml/2006/main" noGrp="1"/>
          </p:cNvSpPr>
          <p:nvPr/>
        </p:nvSpPr>
        <p:spPr>
          <a:xfrm xmlns:a="http://schemas.openxmlformats.org/drawingml/2006/main">
            <a:off x="566928" y="4315968"/>
            <a:ext cx="401604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B7C88"/>
                </a:solidFill>
                <a:latin typeface="Calibri"/>
                <a:ea typeface="Calibri"/>
                <a:cs typeface="Calibri"/>
              </a:rPr>
              <a:t>The workflow, running on 1 public CFPB complaint</a:t>
            </a:r>
            <a:endParaRPr sz="1050"/>
          </a:p>
        </p:txBody>
      </p:sp>
      <p:sp>
        <p:nvSpPr>
          <p:cNvPr id="12" name="Text 7">
            <a:extLst xmlns:a="http://schemas.openxmlformats.org/drawingml/2006/main">
              <a:ext uri="{FF2B5EF4-FFF2-40B4-BE49-F238E27FC236}">
                <a16:creationId xmlns:a16="http://schemas.microsoft.com/office/drawing/2014/main" id="{E5EA4F9E-5F8D-4843-9BE2-2B1472F952BF}"/>
              </a:ext>
            </a:extLst>
          </p:cNvPr>
          <p:cNvSpPr>
            <a:spLocks xmlns:a="http://schemas.openxmlformats.org/drawingml/2006/main" noGrp="1"/>
          </p:cNvSpPr>
          <p:nvPr/>
        </p:nvSpPr>
        <p:spPr>
          <a:xfrm xmlns:a="http://schemas.openxmlformats.org/drawingml/2006/main">
            <a:off x="4857293" y="4315968"/>
            <a:ext cx="401604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B7C88"/>
                </a:solidFill>
                <a:latin typeface="Calibri"/>
                <a:ea typeface="Calibri"/>
                <a:cs typeface="Calibri"/>
              </a:rPr>
              <a:t>The same demo case in LangSmith monitoring</a:t>
            </a:r>
            <a:endParaRPr sz="1050"/>
          </a:p>
        </p:txBody>
      </p:sp>
      <p:sp>
        <p:nvSpPr>
          <p:cNvPr id="13" name="Shape 8">
            <a:extLst xmlns:a="http://schemas.openxmlformats.org/drawingml/2006/main">
              <a:ext uri="{FF2B5EF4-FFF2-40B4-BE49-F238E27FC236}">
                <a16:creationId xmlns:a16="http://schemas.microsoft.com/office/drawing/2014/main" id="{15E023B1-ADEA-45D5-B7DC-35A3EE92F0F3}"/>
              </a:ext>
            </a:extLst>
          </p:cNvPr>
          <p:cNvSpPr>
            <a:spLocks xmlns:a="http://schemas.openxmlformats.org/drawingml/2006/main" noGrp="1"/>
          </p:cNvSpPr>
          <p:nvPr/>
        </p:nvSpPr>
        <p:spPr>
          <a:xfrm xmlns:a="http://schemas.openxmlformats.org/drawingml/2006/main">
            <a:off x="815188" y="4654296"/>
            <a:ext cx="146304" cy="146304"/>
          </a:xfrm>
          <a:prstGeom xmlns:a="http://schemas.openxmlformats.org/drawingml/2006/main" prst="rect">
            <a:avLst/>
          </a:prstGeom>
          <a:solidFill xmlns:a="http://schemas.openxmlformats.org/drawingml/2006/main">
            <a:srgbClr val="2A78D6"/>
          </a:solidFill>
        </p:spPr>
      </p:sp>
      <p:sp>
        <p:nvSpPr>
          <p:cNvPr id="14" name="Shape 9">
            <a:extLst xmlns:a="http://schemas.openxmlformats.org/drawingml/2006/main">
              <a:ext uri="{FF2B5EF4-FFF2-40B4-BE49-F238E27FC236}">
                <a16:creationId xmlns:a16="http://schemas.microsoft.com/office/drawing/2014/main" id="{EC60F611-B4B5-4FC6-A082-705677F96791}"/>
              </a:ext>
            </a:extLst>
          </p:cNvPr>
          <p:cNvSpPr>
            <a:spLocks xmlns:a="http://schemas.openxmlformats.org/drawingml/2006/main" noGrp="1"/>
          </p:cNvSpPr>
          <p:nvPr/>
        </p:nvSpPr>
        <p:spPr>
          <a:xfrm xmlns:a="http://schemas.openxmlformats.org/drawingml/2006/main">
            <a:off x="991667" y="4654296"/>
            <a:ext cx="146304" cy="146304"/>
          </a:xfrm>
          <a:prstGeom xmlns:a="http://schemas.openxmlformats.org/drawingml/2006/main" prst="rect">
            <a:avLst/>
          </a:prstGeom>
          <a:solidFill xmlns:a="http://schemas.openxmlformats.org/drawingml/2006/main">
            <a:srgbClr val="2A78D6"/>
          </a:solidFill>
        </p:spPr>
      </p:sp>
      <p:sp>
        <p:nvSpPr>
          <p:cNvPr id="15" name="Shape 10">
            <a:extLst xmlns:a="http://schemas.openxmlformats.org/drawingml/2006/main">
              <a:ext uri="{FF2B5EF4-FFF2-40B4-BE49-F238E27FC236}">
                <a16:creationId xmlns:a16="http://schemas.microsoft.com/office/drawing/2014/main" id="{EA8A8C76-38DC-40A2-87AC-99060729F97B}"/>
              </a:ext>
            </a:extLst>
          </p:cNvPr>
          <p:cNvSpPr>
            <a:spLocks xmlns:a="http://schemas.openxmlformats.org/drawingml/2006/main" noGrp="1"/>
          </p:cNvSpPr>
          <p:nvPr/>
        </p:nvSpPr>
        <p:spPr>
          <a:xfrm xmlns:a="http://schemas.openxmlformats.org/drawingml/2006/main">
            <a:off x="1168146" y="4654296"/>
            <a:ext cx="146304" cy="146304"/>
          </a:xfrm>
          <a:prstGeom xmlns:a="http://schemas.openxmlformats.org/drawingml/2006/main" prst="rect">
            <a:avLst/>
          </a:prstGeom>
          <a:solidFill xmlns:a="http://schemas.openxmlformats.org/drawingml/2006/main">
            <a:srgbClr val="2A78D6"/>
          </a:solidFill>
        </p:spPr>
      </p:sp>
      <p:sp>
        <p:nvSpPr>
          <p:cNvPr id="16" name="Shape 11">
            <a:extLst xmlns:a="http://schemas.openxmlformats.org/drawingml/2006/main">
              <a:ext uri="{FF2B5EF4-FFF2-40B4-BE49-F238E27FC236}">
                <a16:creationId xmlns:a16="http://schemas.microsoft.com/office/drawing/2014/main" id="{3DD2CEB1-EEDC-495D-B526-2BC52F90EF96}"/>
              </a:ext>
            </a:extLst>
          </p:cNvPr>
          <p:cNvSpPr>
            <a:spLocks xmlns:a="http://schemas.openxmlformats.org/drawingml/2006/main" noGrp="1"/>
          </p:cNvSpPr>
          <p:nvPr/>
        </p:nvSpPr>
        <p:spPr>
          <a:xfrm xmlns:a="http://schemas.openxmlformats.org/drawingml/2006/main">
            <a:off x="1344625" y="4654296"/>
            <a:ext cx="146304" cy="146304"/>
          </a:xfrm>
          <a:prstGeom xmlns:a="http://schemas.openxmlformats.org/drawingml/2006/main" prst="rect">
            <a:avLst/>
          </a:prstGeom>
          <a:solidFill xmlns:a="http://schemas.openxmlformats.org/drawingml/2006/main">
            <a:srgbClr val="2A78D6"/>
          </a:solidFill>
        </p:spPr>
      </p:sp>
      <p:sp>
        <p:nvSpPr>
          <p:cNvPr id="17" name="Shape 12">
            <a:extLst xmlns:a="http://schemas.openxmlformats.org/drawingml/2006/main">
              <a:ext uri="{FF2B5EF4-FFF2-40B4-BE49-F238E27FC236}">
                <a16:creationId xmlns:a16="http://schemas.microsoft.com/office/drawing/2014/main" id="{ADB30687-E4C2-4B8F-9CF3-58F2B4CB7731}"/>
              </a:ext>
            </a:extLst>
          </p:cNvPr>
          <p:cNvSpPr>
            <a:spLocks xmlns:a="http://schemas.openxmlformats.org/drawingml/2006/main" noGrp="1"/>
          </p:cNvSpPr>
          <p:nvPr/>
        </p:nvSpPr>
        <p:spPr>
          <a:xfrm xmlns:a="http://schemas.openxmlformats.org/drawingml/2006/main">
            <a:off x="1521104" y="4654296"/>
            <a:ext cx="146304" cy="146304"/>
          </a:xfrm>
          <a:prstGeom xmlns:a="http://schemas.openxmlformats.org/drawingml/2006/main" prst="rect">
            <a:avLst/>
          </a:prstGeom>
          <a:solidFill xmlns:a="http://schemas.openxmlformats.org/drawingml/2006/main">
            <a:srgbClr val="2A78D6"/>
          </a:solidFill>
        </p:spPr>
      </p:sp>
      <p:sp>
        <p:nvSpPr>
          <p:cNvPr id="18" name="Shape 13">
            <a:extLst xmlns:a="http://schemas.openxmlformats.org/drawingml/2006/main">
              <a:ext uri="{FF2B5EF4-FFF2-40B4-BE49-F238E27FC236}">
                <a16:creationId xmlns:a16="http://schemas.microsoft.com/office/drawing/2014/main" id="{74E07CAD-98E1-4999-89B1-510091A01047}"/>
              </a:ext>
            </a:extLst>
          </p:cNvPr>
          <p:cNvSpPr>
            <a:spLocks xmlns:a="http://schemas.openxmlformats.org/drawingml/2006/main" noGrp="1"/>
          </p:cNvSpPr>
          <p:nvPr/>
        </p:nvSpPr>
        <p:spPr>
          <a:xfrm xmlns:a="http://schemas.openxmlformats.org/drawingml/2006/main">
            <a:off x="1697584" y="4654296"/>
            <a:ext cx="146304" cy="146304"/>
          </a:xfrm>
          <a:prstGeom xmlns:a="http://schemas.openxmlformats.org/drawingml/2006/main" prst="rect">
            <a:avLst/>
          </a:prstGeom>
          <a:solidFill xmlns:a="http://schemas.openxmlformats.org/drawingml/2006/main">
            <a:srgbClr val="2A78D6"/>
          </a:solidFill>
        </p:spPr>
      </p:sp>
      <p:sp>
        <p:nvSpPr>
          <p:cNvPr id="19" name="Shape 14">
            <a:extLst xmlns:a="http://schemas.openxmlformats.org/drawingml/2006/main">
              <a:ext uri="{FF2B5EF4-FFF2-40B4-BE49-F238E27FC236}">
                <a16:creationId xmlns:a16="http://schemas.microsoft.com/office/drawing/2014/main" id="{CDF92E13-CC3C-4FD1-A210-B464827D974F}"/>
              </a:ext>
            </a:extLst>
          </p:cNvPr>
          <p:cNvSpPr>
            <a:spLocks xmlns:a="http://schemas.openxmlformats.org/drawingml/2006/main" noGrp="1"/>
          </p:cNvSpPr>
          <p:nvPr/>
        </p:nvSpPr>
        <p:spPr>
          <a:xfrm xmlns:a="http://schemas.openxmlformats.org/drawingml/2006/main">
            <a:off x="1874063" y="4654296"/>
            <a:ext cx="146304" cy="146304"/>
          </a:xfrm>
          <a:prstGeom xmlns:a="http://schemas.openxmlformats.org/drawingml/2006/main" prst="rect">
            <a:avLst/>
          </a:prstGeom>
          <a:solidFill xmlns:a="http://schemas.openxmlformats.org/drawingml/2006/main">
            <a:srgbClr val="2A78D6"/>
          </a:solidFill>
        </p:spPr>
      </p:sp>
      <p:sp>
        <p:nvSpPr>
          <p:cNvPr id="20" name="Shape 15">
            <a:extLst xmlns:a="http://schemas.openxmlformats.org/drawingml/2006/main">
              <a:ext uri="{FF2B5EF4-FFF2-40B4-BE49-F238E27FC236}">
                <a16:creationId xmlns:a16="http://schemas.microsoft.com/office/drawing/2014/main" id="{9E8E81F5-37EA-40C8-96EA-5DE9D8330D8D}"/>
              </a:ext>
            </a:extLst>
          </p:cNvPr>
          <p:cNvSpPr>
            <a:spLocks xmlns:a="http://schemas.openxmlformats.org/drawingml/2006/main" noGrp="1"/>
          </p:cNvSpPr>
          <p:nvPr/>
        </p:nvSpPr>
        <p:spPr>
          <a:xfrm xmlns:a="http://schemas.openxmlformats.org/drawingml/2006/main">
            <a:off x="2050542" y="4654296"/>
            <a:ext cx="146304" cy="146304"/>
          </a:xfrm>
          <a:prstGeom xmlns:a="http://schemas.openxmlformats.org/drawingml/2006/main" prst="rect">
            <a:avLst/>
          </a:prstGeom>
          <a:solidFill xmlns:a="http://schemas.openxmlformats.org/drawingml/2006/main">
            <a:srgbClr val="2A78D6"/>
          </a:solidFill>
        </p:spPr>
      </p:sp>
      <p:sp>
        <p:nvSpPr>
          <p:cNvPr id="21" name="Shape 16">
            <a:extLst xmlns:a="http://schemas.openxmlformats.org/drawingml/2006/main">
              <a:ext uri="{FF2B5EF4-FFF2-40B4-BE49-F238E27FC236}">
                <a16:creationId xmlns:a16="http://schemas.microsoft.com/office/drawing/2014/main" id="{8FD869BE-7731-4B22-B785-7EF8FE10BF72}"/>
              </a:ext>
            </a:extLst>
          </p:cNvPr>
          <p:cNvSpPr>
            <a:spLocks xmlns:a="http://schemas.openxmlformats.org/drawingml/2006/main" noGrp="1"/>
          </p:cNvSpPr>
          <p:nvPr/>
        </p:nvSpPr>
        <p:spPr>
          <a:xfrm xmlns:a="http://schemas.openxmlformats.org/drawingml/2006/main">
            <a:off x="2227021" y="4654296"/>
            <a:ext cx="146304" cy="146304"/>
          </a:xfrm>
          <a:prstGeom xmlns:a="http://schemas.openxmlformats.org/drawingml/2006/main" prst="rect">
            <a:avLst/>
          </a:prstGeom>
          <a:solidFill xmlns:a="http://schemas.openxmlformats.org/drawingml/2006/main">
            <a:srgbClr val="2A78D6"/>
          </a:solidFill>
        </p:spPr>
      </p:sp>
      <p:sp>
        <p:nvSpPr>
          <p:cNvPr id="22" name="Shape 17">
            <a:extLst xmlns:a="http://schemas.openxmlformats.org/drawingml/2006/main">
              <a:ext uri="{FF2B5EF4-FFF2-40B4-BE49-F238E27FC236}">
                <a16:creationId xmlns:a16="http://schemas.microsoft.com/office/drawing/2014/main" id="{52BC73B9-BE37-4EF2-8ECC-68D62DF7BE5E}"/>
              </a:ext>
            </a:extLst>
          </p:cNvPr>
          <p:cNvSpPr>
            <a:spLocks xmlns:a="http://schemas.openxmlformats.org/drawingml/2006/main" noGrp="1"/>
          </p:cNvSpPr>
          <p:nvPr/>
        </p:nvSpPr>
        <p:spPr>
          <a:xfrm xmlns:a="http://schemas.openxmlformats.org/drawingml/2006/main">
            <a:off x="2403500" y="4654296"/>
            <a:ext cx="146304" cy="146304"/>
          </a:xfrm>
          <a:prstGeom xmlns:a="http://schemas.openxmlformats.org/drawingml/2006/main" prst="rect">
            <a:avLst/>
          </a:prstGeom>
          <a:solidFill xmlns:a="http://schemas.openxmlformats.org/drawingml/2006/main">
            <a:srgbClr val="2A78D6"/>
          </a:solidFill>
        </p:spPr>
      </p:sp>
      <p:sp>
        <p:nvSpPr>
          <p:cNvPr id="23" name="Shape 18">
            <a:extLst xmlns:a="http://schemas.openxmlformats.org/drawingml/2006/main">
              <a:ext uri="{FF2B5EF4-FFF2-40B4-BE49-F238E27FC236}">
                <a16:creationId xmlns:a16="http://schemas.microsoft.com/office/drawing/2014/main" id="{2CF03239-C0ED-478A-8B21-283F83C232EC}"/>
              </a:ext>
            </a:extLst>
          </p:cNvPr>
          <p:cNvSpPr>
            <a:spLocks xmlns:a="http://schemas.openxmlformats.org/drawingml/2006/main" noGrp="1"/>
          </p:cNvSpPr>
          <p:nvPr/>
        </p:nvSpPr>
        <p:spPr>
          <a:xfrm xmlns:a="http://schemas.openxmlformats.org/drawingml/2006/main">
            <a:off x="2579980" y="4654296"/>
            <a:ext cx="146304" cy="146304"/>
          </a:xfrm>
          <a:prstGeom xmlns:a="http://schemas.openxmlformats.org/drawingml/2006/main" prst="rect">
            <a:avLst/>
          </a:prstGeom>
          <a:solidFill xmlns:a="http://schemas.openxmlformats.org/drawingml/2006/main">
            <a:srgbClr val="2A78D6"/>
          </a:solidFill>
        </p:spPr>
      </p:sp>
      <p:sp>
        <p:nvSpPr>
          <p:cNvPr id="24" name="Shape 19">
            <a:extLst xmlns:a="http://schemas.openxmlformats.org/drawingml/2006/main">
              <a:ext uri="{FF2B5EF4-FFF2-40B4-BE49-F238E27FC236}">
                <a16:creationId xmlns:a16="http://schemas.microsoft.com/office/drawing/2014/main" id="{AA389B86-87F2-4286-A467-7D252ED6022B}"/>
              </a:ext>
            </a:extLst>
          </p:cNvPr>
          <p:cNvSpPr>
            <a:spLocks xmlns:a="http://schemas.openxmlformats.org/drawingml/2006/main" noGrp="1"/>
          </p:cNvSpPr>
          <p:nvPr/>
        </p:nvSpPr>
        <p:spPr>
          <a:xfrm xmlns:a="http://schemas.openxmlformats.org/drawingml/2006/main">
            <a:off x="2756459" y="4654296"/>
            <a:ext cx="146304" cy="146304"/>
          </a:xfrm>
          <a:prstGeom xmlns:a="http://schemas.openxmlformats.org/drawingml/2006/main" prst="rect">
            <a:avLst/>
          </a:prstGeom>
          <a:solidFill xmlns:a="http://schemas.openxmlformats.org/drawingml/2006/main">
            <a:srgbClr val="2A78D6"/>
          </a:solidFill>
        </p:spPr>
      </p:sp>
      <p:sp>
        <p:nvSpPr>
          <p:cNvPr id="25" name="Shape 20">
            <a:extLst xmlns:a="http://schemas.openxmlformats.org/drawingml/2006/main">
              <a:ext uri="{FF2B5EF4-FFF2-40B4-BE49-F238E27FC236}">
                <a16:creationId xmlns:a16="http://schemas.microsoft.com/office/drawing/2014/main" id="{76790CC9-9083-4CB0-A7C8-431DEF181525}"/>
              </a:ext>
            </a:extLst>
          </p:cNvPr>
          <p:cNvSpPr>
            <a:spLocks xmlns:a="http://schemas.openxmlformats.org/drawingml/2006/main" noGrp="1"/>
          </p:cNvSpPr>
          <p:nvPr/>
        </p:nvSpPr>
        <p:spPr>
          <a:xfrm xmlns:a="http://schemas.openxmlformats.org/drawingml/2006/main">
            <a:off x="2932938" y="4654296"/>
            <a:ext cx="146304" cy="146304"/>
          </a:xfrm>
          <a:prstGeom xmlns:a="http://schemas.openxmlformats.org/drawingml/2006/main" prst="rect">
            <a:avLst/>
          </a:prstGeom>
          <a:solidFill xmlns:a="http://schemas.openxmlformats.org/drawingml/2006/main">
            <a:srgbClr val="2A78D6"/>
          </a:solidFill>
        </p:spPr>
      </p:sp>
      <p:sp>
        <p:nvSpPr>
          <p:cNvPr id="26" name="Shape 21">
            <a:extLst xmlns:a="http://schemas.openxmlformats.org/drawingml/2006/main">
              <a:ext uri="{FF2B5EF4-FFF2-40B4-BE49-F238E27FC236}">
                <a16:creationId xmlns:a16="http://schemas.microsoft.com/office/drawing/2014/main" id="{BB944760-7E97-4BF9-B636-B73DF50048AF}"/>
              </a:ext>
            </a:extLst>
          </p:cNvPr>
          <p:cNvSpPr>
            <a:spLocks xmlns:a="http://schemas.openxmlformats.org/drawingml/2006/main" noGrp="1"/>
          </p:cNvSpPr>
          <p:nvPr/>
        </p:nvSpPr>
        <p:spPr>
          <a:xfrm xmlns:a="http://schemas.openxmlformats.org/drawingml/2006/main">
            <a:off x="3109417" y="4654296"/>
            <a:ext cx="146304" cy="146304"/>
          </a:xfrm>
          <a:prstGeom xmlns:a="http://schemas.openxmlformats.org/drawingml/2006/main" prst="rect">
            <a:avLst/>
          </a:prstGeom>
          <a:solidFill xmlns:a="http://schemas.openxmlformats.org/drawingml/2006/main">
            <a:srgbClr val="2A78D6"/>
          </a:solidFill>
        </p:spPr>
      </p:sp>
      <p:sp>
        <p:nvSpPr>
          <p:cNvPr id="27" name="Shape 22">
            <a:extLst xmlns:a="http://schemas.openxmlformats.org/drawingml/2006/main">
              <a:ext uri="{FF2B5EF4-FFF2-40B4-BE49-F238E27FC236}">
                <a16:creationId xmlns:a16="http://schemas.microsoft.com/office/drawing/2014/main" id="{691344D5-0BD6-4928-9A4F-38640936D853}"/>
              </a:ext>
            </a:extLst>
          </p:cNvPr>
          <p:cNvSpPr>
            <a:spLocks xmlns:a="http://schemas.openxmlformats.org/drawingml/2006/main" noGrp="1"/>
          </p:cNvSpPr>
          <p:nvPr/>
        </p:nvSpPr>
        <p:spPr>
          <a:xfrm xmlns:a="http://schemas.openxmlformats.org/drawingml/2006/main">
            <a:off x="3285896" y="4654296"/>
            <a:ext cx="146304" cy="146304"/>
          </a:xfrm>
          <a:prstGeom xmlns:a="http://schemas.openxmlformats.org/drawingml/2006/main" prst="rect">
            <a:avLst/>
          </a:prstGeom>
          <a:solidFill xmlns:a="http://schemas.openxmlformats.org/drawingml/2006/main">
            <a:srgbClr val="2A78D6"/>
          </a:solidFill>
        </p:spPr>
      </p:sp>
      <p:sp>
        <p:nvSpPr>
          <p:cNvPr id="28" name="Shape 23">
            <a:extLst xmlns:a="http://schemas.openxmlformats.org/drawingml/2006/main">
              <a:ext uri="{FF2B5EF4-FFF2-40B4-BE49-F238E27FC236}">
                <a16:creationId xmlns:a16="http://schemas.microsoft.com/office/drawing/2014/main" id="{E441B51D-2914-4FDF-8E65-351A3C84CDEE}"/>
              </a:ext>
            </a:extLst>
          </p:cNvPr>
          <p:cNvSpPr>
            <a:spLocks xmlns:a="http://schemas.openxmlformats.org/drawingml/2006/main" noGrp="1"/>
          </p:cNvSpPr>
          <p:nvPr/>
        </p:nvSpPr>
        <p:spPr>
          <a:xfrm xmlns:a="http://schemas.openxmlformats.org/drawingml/2006/main">
            <a:off x="3462376" y="4654296"/>
            <a:ext cx="146304" cy="146304"/>
          </a:xfrm>
          <a:prstGeom xmlns:a="http://schemas.openxmlformats.org/drawingml/2006/main" prst="rect">
            <a:avLst/>
          </a:prstGeom>
          <a:solidFill xmlns:a="http://schemas.openxmlformats.org/drawingml/2006/main">
            <a:srgbClr val="2A78D6"/>
          </a:solidFill>
        </p:spPr>
      </p:sp>
      <p:sp>
        <p:nvSpPr>
          <p:cNvPr id="29" name="Shape 24">
            <a:extLst xmlns:a="http://schemas.openxmlformats.org/drawingml/2006/main">
              <a:ext uri="{FF2B5EF4-FFF2-40B4-BE49-F238E27FC236}">
                <a16:creationId xmlns:a16="http://schemas.microsoft.com/office/drawing/2014/main" id="{199332F8-986D-4725-A107-B67D60AF6057}"/>
              </a:ext>
            </a:extLst>
          </p:cNvPr>
          <p:cNvSpPr>
            <a:spLocks xmlns:a="http://schemas.openxmlformats.org/drawingml/2006/main" noGrp="1"/>
          </p:cNvSpPr>
          <p:nvPr/>
        </p:nvSpPr>
        <p:spPr>
          <a:xfrm xmlns:a="http://schemas.openxmlformats.org/drawingml/2006/main">
            <a:off x="3638855" y="4654296"/>
            <a:ext cx="146304" cy="146304"/>
          </a:xfrm>
          <a:prstGeom xmlns:a="http://schemas.openxmlformats.org/drawingml/2006/main" prst="rect">
            <a:avLst/>
          </a:prstGeom>
          <a:solidFill xmlns:a="http://schemas.openxmlformats.org/drawingml/2006/main">
            <a:srgbClr val="2A78D6"/>
          </a:solidFill>
        </p:spPr>
      </p:sp>
      <p:sp>
        <p:nvSpPr>
          <p:cNvPr id="30" name="Shape 25">
            <a:extLst xmlns:a="http://schemas.openxmlformats.org/drawingml/2006/main">
              <a:ext uri="{FF2B5EF4-FFF2-40B4-BE49-F238E27FC236}">
                <a16:creationId xmlns:a16="http://schemas.microsoft.com/office/drawing/2014/main" id="{6083A483-91A5-46A7-9E00-8426A4B6DB19}"/>
              </a:ext>
            </a:extLst>
          </p:cNvPr>
          <p:cNvSpPr>
            <a:spLocks xmlns:a="http://schemas.openxmlformats.org/drawingml/2006/main" noGrp="1"/>
          </p:cNvSpPr>
          <p:nvPr/>
        </p:nvSpPr>
        <p:spPr>
          <a:xfrm xmlns:a="http://schemas.openxmlformats.org/drawingml/2006/main">
            <a:off x="3815334" y="4654296"/>
            <a:ext cx="146304" cy="146304"/>
          </a:xfrm>
          <a:prstGeom xmlns:a="http://schemas.openxmlformats.org/drawingml/2006/main" prst="rect">
            <a:avLst/>
          </a:prstGeom>
          <a:solidFill xmlns:a="http://schemas.openxmlformats.org/drawingml/2006/main">
            <a:srgbClr val="2A78D6"/>
          </a:solidFill>
        </p:spPr>
      </p:sp>
      <p:sp>
        <p:nvSpPr>
          <p:cNvPr id="31" name="Shape 26">
            <a:extLst xmlns:a="http://schemas.openxmlformats.org/drawingml/2006/main">
              <a:ext uri="{FF2B5EF4-FFF2-40B4-BE49-F238E27FC236}">
                <a16:creationId xmlns:a16="http://schemas.microsoft.com/office/drawing/2014/main" id="{6711871D-497A-4FC1-BC21-AAFC722C0BAB}"/>
              </a:ext>
            </a:extLst>
          </p:cNvPr>
          <p:cNvSpPr>
            <a:spLocks xmlns:a="http://schemas.openxmlformats.org/drawingml/2006/main" noGrp="1"/>
          </p:cNvSpPr>
          <p:nvPr/>
        </p:nvSpPr>
        <p:spPr>
          <a:xfrm xmlns:a="http://schemas.openxmlformats.org/drawingml/2006/main">
            <a:off x="3991813" y="4654296"/>
            <a:ext cx="146304" cy="146304"/>
          </a:xfrm>
          <a:prstGeom xmlns:a="http://schemas.openxmlformats.org/drawingml/2006/main" prst="rect">
            <a:avLst/>
          </a:prstGeom>
          <a:solidFill xmlns:a="http://schemas.openxmlformats.org/drawingml/2006/main">
            <a:srgbClr val="2A78D6"/>
          </a:solidFill>
        </p:spPr>
      </p:sp>
      <p:sp>
        <p:nvSpPr>
          <p:cNvPr id="32" name="Shape 27">
            <a:extLst xmlns:a="http://schemas.openxmlformats.org/drawingml/2006/main">
              <a:ext uri="{FF2B5EF4-FFF2-40B4-BE49-F238E27FC236}">
                <a16:creationId xmlns:a16="http://schemas.microsoft.com/office/drawing/2014/main" id="{C9482B1E-2A59-41DB-8426-FCD49AC553E6}"/>
              </a:ext>
            </a:extLst>
          </p:cNvPr>
          <p:cNvSpPr>
            <a:spLocks xmlns:a="http://schemas.openxmlformats.org/drawingml/2006/main" noGrp="1"/>
          </p:cNvSpPr>
          <p:nvPr/>
        </p:nvSpPr>
        <p:spPr>
          <a:xfrm xmlns:a="http://schemas.openxmlformats.org/drawingml/2006/main">
            <a:off x="4168292" y="4654296"/>
            <a:ext cx="146304" cy="146304"/>
          </a:xfrm>
          <a:prstGeom xmlns:a="http://schemas.openxmlformats.org/drawingml/2006/main" prst="rect">
            <a:avLst/>
          </a:prstGeom>
          <a:solidFill xmlns:a="http://schemas.openxmlformats.org/drawingml/2006/main">
            <a:srgbClr val="2A78D6"/>
          </a:solidFill>
        </p:spPr>
      </p:sp>
      <p:sp>
        <p:nvSpPr>
          <p:cNvPr id="33" name="Shape 28">
            <a:extLst xmlns:a="http://schemas.openxmlformats.org/drawingml/2006/main">
              <a:ext uri="{FF2B5EF4-FFF2-40B4-BE49-F238E27FC236}">
                <a16:creationId xmlns:a16="http://schemas.microsoft.com/office/drawing/2014/main" id="{ABB77DFD-739D-41A7-9315-50E59B9F4293}"/>
              </a:ext>
            </a:extLst>
          </p:cNvPr>
          <p:cNvSpPr>
            <a:spLocks xmlns:a="http://schemas.openxmlformats.org/drawingml/2006/main" noGrp="1"/>
          </p:cNvSpPr>
          <p:nvPr/>
        </p:nvSpPr>
        <p:spPr>
          <a:xfrm xmlns:a="http://schemas.openxmlformats.org/drawingml/2006/main">
            <a:off x="4344772" y="4654296"/>
            <a:ext cx="146304" cy="146304"/>
          </a:xfrm>
          <a:prstGeom xmlns:a="http://schemas.openxmlformats.org/drawingml/2006/main" prst="rect">
            <a:avLst/>
          </a:prstGeom>
          <a:solidFill xmlns:a="http://schemas.openxmlformats.org/drawingml/2006/main">
            <a:srgbClr val="2A78D6"/>
          </a:solidFill>
        </p:spPr>
      </p:sp>
      <p:sp>
        <p:nvSpPr>
          <p:cNvPr id="34" name="Shape 29">
            <a:extLst xmlns:a="http://schemas.openxmlformats.org/drawingml/2006/main">
              <a:ext uri="{FF2B5EF4-FFF2-40B4-BE49-F238E27FC236}">
                <a16:creationId xmlns:a16="http://schemas.microsoft.com/office/drawing/2014/main" id="{E809A0DA-DC96-435C-83F7-E5AD8BEBD1E7}"/>
              </a:ext>
            </a:extLst>
          </p:cNvPr>
          <p:cNvSpPr>
            <a:spLocks xmlns:a="http://schemas.openxmlformats.org/drawingml/2006/main" noGrp="1"/>
          </p:cNvSpPr>
          <p:nvPr/>
        </p:nvSpPr>
        <p:spPr>
          <a:xfrm xmlns:a="http://schemas.openxmlformats.org/drawingml/2006/main">
            <a:off x="4521251" y="4654296"/>
            <a:ext cx="146304" cy="146304"/>
          </a:xfrm>
          <a:prstGeom xmlns:a="http://schemas.openxmlformats.org/drawingml/2006/main" prst="rect">
            <a:avLst/>
          </a:prstGeom>
          <a:solidFill xmlns:a="http://schemas.openxmlformats.org/drawingml/2006/main">
            <a:srgbClr val="2A78D6"/>
          </a:solidFill>
        </p:spPr>
      </p:sp>
      <p:sp>
        <p:nvSpPr>
          <p:cNvPr id="35" name="Shape 30">
            <a:extLst xmlns:a="http://schemas.openxmlformats.org/drawingml/2006/main">
              <a:ext uri="{FF2B5EF4-FFF2-40B4-BE49-F238E27FC236}">
                <a16:creationId xmlns:a16="http://schemas.microsoft.com/office/drawing/2014/main" id="{6DBC6865-B724-474C-860F-473047D71A54}"/>
              </a:ext>
            </a:extLst>
          </p:cNvPr>
          <p:cNvSpPr>
            <a:spLocks xmlns:a="http://schemas.openxmlformats.org/drawingml/2006/main" noGrp="1"/>
          </p:cNvSpPr>
          <p:nvPr/>
        </p:nvSpPr>
        <p:spPr>
          <a:xfrm xmlns:a="http://schemas.openxmlformats.org/drawingml/2006/main">
            <a:off x="4697730" y="4654296"/>
            <a:ext cx="146304" cy="146304"/>
          </a:xfrm>
          <a:prstGeom xmlns:a="http://schemas.openxmlformats.org/drawingml/2006/main" prst="rect">
            <a:avLst/>
          </a:prstGeom>
          <a:solidFill xmlns:a="http://schemas.openxmlformats.org/drawingml/2006/main">
            <a:srgbClr val="2A78D6"/>
          </a:solidFill>
        </p:spPr>
      </p:sp>
      <p:sp>
        <p:nvSpPr>
          <p:cNvPr id="36" name="Shape 31">
            <a:extLst xmlns:a="http://schemas.openxmlformats.org/drawingml/2006/main">
              <a:ext uri="{FF2B5EF4-FFF2-40B4-BE49-F238E27FC236}">
                <a16:creationId xmlns:a16="http://schemas.microsoft.com/office/drawing/2014/main" id="{70CAE0BB-B79A-44CA-8633-361B5D356B01}"/>
              </a:ext>
            </a:extLst>
          </p:cNvPr>
          <p:cNvSpPr>
            <a:spLocks xmlns:a="http://schemas.openxmlformats.org/drawingml/2006/main" noGrp="1"/>
          </p:cNvSpPr>
          <p:nvPr/>
        </p:nvSpPr>
        <p:spPr>
          <a:xfrm xmlns:a="http://schemas.openxmlformats.org/drawingml/2006/main">
            <a:off x="4874209" y="4654296"/>
            <a:ext cx="146304" cy="146304"/>
          </a:xfrm>
          <a:prstGeom xmlns:a="http://schemas.openxmlformats.org/drawingml/2006/main" prst="rect">
            <a:avLst/>
          </a:prstGeom>
          <a:solidFill xmlns:a="http://schemas.openxmlformats.org/drawingml/2006/main">
            <a:srgbClr val="2A78D6"/>
          </a:solidFill>
        </p:spPr>
      </p:sp>
      <p:sp>
        <p:nvSpPr>
          <p:cNvPr id="37" name="Shape 32">
            <a:extLst xmlns:a="http://schemas.openxmlformats.org/drawingml/2006/main">
              <a:ext uri="{FF2B5EF4-FFF2-40B4-BE49-F238E27FC236}">
                <a16:creationId xmlns:a16="http://schemas.microsoft.com/office/drawing/2014/main" id="{7D1280C7-FD46-4732-B0D4-56646DE20C12}"/>
              </a:ext>
            </a:extLst>
          </p:cNvPr>
          <p:cNvSpPr>
            <a:spLocks xmlns:a="http://schemas.openxmlformats.org/drawingml/2006/main" noGrp="1"/>
          </p:cNvSpPr>
          <p:nvPr/>
        </p:nvSpPr>
        <p:spPr>
          <a:xfrm xmlns:a="http://schemas.openxmlformats.org/drawingml/2006/main">
            <a:off x="5050688" y="4654296"/>
            <a:ext cx="146304" cy="146304"/>
          </a:xfrm>
          <a:prstGeom xmlns:a="http://schemas.openxmlformats.org/drawingml/2006/main" prst="rect">
            <a:avLst/>
          </a:prstGeom>
          <a:solidFill xmlns:a="http://schemas.openxmlformats.org/drawingml/2006/main">
            <a:srgbClr val="2A78D6"/>
          </a:solidFill>
        </p:spPr>
      </p:sp>
      <p:sp>
        <p:nvSpPr>
          <p:cNvPr id="38" name="Shape 33">
            <a:extLst xmlns:a="http://schemas.openxmlformats.org/drawingml/2006/main">
              <a:ext uri="{FF2B5EF4-FFF2-40B4-BE49-F238E27FC236}">
                <a16:creationId xmlns:a16="http://schemas.microsoft.com/office/drawing/2014/main" id="{4BE61340-7186-4035-8B52-5A3637EF7451}"/>
              </a:ext>
            </a:extLst>
          </p:cNvPr>
          <p:cNvSpPr>
            <a:spLocks xmlns:a="http://schemas.openxmlformats.org/drawingml/2006/main" noGrp="1"/>
          </p:cNvSpPr>
          <p:nvPr/>
        </p:nvSpPr>
        <p:spPr>
          <a:xfrm xmlns:a="http://schemas.openxmlformats.org/drawingml/2006/main">
            <a:off x="5227168" y="4654296"/>
            <a:ext cx="146304" cy="146304"/>
          </a:xfrm>
          <a:prstGeom xmlns:a="http://schemas.openxmlformats.org/drawingml/2006/main" prst="rect">
            <a:avLst/>
          </a:prstGeom>
          <a:solidFill xmlns:a="http://schemas.openxmlformats.org/drawingml/2006/main">
            <a:srgbClr val="2A78D6"/>
          </a:solidFill>
        </p:spPr>
      </p:sp>
      <p:sp>
        <p:nvSpPr>
          <p:cNvPr id="39" name="Shape 34">
            <a:extLst xmlns:a="http://schemas.openxmlformats.org/drawingml/2006/main">
              <a:ext uri="{FF2B5EF4-FFF2-40B4-BE49-F238E27FC236}">
                <a16:creationId xmlns:a16="http://schemas.microsoft.com/office/drawing/2014/main" id="{5CEBC994-6C14-4E89-97C7-DCC0875AEA52}"/>
              </a:ext>
            </a:extLst>
          </p:cNvPr>
          <p:cNvSpPr>
            <a:spLocks xmlns:a="http://schemas.openxmlformats.org/drawingml/2006/main" noGrp="1"/>
          </p:cNvSpPr>
          <p:nvPr/>
        </p:nvSpPr>
        <p:spPr>
          <a:xfrm xmlns:a="http://schemas.openxmlformats.org/drawingml/2006/main">
            <a:off x="5403647" y="4654296"/>
            <a:ext cx="146304" cy="146304"/>
          </a:xfrm>
          <a:prstGeom xmlns:a="http://schemas.openxmlformats.org/drawingml/2006/main" prst="rect">
            <a:avLst/>
          </a:prstGeom>
          <a:solidFill xmlns:a="http://schemas.openxmlformats.org/drawingml/2006/main">
            <a:srgbClr val="2A78D6"/>
          </a:solidFill>
        </p:spPr>
      </p:sp>
      <p:sp>
        <p:nvSpPr>
          <p:cNvPr id="40" name="Shape 35">
            <a:extLst xmlns:a="http://schemas.openxmlformats.org/drawingml/2006/main">
              <a:ext uri="{FF2B5EF4-FFF2-40B4-BE49-F238E27FC236}">
                <a16:creationId xmlns:a16="http://schemas.microsoft.com/office/drawing/2014/main" id="{6484C306-8793-4680-BB99-C4C5B529E209}"/>
              </a:ext>
            </a:extLst>
          </p:cNvPr>
          <p:cNvSpPr>
            <a:spLocks xmlns:a="http://schemas.openxmlformats.org/drawingml/2006/main" noGrp="1"/>
          </p:cNvSpPr>
          <p:nvPr/>
        </p:nvSpPr>
        <p:spPr>
          <a:xfrm xmlns:a="http://schemas.openxmlformats.org/drawingml/2006/main">
            <a:off x="5580126" y="4654296"/>
            <a:ext cx="146304" cy="146304"/>
          </a:xfrm>
          <a:prstGeom xmlns:a="http://schemas.openxmlformats.org/drawingml/2006/main" prst="rect">
            <a:avLst/>
          </a:prstGeom>
          <a:solidFill xmlns:a="http://schemas.openxmlformats.org/drawingml/2006/main">
            <a:srgbClr val="2A78D6"/>
          </a:solidFill>
        </p:spPr>
      </p:sp>
      <p:sp>
        <p:nvSpPr>
          <p:cNvPr id="41" name="Shape 36">
            <a:extLst xmlns:a="http://schemas.openxmlformats.org/drawingml/2006/main">
              <a:ext uri="{FF2B5EF4-FFF2-40B4-BE49-F238E27FC236}">
                <a16:creationId xmlns:a16="http://schemas.microsoft.com/office/drawing/2014/main" id="{A7D7DF54-7C1B-4114-968E-86D76C767372}"/>
              </a:ext>
            </a:extLst>
          </p:cNvPr>
          <p:cNvSpPr>
            <a:spLocks xmlns:a="http://schemas.openxmlformats.org/drawingml/2006/main" noGrp="1"/>
          </p:cNvSpPr>
          <p:nvPr/>
        </p:nvSpPr>
        <p:spPr>
          <a:xfrm xmlns:a="http://schemas.openxmlformats.org/drawingml/2006/main">
            <a:off x="5756605" y="4654296"/>
            <a:ext cx="146304" cy="146304"/>
          </a:xfrm>
          <a:prstGeom xmlns:a="http://schemas.openxmlformats.org/drawingml/2006/main" prst="rect">
            <a:avLst/>
          </a:prstGeom>
          <a:solidFill xmlns:a="http://schemas.openxmlformats.org/drawingml/2006/main">
            <a:srgbClr val="2A78D6"/>
          </a:solidFill>
        </p:spPr>
      </p:sp>
      <p:sp>
        <p:nvSpPr>
          <p:cNvPr id="42" name="Shape 37">
            <a:extLst xmlns:a="http://schemas.openxmlformats.org/drawingml/2006/main">
              <a:ext uri="{FF2B5EF4-FFF2-40B4-BE49-F238E27FC236}">
                <a16:creationId xmlns:a16="http://schemas.microsoft.com/office/drawing/2014/main" id="{B551EAD9-6CFB-4CE1-A213-E2C0D02BE95E}"/>
              </a:ext>
            </a:extLst>
          </p:cNvPr>
          <p:cNvSpPr>
            <a:spLocks xmlns:a="http://schemas.openxmlformats.org/drawingml/2006/main" noGrp="1"/>
          </p:cNvSpPr>
          <p:nvPr/>
        </p:nvSpPr>
        <p:spPr>
          <a:xfrm xmlns:a="http://schemas.openxmlformats.org/drawingml/2006/main">
            <a:off x="5933084" y="4654296"/>
            <a:ext cx="146304" cy="146304"/>
          </a:xfrm>
          <a:prstGeom xmlns:a="http://schemas.openxmlformats.org/drawingml/2006/main" prst="rect">
            <a:avLst/>
          </a:prstGeom>
          <a:solidFill xmlns:a="http://schemas.openxmlformats.org/drawingml/2006/main">
            <a:srgbClr val="2A78D6"/>
          </a:solidFill>
        </p:spPr>
      </p:sp>
      <p:sp>
        <p:nvSpPr>
          <p:cNvPr id="43" name="Shape 38">
            <a:extLst xmlns:a="http://schemas.openxmlformats.org/drawingml/2006/main">
              <a:ext uri="{FF2B5EF4-FFF2-40B4-BE49-F238E27FC236}">
                <a16:creationId xmlns:a16="http://schemas.microsoft.com/office/drawing/2014/main" id="{F527DA75-53E0-495D-A169-44EF6BAA7346}"/>
              </a:ext>
            </a:extLst>
          </p:cNvPr>
          <p:cNvSpPr>
            <a:spLocks xmlns:a="http://schemas.openxmlformats.org/drawingml/2006/main" noGrp="1"/>
          </p:cNvSpPr>
          <p:nvPr/>
        </p:nvSpPr>
        <p:spPr>
          <a:xfrm xmlns:a="http://schemas.openxmlformats.org/drawingml/2006/main">
            <a:off x="6109564" y="4654296"/>
            <a:ext cx="146304" cy="146304"/>
          </a:xfrm>
          <a:prstGeom xmlns:a="http://schemas.openxmlformats.org/drawingml/2006/main" prst="rect">
            <a:avLst/>
          </a:prstGeom>
          <a:solidFill xmlns:a="http://schemas.openxmlformats.org/drawingml/2006/main">
            <a:srgbClr val="2A78D6"/>
          </a:solidFill>
        </p:spPr>
      </p:sp>
      <p:sp>
        <p:nvSpPr>
          <p:cNvPr id="44" name="Shape 39">
            <a:extLst xmlns:a="http://schemas.openxmlformats.org/drawingml/2006/main">
              <a:ext uri="{FF2B5EF4-FFF2-40B4-BE49-F238E27FC236}">
                <a16:creationId xmlns:a16="http://schemas.microsoft.com/office/drawing/2014/main" id="{FCC8F7E3-65A3-40AD-80AC-1B0AE9439A9D}"/>
              </a:ext>
            </a:extLst>
          </p:cNvPr>
          <p:cNvSpPr>
            <a:spLocks xmlns:a="http://schemas.openxmlformats.org/drawingml/2006/main" noGrp="1"/>
          </p:cNvSpPr>
          <p:nvPr/>
        </p:nvSpPr>
        <p:spPr>
          <a:xfrm xmlns:a="http://schemas.openxmlformats.org/drawingml/2006/main">
            <a:off x="6286043" y="4654296"/>
            <a:ext cx="146304" cy="146304"/>
          </a:xfrm>
          <a:prstGeom xmlns:a="http://schemas.openxmlformats.org/drawingml/2006/main" prst="rect">
            <a:avLst/>
          </a:prstGeom>
          <a:solidFill xmlns:a="http://schemas.openxmlformats.org/drawingml/2006/main">
            <a:srgbClr val="2A78D6"/>
          </a:solidFill>
        </p:spPr>
      </p:sp>
      <p:sp>
        <p:nvSpPr>
          <p:cNvPr id="45" name="Shape 40">
            <a:extLst xmlns:a="http://schemas.openxmlformats.org/drawingml/2006/main">
              <a:ext uri="{FF2B5EF4-FFF2-40B4-BE49-F238E27FC236}">
                <a16:creationId xmlns:a16="http://schemas.microsoft.com/office/drawing/2014/main" id="{BD17A261-A9A0-47F4-BB67-DF30210E9FAC}"/>
              </a:ext>
            </a:extLst>
          </p:cNvPr>
          <p:cNvSpPr>
            <a:spLocks xmlns:a="http://schemas.openxmlformats.org/drawingml/2006/main" noGrp="1"/>
          </p:cNvSpPr>
          <p:nvPr/>
        </p:nvSpPr>
        <p:spPr>
          <a:xfrm xmlns:a="http://schemas.openxmlformats.org/drawingml/2006/main">
            <a:off x="6462522" y="4654296"/>
            <a:ext cx="146304" cy="146304"/>
          </a:xfrm>
          <a:prstGeom xmlns:a="http://schemas.openxmlformats.org/drawingml/2006/main" prst="rect">
            <a:avLst/>
          </a:prstGeom>
          <a:solidFill xmlns:a="http://schemas.openxmlformats.org/drawingml/2006/main">
            <a:srgbClr val="2A78D6"/>
          </a:solidFill>
        </p:spPr>
      </p:sp>
      <p:sp>
        <p:nvSpPr>
          <p:cNvPr id="46" name="Shape 41">
            <a:extLst xmlns:a="http://schemas.openxmlformats.org/drawingml/2006/main">
              <a:ext uri="{FF2B5EF4-FFF2-40B4-BE49-F238E27FC236}">
                <a16:creationId xmlns:a16="http://schemas.microsoft.com/office/drawing/2014/main" id="{1FD15479-F38D-4D40-97B6-C827CB61C429}"/>
              </a:ext>
            </a:extLst>
          </p:cNvPr>
          <p:cNvSpPr>
            <a:spLocks xmlns:a="http://schemas.openxmlformats.org/drawingml/2006/main" noGrp="1"/>
          </p:cNvSpPr>
          <p:nvPr/>
        </p:nvSpPr>
        <p:spPr>
          <a:xfrm xmlns:a="http://schemas.openxmlformats.org/drawingml/2006/main">
            <a:off x="6639001" y="4654296"/>
            <a:ext cx="146304" cy="146304"/>
          </a:xfrm>
          <a:prstGeom xmlns:a="http://schemas.openxmlformats.org/drawingml/2006/main" prst="rect">
            <a:avLst/>
          </a:prstGeom>
          <a:solidFill xmlns:a="http://schemas.openxmlformats.org/drawingml/2006/main">
            <a:srgbClr val="2A78D6"/>
          </a:solidFill>
        </p:spPr>
      </p:sp>
      <p:sp>
        <p:nvSpPr>
          <p:cNvPr id="47" name="Shape 42">
            <a:extLst xmlns:a="http://schemas.openxmlformats.org/drawingml/2006/main">
              <a:ext uri="{FF2B5EF4-FFF2-40B4-BE49-F238E27FC236}">
                <a16:creationId xmlns:a16="http://schemas.microsoft.com/office/drawing/2014/main" id="{40F12513-6595-4C2A-87F7-64866764F0AD}"/>
              </a:ext>
            </a:extLst>
          </p:cNvPr>
          <p:cNvSpPr>
            <a:spLocks xmlns:a="http://schemas.openxmlformats.org/drawingml/2006/main" noGrp="1"/>
          </p:cNvSpPr>
          <p:nvPr/>
        </p:nvSpPr>
        <p:spPr>
          <a:xfrm xmlns:a="http://schemas.openxmlformats.org/drawingml/2006/main">
            <a:off x="6815480" y="4654296"/>
            <a:ext cx="146304" cy="146304"/>
          </a:xfrm>
          <a:prstGeom xmlns:a="http://schemas.openxmlformats.org/drawingml/2006/main" prst="rect">
            <a:avLst/>
          </a:prstGeom>
          <a:solidFill xmlns:a="http://schemas.openxmlformats.org/drawingml/2006/main">
            <a:srgbClr val="2A78D6"/>
          </a:solidFill>
        </p:spPr>
      </p:sp>
      <p:sp>
        <p:nvSpPr>
          <p:cNvPr id="48" name="Shape 43">
            <a:extLst xmlns:a="http://schemas.openxmlformats.org/drawingml/2006/main">
              <a:ext uri="{FF2B5EF4-FFF2-40B4-BE49-F238E27FC236}">
                <a16:creationId xmlns:a16="http://schemas.microsoft.com/office/drawing/2014/main" id="{ED7EF040-6302-4C38-84D3-920B1136153A}"/>
              </a:ext>
            </a:extLst>
          </p:cNvPr>
          <p:cNvSpPr>
            <a:spLocks xmlns:a="http://schemas.openxmlformats.org/drawingml/2006/main" noGrp="1"/>
          </p:cNvSpPr>
          <p:nvPr/>
        </p:nvSpPr>
        <p:spPr>
          <a:xfrm xmlns:a="http://schemas.openxmlformats.org/drawingml/2006/main">
            <a:off x="6991960" y="4654296"/>
            <a:ext cx="146304" cy="146304"/>
          </a:xfrm>
          <a:prstGeom xmlns:a="http://schemas.openxmlformats.org/drawingml/2006/main" prst="rect">
            <a:avLst/>
          </a:prstGeom>
          <a:solidFill xmlns:a="http://schemas.openxmlformats.org/drawingml/2006/main">
            <a:srgbClr val="2A78D6"/>
          </a:solidFill>
        </p:spPr>
      </p:sp>
      <p:sp>
        <p:nvSpPr>
          <p:cNvPr id="49" name="Shape 44">
            <a:extLst xmlns:a="http://schemas.openxmlformats.org/drawingml/2006/main">
              <a:ext uri="{FF2B5EF4-FFF2-40B4-BE49-F238E27FC236}">
                <a16:creationId xmlns:a16="http://schemas.microsoft.com/office/drawing/2014/main" id="{760E6FB0-A61F-4953-BC1B-25A9A3FDFB4D}"/>
              </a:ext>
            </a:extLst>
          </p:cNvPr>
          <p:cNvSpPr>
            <a:spLocks xmlns:a="http://schemas.openxmlformats.org/drawingml/2006/main" noGrp="1"/>
          </p:cNvSpPr>
          <p:nvPr/>
        </p:nvSpPr>
        <p:spPr>
          <a:xfrm xmlns:a="http://schemas.openxmlformats.org/drawingml/2006/main">
            <a:off x="7168439" y="4654296"/>
            <a:ext cx="146304" cy="146304"/>
          </a:xfrm>
          <a:prstGeom xmlns:a="http://schemas.openxmlformats.org/drawingml/2006/main" prst="rect">
            <a:avLst/>
          </a:prstGeom>
          <a:solidFill xmlns:a="http://schemas.openxmlformats.org/drawingml/2006/main">
            <a:srgbClr val="2A78D6"/>
          </a:solidFill>
        </p:spPr>
      </p:sp>
      <p:sp>
        <p:nvSpPr>
          <p:cNvPr id="50" name="Shape 45">
            <a:extLst xmlns:a="http://schemas.openxmlformats.org/drawingml/2006/main">
              <a:ext uri="{FF2B5EF4-FFF2-40B4-BE49-F238E27FC236}">
                <a16:creationId xmlns:a16="http://schemas.microsoft.com/office/drawing/2014/main" id="{1F9344F1-B7B1-4AB9-AA31-D286A4B40978}"/>
              </a:ext>
            </a:extLst>
          </p:cNvPr>
          <p:cNvSpPr>
            <a:spLocks xmlns:a="http://schemas.openxmlformats.org/drawingml/2006/main" noGrp="1"/>
          </p:cNvSpPr>
          <p:nvPr/>
        </p:nvSpPr>
        <p:spPr>
          <a:xfrm xmlns:a="http://schemas.openxmlformats.org/drawingml/2006/main">
            <a:off x="7344918" y="4654296"/>
            <a:ext cx="146304" cy="146304"/>
          </a:xfrm>
          <a:prstGeom xmlns:a="http://schemas.openxmlformats.org/drawingml/2006/main" prst="rect">
            <a:avLst/>
          </a:prstGeom>
          <a:solidFill xmlns:a="http://schemas.openxmlformats.org/drawingml/2006/main">
            <a:srgbClr val="2A78D6"/>
          </a:solidFill>
        </p:spPr>
      </p:sp>
      <p:sp>
        <p:nvSpPr>
          <p:cNvPr id="51" name="Shape 46">
            <a:extLst xmlns:a="http://schemas.openxmlformats.org/drawingml/2006/main">
              <a:ext uri="{FF2B5EF4-FFF2-40B4-BE49-F238E27FC236}">
                <a16:creationId xmlns:a16="http://schemas.microsoft.com/office/drawing/2014/main" id="{9B7BBB88-5609-4BE8-8BAC-BE19459A68AB}"/>
              </a:ext>
            </a:extLst>
          </p:cNvPr>
          <p:cNvSpPr>
            <a:spLocks xmlns:a="http://schemas.openxmlformats.org/drawingml/2006/main" noGrp="1"/>
          </p:cNvSpPr>
          <p:nvPr/>
        </p:nvSpPr>
        <p:spPr>
          <a:xfrm xmlns:a="http://schemas.openxmlformats.org/drawingml/2006/main">
            <a:off x="7521397" y="4654296"/>
            <a:ext cx="146304" cy="146304"/>
          </a:xfrm>
          <a:prstGeom xmlns:a="http://schemas.openxmlformats.org/drawingml/2006/main" prst="rect">
            <a:avLst/>
          </a:prstGeom>
          <a:solidFill xmlns:a="http://schemas.openxmlformats.org/drawingml/2006/main">
            <a:srgbClr val="2A78D6"/>
          </a:solidFill>
        </p:spPr>
      </p:sp>
      <p:sp>
        <p:nvSpPr>
          <p:cNvPr id="52" name="Shape 47">
            <a:extLst xmlns:a="http://schemas.openxmlformats.org/drawingml/2006/main">
              <a:ext uri="{FF2B5EF4-FFF2-40B4-BE49-F238E27FC236}">
                <a16:creationId xmlns:a16="http://schemas.microsoft.com/office/drawing/2014/main" id="{F02382C1-FA21-4788-BFE8-6FAD61CBA9CA}"/>
              </a:ext>
            </a:extLst>
          </p:cNvPr>
          <p:cNvSpPr>
            <a:spLocks xmlns:a="http://schemas.openxmlformats.org/drawingml/2006/main" noGrp="1"/>
          </p:cNvSpPr>
          <p:nvPr/>
        </p:nvSpPr>
        <p:spPr>
          <a:xfrm xmlns:a="http://schemas.openxmlformats.org/drawingml/2006/main">
            <a:off x="7697876" y="4654296"/>
            <a:ext cx="146304" cy="146304"/>
          </a:xfrm>
          <a:prstGeom xmlns:a="http://schemas.openxmlformats.org/drawingml/2006/main" prst="rect">
            <a:avLst/>
          </a:prstGeom>
          <a:solidFill xmlns:a="http://schemas.openxmlformats.org/drawingml/2006/main">
            <a:srgbClr val="2A78D6"/>
          </a:solidFill>
        </p:spPr>
      </p:sp>
      <p:sp>
        <p:nvSpPr>
          <p:cNvPr id="53" name="Shape 48">
            <a:extLst xmlns:a="http://schemas.openxmlformats.org/drawingml/2006/main">
              <a:ext uri="{FF2B5EF4-FFF2-40B4-BE49-F238E27FC236}">
                <a16:creationId xmlns:a16="http://schemas.microsoft.com/office/drawing/2014/main" id="{331D212E-0708-40D3-A5FD-988C2CA99879}"/>
              </a:ext>
            </a:extLst>
          </p:cNvPr>
          <p:cNvSpPr>
            <a:spLocks xmlns:a="http://schemas.openxmlformats.org/drawingml/2006/main" noGrp="1"/>
          </p:cNvSpPr>
          <p:nvPr/>
        </p:nvSpPr>
        <p:spPr>
          <a:xfrm xmlns:a="http://schemas.openxmlformats.org/drawingml/2006/main">
            <a:off x="7874356" y="4654296"/>
            <a:ext cx="146304" cy="146304"/>
          </a:xfrm>
          <a:prstGeom xmlns:a="http://schemas.openxmlformats.org/drawingml/2006/main" prst="rect">
            <a:avLst/>
          </a:prstGeom>
          <a:solidFill xmlns:a="http://schemas.openxmlformats.org/drawingml/2006/main">
            <a:srgbClr val="2A78D6"/>
          </a:solidFill>
        </p:spPr>
      </p:sp>
      <p:sp>
        <p:nvSpPr>
          <p:cNvPr id="54" name="Shape 49">
            <a:extLst xmlns:a="http://schemas.openxmlformats.org/drawingml/2006/main">
              <a:ext uri="{FF2B5EF4-FFF2-40B4-BE49-F238E27FC236}">
                <a16:creationId xmlns:a16="http://schemas.microsoft.com/office/drawing/2014/main" id="{4B4A5BF4-DBE9-4AB8-B643-42502E50F37A}"/>
              </a:ext>
            </a:extLst>
          </p:cNvPr>
          <p:cNvSpPr>
            <a:spLocks xmlns:a="http://schemas.openxmlformats.org/drawingml/2006/main" noGrp="1"/>
          </p:cNvSpPr>
          <p:nvPr/>
        </p:nvSpPr>
        <p:spPr>
          <a:xfrm xmlns:a="http://schemas.openxmlformats.org/drawingml/2006/main">
            <a:off x="8050835" y="4654296"/>
            <a:ext cx="146304" cy="146304"/>
          </a:xfrm>
          <a:prstGeom xmlns:a="http://schemas.openxmlformats.org/drawingml/2006/main" prst="rect">
            <a:avLst/>
          </a:prstGeom>
          <a:solidFill xmlns:a="http://schemas.openxmlformats.org/drawingml/2006/main">
            <a:srgbClr val="2A78D6"/>
          </a:solidFill>
        </p:spPr>
      </p:sp>
      <p:sp>
        <p:nvSpPr>
          <p:cNvPr id="55" name="Shape 50">
            <a:extLst xmlns:a="http://schemas.openxmlformats.org/drawingml/2006/main">
              <a:ext uri="{FF2B5EF4-FFF2-40B4-BE49-F238E27FC236}">
                <a16:creationId xmlns:a16="http://schemas.microsoft.com/office/drawing/2014/main" id="{4735EF40-E950-44F7-93A3-A9B69F1B8220}"/>
              </a:ext>
            </a:extLst>
          </p:cNvPr>
          <p:cNvSpPr>
            <a:spLocks xmlns:a="http://schemas.openxmlformats.org/drawingml/2006/main" noGrp="1"/>
          </p:cNvSpPr>
          <p:nvPr/>
        </p:nvSpPr>
        <p:spPr>
          <a:xfrm xmlns:a="http://schemas.openxmlformats.org/drawingml/2006/main">
            <a:off x="8227314" y="4654296"/>
            <a:ext cx="146304" cy="146304"/>
          </a:xfrm>
          <a:prstGeom xmlns:a="http://schemas.openxmlformats.org/drawingml/2006/main" prst="rect">
            <a:avLst/>
          </a:prstGeom>
          <a:solidFill xmlns:a="http://schemas.openxmlformats.org/drawingml/2006/main">
            <a:srgbClr val="2A78D6"/>
          </a:solidFill>
        </p:spPr>
      </p:sp>
      <p:sp>
        <p:nvSpPr>
          <p:cNvPr id="56" name="Shape 51">
            <a:extLst xmlns:a="http://schemas.openxmlformats.org/drawingml/2006/main">
              <a:ext uri="{FF2B5EF4-FFF2-40B4-BE49-F238E27FC236}">
                <a16:creationId xmlns:a16="http://schemas.microsoft.com/office/drawing/2014/main" id="{7B125E94-BF3C-4C99-9516-EBE2A5CACCD6}"/>
              </a:ext>
            </a:extLst>
          </p:cNvPr>
          <p:cNvSpPr>
            <a:spLocks xmlns:a="http://schemas.openxmlformats.org/drawingml/2006/main" noGrp="1"/>
          </p:cNvSpPr>
          <p:nvPr/>
        </p:nvSpPr>
        <p:spPr>
          <a:xfrm xmlns:a="http://schemas.openxmlformats.org/drawingml/2006/main">
            <a:off x="8403793" y="4654296"/>
            <a:ext cx="146304" cy="146304"/>
          </a:xfrm>
          <a:prstGeom xmlns:a="http://schemas.openxmlformats.org/drawingml/2006/main" prst="rect">
            <a:avLst/>
          </a:prstGeom>
          <a:solidFill xmlns:a="http://schemas.openxmlformats.org/drawingml/2006/main">
            <a:srgbClr val="2A78D6"/>
          </a:solidFill>
        </p:spPr>
      </p:sp>
      <p:sp>
        <p:nvSpPr>
          <p:cNvPr id="57" name="Shape 52">
            <a:extLst xmlns:a="http://schemas.openxmlformats.org/drawingml/2006/main">
              <a:ext uri="{FF2B5EF4-FFF2-40B4-BE49-F238E27FC236}">
                <a16:creationId xmlns:a16="http://schemas.microsoft.com/office/drawing/2014/main" id="{AE7D031E-8C29-4ACC-8DED-B54CE5AA0F96}"/>
              </a:ext>
            </a:extLst>
          </p:cNvPr>
          <p:cNvSpPr>
            <a:spLocks xmlns:a="http://schemas.openxmlformats.org/drawingml/2006/main" noGrp="1"/>
          </p:cNvSpPr>
          <p:nvPr/>
        </p:nvSpPr>
        <p:spPr>
          <a:xfrm xmlns:a="http://schemas.openxmlformats.org/drawingml/2006/main">
            <a:off x="8580272" y="4654296"/>
            <a:ext cx="146304" cy="146304"/>
          </a:xfrm>
          <a:prstGeom xmlns:a="http://schemas.openxmlformats.org/drawingml/2006/main" prst="rect">
            <a:avLst/>
          </a:prstGeom>
          <a:solidFill xmlns:a="http://schemas.openxmlformats.org/drawingml/2006/main">
            <a:srgbClr val="2A78D6"/>
          </a:solidFill>
        </p:spPr>
      </p:sp>
      <p:sp>
        <p:nvSpPr>
          <p:cNvPr id="58" name="Shape 53">
            <a:extLst xmlns:a="http://schemas.openxmlformats.org/drawingml/2006/main">
              <a:ext uri="{FF2B5EF4-FFF2-40B4-BE49-F238E27FC236}">
                <a16:creationId xmlns:a16="http://schemas.microsoft.com/office/drawing/2014/main" id="{0C304480-3D9B-45D5-AD28-CEDEC2A7DBDB}"/>
              </a:ext>
            </a:extLst>
          </p:cNvPr>
          <p:cNvSpPr>
            <a:spLocks xmlns:a="http://schemas.openxmlformats.org/drawingml/2006/main" noGrp="1"/>
          </p:cNvSpPr>
          <p:nvPr/>
        </p:nvSpPr>
        <p:spPr>
          <a:xfrm xmlns:a="http://schemas.openxmlformats.org/drawingml/2006/main">
            <a:off x="8756752" y="4654296"/>
            <a:ext cx="146304" cy="146304"/>
          </a:xfrm>
          <a:prstGeom xmlns:a="http://schemas.openxmlformats.org/drawingml/2006/main" prst="rect">
            <a:avLst/>
          </a:prstGeom>
          <a:solidFill xmlns:a="http://schemas.openxmlformats.org/drawingml/2006/main">
            <a:srgbClr val="2A78D6"/>
          </a:solidFill>
        </p:spPr>
      </p:sp>
      <p:sp>
        <p:nvSpPr>
          <p:cNvPr id="59" name="Shape 54">
            <a:extLst xmlns:a="http://schemas.openxmlformats.org/drawingml/2006/main">
              <a:ext uri="{FF2B5EF4-FFF2-40B4-BE49-F238E27FC236}">
                <a16:creationId xmlns:a16="http://schemas.microsoft.com/office/drawing/2014/main" id="{A9E54927-3DDB-4311-A0BD-96773B73A415}"/>
              </a:ext>
            </a:extLst>
          </p:cNvPr>
          <p:cNvSpPr>
            <a:spLocks xmlns:a="http://schemas.openxmlformats.org/drawingml/2006/main" noGrp="1"/>
          </p:cNvSpPr>
          <p:nvPr/>
        </p:nvSpPr>
        <p:spPr>
          <a:xfrm xmlns:a="http://schemas.openxmlformats.org/drawingml/2006/main">
            <a:off x="8933231" y="4654296"/>
            <a:ext cx="146304" cy="146304"/>
          </a:xfrm>
          <a:prstGeom xmlns:a="http://schemas.openxmlformats.org/drawingml/2006/main" prst="rect">
            <a:avLst/>
          </a:prstGeom>
          <a:solidFill xmlns:a="http://schemas.openxmlformats.org/drawingml/2006/main">
            <a:srgbClr val="2A78D6"/>
          </a:solidFill>
        </p:spPr>
      </p:sp>
      <p:sp>
        <p:nvSpPr>
          <p:cNvPr id="60" name="Shape 55">
            <a:extLst xmlns:a="http://schemas.openxmlformats.org/drawingml/2006/main">
              <a:ext uri="{FF2B5EF4-FFF2-40B4-BE49-F238E27FC236}">
                <a16:creationId xmlns:a16="http://schemas.microsoft.com/office/drawing/2014/main" id="{17EF1249-A349-47EB-BF8C-521FB1D2CE37}"/>
              </a:ext>
            </a:extLst>
          </p:cNvPr>
          <p:cNvSpPr>
            <a:spLocks xmlns:a="http://schemas.openxmlformats.org/drawingml/2006/main" noGrp="1"/>
          </p:cNvSpPr>
          <p:nvPr/>
        </p:nvSpPr>
        <p:spPr>
          <a:xfrm xmlns:a="http://schemas.openxmlformats.org/drawingml/2006/main">
            <a:off x="9109710" y="4654296"/>
            <a:ext cx="146304" cy="146304"/>
          </a:xfrm>
          <a:prstGeom xmlns:a="http://schemas.openxmlformats.org/drawingml/2006/main" prst="rect">
            <a:avLst/>
          </a:prstGeom>
          <a:solidFill xmlns:a="http://schemas.openxmlformats.org/drawingml/2006/main">
            <a:srgbClr val="2A78D6"/>
          </a:solidFill>
        </p:spPr>
      </p:sp>
      <p:sp>
        <p:nvSpPr>
          <p:cNvPr id="61" name="Shape 56">
            <a:extLst xmlns:a="http://schemas.openxmlformats.org/drawingml/2006/main">
              <a:ext uri="{FF2B5EF4-FFF2-40B4-BE49-F238E27FC236}">
                <a16:creationId xmlns:a16="http://schemas.microsoft.com/office/drawing/2014/main" id="{FED441A8-D76D-4C89-AD2E-929FD871B3F4}"/>
              </a:ext>
            </a:extLst>
          </p:cNvPr>
          <p:cNvSpPr>
            <a:spLocks xmlns:a="http://schemas.openxmlformats.org/drawingml/2006/main" noGrp="1"/>
          </p:cNvSpPr>
          <p:nvPr/>
        </p:nvSpPr>
        <p:spPr>
          <a:xfrm xmlns:a="http://schemas.openxmlformats.org/drawingml/2006/main">
            <a:off x="9286189" y="4654296"/>
            <a:ext cx="146304" cy="146304"/>
          </a:xfrm>
          <a:prstGeom xmlns:a="http://schemas.openxmlformats.org/drawingml/2006/main" prst="rect">
            <a:avLst/>
          </a:prstGeom>
          <a:solidFill xmlns:a="http://schemas.openxmlformats.org/drawingml/2006/main">
            <a:srgbClr val="2A78D6"/>
          </a:solidFill>
        </p:spPr>
      </p:sp>
      <p:sp>
        <p:nvSpPr>
          <p:cNvPr id="62" name="Shape 57">
            <a:extLst xmlns:a="http://schemas.openxmlformats.org/drawingml/2006/main">
              <a:ext uri="{FF2B5EF4-FFF2-40B4-BE49-F238E27FC236}">
                <a16:creationId xmlns:a16="http://schemas.microsoft.com/office/drawing/2014/main" id="{74E9CCBE-DBE7-4095-8D09-BF44C136160A}"/>
              </a:ext>
            </a:extLst>
          </p:cNvPr>
          <p:cNvSpPr>
            <a:spLocks xmlns:a="http://schemas.openxmlformats.org/drawingml/2006/main" noGrp="1"/>
          </p:cNvSpPr>
          <p:nvPr/>
        </p:nvSpPr>
        <p:spPr>
          <a:xfrm xmlns:a="http://schemas.openxmlformats.org/drawingml/2006/main">
            <a:off x="9462668" y="4654296"/>
            <a:ext cx="146304" cy="146304"/>
          </a:xfrm>
          <a:prstGeom xmlns:a="http://schemas.openxmlformats.org/drawingml/2006/main" prst="rect">
            <a:avLst/>
          </a:prstGeom>
          <a:solidFill xmlns:a="http://schemas.openxmlformats.org/drawingml/2006/main">
            <a:srgbClr val="2A78D6"/>
          </a:solidFill>
        </p:spPr>
      </p:sp>
      <p:sp>
        <p:nvSpPr>
          <p:cNvPr id="63" name="Shape 58">
            <a:extLst xmlns:a="http://schemas.openxmlformats.org/drawingml/2006/main">
              <a:ext uri="{FF2B5EF4-FFF2-40B4-BE49-F238E27FC236}">
                <a16:creationId xmlns:a16="http://schemas.microsoft.com/office/drawing/2014/main" id="{60FEA9DA-0317-4E1F-B6EE-66DB21A13916}"/>
              </a:ext>
            </a:extLst>
          </p:cNvPr>
          <p:cNvSpPr>
            <a:spLocks xmlns:a="http://schemas.openxmlformats.org/drawingml/2006/main" noGrp="1"/>
          </p:cNvSpPr>
          <p:nvPr/>
        </p:nvSpPr>
        <p:spPr>
          <a:xfrm xmlns:a="http://schemas.openxmlformats.org/drawingml/2006/main">
            <a:off x="9639148" y="4654296"/>
            <a:ext cx="146304" cy="146304"/>
          </a:xfrm>
          <a:prstGeom xmlns:a="http://schemas.openxmlformats.org/drawingml/2006/main" prst="rect">
            <a:avLst/>
          </a:prstGeom>
          <a:solidFill xmlns:a="http://schemas.openxmlformats.org/drawingml/2006/main">
            <a:srgbClr val="2A78D6"/>
          </a:solidFill>
        </p:spPr>
      </p:sp>
      <p:sp>
        <p:nvSpPr>
          <p:cNvPr id="64" name="Shape 59">
            <a:extLst xmlns:a="http://schemas.openxmlformats.org/drawingml/2006/main">
              <a:ext uri="{FF2B5EF4-FFF2-40B4-BE49-F238E27FC236}">
                <a16:creationId xmlns:a16="http://schemas.microsoft.com/office/drawing/2014/main" id="{8239E98C-2FBF-43A4-88B6-C9DE2EDAD38B}"/>
              </a:ext>
            </a:extLst>
          </p:cNvPr>
          <p:cNvSpPr>
            <a:spLocks xmlns:a="http://schemas.openxmlformats.org/drawingml/2006/main" noGrp="1"/>
          </p:cNvSpPr>
          <p:nvPr/>
        </p:nvSpPr>
        <p:spPr>
          <a:xfrm xmlns:a="http://schemas.openxmlformats.org/drawingml/2006/main">
            <a:off x="9815627" y="4654296"/>
            <a:ext cx="146304" cy="146304"/>
          </a:xfrm>
          <a:prstGeom xmlns:a="http://schemas.openxmlformats.org/drawingml/2006/main" prst="rect">
            <a:avLst/>
          </a:prstGeom>
          <a:solidFill xmlns:a="http://schemas.openxmlformats.org/drawingml/2006/main">
            <a:srgbClr val="2A78D6"/>
          </a:solidFill>
        </p:spPr>
      </p:sp>
      <p:sp>
        <p:nvSpPr>
          <p:cNvPr id="65" name="Shape 60">
            <a:extLst xmlns:a="http://schemas.openxmlformats.org/drawingml/2006/main">
              <a:ext uri="{FF2B5EF4-FFF2-40B4-BE49-F238E27FC236}">
                <a16:creationId xmlns:a16="http://schemas.microsoft.com/office/drawing/2014/main" id="{A77CE587-CDE2-46F1-B5BB-C93EDAEF28D4}"/>
              </a:ext>
            </a:extLst>
          </p:cNvPr>
          <p:cNvSpPr>
            <a:spLocks xmlns:a="http://schemas.openxmlformats.org/drawingml/2006/main" noGrp="1"/>
          </p:cNvSpPr>
          <p:nvPr/>
        </p:nvSpPr>
        <p:spPr>
          <a:xfrm xmlns:a="http://schemas.openxmlformats.org/drawingml/2006/main">
            <a:off x="9992106" y="4654296"/>
            <a:ext cx="146304" cy="146304"/>
          </a:xfrm>
          <a:prstGeom xmlns:a="http://schemas.openxmlformats.org/drawingml/2006/main" prst="rect">
            <a:avLst/>
          </a:prstGeom>
          <a:solidFill xmlns:a="http://schemas.openxmlformats.org/drawingml/2006/main">
            <a:srgbClr val="FAB219"/>
          </a:solidFill>
        </p:spPr>
      </p:sp>
      <p:sp>
        <p:nvSpPr>
          <p:cNvPr id="66" name="Shape 61">
            <a:extLst xmlns:a="http://schemas.openxmlformats.org/drawingml/2006/main">
              <a:ext uri="{FF2B5EF4-FFF2-40B4-BE49-F238E27FC236}">
                <a16:creationId xmlns:a16="http://schemas.microsoft.com/office/drawing/2014/main" id="{EF03112B-DD3B-4698-848E-F9486496A185}"/>
              </a:ext>
            </a:extLst>
          </p:cNvPr>
          <p:cNvSpPr>
            <a:spLocks xmlns:a="http://schemas.openxmlformats.org/drawingml/2006/main" noGrp="1"/>
          </p:cNvSpPr>
          <p:nvPr/>
        </p:nvSpPr>
        <p:spPr>
          <a:xfrm xmlns:a="http://schemas.openxmlformats.org/drawingml/2006/main">
            <a:off x="10168585" y="4654296"/>
            <a:ext cx="146304" cy="146304"/>
          </a:xfrm>
          <a:prstGeom xmlns:a="http://schemas.openxmlformats.org/drawingml/2006/main" prst="rect">
            <a:avLst/>
          </a:prstGeom>
          <a:solidFill xmlns:a="http://schemas.openxmlformats.org/drawingml/2006/main">
            <a:srgbClr val="FAB219"/>
          </a:solidFill>
        </p:spPr>
      </p:sp>
      <p:sp>
        <p:nvSpPr>
          <p:cNvPr id="67" name="Shape 62">
            <a:extLst xmlns:a="http://schemas.openxmlformats.org/drawingml/2006/main">
              <a:ext uri="{FF2B5EF4-FFF2-40B4-BE49-F238E27FC236}">
                <a16:creationId xmlns:a16="http://schemas.microsoft.com/office/drawing/2014/main" id="{161A152A-B4AD-4F27-B783-4AFC36288AE1}"/>
              </a:ext>
            </a:extLst>
          </p:cNvPr>
          <p:cNvSpPr>
            <a:spLocks xmlns:a="http://schemas.openxmlformats.org/drawingml/2006/main" noGrp="1"/>
          </p:cNvSpPr>
          <p:nvPr/>
        </p:nvSpPr>
        <p:spPr>
          <a:xfrm xmlns:a="http://schemas.openxmlformats.org/drawingml/2006/main">
            <a:off x="10345064" y="4654296"/>
            <a:ext cx="146304" cy="146304"/>
          </a:xfrm>
          <a:prstGeom xmlns:a="http://schemas.openxmlformats.org/drawingml/2006/main" prst="rect">
            <a:avLst/>
          </a:prstGeom>
          <a:solidFill xmlns:a="http://schemas.openxmlformats.org/drawingml/2006/main">
            <a:srgbClr val="FAB219"/>
          </a:solidFill>
        </p:spPr>
      </p:sp>
      <p:sp>
        <p:nvSpPr>
          <p:cNvPr id="68" name="Shape 63">
            <a:extLst xmlns:a="http://schemas.openxmlformats.org/drawingml/2006/main">
              <a:ext uri="{FF2B5EF4-FFF2-40B4-BE49-F238E27FC236}">
                <a16:creationId xmlns:a16="http://schemas.microsoft.com/office/drawing/2014/main" id="{7AC0E424-F729-446B-A426-0ABD9AE79BF8}"/>
              </a:ext>
            </a:extLst>
          </p:cNvPr>
          <p:cNvSpPr>
            <a:spLocks xmlns:a="http://schemas.openxmlformats.org/drawingml/2006/main" noGrp="1"/>
          </p:cNvSpPr>
          <p:nvPr/>
        </p:nvSpPr>
        <p:spPr>
          <a:xfrm xmlns:a="http://schemas.openxmlformats.org/drawingml/2006/main">
            <a:off x="10521544" y="4654296"/>
            <a:ext cx="146304" cy="146304"/>
          </a:xfrm>
          <a:prstGeom xmlns:a="http://schemas.openxmlformats.org/drawingml/2006/main" prst="rect">
            <a:avLst/>
          </a:prstGeom>
          <a:solidFill xmlns:a="http://schemas.openxmlformats.org/drawingml/2006/main">
            <a:srgbClr val="FAB219"/>
          </a:solidFill>
        </p:spPr>
      </p:sp>
      <p:sp>
        <p:nvSpPr>
          <p:cNvPr id="69" name="Shape 64">
            <a:extLst xmlns:a="http://schemas.openxmlformats.org/drawingml/2006/main">
              <a:ext uri="{FF2B5EF4-FFF2-40B4-BE49-F238E27FC236}">
                <a16:creationId xmlns:a16="http://schemas.microsoft.com/office/drawing/2014/main" id="{F70F1961-3622-474D-9EAF-22293370DAD8}"/>
              </a:ext>
            </a:extLst>
          </p:cNvPr>
          <p:cNvSpPr>
            <a:spLocks xmlns:a="http://schemas.openxmlformats.org/drawingml/2006/main" noGrp="1"/>
          </p:cNvSpPr>
          <p:nvPr/>
        </p:nvSpPr>
        <p:spPr>
          <a:xfrm xmlns:a="http://schemas.openxmlformats.org/drawingml/2006/main">
            <a:off x="10698023" y="4654296"/>
            <a:ext cx="146304" cy="146304"/>
          </a:xfrm>
          <a:prstGeom xmlns:a="http://schemas.openxmlformats.org/drawingml/2006/main" prst="rect">
            <a:avLst/>
          </a:prstGeom>
          <a:solidFill xmlns:a="http://schemas.openxmlformats.org/drawingml/2006/main">
            <a:srgbClr val="D03B3B"/>
          </a:solidFill>
        </p:spPr>
      </p:sp>
      <p:sp>
        <p:nvSpPr>
          <p:cNvPr id="70" name="Shape 65">
            <a:extLst xmlns:a="http://schemas.openxmlformats.org/drawingml/2006/main">
              <a:ext uri="{FF2B5EF4-FFF2-40B4-BE49-F238E27FC236}">
                <a16:creationId xmlns:a16="http://schemas.microsoft.com/office/drawing/2014/main" id="{4DE5561A-FE6B-4A53-A52F-5BF0555A6DDA}"/>
              </a:ext>
            </a:extLst>
          </p:cNvPr>
          <p:cNvSpPr>
            <a:spLocks xmlns:a="http://schemas.openxmlformats.org/drawingml/2006/main" noGrp="1"/>
          </p:cNvSpPr>
          <p:nvPr/>
        </p:nvSpPr>
        <p:spPr>
          <a:xfrm xmlns:a="http://schemas.openxmlformats.org/drawingml/2006/main">
            <a:off x="10874502" y="4654296"/>
            <a:ext cx="146304" cy="146304"/>
          </a:xfrm>
          <a:prstGeom xmlns:a="http://schemas.openxmlformats.org/drawingml/2006/main" prst="rect">
            <a:avLst/>
          </a:prstGeom>
          <a:solidFill xmlns:a="http://schemas.openxmlformats.org/drawingml/2006/main">
            <a:srgbClr val="D03B3B"/>
          </a:solidFill>
        </p:spPr>
      </p:sp>
      <p:sp>
        <p:nvSpPr>
          <p:cNvPr id="71" name="Shape 66">
            <a:extLst xmlns:a="http://schemas.openxmlformats.org/drawingml/2006/main">
              <a:ext uri="{FF2B5EF4-FFF2-40B4-BE49-F238E27FC236}">
                <a16:creationId xmlns:a16="http://schemas.microsoft.com/office/drawing/2014/main" id="{5336934B-CEDD-4013-9662-70F0A0D7FCCE}"/>
              </a:ext>
            </a:extLst>
          </p:cNvPr>
          <p:cNvSpPr>
            <a:spLocks xmlns:a="http://schemas.openxmlformats.org/drawingml/2006/main" noGrp="1"/>
          </p:cNvSpPr>
          <p:nvPr/>
        </p:nvSpPr>
        <p:spPr>
          <a:xfrm xmlns:a="http://schemas.openxmlformats.org/drawingml/2006/main">
            <a:off x="11050981" y="4654296"/>
            <a:ext cx="146304" cy="146304"/>
          </a:xfrm>
          <a:prstGeom xmlns:a="http://schemas.openxmlformats.org/drawingml/2006/main" prst="rect">
            <a:avLst/>
          </a:prstGeom>
          <a:solidFill xmlns:a="http://schemas.openxmlformats.org/drawingml/2006/main">
            <a:srgbClr val="D03B3B"/>
          </a:solidFill>
        </p:spPr>
      </p:sp>
      <p:sp>
        <p:nvSpPr>
          <p:cNvPr id="72" name="Shape 67">
            <a:extLst xmlns:a="http://schemas.openxmlformats.org/drawingml/2006/main">
              <a:ext uri="{FF2B5EF4-FFF2-40B4-BE49-F238E27FC236}">
                <a16:creationId xmlns:a16="http://schemas.microsoft.com/office/drawing/2014/main" id="{F45208C6-0F61-4F8F-A3F3-F30A1D9C4547}"/>
              </a:ext>
            </a:extLst>
          </p:cNvPr>
          <p:cNvSpPr>
            <a:spLocks xmlns:a="http://schemas.openxmlformats.org/drawingml/2006/main" noGrp="1"/>
          </p:cNvSpPr>
          <p:nvPr/>
        </p:nvSpPr>
        <p:spPr>
          <a:xfrm xmlns:a="http://schemas.openxmlformats.org/drawingml/2006/main">
            <a:off x="11227460" y="4654296"/>
            <a:ext cx="146304" cy="146304"/>
          </a:xfrm>
          <a:prstGeom xmlns:a="http://schemas.openxmlformats.org/drawingml/2006/main" prst="rect">
            <a:avLst/>
          </a:prstGeom>
          <a:solidFill xmlns:a="http://schemas.openxmlformats.org/drawingml/2006/main">
            <a:srgbClr val="D03B3B"/>
          </a:solidFill>
        </p:spPr>
      </p:sp>
      <p:sp>
        <p:nvSpPr>
          <p:cNvPr id="73" name="Text 68">
            <a:extLst xmlns:a="http://schemas.openxmlformats.org/drawingml/2006/main">
              <a:ext uri="{FF2B5EF4-FFF2-40B4-BE49-F238E27FC236}">
                <a16:creationId xmlns:a16="http://schemas.microsoft.com/office/drawing/2014/main" id="{D8AB90BB-A09D-4F93-9691-46DA5709C5CC}"/>
              </a:ext>
            </a:extLst>
          </p:cNvPr>
          <p:cNvSpPr>
            <a:spLocks xmlns:a="http://schemas.openxmlformats.org/drawingml/2006/main" noGrp="1"/>
          </p:cNvSpPr>
          <p:nvPr/>
        </p:nvSpPr>
        <p:spPr>
          <a:xfrm xmlns:a="http://schemas.openxmlformats.org/drawingml/2006/main">
            <a:off x="566928" y="4892040"/>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B2730"/>
                </a:solidFill>
              </a:rPr>
              <a:t>60 evaluation cases traced.</a:t>
            </a:r>
            <a:r>
              <a:rPr sz="1150" b="1">
                <a:solidFill>
                  <a:srgbClr val="1B2730"/>
                </a:solidFill>
              </a:rPr>
              <a:t>   </a:t>
            </a:r>
            <a:r>
              <a:rPr sz="1200">
                <a:solidFill>
                  <a:srgbClr val="2A78D6"/>
                </a:solidFill>
              </a:rPr>
              <a:t>■ </a:t>
            </a:r>
            <a:r>
              <a:rPr sz="1150">
                <a:solidFill>
                  <a:srgbClr val="1B2730"/>
                </a:solidFill>
              </a:rPr>
              <a:t>52 proposed a team    </a:t>
            </a:r>
            <a:r>
              <a:rPr sz="1200">
                <a:solidFill>
                  <a:srgbClr val="FAB219"/>
                </a:solidFill>
              </a:rPr>
              <a:t>■ </a:t>
            </a:r>
            <a:r>
              <a:rPr sz="1150">
                <a:solidFill>
                  <a:srgbClr val="1B2730"/>
                </a:solidFill>
              </a:rPr>
              <a:t>4 stopped, not confident enough    </a:t>
            </a:r>
            <a:r>
              <a:rPr sz="1200">
                <a:solidFill>
                  <a:srgbClr val="D03B3B"/>
                </a:solidFill>
              </a:rPr>
              <a:t>■ </a:t>
            </a:r>
            <a:r>
              <a:rPr sz="1150">
                <a:solidFill>
                  <a:srgbClr val="1B2730"/>
                </a:solidFill>
              </a:rPr>
              <a:t>4 stopped, quoted a sentence that was not there</a:t>
            </a:r>
            <a:endParaRPr sz="1150"/>
          </a:p>
        </p:txBody>
      </p:sp>
      <p:sp>
        <p:nvSpPr>
          <p:cNvPr id="74" name="Shape 69">
            <a:extLst xmlns:a="http://schemas.openxmlformats.org/drawingml/2006/main">
              <a:ext uri="{FF2B5EF4-FFF2-40B4-BE49-F238E27FC236}">
                <a16:creationId xmlns:a16="http://schemas.microsoft.com/office/drawing/2014/main" id="{869FF651-F0F6-4DE0-92EB-8216EDFB036F}"/>
              </a:ext>
            </a:extLst>
          </p:cNvPr>
          <p:cNvSpPr>
            <a:spLocks xmlns:a="http://schemas.openxmlformats.org/drawingml/2006/main" noGrp="1"/>
          </p:cNvSpPr>
          <p:nvPr/>
        </p:nvSpPr>
        <p:spPr>
          <a:xfrm xmlns:a="http://schemas.openxmlformats.org/drawingml/2006/main">
            <a:off x="566928" y="5257800"/>
            <a:ext cx="11055096" cy="786384"/>
          </a:xfrm>
          <a:prstGeom xmlns:a="http://schemas.openxmlformats.org/drawingml/2006/main" prst="rect">
            <a:avLst/>
          </a:prstGeom>
          <a:solidFill xmlns:a="http://schemas.openxmlformats.org/drawingml/2006/main">
            <a:srgbClr val="24343F"/>
          </a:solidFill>
        </p:spPr>
      </p:sp>
      <p:sp>
        <p:nvSpPr>
          <p:cNvPr id="75" name="Shape 70">
            <a:extLst xmlns:a="http://schemas.openxmlformats.org/drawingml/2006/main">
              <a:ext uri="{FF2B5EF4-FFF2-40B4-BE49-F238E27FC236}">
                <a16:creationId xmlns:a16="http://schemas.microsoft.com/office/drawing/2014/main" id="{0F74899D-3559-487C-BA5D-92ED7701500F}"/>
              </a:ext>
            </a:extLst>
          </p:cNvPr>
          <p:cNvSpPr>
            <a:spLocks xmlns:a="http://schemas.openxmlformats.org/drawingml/2006/main" noGrp="1"/>
          </p:cNvSpPr>
          <p:nvPr/>
        </p:nvSpPr>
        <p:spPr>
          <a:xfrm xmlns:a="http://schemas.openxmlformats.org/drawingml/2006/main">
            <a:off x="566928" y="5257800"/>
            <a:ext cx="82296" cy="786384"/>
          </a:xfrm>
          <a:prstGeom xmlns:a="http://schemas.openxmlformats.org/drawingml/2006/main" prst="rect">
            <a:avLst/>
          </a:prstGeom>
          <a:solidFill xmlns:a="http://schemas.openxmlformats.org/drawingml/2006/main">
            <a:srgbClr val="2A78D6"/>
          </a:solidFill>
        </p:spPr>
      </p:sp>
      <p:sp>
        <p:nvSpPr>
          <p:cNvPr id="76" name="Text 71">
            <a:extLst xmlns:a="http://schemas.openxmlformats.org/drawingml/2006/main">
              <a:ext uri="{FF2B5EF4-FFF2-40B4-BE49-F238E27FC236}">
                <a16:creationId xmlns:a16="http://schemas.microsoft.com/office/drawing/2014/main" id="{70258F8A-2779-47C7-9B5C-8F2BD7E0C004}"/>
              </a:ext>
            </a:extLst>
          </p:cNvPr>
          <p:cNvSpPr>
            <a:spLocks xmlns:a="http://schemas.openxmlformats.org/drawingml/2006/main" noGrp="1"/>
          </p:cNvSpPr>
          <p:nvPr/>
        </p:nvSpPr>
        <p:spPr>
          <a:xfrm xmlns:a="http://schemas.openxmlformats.org/drawingml/2006/main">
            <a:off x="822960" y="5257800"/>
            <a:ext cx="10597896"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Calibri"/>
                <a:ea typeface="Calibri"/>
                <a:cs typeface="Calibri"/>
              </a:rPr>
              <a:t>Demo, not production. Agreement with consumer-selected CFPB labels is 60.5% — not deployment accuracy. The demo stops for human review; Phase 1 runs in shadow, with no action on suggestions.</a:t>
            </a:r>
            <a:endParaRPr sz="1250"/>
          </a:p>
        </p:txBody>
      </p:sp>
    </p:spTree>
    <p:extLst>
      <p:ext uri="{BB962C8B-B14F-4D97-AF65-F5344CB8AC3E}">
        <p14:creationId xmlns:p14="http://schemas.microsoft.com/office/powerpoint/2010/main" val="20007823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4F6EC30-101E-47FA-A46A-57164DF36453}"/>
              </a:ext>
            </a:extLst>
          </p:cNvPr>
          <p:cNvSpPr>
            <a:spLocks xmlns:a="http://schemas.openxmlformats.org/drawingml/2006/main" noGrp="1"/>
          </p:cNvSpPr>
          <p:nvPr/>
        </p:nvSpPr>
        <p:spPr>
          <a:xfrm xmlns:a="http://schemas.openxmlformats.org/drawingml/2006/main">
            <a:off x="566928" y="310896"/>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B7C88"/>
                </a:solidFill>
                <a:latin typeface="Calibri"/>
                <a:ea typeface="Calibri"/>
                <a:cs typeface="Calibri"/>
              </a:rPr>
              <a:t>CAPSTONE ROUND 1  ·  AI CONSULTING PITCH</a:t>
            </a:r>
            <a:endParaRPr sz="1050"/>
          </a:p>
        </p:txBody>
      </p:sp>
      <p:sp>
        <p:nvSpPr>
          <p:cNvPr id="3" name="Shape 1">
            <a:extLst xmlns:a="http://schemas.openxmlformats.org/drawingml/2006/main">
              <a:ext uri="{FF2B5EF4-FFF2-40B4-BE49-F238E27FC236}">
                <a16:creationId xmlns:a16="http://schemas.microsoft.com/office/drawing/2014/main" id="{1FB9F7AE-D87E-44B3-9CD9-F439DD77DB6B}"/>
              </a:ext>
            </a:extLst>
          </p:cNvPr>
          <p:cNvSpPr>
            <a:spLocks xmlns:a="http://schemas.openxmlformats.org/drawingml/2006/main" noGrp="1"/>
          </p:cNvSpPr>
          <p:nvPr/>
        </p:nvSpPr>
        <p:spPr>
          <a:xfrm xmlns:a="http://schemas.openxmlformats.org/drawingml/2006/main">
            <a:off x="566928" y="658368"/>
            <a:ext cx="566928" cy="566928"/>
          </a:xfrm>
          <a:prstGeom xmlns:a="http://schemas.openxmlformats.org/drawingml/2006/main" prst="ellipse">
            <a:avLst/>
          </a:prstGeom>
          <a:solidFill xmlns:a="http://schemas.openxmlformats.org/drawingml/2006/main">
            <a:srgbClr val="24343F"/>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50a2a327e09c4824"/>
          <a:stretch xmlns:a="http://schemas.openxmlformats.org/drawingml/2006/main">
            <a:fillRect l="0" t="0" r="0" b="0"/>
          </a:stretch>
        </p:blipFill>
        <p:spPr>
          <a:xfrm xmlns:a="http://schemas.openxmlformats.org/drawingml/2006/main">
            <a:off x="708660" y="800100"/>
            <a:ext cx="283464" cy="28346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4306E948-E810-4971-A39C-937D6C58383A}"/>
              </a:ext>
            </a:extLst>
          </p:cNvPr>
          <p:cNvSpPr>
            <a:spLocks xmlns:a="http://schemas.openxmlformats.org/drawingml/2006/main" noGrp="1"/>
          </p:cNvSpPr>
          <p:nvPr/>
        </p:nvSpPr>
        <p:spPr>
          <a:xfrm xmlns:a="http://schemas.openxmlformats.org/drawingml/2006/main">
            <a:off x="1316736" y="621792"/>
            <a:ext cx="1030528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343F"/>
                </a:solidFill>
                <a:latin typeface="Trebuchet MS"/>
                <a:ea typeface="Trebuchet MS"/>
                <a:cs typeface="Trebuchet MS"/>
              </a:rPr>
              <a:t>€14,000 to decide, not €24,500 to deploy</a:t>
            </a:r>
            <a:endParaRPr sz="3000"/>
          </a:p>
        </p:txBody>
      </p:sp>
      <p:sp>
        <p:nvSpPr>
          <p:cNvPr id="6" name="Shape 3">
            <a:extLst xmlns:a="http://schemas.openxmlformats.org/drawingml/2006/main">
              <a:ext uri="{FF2B5EF4-FFF2-40B4-BE49-F238E27FC236}">
                <a16:creationId xmlns:a16="http://schemas.microsoft.com/office/drawing/2014/main" id="{65015E29-8689-4D71-9594-DA08FFB7E66E}"/>
              </a:ext>
            </a:extLst>
          </p:cNvPr>
          <p:cNvSpPr>
            <a:spLocks xmlns:a="http://schemas.openxmlformats.org/drawingml/2006/main" noGrp="1"/>
          </p:cNvSpPr>
          <p:nvPr/>
        </p:nvSpPr>
        <p:spPr>
          <a:xfrm xmlns:a="http://schemas.openxmlformats.org/drawingml/2006/main">
            <a:off x="566928" y="6437376"/>
            <a:ext cx="11055096" cy="0"/>
          </a:xfrm>
          <a:prstGeom xmlns:a="http://schemas.openxmlformats.org/drawingml/2006/main" prst="line">
            <a:avLst/>
          </a:prstGeom>
          <a:noFill xmlns:a="http://schemas.openxmlformats.org/drawingml/2006/main"/>
          <a:ln xmlns:a="http://schemas.openxmlformats.org/drawingml/2006/main" w="12700">
            <a:solidFill>
              <a:srgbClr val="D9E3EA"/>
            </a:solidFill>
            <a:prstDash val="solid"/>
          </a:ln>
        </p:spPr>
      </p:sp>
      <p:sp>
        <p:nvSpPr>
          <p:cNvPr id="7" name="Text 4">
            <a:extLst xmlns:a="http://schemas.openxmlformats.org/drawingml/2006/main">
              <a:ext uri="{FF2B5EF4-FFF2-40B4-BE49-F238E27FC236}">
                <a16:creationId xmlns:a16="http://schemas.microsoft.com/office/drawing/2014/main" id="{3719A270-963C-4D59-B2A9-FE8E8005BC40}"/>
              </a:ext>
            </a:extLst>
          </p:cNvPr>
          <p:cNvSpPr>
            <a:spLocks xmlns:a="http://schemas.openxmlformats.org/drawingml/2006/main" noGrp="1"/>
          </p:cNvSpPr>
          <p:nvPr/>
        </p:nvSpPr>
        <p:spPr>
          <a:xfrm xmlns:a="http://schemas.openxmlformats.org/drawingml/2006/main">
            <a:off x="566928" y="64739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850"/>
          </a:p>
        </p:txBody>
      </p:sp>
      <p:sp>
        <p:nvSpPr>
          <p:cNvPr id="8" name="Text 5">
            <a:extLst xmlns:a="http://schemas.openxmlformats.org/drawingml/2006/main">
              <a:ext uri="{FF2B5EF4-FFF2-40B4-BE49-F238E27FC236}">
                <a16:creationId xmlns:a16="http://schemas.microsoft.com/office/drawing/2014/main" id="{9D94E496-3555-441D-B086-BC366EDB841E}"/>
              </a:ext>
            </a:extLst>
          </p:cNvPr>
          <p:cNvSpPr>
            <a:spLocks xmlns:a="http://schemas.openxmlformats.org/drawingml/2006/main" noGrp="1"/>
          </p:cNvSpPr>
          <p:nvPr/>
        </p:nvSpPr>
        <p:spPr>
          <a:xfrm xmlns:a="http://schemas.openxmlformats.org/drawingml/2006/main">
            <a:off x="10524744" y="647395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B7C88"/>
                </a:solidFill>
                <a:latin typeface="Calibri"/>
                <a:ea typeface="Calibri"/>
                <a:cs typeface="Calibri"/>
              </a:rPr>
              <a:t>4</a:t>
            </a:r>
            <a:endParaRPr sz="850"/>
          </a:p>
        </p:txBody>
      </p:sp>
      <p:sp>
        <p:nvSpPr>
          <p:cNvPr id="9" name="Shape 6">
            <a:extLst xmlns:a="http://schemas.openxmlformats.org/drawingml/2006/main">
              <a:ext uri="{FF2B5EF4-FFF2-40B4-BE49-F238E27FC236}">
                <a16:creationId xmlns:a16="http://schemas.microsoft.com/office/drawing/2014/main" id="{60F47026-7EC9-46BA-99F2-5E8956D0757C}"/>
              </a:ext>
            </a:extLst>
          </p:cNvPr>
          <p:cNvSpPr>
            <a:spLocks xmlns:a="http://schemas.openxmlformats.org/drawingml/2006/main" noGrp="1"/>
          </p:cNvSpPr>
          <p:nvPr/>
        </p:nvSpPr>
        <p:spPr>
          <a:xfrm xmlns:a="http://schemas.openxmlformats.org/drawingml/2006/main">
            <a:off x="566928" y="1481328"/>
            <a:ext cx="8366019" cy="384048"/>
          </a:xfrm>
          <a:prstGeom xmlns:a="http://schemas.openxmlformats.org/drawingml/2006/main" prst="rect">
            <a:avLst/>
          </a:prstGeom>
          <a:solidFill xmlns:a="http://schemas.openxmlformats.org/drawingml/2006/main">
            <a:srgbClr val="24343F"/>
          </a:solidFill>
        </p:spPr>
      </p:sp>
      <p:sp>
        <p:nvSpPr>
          <p:cNvPr id="10" name="Shape 7">
            <a:extLst xmlns:a="http://schemas.openxmlformats.org/drawingml/2006/main">
              <a:ext uri="{FF2B5EF4-FFF2-40B4-BE49-F238E27FC236}">
                <a16:creationId xmlns:a16="http://schemas.microsoft.com/office/drawing/2014/main" id="{E685F88B-E64B-4F55-B0E3-B3170A56606E}"/>
              </a:ext>
            </a:extLst>
          </p:cNvPr>
          <p:cNvSpPr>
            <a:spLocks xmlns:a="http://schemas.openxmlformats.org/drawingml/2006/main" noGrp="1"/>
          </p:cNvSpPr>
          <p:nvPr/>
        </p:nvSpPr>
        <p:spPr>
          <a:xfrm xmlns:a="http://schemas.openxmlformats.org/drawingml/2006/main">
            <a:off x="8951235" y="1481328"/>
            <a:ext cx="2670789" cy="384048"/>
          </a:xfrm>
          <a:prstGeom xmlns:a="http://schemas.openxmlformats.org/drawingml/2006/main" prst="rect">
            <a:avLst/>
          </a:prstGeom>
          <a:solidFill xmlns:a="http://schemas.openxmlformats.org/drawingml/2006/main">
            <a:srgbClr val="445A69"/>
          </a:solidFill>
        </p:spPr>
      </p:sp>
      <p:sp>
        <p:nvSpPr>
          <p:cNvPr id="11" name="Shape 8">
            <a:extLst xmlns:a="http://schemas.openxmlformats.org/drawingml/2006/main">
              <a:ext uri="{FF2B5EF4-FFF2-40B4-BE49-F238E27FC236}">
                <a16:creationId xmlns:a16="http://schemas.microsoft.com/office/drawing/2014/main" id="{50C3C242-2765-4455-8EFE-2109BB94ADEC}"/>
              </a:ext>
            </a:extLst>
          </p:cNvPr>
          <p:cNvSpPr>
            <a:spLocks xmlns:a="http://schemas.openxmlformats.org/drawingml/2006/main" noGrp="1"/>
          </p:cNvSpPr>
          <p:nvPr/>
        </p:nvSpPr>
        <p:spPr>
          <a:xfrm xmlns:a="http://schemas.openxmlformats.org/drawingml/2006/main">
            <a:off x="11585448" y="1481328"/>
            <a:ext cx="36576" cy="384048"/>
          </a:xfrm>
          <a:prstGeom xmlns:a="http://schemas.openxmlformats.org/drawingml/2006/main" prst="rect">
            <a:avLst/>
          </a:prstGeom>
          <a:solidFill xmlns:a="http://schemas.openxmlformats.org/drawingml/2006/main">
            <a:srgbClr val="2A78D6"/>
          </a:solidFill>
        </p:spPr>
      </p:sp>
      <p:sp>
        <p:nvSpPr>
          <p:cNvPr id="12" name="Text 9">
            <a:extLst xmlns:a="http://schemas.openxmlformats.org/drawingml/2006/main">
              <a:ext uri="{FF2B5EF4-FFF2-40B4-BE49-F238E27FC236}">
                <a16:creationId xmlns:a16="http://schemas.microsoft.com/office/drawing/2014/main" id="{8459EB48-9F6C-4FD0-8758-3BBD994E446F}"/>
              </a:ext>
            </a:extLst>
          </p:cNvPr>
          <p:cNvSpPr>
            <a:spLocks xmlns:a="http://schemas.openxmlformats.org/drawingml/2006/main" noGrp="1"/>
          </p:cNvSpPr>
          <p:nvPr/>
        </p:nvSpPr>
        <p:spPr>
          <a:xfrm xmlns:a="http://schemas.openxmlformats.org/drawingml/2006/main">
            <a:off x="694944" y="1481328"/>
            <a:ext cx="8091699"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Consultant oversight: 8 days/year × €700 — €5,600</a:t>
            </a:r>
            <a:endParaRPr sz="1200"/>
          </a:p>
        </p:txBody>
      </p:sp>
      <p:sp>
        <p:nvSpPr>
          <p:cNvPr id="13" name="Text 10">
            <a:extLst xmlns:a="http://schemas.openxmlformats.org/drawingml/2006/main">
              <a:ext uri="{FF2B5EF4-FFF2-40B4-BE49-F238E27FC236}">
                <a16:creationId xmlns:a16="http://schemas.microsoft.com/office/drawing/2014/main" id="{D6C416C7-5DB8-4592-A6A1-FE4D32812CF8}"/>
              </a:ext>
            </a:extLst>
          </p:cNvPr>
          <p:cNvSpPr>
            <a:spLocks xmlns:a="http://schemas.openxmlformats.org/drawingml/2006/main" noGrp="1"/>
          </p:cNvSpPr>
          <p:nvPr/>
        </p:nvSpPr>
        <p:spPr>
          <a:xfrm xmlns:a="http://schemas.openxmlformats.org/drawingml/2006/main">
            <a:off x="9060963" y="1481328"/>
            <a:ext cx="2414757"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FFFFFF"/>
                </a:solidFill>
                <a:latin typeface="Calibri"/>
                <a:ea typeface="Calibri"/>
                <a:cs typeface="Calibri"/>
              </a:rPr>
              <a:t>Platform: €150/mo × 12 — €1,800</a:t>
            </a:r>
            <a:endParaRPr sz="1150"/>
          </a:p>
        </p:txBody>
      </p:sp>
      <p:sp>
        <p:nvSpPr>
          <p:cNvPr id="14" name="Text 11">
            <a:extLst xmlns:a="http://schemas.openxmlformats.org/drawingml/2006/main">
              <a:ext uri="{FF2B5EF4-FFF2-40B4-BE49-F238E27FC236}">
                <a16:creationId xmlns:a16="http://schemas.microsoft.com/office/drawing/2014/main" id="{F0A67452-783C-4FF6-B450-7FB6CDE842ED}"/>
              </a:ext>
            </a:extLst>
          </p:cNvPr>
          <p:cNvSpPr>
            <a:spLocks xmlns:a="http://schemas.openxmlformats.org/drawingml/2006/main" noGrp="1"/>
          </p:cNvSpPr>
          <p:nvPr/>
        </p:nvSpPr>
        <p:spPr>
          <a:xfrm xmlns:a="http://schemas.openxmlformats.org/drawingml/2006/main">
            <a:off x="566928" y="1911096"/>
            <a:ext cx="831189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B7C88"/>
                </a:solidFill>
                <a:latin typeface="Calibri"/>
                <a:ea typeface="Calibri"/>
                <a:cs typeface="Calibri"/>
              </a:rPr>
              <a:t>Estimated annual operating cost: €7,400</a:t>
            </a:r>
            <a:endParaRPr sz="1100"/>
          </a:p>
        </p:txBody>
      </p:sp>
      <p:sp>
        <p:nvSpPr>
          <p:cNvPr id="15" name="Text 12">
            <a:extLst xmlns:a="http://schemas.openxmlformats.org/drawingml/2006/main">
              <a:ext uri="{FF2B5EF4-FFF2-40B4-BE49-F238E27FC236}">
                <a16:creationId xmlns:a16="http://schemas.microsoft.com/office/drawing/2014/main" id="{606BC34A-E1DB-4A56-B847-325406B03E3D}"/>
              </a:ext>
            </a:extLst>
          </p:cNvPr>
          <p:cNvSpPr>
            <a:spLocks xmlns:a="http://schemas.openxmlformats.org/drawingml/2006/main" noGrp="1"/>
          </p:cNvSpPr>
          <p:nvPr/>
        </p:nvSpPr>
        <p:spPr>
          <a:xfrm xmlns:a="http://schemas.openxmlformats.org/drawingml/2006/main">
            <a:off x="8878824" y="1911096"/>
            <a:ext cx="2743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2A78D6"/>
                </a:solidFill>
                <a:latin typeface="Calibri"/>
                <a:ea typeface="Calibri"/>
                <a:cs typeface="Calibri"/>
              </a:rPr>
              <a:t>▲ Estimated model calls — €0.29/year</a:t>
            </a:r>
            <a:endParaRPr sz="1100"/>
          </a:p>
        </p:txBody>
      </p:sp>
      <p:sp>
        <p:nvSpPr>
          <p:cNvPr id="16" name="Shape 13">
            <a:extLst xmlns:a="http://schemas.openxmlformats.org/drawingml/2006/main">
              <a:ext uri="{FF2B5EF4-FFF2-40B4-BE49-F238E27FC236}">
                <a16:creationId xmlns:a16="http://schemas.microsoft.com/office/drawing/2014/main" id="{0FD0DE44-C518-4F5B-8C89-226237237606}"/>
              </a:ext>
            </a:extLst>
          </p:cNvPr>
          <p:cNvSpPr>
            <a:spLocks xmlns:a="http://schemas.openxmlformats.org/drawingml/2006/main" noGrp="1"/>
          </p:cNvSpPr>
          <p:nvPr/>
        </p:nvSpPr>
        <p:spPr>
          <a:xfrm xmlns:a="http://schemas.openxmlformats.org/drawingml/2006/main">
            <a:off x="2348484" y="2706624"/>
            <a:ext cx="7491984" cy="0"/>
          </a:xfrm>
          <a:prstGeom xmlns:a="http://schemas.openxmlformats.org/drawingml/2006/main" prst="line">
            <a:avLst/>
          </a:prstGeom>
          <a:noFill xmlns:a="http://schemas.openxmlformats.org/drawingml/2006/main"/>
          <a:ln xmlns:a="http://schemas.openxmlformats.org/drawingml/2006/main" w="25400">
            <a:solidFill>
              <a:srgbClr val="C6D8E4"/>
            </a:solidFill>
            <a:prstDash val="solid"/>
          </a:ln>
        </p:spPr>
      </p:sp>
      <p:sp>
        <p:nvSpPr>
          <p:cNvPr id="17" name="Shape 14">
            <a:extLst xmlns:a="http://schemas.openxmlformats.org/drawingml/2006/main">
              <a:ext uri="{FF2B5EF4-FFF2-40B4-BE49-F238E27FC236}">
                <a16:creationId xmlns:a16="http://schemas.microsoft.com/office/drawing/2014/main" id="{12022737-A19C-4289-B261-EC2CA9B03BEC}"/>
              </a:ext>
            </a:extLst>
          </p:cNvPr>
          <p:cNvSpPr>
            <a:spLocks xmlns:a="http://schemas.openxmlformats.org/drawingml/2006/main" noGrp="1"/>
          </p:cNvSpPr>
          <p:nvPr/>
        </p:nvSpPr>
        <p:spPr>
          <a:xfrm xmlns:a="http://schemas.openxmlformats.org/drawingml/2006/main">
            <a:off x="1964436" y="2322576"/>
            <a:ext cx="768096" cy="768096"/>
          </a:xfrm>
          <a:prstGeom xmlns:a="http://schemas.openxmlformats.org/drawingml/2006/main" prst="ellipse">
            <a:avLst/>
          </a:prstGeom>
          <a:solidFill xmlns:a="http://schemas.openxmlformats.org/drawingml/2006/main">
            <a:srgbClr val="2A78D6"/>
          </a:solidFill>
          <a:ln xmlns:a="http://schemas.openxmlformats.org/drawingml/2006/main" w="31750">
            <a:solidFill>
              <a:srgbClr val="FFFFFF"/>
            </a:solidFill>
            <a:prstDash val="solid"/>
          </a:ln>
        </p:spPr>
      </p:sp>
      <p:sp>
        <p:nvSpPr>
          <p:cNvPr id="18" name="Text 15">
            <a:extLst xmlns:a="http://schemas.openxmlformats.org/drawingml/2006/main">
              <a:ext uri="{FF2B5EF4-FFF2-40B4-BE49-F238E27FC236}">
                <a16:creationId xmlns:a16="http://schemas.microsoft.com/office/drawing/2014/main" id="{C29F8128-F997-4DED-BBBE-435C557B342A}"/>
              </a:ext>
            </a:extLst>
          </p:cNvPr>
          <p:cNvSpPr>
            <a:spLocks xmlns:a="http://schemas.openxmlformats.org/drawingml/2006/main" noGrp="1"/>
          </p:cNvSpPr>
          <p:nvPr/>
        </p:nvSpPr>
        <p:spPr>
          <a:xfrm xmlns:a="http://schemas.openxmlformats.org/drawingml/2006/main">
            <a:off x="1964436" y="2322576"/>
            <a:ext cx="768096" cy="7680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D2A32"/>
                </a:solidFill>
                <a:latin typeface="Trebuchet MS"/>
                <a:ea typeface="Trebuchet MS"/>
                <a:cs typeface="Trebuchet MS"/>
              </a:rPr>
              <a:t>0</a:t>
            </a:r>
            <a:endParaRPr sz="2200"/>
          </a:p>
        </p:txBody>
      </p:sp>
      <p:sp>
        <p:nvSpPr>
          <p:cNvPr id="19" name="Shape 16">
            <a:extLst xmlns:a="http://schemas.openxmlformats.org/drawingml/2006/main">
              <a:ext uri="{FF2B5EF4-FFF2-40B4-BE49-F238E27FC236}">
                <a16:creationId xmlns:a16="http://schemas.microsoft.com/office/drawing/2014/main" id="{8BF017AC-A1BD-427B-A765-E5BCE66359AC}"/>
              </a:ext>
            </a:extLst>
          </p:cNvPr>
          <p:cNvSpPr>
            <a:spLocks xmlns:a="http://schemas.openxmlformats.org/drawingml/2006/main" noGrp="1"/>
          </p:cNvSpPr>
          <p:nvPr/>
        </p:nvSpPr>
        <p:spPr>
          <a:xfrm xmlns:a="http://schemas.openxmlformats.org/drawingml/2006/main">
            <a:off x="566928" y="3282696"/>
            <a:ext cx="3563112" cy="1143000"/>
          </a:xfrm>
          <a:prstGeom xmlns:a="http://schemas.openxmlformats.org/drawingml/2006/main" prst="rect">
            <a:avLst/>
          </a:prstGeom>
          <a:solidFill xmlns:a="http://schemas.openxmlformats.org/drawingml/2006/main">
            <a:srgbClr val="FFFFFF"/>
          </a:solidFill>
          <a:ln xmlns:a="http://schemas.openxmlformats.org/drawingml/2006/main" w="12700">
            <a:solidFill>
              <a:srgbClr val="D9E3EA"/>
            </a:solidFill>
            <a:prstDash val="solid"/>
          </a:ln>
          <a:effectLst xmlns:a="http://schemas.openxmlformats.org/drawingml/2006/main">
            <a:outerShdw blurRad="88900" dist="38100" dir="8100000" sx="100000" sy="100000" kx="0" ky="0" algn="bl" rotWithShape="0">
              <a:srgbClr val="1C2440">
                <a:alpha val="13000"/>
              </a:srgbClr>
            </a:outerShdw>
          </a:effectLst>
        </p:spPr>
      </p:sp>
      <p:sp>
        <p:nvSpPr>
          <p:cNvPr id="20" name="Text 17">
            <a:extLst xmlns:a="http://schemas.openxmlformats.org/drawingml/2006/main">
              <a:ext uri="{FF2B5EF4-FFF2-40B4-BE49-F238E27FC236}">
                <a16:creationId xmlns:a16="http://schemas.microsoft.com/office/drawing/2014/main" id="{EA145BB3-D7D4-4AEC-87FA-AF2596017136}"/>
              </a:ext>
            </a:extLst>
          </p:cNvPr>
          <p:cNvSpPr>
            <a:spLocks xmlns:a="http://schemas.openxmlformats.org/drawingml/2006/main" noGrp="1"/>
          </p:cNvSpPr>
          <p:nvPr/>
        </p:nvSpPr>
        <p:spPr>
          <a:xfrm xmlns:a="http://schemas.openxmlformats.org/drawingml/2006/main">
            <a:off x="658368" y="3392424"/>
            <a:ext cx="338023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a:solidFill>
                  <a:srgbClr val="24343F"/>
                </a:solidFill>
                <a:latin typeface="Trebuchet MS"/>
                <a:ea typeface="Trebuchet MS"/>
                <a:cs typeface="Trebuchet MS"/>
              </a:rPr>
              <a:t>Discovery + labelling — €5,600</a:t>
            </a:r>
            <a:endParaRPr sz="1250"/>
          </a:p>
        </p:txBody>
      </p:sp>
      <p:sp>
        <p:nvSpPr>
          <p:cNvPr id="21" name="Text 18">
            <a:extLst xmlns:a="http://schemas.openxmlformats.org/drawingml/2006/main">
              <a:ext uri="{FF2B5EF4-FFF2-40B4-BE49-F238E27FC236}">
                <a16:creationId xmlns:a16="http://schemas.microsoft.com/office/drawing/2014/main" id="{86F1E770-C12B-4487-A584-026A2F1AF330}"/>
              </a:ext>
            </a:extLst>
          </p:cNvPr>
          <p:cNvSpPr>
            <a:spLocks xmlns:a="http://schemas.openxmlformats.org/drawingml/2006/main" noGrp="1"/>
          </p:cNvSpPr>
          <p:nvPr/>
        </p:nvSpPr>
        <p:spPr>
          <a:xfrm xmlns:a="http://schemas.openxmlformats.org/drawingml/2006/main">
            <a:off x="676656" y="3886200"/>
            <a:ext cx="3343656"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80">
                <a:solidFill>
                  <a:srgbClr val="1B2730"/>
                </a:solidFill>
                <a:latin typeface="Calibri"/>
                <a:ea typeface="Calibri"/>
                <a:cs typeface="Calibri"/>
              </a:rPr>
              <a:t>2 weeks elapsed · 8 consulting days × €700. 2 of your handlers label 300 complaints; their time is excluded.</a:t>
            </a:r>
            <a:endParaRPr sz="980"/>
          </a:p>
        </p:txBody>
      </p:sp>
      <p:sp>
        <p:nvSpPr>
          <p:cNvPr id="22" name="Shape 19">
            <a:extLst xmlns:a="http://schemas.openxmlformats.org/drawingml/2006/main">
              <a:ext uri="{FF2B5EF4-FFF2-40B4-BE49-F238E27FC236}">
                <a16:creationId xmlns:a16="http://schemas.microsoft.com/office/drawing/2014/main" id="{16B47120-2190-47F8-A104-0117C32B9298}"/>
              </a:ext>
            </a:extLst>
          </p:cNvPr>
          <p:cNvSpPr>
            <a:spLocks xmlns:a="http://schemas.openxmlformats.org/drawingml/2006/main" noGrp="1"/>
          </p:cNvSpPr>
          <p:nvPr/>
        </p:nvSpPr>
        <p:spPr>
          <a:xfrm xmlns:a="http://schemas.openxmlformats.org/drawingml/2006/main">
            <a:off x="5710428" y="2322576"/>
            <a:ext cx="768096" cy="768096"/>
          </a:xfrm>
          <a:prstGeom xmlns:a="http://schemas.openxmlformats.org/drawingml/2006/main" prst="ellipse">
            <a:avLst/>
          </a:prstGeom>
          <a:solidFill xmlns:a="http://schemas.openxmlformats.org/drawingml/2006/main">
            <a:srgbClr val="24343F"/>
          </a:solidFill>
          <a:ln xmlns:a="http://schemas.openxmlformats.org/drawingml/2006/main" w="31750">
            <a:solidFill>
              <a:srgbClr val="FFFFFF"/>
            </a:solidFill>
            <a:prstDash val="solid"/>
          </a:ln>
        </p:spPr>
      </p:sp>
      <p:sp>
        <p:nvSpPr>
          <p:cNvPr id="23" name="Text 20">
            <a:extLst xmlns:a="http://schemas.openxmlformats.org/drawingml/2006/main">
              <a:ext uri="{FF2B5EF4-FFF2-40B4-BE49-F238E27FC236}">
                <a16:creationId xmlns:a16="http://schemas.microsoft.com/office/drawing/2014/main" id="{D9F928DB-DC03-4741-A785-B7839D46875C}"/>
              </a:ext>
            </a:extLst>
          </p:cNvPr>
          <p:cNvSpPr>
            <a:spLocks xmlns:a="http://schemas.openxmlformats.org/drawingml/2006/main" noGrp="1"/>
          </p:cNvSpPr>
          <p:nvPr/>
        </p:nvSpPr>
        <p:spPr>
          <a:xfrm xmlns:a="http://schemas.openxmlformats.org/drawingml/2006/main">
            <a:off x="5710428" y="2322576"/>
            <a:ext cx="768096" cy="7680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Trebuchet MS"/>
                <a:ea typeface="Trebuchet MS"/>
                <a:cs typeface="Trebuchet MS"/>
              </a:rPr>
              <a:t>1</a:t>
            </a:r>
            <a:endParaRPr sz="2200"/>
          </a:p>
        </p:txBody>
      </p:sp>
      <p:sp>
        <p:nvSpPr>
          <p:cNvPr id="24" name="Shape 21">
            <a:extLst xmlns:a="http://schemas.openxmlformats.org/drawingml/2006/main">
              <a:ext uri="{FF2B5EF4-FFF2-40B4-BE49-F238E27FC236}">
                <a16:creationId xmlns:a16="http://schemas.microsoft.com/office/drawing/2014/main" id="{548D5236-3B93-4279-82E8-742805121966}"/>
              </a:ext>
            </a:extLst>
          </p:cNvPr>
          <p:cNvSpPr>
            <a:spLocks xmlns:a="http://schemas.openxmlformats.org/drawingml/2006/main" noGrp="1"/>
          </p:cNvSpPr>
          <p:nvPr/>
        </p:nvSpPr>
        <p:spPr>
          <a:xfrm xmlns:a="http://schemas.openxmlformats.org/drawingml/2006/main">
            <a:off x="4312920" y="3282696"/>
            <a:ext cx="3563112" cy="1143000"/>
          </a:xfrm>
          <a:prstGeom xmlns:a="http://schemas.openxmlformats.org/drawingml/2006/main" prst="rect">
            <a:avLst/>
          </a:prstGeom>
          <a:solidFill xmlns:a="http://schemas.openxmlformats.org/drawingml/2006/main">
            <a:srgbClr val="FFFFFF"/>
          </a:solidFill>
          <a:ln xmlns:a="http://schemas.openxmlformats.org/drawingml/2006/main" w="12700">
            <a:solidFill>
              <a:srgbClr val="D9E3EA"/>
            </a:solidFill>
            <a:prstDash val="solid"/>
          </a:ln>
          <a:effectLst xmlns:a="http://schemas.openxmlformats.org/drawingml/2006/main">
            <a:outerShdw blurRad="88900" dist="38100" dir="8100000" sx="100000" sy="100000" kx="0" ky="0" algn="bl" rotWithShape="0">
              <a:srgbClr val="1C2440">
                <a:alpha val="13000"/>
              </a:srgbClr>
            </a:outerShdw>
          </a:effectLst>
        </p:spPr>
      </p:sp>
      <p:sp>
        <p:nvSpPr>
          <p:cNvPr id="25" name="Text 22">
            <a:extLst xmlns:a="http://schemas.openxmlformats.org/drawingml/2006/main">
              <a:ext uri="{FF2B5EF4-FFF2-40B4-BE49-F238E27FC236}">
                <a16:creationId xmlns:a16="http://schemas.microsoft.com/office/drawing/2014/main" id="{43286AD2-5856-4D4F-B01E-06B2BA8C3487}"/>
              </a:ext>
            </a:extLst>
          </p:cNvPr>
          <p:cNvSpPr>
            <a:spLocks xmlns:a="http://schemas.openxmlformats.org/drawingml/2006/main" noGrp="1"/>
          </p:cNvSpPr>
          <p:nvPr/>
        </p:nvSpPr>
        <p:spPr>
          <a:xfrm xmlns:a="http://schemas.openxmlformats.org/drawingml/2006/main">
            <a:off x="4404360" y="3392424"/>
            <a:ext cx="338023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a:solidFill>
                  <a:srgbClr val="24343F"/>
                </a:solidFill>
                <a:latin typeface="Trebuchet MS"/>
                <a:ea typeface="Trebuchet MS"/>
                <a:cs typeface="Trebuchet MS"/>
              </a:rPr>
              <a:t>Pilot, 60-day shadow run — €8,400</a:t>
            </a:r>
            <a:endParaRPr sz="1250"/>
          </a:p>
        </p:txBody>
      </p:sp>
      <p:sp>
        <p:nvSpPr>
          <p:cNvPr id="26" name="Text 23">
            <a:extLst xmlns:a="http://schemas.openxmlformats.org/drawingml/2006/main">
              <a:ext uri="{FF2B5EF4-FFF2-40B4-BE49-F238E27FC236}">
                <a16:creationId xmlns:a16="http://schemas.microsoft.com/office/drawing/2014/main" id="{5B90008F-7F9C-421E-A05C-C57CABCA1448}"/>
              </a:ext>
            </a:extLst>
          </p:cNvPr>
          <p:cNvSpPr>
            <a:spLocks xmlns:a="http://schemas.openxmlformats.org/drawingml/2006/main" noGrp="1"/>
          </p:cNvSpPr>
          <p:nvPr/>
        </p:nvSpPr>
        <p:spPr>
          <a:xfrm xmlns:a="http://schemas.openxmlformats.org/drawingml/2006/main">
            <a:off x="4422648" y="3886200"/>
            <a:ext cx="3343656"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80">
                <a:solidFill>
                  <a:srgbClr val="1B2730"/>
                </a:solidFill>
                <a:latin typeface="Calibri"/>
                <a:ea typeface="Calibri"/>
                <a:cs typeface="Calibri"/>
              </a:rPr>
              <a:t>11 weeks elapsed · 12 consulting days × €700. The system proposes; handlers do not act; results use the Phase 0 labels.</a:t>
            </a:r>
            <a:endParaRPr sz="980"/>
          </a:p>
        </p:txBody>
      </p:sp>
      <p:sp>
        <p:nvSpPr>
          <p:cNvPr id="27" name="Shape 24">
            <a:extLst xmlns:a="http://schemas.openxmlformats.org/drawingml/2006/main">
              <a:ext uri="{FF2B5EF4-FFF2-40B4-BE49-F238E27FC236}">
                <a16:creationId xmlns:a16="http://schemas.microsoft.com/office/drawing/2014/main" id="{80F3F7B1-83B0-4F0A-A66F-7161369B0D1B}"/>
              </a:ext>
            </a:extLst>
          </p:cNvPr>
          <p:cNvSpPr>
            <a:spLocks xmlns:a="http://schemas.openxmlformats.org/drawingml/2006/main" noGrp="1"/>
          </p:cNvSpPr>
          <p:nvPr/>
        </p:nvSpPr>
        <p:spPr>
          <a:xfrm xmlns:a="http://schemas.openxmlformats.org/drawingml/2006/main">
            <a:off x="9456420" y="2322576"/>
            <a:ext cx="768096" cy="768096"/>
          </a:xfrm>
          <a:prstGeom xmlns:a="http://schemas.openxmlformats.org/drawingml/2006/main" prst="ellipse">
            <a:avLst/>
          </a:prstGeom>
          <a:solidFill xmlns:a="http://schemas.openxmlformats.org/drawingml/2006/main">
            <a:srgbClr val="24343F"/>
          </a:solidFill>
          <a:ln xmlns:a="http://schemas.openxmlformats.org/drawingml/2006/main" w="31750">
            <a:solidFill>
              <a:srgbClr val="FFFFFF"/>
            </a:solidFill>
            <a:prstDash val="solid"/>
          </a:ln>
        </p:spPr>
      </p:sp>
      <p:sp>
        <p:nvSpPr>
          <p:cNvPr id="28" name="Text 25">
            <a:extLst xmlns:a="http://schemas.openxmlformats.org/drawingml/2006/main">
              <a:ext uri="{FF2B5EF4-FFF2-40B4-BE49-F238E27FC236}">
                <a16:creationId xmlns:a16="http://schemas.microsoft.com/office/drawing/2014/main" id="{0A52C065-146D-46AC-8FDA-695FDB41C646}"/>
              </a:ext>
            </a:extLst>
          </p:cNvPr>
          <p:cNvSpPr>
            <a:spLocks xmlns:a="http://schemas.openxmlformats.org/drawingml/2006/main" noGrp="1"/>
          </p:cNvSpPr>
          <p:nvPr/>
        </p:nvSpPr>
        <p:spPr>
          <a:xfrm xmlns:a="http://schemas.openxmlformats.org/drawingml/2006/main">
            <a:off x="9456420" y="2322576"/>
            <a:ext cx="768096" cy="7680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Trebuchet MS"/>
                <a:ea typeface="Trebuchet MS"/>
                <a:cs typeface="Trebuchet MS"/>
              </a:rPr>
              <a:t>2</a:t>
            </a:r>
            <a:endParaRPr sz="2200"/>
          </a:p>
        </p:txBody>
      </p:sp>
      <p:sp>
        <p:nvSpPr>
          <p:cNvPr id="29" name="Shape 26">
            <a:extLst xmlns:a="http://schemas.openxmlformats.org/drawingml/2006/main">
              <a:ext uri="{FF2B5EF4-FFF2-40B4-BE49-F238E27FC236}">
                <a16:creationId xmlns:a16="http://schemas.microsoft.com/office/drawing/2014/main" id="{E16ED97C-CE91-4A9D-9F7C-CC09FA1FE67A}"/>
              </a:ext>
            </a:extLst>
          </p:cNvPr>
          <p:cNvSpPr>
            <a:spLocks xmlns:a="http://schemas.openxmlformats.org/drawingml/2006/main" noGrp="1"/>
          </p:cNvSpPr>
          <p:nvPr/>
        </p:nvSpPr>
        <p:spPr>
          <a:xfrm xmlns:a="http://schemas.openxmlformats.org/drawingml/2006/main">
            <a:off x="8058912" y="3282696"/>
            <a:ext cx="3563112" cy="1143000"/>
          </a:xfrm>
          <a:prstGeom xmlns:a="http://schemas.openxmlformats.org/drawingml/2006/main" prst="rect">
            <a:avLst/>
          </a:prstGeom>
          <a:solidFill xmlns:a="http://schemas.openxmlformats.org/drawingml/2006/main">
            <a:srgbClr val="FFFFFF"/>
          </a:solidFill>
          <a:ln xmlns:a="http://schemas.openxmlformats.org/drawingml/2006/main" w="12700">
            <a:solidFill>
              <a:srgbClr val="D9E3EA"/>
            </a:solidFill>
            <a:prstDash val="solid"/>
          </a:ln>
          <a:effectLst xmlns:a="http://schemas.openxmlformats.org/drawingml/2006/main">
            <a:outerShdw blurRad="88900" dist="38100" dir="8100000" sx="100000" sy="100000" kx="0" ky="0" algn="bl" rotWithShape="0">
              <a:srgbClr val="1C2440">
                <a:alpha val="13000"/>
              </a:srgbClr>
            </a:outerShdw>
          </a:effectLst>
        </p:spPr>
      </p:sp>
      <p:sp>
        <p:nvSpPr>
          <p:cNvPr id="30" name="Text 27">
            <a:extLst xmlns:a="http://schemas.openxmlformats.org/drawingml/2006/main">
              <a:ext uri="{FF2B5EF4-FFF2-40B4-BE49-F238E27FC236}">
                <a16:creationId xmlns:a16="http://schemas.microsoft.com/office/drawing/2014/main" id="{79A95893-7611-462B-B5A0-3964A771BF0D}"/>
              </a:ext>
            </a:extLst>
          </p:cNvPr>
          <p:cNvSpPr>
            <a:spLocks xmlns:a="http://schemas.openxmlformats.org/drawingml/2006/main" noGrp="1"/>
          </p:cNvSpPr>
          <p:nvPr/>
        </p:nvSpPr>
        <p:spPr>
          <a:xfrm xmlns:a="http://schemas.openxmlformats.org/drawingml/2006/main">
            <a:off x="8150352" y="3392424"/>
            <a:ext cx="338023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a:solidFill>
                  <a:srgbClr val="24343F"/>
                </a:solidFill>
                <a:latin typeface="Trebuchet MS"/>
                <a:ea typeface="Trebuchet MS"/>
                <a:cs typeface="Trebuchet MS"/>
              </a:rPr>
              <a:t>Deployment, only if it passes — €10,500</a:t>
            </a:r>
            <a:endParaRPr sz="1250"/>
          </a:p>
        </p:txBody>
      </p:sp>
      <p:sp>
        <p:nvSpPr>
          <p:cNvPr id="31" name="Text 28">
            <a:extLst xmlns:a="http://schemas.openxmlformats.org/drawingml/2006/main">
              <a:ext uri="{FF2B5EF4-FFF2-40B4-BE49-F238E27FC236}">
                <a16:creationId xmlns:a16="http://schemas.microsoft.com/office/drawing/2014/main" id="{FE0D5EB4-4A9A-44DD-9CFF-8A75088ACDD2}"/>
              </a:ext>
            </a:extLst>
          </p:cNvPr>
          <p:cNvSpPr>
            <a:spLocks xmlns:a="http://schemas.openxmlformats.org/drawingml/2006/main" noGrp="1"/>
          </p:cNvSpPr>
          <p:nvPr/>
        </p:nvSpPr>
        <p:spPr>
          <a:xfrm xmlns:a="http://schemas.openxmlformats.org/drawingml/2006/main">
            <a:off x="8168640" y="3886200"/>
            <a:ext cx="3343656"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80">
                <a:solidFill>
                  <a:srgbClr val="1B2730"/>
                </a:solidFill>
                <a:latin typeface="Calibri"/>
                <a:ea typeface="Calibri"/>
                <a:cs typeface="Calibri"/>
              </a:rPr>
              <a:t>4 weeks elapsed · 15 consulting days × €700. Handlers may use proposals; autonomous routing needs separate approval.</a:t>
            </a:r>
            <a:endParaRPr sz="980"/>
          </a:p>
        </p:txBody>
      </p:sp>
      <p:sp>
        <p:nvSpPr>
          <p:cNvPr id="32" name="Shape 29">
            <a:extLst xmlns:a="http://schemas.openxmlformats.org/drawingml/2006/main">
              <a:ext uri="{FF2B5EF4-FFF2-40B4-BE49-F238E27FC236}">
                <a16:creationId xmlns:a16="http://schemas.microsoft.com/office/drawing/2014/main" id="{20341403-1763-498D-AA95-5AF09CCE5909}"/>
              </a:ext>
            </a:extLst>
          </p:cNvPr>
          <p:cNvSpPr>
            <a:spLocks xmlns:a="http://schemas.openxmlformats.org/drawingml/2006/main" noGrp="1"/>
          </p:cNvSpPr>
          <p:nvPr/>
        </p:nvSpPr>
        <p:spPr>
          <a:xfrm xmlns:a="http://schemas.openxmlformats.org/drawingml/2006/main">
            <a:off x="566928" y="4608576"/>
            <a:ext cx="11055096" cy="822960"/>
          </a:xfrm>
          <a:prstGeom xmlns:a="http://schemas.openxmlformats.org/drawingml/2006/main" prst="rect">
            <a:avLst/>
          </a:prstGeom>
          <a:solidFill xmlns:a="http://schemas.openxmlformats.org/drawingml/2006/main">
            <a:srgbClr val="EFF5F9"/>
          </a:solidFill>
        </p:spPr>
      </p:sp>
      <p:sp>
        <p:nvSpPr>
          <p:cNvPr id="33" name="Shape 30">
            <a:extLst xmlns:a="http://schemas.openxmlformats.org/drawingml/2006/main">
              <a:ext uri="{FF2B5EF4-FFF2-40B4-BE49-F238E27FC236}">
                <a16:creationId xmlns:a16="http://schemas.microsoft.com/office/drawing/2014/main" id="{3B07E184-69BB-404E-A798-8D8804A7B8A6}"/>
              </a:ext>
            </a:extLst>
          </p:cNvPr>
          <p:cNvSpPr>
            <a:spLocks xmlns:a="http://schemas.openxmlformats.org/drawingml/2006/main" noGrp="1"/>
          </p:cNvSpPr>
          <p:nvPr/>
        </p:nvSpPr>
        <p:spPr>
          <a:xfrm xmlns:a="http://schemas.openxmlformats.org/drawingml/2006/main">
            <a:off x="566928" y="4608576"/>
            <a:ext cx="82296" cy="822960"/>
          </a:xfrm>
          <a:prstGeom xmlns:a="http://schemas.openxmlformats.org/drawingml/2006/main" prst="rect">
            <a:avLst/>
          </a:prstGeom>
          <a:solidFill xmlns:a="http://schemas.openxmlformats.org/drawingml/2006/main">
            <a:srgbClr val="2A78D6"/>
          </a:solidFill>
        </p:spPr>
      </p:sp>
      <p:sp>
        <p:nvSpPr>
          <p:cNvPr id="34" name="Text 31">
            <a:extLst xmlns:a="http://schemas.openxmlformats.org/drawingml/2006/main">
              <a:ext uri="{FF2B5EF4-FFF2-40B4-BE49-F238E27FC236}">
                <a16:creationId xmlns:a16="http://schemas.microsoft.com/office/drawing/2014/main" id="{3014F814-BD2B-4C8B-94AD-02AC8EF19D3D}"/>
              </a:ext>
            </a:extLst>
          </p:cNvPr>
          <p:cNvSpPr>
            <a:spLocks xmlns:a="http://schemas.openxmlformats.org/drawingml/2006/main" noGrp="1"/>
          </p:cNvSpPr>
          <p:nvPr/>
        </p:nvSpPr>
        <p:spPr>
          <a:xfrm xmlns:a="http://schemas.openxmlformats.org/drawingml/2006/main">
            <a:off x="822960" y="4608576"/>
            <a:ext cx="1059789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00000"/>
                </a:solidFill>
                <a:latin typeface="Calibri"/>
                <a:ea typeface="Calibri"/>
                <a:cs typeface="Calibri"/>
              </a:rPr>
              <a:t>2 assumptions:</a:t>
            </a:r>
            <a:r>
              <a:rPr sz="1250" b="1">
                <a:solidFill>
                  <a:srgbClr val="000000"/>
                </a:solidFill>
                <a:latin typeface="Calibri"/>
                <a:ea typeface="Calibri"/>
                <a:cs typeface="Calibri"/>
              </a:rPr>
              <a:t>  </a:t>
            </a:r>
            <a:r>
              <a:rPr sz="1250">
                <a:solidFill>
                  <a:srgbClr val="000000"/>
                </a:solidFill>
                <a:latin typeface="Calibri"/>
                <a:ea typeface="Calibri"/>
                <a:cs typeface="Calibri"/>
              </a:rPr>
              <a:t>annual complaint volume uses a regulator benchmark for a firm your size; 4 avoided ombudsman referrals a year is the break-even hypothesis. Fixed phase fees are quoted; the pilot tests the benefit.</a:t>
            </a:r>
            <a:endParaRPr sz="1250"/>
          </a:p>
        </p:txBody>
      </p:sp>
    </p:spTree>
    <p:extLst>
      <p:ext uri="{BB962C8B-B14F-4D97-AF65-F5344CB8AC3E}">
        <p14:creationId xmlns:p14="http://schemas.microsoft.com/office/powerpoint/2010/main" val="1654927288"/>
      </p:ext>
    </p:extLst>
  </p:cSld>
</p:sld>
</file>

<file path=ppt/slides/slide6.xml><?xml version="1.0" encoding="utf-8"?>
<p:sld xmlns:p="http://schemas.openxmlformats.org/presentationml/2006/main">
  <p:cSld>
    <p:bg>
      <p:bgPr>
        <a:solidFill xmlns:a="http://schemas.openxmlformats.org/drawingml/2006/main">
          <a:srgbClr val="1D2A3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DC73FA7-6DFB-4FB1-876B-7CA6DD0B2A1C}"/>
              </a:ext>
            </a:extLst>
          </p:cNvPr>
          <p:cNvSpPr>
            <a:spLocks xmlns:a="http://schemas.openxmlformats.org/drawingml/2006/main" noGrp="1"/>
          </p:cNvSpPr>
          <p:nvPr/>
        </p:nvSpPr>
        <p:spPr>
          <a:xfrm xmlns:a="http://schemas.openxmlformats.org/drawingml/2006/main">
            <a:off x="566928" y="310896"/>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2A78D6"/>
                </a:solidFill>
                <a:latin typeface="Calibri"/>
                <a:ea typeface="Calibri"/>
                <a:cs typeface="Calibri"/>
              </a:rPr>
              <a:t>CAPSTONE ROUND 1  ·  AI CONSULTING PITCH</a:t>
            </a:r>
            <a:endParaRPr sz="1050"/>
          </a:p>
        </p:txBody>
      </p:sp>
      <p:sp>
        <p:nvSpPr>
          <p:cNvPr id="3" name="Shape 1">
            <a:extLst xmlns:a="http://schemas.openxmlformats.org/drawingml/2006/main">
              <a:ext uri="{FF2B5EF4-FFF2-40B4-BE49-F238E27FC236}">
                <a16:creationId xmlns:a16="http://schemas.microsoft.com/office/drawing/2014/main" id="{71FA25FA-CA35-4D06-9DAE-47BFB0D376B1}"/>
              </a:ext>
            </a:extLst>
          </p:cNvPr>
          <p:cNvSpPr>
            <a:spLocks xmlns:a="http://schemas.openxmlformats.org/drawingml/2006/main" noGrp="1"/>
          </p:cNvSpPr>
          <p:nvPr/>
        </p:nvSpPr>
        <p:spPr>
          <a:xfrm xmlns:a="http://schemas.openxmlformats.org/drawingml/2006/main">
            <a:off x="566928" y="658368"/>
            <a:ext cx="566928" cy="566928"/>
          </a:xfrm>
          <a:prstGeom xmlns:a="http://schemas.openxmlformats.org/drawingml/2006/main" prst="ellipse">
            <a:avLst/>
          </a:prstGeom>
          <a:solidFill xmlns:a="http://schemas.openxmlformats.org/drawingml/2006/main">
            <a:srgbClr val="24343F"/>
          </a:solidFill>
        </p:spPr>
      </p:sp>
      <p:pic>
        <p:nvPicPr>
          <p:cNvPr id="10" name="Image 0"/>
          <p:cNvPicPr>
            <a:picLocks xmlns:a="http://schemas.openxmlformats.org/drawingml/2006/main" noChangeAspect="1"/>
          </p:cNvPicPr>
          <p:nvPr/>
        </p:nvPicPr>
        <p:blipFill>
          <a:blip xmlns:r="http://schemas.openxmlformats.org/officeDocument/2006/relationships" xmlns:a="http://schemas.openxmlformats.org/drawingml/2006/main" r:embed="R275f8c71fa7a42f2"/>
          <a:stretch xmlns:a="http://schemas.openxmlformats.org/drawingml/2006/main">
            <a:fillRect l="0" t="0" r="0" b="0"/>
          </a:stretch>
        </p:blipFill>
        <p:spPr>
          <a:xfrm xmlns:a="http://schemas.openxmlformats.org/drawingml/2006/main">
            <a:off x="708660" y="800100"/>
            <a:ext cx="283464" cy="28346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A95F2334-AAF2-47D1-9C0B-857186294923}"/>
              </a:ext>
            </a:extLst>
          </p:cNvPr>
          <p:cNvSpPr>
            <a:spLocks xmlns:a="http://schemas.openxmlformats.org/drawingml/2006/main" noGrp="1"/>
          </p:cNvSpPr>
          <p:nvPr/>
        </p:nvSpPr>
        <p:spPr>
          <a:xfrm xmlns:a="http://schemas.openxmlformats.org/drawingml/2006/main">
            <a:off x="1316736" y="621792"/>
            <a:ext cx="1030528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FFFFF"/>
                </a:solidFill>
                <a:latin typeface="Trebuchet MS"/>
                <a:ea typeface="Trebuchet MS"/>
                <a:cs typeface="Trebuchet MS"/>
              </a:rPr>
              <a:t>Supporting evidence</a:t>
            </a:r>
            <a:endParaRPr sz="3000"/>
          </a:p>
        </p:txBody>
      </p:sp>
      <p:sp>
        <p:nvSpPr>
          <p:cNvPr id="6" name="Text 3">
            <a:extLst xmlns:a="http://schemas.openxmlformats.org/drawingml/2006/main">
              <a:ext uri="{FF2B5EF4-FFF2-40B4-BE49-F238E27FC236}">
                <a16:creationId xmlns:a16="http://schemas.microsoft.com/office/drawing/2014/main" id="{57A5854E-2043-488B-9A65-0E76F55DF615}"/>
              </a:ext>
            </a:extLst>
          </p:cNvPr>
          <p:cNvSpPr>
            <a:spLocks xmlns:a="http://schemas.openxmlformats.org/drawingml/2006/main" noGrp="1"/>
          </p:cNvSpPr>
          <p:nvPr/>
        </p:nvSpPr>
        <p:spPr>
          <a:xfrm xmlns:a="http://schemas.openxmlformats.org/drawingml/2006/main">
            <a:off x="566928" y="2057400"/>
            <a:ext cx="9507383"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700">
                <a:solidFill>
                  <a:srgbClr val="FFFFFF"/>
                </a:solidFill>
              </a:rPr>
              <a:t>Appendix for questions and discussion</a:t>
            </a:r>
            <a:r>
              <a:rPr sz="1700">
                <a:solidFill>
                  <a:srgbClr val="FFFFFF"/>
                </a:solidFill>
              </a:rPr>
              <a:t>
</a:t>
            </a:r>
            <a:endParaRPr sz="1700"/>
          </a:p>
        </p:txBody>
      </p:sp>
    </p:spTree>
    <p:extLst>
      <p:ext uri="{BB962C8B-B14F-4D97-AF65-F5344CB8AC3E}">
        <p14:creationId xmlns:p14="http://schemas.microsoft.com/office/powerpoint/2010/main" val="6926595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44DCCB9-B7E3-4EAF-AA3D-4FB12FA69E74}"/>
              </a:ext>
            </a:extLst>
          </p:cNvPr>
          <p:cNvSpPr>
            <a:spLocks xmlns:a="http://schemas.openxmlformats.org/drawingml/2006/main" noGrp="1"/>
          </p:cNvSpPr>
          <p:nvPr/>
        </p:nvSpPr>
        <p:spPr>
          <a:xfrm xmlns:a="http://schemas.openxmlformats.org/drawingml/2006/main">
            <a:off x="566928" y="310896"/>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B7C88"/>
                </a:solidFill>
                <a:latin typeface="Calibri"/>
                <a:ea typeface="Calibri"/>
                <a:cs typeface="Calibri"/>
              </a:rPr>
              <a:t>CAPSTONE ROUND 1  ·  AI CONSULTING PITCH</a:t>
            </a:r>
            <a:endParaRPr sz="1050"/>
          </a:p>
        </p:txBody>
      </p:sp>
      <p:sp>
        <p:nvSpPr>
          <p:cNvPr id="3" name="Shape 1">
            <a:extLst xmlns:a="http://schemas.openxmlformats.org/drawingml/2006/main">
              <a:ext uri="{FF2B5EF4-FFF2-40B4-BE49-F238E27FC236}">
                <a16:creationId xmlns:a16="http://schemas.microsoft.com/office/drawing/2014/main" id="{AEC7D5AE-DE1E-403B-81E4-AC497F1FCA26}"/>
              </a:ext>
            </a:extLst>
          </p:cNvPr>
          <p:cNvSpPr>
            <a:spLocks xmlns:a="http://schemas.openxmlformats.org/drawingml/2006/main" noGrp="1"/>
          </p:cNvSpPr>
          <p:nvPr/>
        </p:nvSpPr>
        <p:spPr>
          <a:xfrm xmlns:a="http://schemas.openxmlformats.org/drawingml/2006/main">
            <a:off x="566928" y="658368"/>
            <a:ext cx="566928" cy="566928"/>
          </a:xfrm>
          <a:prstGeom xmlns:a="http://schemas.openxmlformats.org/drawingml/2006/main" prst="ellipse">
            <a:avLst/>
          </a:prstGeom>
          <a:solidFill xmlns:a="http://schemas.openxmlformats.org/drawingml/2006/main">
            <a:srgbClr val="24343F"/>
          </a:solidFill>
        </p:spPr>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dd8a517d38d5495d"/>
          <a:stretch xmlns:a="http://schemas.openxmlformats.org/drawingml/2006/main">
            <a:fillRect l="0" t="0" r="0" b="0"/>
          </a:stretch>
        </p:blipFill>
        <p:spPr>
          <a:xfrm xmlns:a="http://schemas.openxmlformats.org/drawingml/2006/main">
            <a:off x="708660" y="800100"/>
            <a:ext cx="283464" cy="28346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67E72BE8-F43E-4D24-B2A6-03F66B693385}"/>
              </a:ext>
            </a:extLst>
          </p:cNvPr>
          <p:cNvSpPr>
            <a:spLocks xmlns:a="http://schemas.openxmlformats.org/drawingml/2006/main" noGrp="1"/>
          </p:cNvSpPr>
          <p:nvPr/>
        </p:nvSpPr>
        <p:spPr>
          <a:xfrm xmlns:a="http://schemas.openxmlformats.org/drawingml/2006/main">
            <a:off x="1316736" y="621792"/>
            <a:ext cx="1030528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343F"/>
                </a:solidFill>
                <a:latin typeface="Trebuchet MS"/>
                <a:ea typeface="Trebuchet MS"/>
                <a:cs typeface="Trebuchet MS"/>
              </a:rPr>
              <a:t>Why complaint triage comes first</a:t>
            </a:r>
            <a:endParaRPr sz="3000"/>
          </a:p>
        </p:txBody>
      </p:sp>
      <p:sp>
        <p:nvSpPr>
          <p:cNvPr id="6" name="Shape 3">
            <a:extLst xmlns:a="http://schemas.openxmlformats.org/drawingml/2006/main">
              <a:ext uri="{FF2B5EF4-FFF2-40B4-BE49-F238E27FC236}">
                <a16:creationId xmlns:a16="http://schemas.microsoft.com/office/drawing/2014/main" id="{DD8CF70A-DAD5-4F1B-BB3E-BAB070F24627}"/>
              </a:ext>
            </a:extLst>
          </p:cNvPr>
          <p:cNvSpPr>
            <a:spLocks xmlns:a="http://schemas.openxmlformats.org/drawingml/2006/main" noGrp="1"/>
          </p:cNvSpPr>
          <p:nvPr/>
        </p:nvSpPr>
        <p:spPr>
          <a:xfrm xmlns:a="http://schemas.openxmlformats.org/drawingml/2006/main">
            <a:off x="566928" y="1481328"/>
            <a:ext cx="11055096" cy="676656"/>
          </a:xfrm>
          <a:prstGeom xmlns:a="http://schemas.openxmlformats.org/drawingml/2006/main" prst="rect">
            <a:avLst/>
          </a:prstGeom>
          <a:solidFill xmlns:a="http://schemas.openxmlformats.org/drawingml/2006/main">
            <a:srgbClr val="EFF5F9"/>
          </a:solidFill>
        </p:spPr>
      </p:sp>
      <p:sp>
        <p:nvSpPr>
          <p:cNvPr id="7" name="Shape 4">
            <a:extLst xmlns:a="http://schemas.openxmlformats.org/drawingml/2006/main">
              <a:ext uri="{FF2B5EF4-FFF2-40B4-BE49-F238E27FC236}">
                <a16:creationId xmlns:a16="http://schemas.microsoft.com/office/drawing/2014/main" id="{8DC3CAC0-1162-4626-AC26-60AE6697F260}"/>
              </a:ext>
            </a:extLst>
          </p:cNvPr>
          <p:cNvSpPr>
            <a:spLocks xmlns:a="http://schemas.openxmlformats.org/drawingml/2006/main" noGrp="1"/>
          </p:cNvSpPr>
          <p:nvPr/>
        </p:nvSpPr>
        <p:spPr>
          <a:xfrm xmlns:a="http://schemas.openxmlformats.org/drawingml/2006/main">
            <a:off x="566928" y="1481328"/>
            <a:ext cx="82296" cy="676656"/>
          </a:xfrm>
          <a:prstGeom xmlns:a="http://schemas.openxmlformats.org/drawingml/2006/main" prst="rect">
            <a:avLst/>
          </a:prstGeom>
          <a:solidFill xmlns:a="http://schemas.openxmlformats.org/drawingml/2006/main">
            <a:srgbClr val="2A78D6"/>
          </a:solidFill>
        </p:spPr>
      </p:sp>
      <p:sp>
        <p:nvSpPr>
          <p:cNvPr id="8" name="Text 5">
            <a:extLst xmlns:a="http://schemas.openxmlformats.org/drawingml/2006/main">
              <a:ext uri="{FF2B5EF4-FFF2-40B4-BE49-F238E27FC236}">
                <a16:creationId xmlns:a16="http://schemas.microsoft.com/office/drawing/2014/main" id="{46A1C3F7-6930-499C-B2FC-D74A3B6AC6EA}"/>
              </a:ext>
            </a:extLst>
          </p:cNvPr>
          <p:cNvSpPr>
            <a:spLocks xmlns:a="http://schemas.openxmlformats.org/drawingml/2006/main" noGrp="1"/>
          </p:cNvSpPr>
          <p:nvPr/>
        </p:nvSpPr>
        <p:spPr>
          <a:xfrm xmlns:a="http://schemas.openxmlformats.org/drawingml/2006/main">
            <a:off x="822960" y="1481328"/>
            <a:ext cx="1059789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00">
                <a:solidFill>
                  <a:srgbClr val="2A78D6"/>
                </a:solidFill>
                <a:latin typeface="Calibri"/>
                <a:ea typeface="Calibri"/>
                <a:cs typeface="Calibri"/>
              </a:rPr>
              <a:t>TAKEAWAY   </a:t>
            </a:r>
            <a:r>
              <a:rPr sz="1300">
                <a:solidFill>
                  <a:srgbClr val="1B2730"/>
                </a:solidFill>
                <a:latin typeface="Calibri"/>
                <a:ea typeface="Calibri"/>
                <a:cs typeface="Calibri"/>
              </a:rPr>
              <a:t>Ranked by how visible the reasoning is, not by the size of the prize.</a:t>
            </a:r>
            <a:endParaRPr sz="1050"/>
          </a:p>
        </p:txBody>
      </p:sp>
      <p:sp>
        <p:nvSpPr>
          <p:cNvPr id="9" name="Shape 6">
            <a:extLst xmlns:a="http://schemas.openxmlformats.org/drawingml/2006/main">
              <a:ext uri="{FF2B5EF4-FFF2-40B4-BE49-F238E27FC236}">
                <a16:creationId xmlns:a16="http://schemas.microsoft.com/office/drawing/2014/main" id="{E8F65825-3BBD-4C9F-A8C0-78078D1DFAD5}"/>
              </a:ext>
            </a:extLst>
          </p:cNvPr>
          <p:cNvSpPr>
            <a:spLocks xmlns:a="http://schemas.openxmlformats.org/drawingml/2006/main" noGrp="1"/>
          </p:cNvSpPr>
          <p:nvPr/>
        </p:nvSpPr>
        <p:spPr>
          <a:xfrm xmlns:a="http://schemas.openxmlformats.org/drawingml/2006/main">
            <a:off x="566928" y="6437376"/>
            <a:ext cx="11055096" cy="0"/>
          </a:xfrm>
          <a:prstGeom xmlns:a="http://schemas.openxmlformats.org/drawingml/2006/main" prst="line">
            <a:avLst/>
          </a:prstGeom>
          <a:noFill xmlns:a="http://schemas.openxmlformats.org/drawingml/2006/main"/>
          <a:ln xmlns:a="http://schemas.openxmlformats.org/drawingml/2006/main" w="12700">
            <a:solidFill>
              <a:srgbClr val="D9E3EA"/>
            </a:solidFill>
            <a:prstDash val="solid"/>
          </a:ln>
        </p:spPr>
      </p:sp>
      <p:sp>
        <p:nvSpPr>
          <p:cNvPr id="10" name="Text 7">
            <a:extLst xmlns:a="http://schemas.openxmlformats.org/drawingml/2006/main">
              <a:ext uri="{FF2B5EF4-FFF2-40B4-BE49-F238E27FC236}">
                <a16:creationId xmlns:a16="http://schemas.microsoft.com/office/drawing/2014/main" id="{C098D8A9-E267-4F44-B0C0-65067944E2B7}"/>
              </a:ext>
            </a:extLst>
          </p:cNvPr>
          <p:cNvSpPr>
            <a:spLocks xmlns:a="http://schemas.openxmlformats.org/drawingml/2006/main" noGrp="1"/>
          </p:cNvSpPr>
          <p:nvPr/>
        </p:nvSpPr>
        <p:spPr>
          <a:xfrm xmlns:a="http://schemas.openxmlformats.org/drawingml/2006/main">
            <a:off x="566928" y="64739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850"/>
          </a:p>
        </p:txBody>
      </p:sp>
      <p:sp>
        <p:nvSpPr>
          <p:cNvPr id="11" name="Text 8">
            <a:extLst xmlns:a="http://schemas.openxmlformats.org/drawingml/2006/main">
              <a:ext uri="{FF2B5EF4-FFF2-40B4-BE49-F238E27FC236}">
                <a16:creationId xmlns:a16="http://schemas.microsoft.com/office/drawing/2014/main" id="{EBBAC08B-6BB5-423F-AEB2-7C6CD21570CF}"/>
              </a:ext>
            </a:extLst>
          </p:cNvPr>
          <p:cNvSpPr>
            <a:spLocks xmlns:a="http://schemas.openxmlformats.org/drawingml/2006/main" noGrp="1"/>
          </p:cNvSpPr>
          <p:nvPr/>
        </p:nvSpPr>
        <p:spPr>
          <a:xfrm xmlns:a="http://schemas.openxmlformats.org/drawingml/2006/main">
            <a:off x="10524744" y="647395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B7C88"/>
                </a:solidFill>
                <a:latin typeface="Calibri"/>
                <a:ea typeface="Calibri"/>
                <a:cs typeface="Calibri"/>
              </a:rPr>
              <a:t>5</a:t>
            </a:r>
            <a:endParaRPr sz="850"/>
          </a:p>
        </p:txBody>
      </p:sp>
      <p:sp>
        <p:nvSpPr>
          <p:cNvPr id="12" name="Shape 9">
            <a:extLst xmlns:a="http://schemas.openxmlformats.org/drawingml/2006/main">
              <a:ext uri="{FF2B5EF4-FFF2-40B4-BE49-F238E27FC236}">
                <a16:creationId xmlns:a16="http://schemas.microsoft.com/office/drawing/2014/main" id="{EA77C709-AB30-43DB-B5F3-71FADAA7BAF4}"/>
              </a:ext>
            </a:extLst>
          </p:cNvPr>
          <p:cNvSpPr>
            <a:spLocks xmlns:a="http://schemas.openxmlformats.org/drawingml/2006/main" noGrp="1"/>
          </p:cNvSpPr>
          <p:nvPr/>
        </p:nvSpPr>
        <p:spPr>
          <a:xfrm xmlns:a="http://schemas.openxmlformats.org/drawingml/2006/main">
            <a:off x="566928" y="2395728"/>
            <a:ext cx="5390388" cy="1783080"/>
          </a:xfrm>
          <a:prstGeom xmlns:a="http://schemas.openxmlformats.org/drawingml/2006/main" prst="rect">
            <a:avLst/>
          </a:prstGeom>
          <a:solidFill xmlns:a="http://schemas.openxmlformats.org/drawingml/2006/main">
            <a:srgbClr val="FFFFFF"/>
          </a:solidFill>
          <a:ln xmlns:a="http://schemas.openxmlformats.org/drawingml/2006/main" w="12700">
            <a:solidFill>
              <a:srgbClr val="D9E3EA"/>
            </a:solidFill>
            <a:prstDash val="solid"/>
          </a:ln>
          <a:effectLst xmlns:a="http://schemas.openxmlformats.org/drawingml/2006/main">
            <a:outerShdw blurRad="88900" dist="38100" dir="8100000" sx="100000" sy="100000" kx="0" ky="0" algn="bl" rotWithShape="0">
              <a:srgbClr val="1C2440">
                <a:alpha val="13000"/>
              </a:srgbClr>
            </a:outerShdw>
          </a:effectLst>
        </p:spPr>
      </p:sp>
      <p:sp>
        <p:nvSpPr>
          <p:cNvPr id="13" name="Shape 10">
            <a:extLst xmlns:a="http://schemas.openxmlformats.org/drawingml/2006/main">
              <a:ext uri="{FF2B5EF4-FFF2-40B4-BE49-F238E27FC236}">
                <a16:creationId xmlns:a16="http://schemas.microsoft.com/office/drawing/2014/main" id="{004AF0A0-CB9C-4BB0-81F1-ECFDA81B9531}"/>
              </a:ext>
            </a:extLst>
          </p:cNvPr>
          <p:cNvSpPr>
            <a:spLocks xmlns:a="http://schemas.openxmlformats.org/drawingml/2006/main" noGrp="1"/>
          </p:cNvSpPr>
          <p:nvPr/>
        </p:nvSpPr>
        <p:spPr>
          <a:xfrm xmlns:a="http://schemas.openxmlformats.org/drawingml/2006/main">
            <a:off x="566928" y="2395728"/>
            <a:ext cx="5390388" cy="457200"/>
          </a:xfrm>
          <a:prstGeom xmlns:a="http://schemas.openxmlformats.org/drawingml/2006/main" prst="rect">
            <a:avLst/>
          </a:prstGeom>
          <a:solidFill xmlns:a="http://schemas.openxmlformats.org/drawingml/2006/main">
            <a:srgbClr val="24343F"/>
          </a:solidFill>
        </p:spPr>
      </p:sp>
      <p:sp>
        <p:nvSpPr>
          <p:cNvPr id="14" name="Text 11">
            <a:extLst xmlns:a="http://schemas.openxmlformats.org/drawingml/2006/main">
              <a:ext uri="{FF2B5EF4-FFF2-40B4-BE49-F238E27FC236}">
                <a16:creationId xmlns:a16="http://schemas.microsoft.com/office/drawing/2014/main" id="{ABFDA9F5-F07E-48DC-97D9-8269ACE1118C}"/>
              </a:ext>
            </a:extLst>
          </p:cNvPr>
          <p:cNvSpPr>
            <a:spLocks xmlns:a="http://schemas.openxmlformats.org/drawingml/2006/main" noGrp="1"/>
          </p:cNvSpPr>
          <p:nvPr/>
        </p:nvSpPr>
        <p:spPr>
          <a:xfrm xmlns:a="http://schemas.openxmlformats.org/drawingml/2006/main">
            <a:off x="768096" y="2395728"/>
            <a:ext cx="502462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FFFFFF"/>
                </a:solidFill>
                <a:latin typeface="Calibri"/>
                <a:ea typeface="Calibri"/>
                <a:cs typeface="Calibri"/>
              </a:rPr>
              <a:t>3 use cases assessed</a:t>
            </a:r>
            <a:endParaRPr sz="1300"/>
          </a:p>
        </p:txBody>
      </p:sp>
      <p:sp>
        <p:nvSpPr>
          <p:cNvPr id="15" name="Text 12">
            <a:extLst xmlns:a="http://schemas.openxmlformats.org/drawingml/2006/main">
              <a:ext uri="{FF2B5EF4-FFF2-40B4-BE49-F238E27FC236}">
                <a16:creationId xmlns:a16="http://schemas.microsoft.com/office/drawing/2014/main" id="{7293C100-FFFD-4654-9DE4-2C40B8A85FB5}"/>
              </a:ext>
            </a:extLst>
          </p:cNvPr>
          <p:cNvSpPr>
            <a:spLocks xmlns:a="http://schemas.openxmlformats.org/drawingml/2006/main" noGrp="1"/>
          </p:cNvSpPr>
          <p:nvPr/>
        </p:nvSpPr>
        <p:spPr>
          <a:xfrm xmlns:a="http://schemas.openxmlformats.org/drawingml/2006/main">
            <a:off x="768096" y="2962656"/>
            <a:ext cx="4988052"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600"/>
              </a:spcAft>
              <a:buSzPct val="100000"/>
              <a:buChar char="•"/>
            </a:pPr>
            <a:r>
              <a:rPr sz="1150">
                <a:solidFill>
                  <a:srgbClr val="1B2730"/>
                </a:solidFill>
                <a:latin typeface="Calibri"/>
                <a:ea typeface="Calibri"/>
                <a:cs typeface="Calibri"/>
              </a:rPr>
              <a:t>Complaint triage — proposed for Phase 0 and Phase 1</a:t>
            </a:r>
            <a:endParaRPr sz="1150"/>
          </a:p>
          <a:p xmlns:a="http://schemas.openxmlformats.org/drawingml/2006/main">
            <a:pPr marL="152400" indent="-152400">
              <a:spcAft>
                <a:spcPts val="600"/>
              </a:spcAft>
              <a:buSzPct val="100000"/>
              <a:buChar char="•"/>
            </a:pPr>
            <a:r>
              <a:rPr sz="1150">
                <a:solidFill>
                  <a:srgbClr val="1B2730"/>
                </a:solidFill>
                <a:latin typeface="Calibri"/>
                <a:ea typeface="Calibri"/>
                <a:cs typeface="Calibri"/>
              </a:rPr>
              <a:t>Anomaly flagging — later option; your investigator reviews each flag</a:t>
            </a:r>
            <a:endParaRPr sz="1150"/>
          </a:p>
          <a:p xmlns:a="http://schemas.openxmlformats.org/drawingml/2006/main">
            <a:pPr marL="152400" indent="-152400">
              <a:spcAft>
                <a:spcPts val="600"/>
              </a:spcAft>
              <a:buSzPct val="100000"/>
              <a:buChar char="•"/>
            </a:pPr>
            <a:r>
              <a:rPr sz="1150">
                <a:solidFill>
                  <a:srgbClr val="1B2730"/>
                </a:solidFill>
                <a:latin typeface="Calibri"/>
                <a:ea typeface="Calibri"/>
                <a:cs typeface="Calibri"/>
              </a:rPr>
              <a:t>Reporting assistance — later option; a named employee approves output</a:t>
            </a:r>
            <a:endParaRPr sz="1150"/>
          </a:p>
        </p:txBody>
      </p:sp>
      <p:sp>
        <p:nvSpPr>
          <p:cNvPr id="16" name="Shape 13">
            <a:extLst xmlns:a="http://schemas.openxmlformats.org/drawingml/2006/main">
              <a:ext uri="{FF2B5EF4-FFF2-40B4-BE49-F238E27FC236}">
                <a16:creationId xmlns:a16="http://schemas.microsoft.com/office/drawing/2014/main" id="{C3131531-AB17-45D6-8D65-E8E5B1D814AA}"/>
              </a:ext>
            </a:extLst>
          </p:cNvPr>
          <p:cNvSpPr>
            <a:spLocks xmlns:a="http://schemas.openxmlformats.org/drawingml/2006/main" noGrp="1"/>
          </p:cNvSpPr>
          <p:nvPr/>
        </p:nvSpPr>
        <p:spPr>
          <a:xfrm xmlns:a="http://schemas.openxmlformats.org/drawingml/2006/main">
            <a:off x="6231636" y="2395728"/>
            <a:ext cx="5390388" cy="1783080"/>
          </a:xfrm>
          <a:prstGeom xmlns:a="http://schemas.openxmlformats.org/drawingml/2006/main" prst="rect">
            <a:avLst/>
          </a:prstGeom>
          <a:solidFill xmlns:a="http://schemas.openxmlformats.org/drawingml/2006/main">
            <a:srgbClr val="FFFFFF"/>
          </a:solidFill>
          <a:ln xmlns:a="http://schemas.openxmlformats.org/drawingml/2006/main" w="12700">
            <a:solidFill>
              <a:srgbClr val="D9E3EA"/>
            </a:solidFill>
            <a:prstDash val="solid"/>
          </a:ln>
          <a:effectLst xmlns:a="http://schemas.openxmlformats.org/drawingml/2006/main">
            <a:outerShdw blurRad="88900" dist="38100" dir="8100000" sx="100000" sy="100000" kx="0" ky="0" algn="bl" rotWithShape="0">
              <a:srgbClr val="1C2440">
                <a:alpha val="13000"/>
              </a:srgbClr>
            </a:outerShdw>
          </a:effectLst>
        </p:spPr>
      </p:sp>
      <p:sp>
        <p:nvSpPr>
          <p:cNvPr id="17" name="Shape 14">
            <a:extLst xmlns:a="http://schemas.openxmlformats.org/drawingml/2006/main">
              <a:ext uri="{FF2B5EF4-FFF2-40B4-BE49-F238E27FC236}">
                <a16:creationId xmlns:a16="http://schemas.microsoft.com/office/drawing/2014/main" id="{8A4AD0F1-C1B7-4067-9FAB-1217DDA133EA}"/>
              </a:ext>
            </a:extLst>
          </p:cNvPr>
          <p:cNvSpPr>
            <a:spLocks xmlns:a="http://schemas.openxmlformats.org/drawingml/2006/main" noGrp="1"/>
          </p:cNvSpPr>
          <p:nvPr/>
        </p:nvSpPr>
        <p:spPr>
          <a:xfrm xmlns:a="http://schemas.openxmlformats.org/drawingml/2006/main">
            <a:off x="6231636" y="2395728"/>
            <a:ext cx="5390388" cy="457200"/>
          </a:xfrm>
          <a:prstGeom xmlns:a="http://schemas.openxmlformats.org/drawingml/2006/main" prst="rect">
            <a:avLst/>
          </a:prstGeom>
          <a:solidFill xmlns:a="http://schemas.openxmlformats.org/drawingml/2006/main">
            <a:srgbClr val="445A69"/>
          </a:solidFill>
        </p:spPr>
      </p:sp>
      <p:sp>
        <p:nvSpPr>
          <p:cNvPr id="18" name="Text 15">
            <a:extLst xmlns:a="http://schemas.openxmlformats.org/drawingml/2006/main">
              <a:ext uri="{FF2B5EF4-FFF2-40B4-BE49-F238E27FC236}">
                <a16:creationId xmlns:a16="http://schemas.microsoft.com/office/drawing/2014/main" id="{BBC6DBF5-0942-45CD-96A0-C70E8D840C25}"/>
              </a:ext>
            </a:extLst>
          </p:cNvPr>
          <p:cNvSpPr>
            <a:spLocks xmlns:a="http://schemas.openxmlformats.org/drawingml/2006/main" noGrp="1"/>
          </p:cNvSpPr>
          <p:nvPr/>
        </p:nvSpPr>
        <p:spPr>
          <a:xfrm xmlns:a="http://schemas.openxmlformats.org/drawingml/2006/main">
            <a:off x="6432804" y="2395728"/>
            <a:ext cx="502462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FFFFFF"/>
                </a:solidFill>
                <a:latin typeface="Calibri"/>
                <a:ea typeface="Calibri"/>
                <a:cs typeface="Calibri"/>
              </a:rPr>
              <a:t>2 excluded uses + 1 guardrail</a:t>
            </a:r>
            <a:endParaRPr sz="1300"/>
          </a:p>
        </p:txBody>
      </p:sp>
      <p:sp>
        <p:nvSpPr>
          <p:cNvPr id="19" name="Text 16">
            <a:extLst xmlns:a="http://schemas.openxmlformats.org/drawingml/2006/main">
              <a:ext uri="{FF2B5EF4-FFF2-40B4-BE49-F238E27FC236}">
                <a16:creationId xmlns:a16="http://schemas.microsoft.com/office/drawing/2014/main" id="{D01D1EF2-03D9-4A3C-9320-19B9A0E8AEC3}"/>
              </a:ext>
            </a:extLst>
          </p:cNvPr>
          <p:cNvSpPr>
            <a:spLocks xmlns:a="http://schemas.openxmlformats.org/drawingml/2006/main" noGrp="1"/>
          </p:cNvSpPr>
          <p:nvPr/>
        </p:nvSpPr>
        <p:spPr>
          <a:xfrm xmlns:a="http://schemas.openxmlformats.org/drawingml/2006/main">
            <a:off x="6432804" y="2962656"/>
            <a:ext cx="4988052"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600"/>
              </a:spcAft>
              <a:buSzPct val="100000"/>
              <a:buChar char="•"/>
            </a:pPr>
            <a:r>
              <a:rPr sz="1150">
                <a:solidFill>
                  <a:srgbClr val="6B7C88"/>
                </a:solidFill>
                <a:latin typeface="Calibri"/>
                <a:ea typeface="Calibri"/>
                <a:cs typeface="Calibri"/>
              </a:rPr>
              <a:t>Customer-facing chatbot — excluded; public errors use your firm's voice</a:t>
            </a:r>
            <a:endParaRPr sz="1150"/>
          </a:p>
          <a:p xmlns:a="http://schemas.openxmlformats.org/drawingml/2006/main">
            <a:pPr marL="152400" indent="-152400">
              <a:spcAft>
                <a:spcPts val="600"/>
              </a:spcAft>
              <a:buSzPct val="100000"/>
              <a:buChar char="•"/>
            </a:pPr>
            <a:r>
              <a:rPr sz="1150">
                <a:solidFill>
                  <a:srgbClr val="6B7C88"/>
                </a:solidFill>
                <a:latin typeface="Calibri"/>
                <a:ea typeface="Calibri"/>
                <a:cs typeface="Calibri"/>
              </a:rPr>
              <a:t>Creditworthiness scoring — excluded; Annex III high-risk</a:t>
            </a:r>
            <a:endParaRPr sz="1150"/>
          </a:p>
          <a:p xmlns:a="http://schemas.openxmlformats.org/drawingml/2006/main">
            <a:pPr marL="152400" indent="-152400">
              <a:spcAft>
                <a:spcPts val="600"/>
              </a:spcAft>
              <a:buSzPct val="100000"/>
              <a:buChar char="•"/>
            </a:pPr>
            <a:r>
              <a:rPr sz="1150">
                <a:solidFill>
                  <a:srgbClr val="6B7C88"/>
                </a:solidFill>
                <a:latin typeface="Calibri"/>
                <a:ea typeface="Calibri"/>
                <a:cs typeface="Calibri"/>
              </a:rPr>
              <a:t>Guardrail — predicted payout never determines routing priority</a:t>
            </a:r>
            <a:endParaRPr sz="1150"/>
          </a:p>
        </p:txBody>
      </p:sp>
    </p:spTree>
    <p:extLst>
      <p:ext uri="{BB962C8B-B14F-4D97-AF65-F5344CB8AC3E}">
        <p14:creationId xmlns:p14="http://schemas.microsoft.com/office/powerpoint/2010/main" val="21457897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57C0BD-9E9F-48FA-9687-0F7C23228AFB}"/>
              </a:ext>
            </a:extLst>
          </p:cNvPr>
          <p:cNvSpPr>
            <a:spLocks xmlns:a="http://schemas.openxmlformats.org/drawingml/2006/main" noGrp="1"/>
          </p:cNvSpPr>
          <p:nvPr/>
        </p:nvSpPr>
        <p:spPr>
          <a:xfrm xmlns:a="http://schemas.openxmlformats.org/drawingml/2006/main">
            <a:off x="566928" y="310896"/>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B7C88"/>
                </a:solidFill>
                <a:latin typeface="Calibri"/>
                <a:ea typeface="Calibri"/>
                <a:cs typeface="Calibri"/>
              </a:rPr>
              <a:t>CAPSTONE ROUND 1  ·  AI CONSULTING PITCH</a:t>
            </a:r>
            <a:endParaRPr sz="1050"/>
          </a:p>
        </p:txBody>
      </p:sp>
      <p:sp>
        <p:nvSpPr>
          <p:cNvPr id="3" name="Shape 1">
            <a:extLst xmlns:a="http://schemas.openxmlformats.org/drawingml/2006/main">
              <a:ext uri="{FF2B5EF4-FFF2-40B4-BE49-F238E27FC236}">
                <a16:creationId xmlns:a16="http://schemas.microsoft.com/office/drawing/2014/main" id="{36F0793D-933B-406D-ADE8-4CA1F5CBC527}"/>
              </a:ext>
            </a:extLst>
          </p:cNvPr>
          <p:cNvSpPr>
            <a:spLocks xmlns:a="http://schemas.openxmlformats.org/drawingml/2006/main" noGrp="1"/>
          </p:cNvSpPr>
          <p:nvPr/>
        </p:nvSpPr>
        <p:spPr>
          <a:xfrm xmlns:a="http://schemas.openxmlformats.org/drawingml/2006/main">
            <a:off x="566928" y="658368"/>
            <a:ext cx="566928" cy="566928"/>
          </a:xfrm>
          <a:prstGeom xmlns:a="http://schemas.openxmlformats.org/drawingml/2006/main" prst="ellipse">
            <a:avLst/>
          </a:prstGeom>
          <a:solidFill xmlns:a="http://schemas.openxmlformats.org/drawingml/2006/main">
            <a:srgbClr val="24343F"/>
          </a:solidFill>
        </p:spPr>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5848d6bc4082462c"/>
          <a:stretch xmlns:a="http://schemas.openxmlformats.org/drawingml/2006/main">
            <a:fillRect l="0" t="0" r="0" b="0"/>
          </a:stretch>
        </p:blipFill>
        <p:spPr>
          <a:xfrm xmlns:a="http://schemas.openxmlformats.org/drawingml/2006/main">
            <a:off x="708660" y="800100"/>
            <a:ext cx="283464" cy="28346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D8BC6109-E56B-4ED1-8264-EC1A049C8A1F}"/>
              </a:ext>
            </a:extLst>
          </p:cNvPr>
          <p:cNvSpPr>
            <a:spLocks xmlns:a="http://schemas.openxmlformats.org/drawingml/2006/main" noGrp="1"/>
          </p:cNvSpPr>
          <p:nvPr/>
        </p:nvSpPr>
        <p:spPr>
          <a:xfrm xmlns:a="http://schemas.openxmlformats.org/drawingml/2006/main">
            <a:off x="1316736" y="621792"/>
            <a:ext cx="1030528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343F"/>
                </a:solidFill>
                <a:latin typeface="Trebuchet MS"/>
                <a:ea typeface="Trebuchet MS"/>
                <a:cs typeface="Trebuchet MS"/>
              </a:rPr>
              <a:t>5 categories account for 46.1% of complaints</a:t>
            </a:r>
            <a:endParaRPr sz="3000"/>
          </a:p>
        </p:txBody>
      </p:sp>
      <p:sp>
        <p:nvSpPr>
          <p:cNvPr id="6" name="Shape 3">
            <a:extLst xmlns:a="http://schemas.openxmlformats.org/drawingml/2006/main">
              <a:ext uri="{FF2B5EF4-FFF2-40B4-BE49-F238E27FC236}">
                <a16:creationId xmlns:a16="http://schemas.microsoft.com/office/drawing/2014/main" id="{0342CC60-12E6-48FE-B354-827C4BFDCFE3}"/>
              </a:ext>
            </a:extLst>
          </p:cNvPr>
          <p:cNvSpPr>
            <a:spLocks xmlns:a="http://schemas.openxmlformats.org/drawingml/2006/main" noGrp="1"/>
          </p:cNvSpPr>
          <p:nvPr/>
        </p:nvSpPr>
        <p:spPr>
          <a:xfrm xmlns:a="http://schemas.openxmlformats.org/drawingml/2006/main">
            <a:off x="566928" y="1481328"/>
            <a:ext cx="11055096" cy="676656"/>
          </a:xfrm>
          <a:prstGeom xmlns:a="http://schemas.openxmlformats.org/drawingml/2006/main" prst="rect">
            <a:avLst/>
          </a:prstGeom>
          <a:solidFill xmlns:a="http://schemas.openxmlformats.org/drawingml/2006/main">
            <a:srgbClr val="EFF5F9"/>
          </a:solidFill>
        </p:spPr>
      </p:sp>
      <p:sp>
        <p:nvSpPr>
          <p:cNvPr id="7" name="Shape 4">
            <a:extLst xmlns:a="http://schemas.openxmlformats.org/drawingml/2006/main">
              <a:ext uri="{FF2B5EF4-FFF2-40B4-BE49-F238E27FC236}">
                <a16:creationId xmlns:a16="http://schemas.microsoft.com/office/drawing/2014/main" id="{2C2C8831-A237-43A6-8D7B-C4CC38268D07}"/>
              </a:ext>
            </a:extLst>
          </p:cNvPr>
          <p:cNvSpPr>
            <a:spLocks xmlns:a="http://schemas.openxmlformats.org/drawingml/2006/main" noGrp="1"/>
          </p:cNvSpPr>
          <p:nvPr/>
        </p:nvSpPr>
        <p:spPr>
          <a:xfrm xmlns:a="http://schemas.openxmlformats.org/drawingml/2006/main">
            <a:off x="566928" y="1481328"/>
            <a:ext cx="82296" cy="676656"/>
          </a:xfrm>
          <a:prstGeom xmlns:a="http://schemas.openxmlformats.org/drawingml/2006/main" prst="rect">
            <a:avLst/>
          </a:prstGeom>
          <a:solidFill xmlns:a="http://schemas.openxmlformats.org/drawingml/2006/main">
            <a:srgbClr val="2A78D6"/>
          </a:solidFill>
        </p:spPr>
      </p:sp>
      <p:sp>
        <p:nvSpPr>
          <p:cNvPr id="8" name="Text 5">
            <a:extLst xmlns:a="http://schemas.openxmlformats.org/drawingml/2006/main">
              <a:ext uri="{FF2B5EF4-FFF2-40B4-BE49-F238E27FC236}">
                <a16:creationId xmlns:a16="http://schemas.microsoft.com/office/drawing/2014/main" id="{73285F2E-0D13-49AE-A0FD-BB5FBA119F0B}"/>
              </a:ext>
            </a:extLst>
          </p:cNvPr>
          <p:cNvSpPr>
            <a:spLocks xmlns:a="http://schemas.openxmlformats.org/drawingml/2006/main" noGrp="1"/>
          </p:cNvSpPr>
          <p:nvPr/>
        </p:nvSpPr>
        <p:spPr>
          <a:xfrm xmlns:a="http://schemas.openxmlformats.org/drawingml/2006/main">
            <a:off x="822960" y="1481328"/>
            <a:ext cx="1059789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00">
                <a:solidFill>
                  <a:srgbClr val="2A78D6"/>
                </a:solidFill>
                <a:latin typeface="Calibri"/>
                <a:ea typeface="Calibri"/>
                <a:cs typeface="Calibri"/>
              </a:rPr>
              <a:t>TAKEAWAY   Public CFPB data suggests a narrow test; Phase 0 selects your categories.</a:t>
            </a:r>
            <a:endParaRPr sz="1050"/>
          </a:p>
        </p:txBody>
      </p:sp>
      <p:sp>
        <p:nvSpPr>
          <p:cNvPr id="9" name="Shape 6">
            <a:extLst xmlns:a="http://schemas.openxmlformats.org/drawingml/2006/main">
              <a:ext uri="{FF2B5EF4-FFF2-40B4-BE49-F238E27FC236}">
                <a16:creationId xmlns:a16="http://schemas.microsoft.com/office/drawing/2014/main" id="{43DB66DD-BF89-4675-9C08-60AEFD77041A}"/>
              </a:ext>
            </a:extLst>
          </p:cNvPr>
          <p:cNvSpPr>
            <a:spLocks xmlns:a="http://schemas.openxmlformats.org/drawingml/2006/main" noGrp="1"/>
          </p:cNvSpPr>
          <p:nvPr/>
        </p:nvSpPr>
        <p:spPr>
          <a:xfrm xmlns:a="http://schemas.openxmlformats.org/drawingml/2006/main">
            <a:off x="566928" y="6437376"/>
            <a:ext cx="11055096" cy="0"/>
          </a:xfrm>
          <a:prstGeom xmlns:a="http://schemas.openxmlformats.org/drawingml/2006/main" prst="line">
            <a:avLst/>
          </a:prstGeom>
          <a:noFill xmlns:a="http://schemas.openxmlformats.org/drawingml/2006/main"/>
          <a:ln xmlns:a="http://schemas.openxmlformats.org/drawingml/2006/main" w="12700">
            <a:solidFill>
              <a:srgbClr val="D9E3EA"/>
            </a:solidFill>
            <a:prstDash val="solid"/>
          </a:ln>
        </p:spPr>
      </p:sp>
      <p:sp>
        <p:nvSpPr>
          <p:cNvPr id="10" name="Text 7">
            <a:extLst xmlns:a="http://schemas.openxmlformats.org/drawingml/2006/main">
              <a:ext uri="{FF2B5EF4-FFF2-40B4-BE49-F238E27FC236}">
                <a16:creationId xmlns:a16="http://schemas.microsoft.com/office/drawing/2014/main" id="{C9878604-E02A-4631-A48F-A38A0E43F96D}"/>
              </a:ext>
            </a:extLst>
          </p:cNvPr>
          <p:cNvSpPr>
            <a:spLocks xmlns:a="http://schemas.openxmlformats.org/drawingml/2006/main" noGrp="1"/>
          </p:cNvSpPr>
          <p:nvPr/>
        </p:nvSpPr>
        <p:spPr>
          <a:xfrm xmlns:a="http://schemas.openxmlformats.org/drawingml/2006/main">
            <a:off x="566928" y="64739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850"/>
          </a:p>
        </p:txBody>
      </p:sp>
      <p:sp>
        <p:nvSpPr>
          <p:cNvPr id="11" name="Text 8">
            <a:extLst xmlns:a="http://schemas.openxmlformats.org/drawingml/2006/main">
              <a:ext uri="{FF2B5EF4-FFF2-40B4-BE49-F238E27FC236}">
                <a16:creationId xmlns:a16="http://schemas.microsoft.com/office/drawing/2014/main" id="{537800B2-E9CD-45D8-82AF-3EC010099300}"/>
              </a:ext>
            </a:extLst>
          </p:cNvPr>
          <p:cNvSpPr>
            <a:spLocks xmlns:a="http://schemas.openxmlformats.org/drawingml/2006/main" noGrp="1"/>
          </p:cNvSpPr>
          <p:nvPr/>
        </p:nvSpPr>
        <p:spPr>
          <a:xfrm xmlns:a="http://schemas.openxmlformats.org/drawingml/2006/main">
            <a:off x="10524744" y="647395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B7C88"/>
                </a:solidFill>
                <a:latin typeface="Calibri"/>
                <a:ea typeface="Calibri"/>
                <a:cs typeface="Calibri"/>
              </a:rPr>
              <a:t>6</a:t>
            </a:r>
            <a:endParaRPr sz="850"/>
          </a:p>
        </p:txBody>
      </p:sp>
      <p:sp>
        <p:nvSpPr>
          <p:cNvPr id="12" name="Shape 9">
            <a:extLst xmlns:a="http://schemas.openxmlformats.org/drawingml/2006/main">
              <a:ext uri="{FF2B5EF4-FFF2-40B4-BE49-F238E27FC236}">
                <a16:creationId xmlns:a16="http://schemas.microsoft.com/office/drawing/2014/main" id="{56BE8F92-A63B-40E8-A062-6F2D09607B7F}"/>
              </a:ext>
            </a:extLst>
          </p:cNvPr>
          <p:cNvSpPr>
            <a:spLocks xmlns:a="http://schemas.openxmlformats.org/drawingml/2006/main" noGrp="1"/>
          </p:cNvSpPr>
          <p:nvPr/>
        </p:nvSpPr>
        <p:spPr>
          <a:xfrm xmlns:a="http://schemas.openxmlformats.org/drawingml/2006/main">
            <a:off x="566928" y="2395728"/>
            <a:ext cx="6411956" cy="329184"/>
          </a:xfrm>
          <a:prstGeom xmlns:a="http://schemas.openxmlformats.org/drawingml/2006/main" prst="rect">
            <a:avLst/>
          </a:prstGeom>
          <a:solidFill xmlns:a="http://schemas.openxmlformats.org/drawingml/2006/main">
            <a:srgbClr val="24343F"/>
          </a:solidFill>
        </p:spPr>
      </p:sp>
      <p:sp>
        <p:nvSpPr>
          <p:cNvPr id="13" name="Text 10">
            <a:extLst xmlns:a="http://schemas.openxmlformats.org/drawingml/2006/main">
              <a:ext uri="{FF2B5EF4-FFF2-40B4-BE49-F238E27FC236}">
                <a16:creationId xmlns:a16="http://schemas.microsoft.com/office/drawing/2014/main" id="{EDA69E92-44CC-4758-815F-5A8254927599}"/>
              </a:ext>
            </a:extLst>
          </p:cNvPr>
          <p:cNvSpPr>
            <a:spLocks xmlns:a="http://schemas.openxmlformats.org/drawingml/2006/main" noGrp="1"/>
          </p:cNvSpPr>
          <p:nvPr/>
        </p:nvSpPr>
        <p:spPr>
          <a:xfrm xmlns:a="http://schemas.openxmlformats.org/drawingml/2006/main">
            <a:off x="713232" y="2395728"/>
            <a:ext cx="61376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FFFFF"/>
                </a:solidFill>
                <a:latin typeface="Calibri"/>
                <a:ea typeface="Calibri"/>
                <a:cs typeface="Calibri"/>
              </a:rPr>
              <a:t>Managing an account  —  19.9%</a:t>
            </a:r>
            <a:endParaRPr sz="1050"/>
          </a:p>
        </p:txBody>
      </p:sp>
      <p:sp>
        <p:nvSpPr>
          <p:cNvPr id="14" name="Shape 11">
            <a:extLst xmlns:a="http://schemas.openxmlformats.org/drawingml/2006/main">
              <a:ext uri="{FF2B5EF4-FFF2-40B4-BE49-F238E27FC236}">
                <a16:creationId xmlns:a16="http://schemas.microsoft.com/office/drawing/2014/main" id="{B0BAC1AB-01F2-4A94-A387-42DE8482826B}"/>
              </a:ext>
            </a:extLst>
          </p:cNvPr>
          <p:cNvSpPr>
            <a:spLocks xmlns:a="http://schemas.openxmlformats.org/drawingml/2006/main" noGrp="1"/>
          </p:cNvSpPr>
          <p:nvPr/>
        </p:nvSpPr>
        <p:spPr>
          <a:xfrm xmlns:a="http://schemas.openxmlformats.org/drawingml/2006/main">
            <a:off x="676656" y="2793492"/>
            <a:ext cx="6302228" cy="329184"/>
          </a:xfrm>
          <a:prstGeom xmlns:a="http://schemas.openxmlformats.org/drawingml/2006/main" prst="rect">
            <a:avLst/>
          </a:prstGeom>
          <a:solidFill xmlns:a="http://schemas.openxmlformats.org/drawingml/2006/main">
            <a:srgbClr val="24343F">
              <a:alpha val="94000"/>
            </a:srgbClr>
          </a:solidFill>
        </p:spPr>
      </p:sp>
      <p:sp>
        <p:nvSpPr>
          <p:cNvPr id="15" name="Text 12">
            <a:extLst xmlns:a="http://schemas.openxmlformats.org/drawingml/2006/main">
              <a:ext uri="{FF2B5EF4-FFF2-40B4-BE49-F238E27FC236}">
                <a16:creationId xmlns:a16="http://schemas.microsoft.com/office/drawing/2014/main" id="{15752F61-9A14-42F3-A779-7D6499CC1B6E}"/>
              </a:ext>
            </a:extLst>
          </p:cNvPr>
          <p:cNvSpPr>
            <a:spLocks xmlns:a="http://schemas.openxmlformats.org/drawingml/2006/main" noGrp="1"/>
          </p:cNvSpPr>
          <p:nvPr/>
        </p:nvSpPr>
        <p:spPr>
          <a:xfrm xmlns:a="http://schemas.openxmlformats.org/drawingml/2006/main">
            <a:off x="822960" y="2793492"/>
            <a:ext cx="60279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FFFFF"/>
                </a:solidFill>
                <a:latin typeface="Calibri"/>
                <a:ea typeface="Calibri"/>
                <a:cs typeface="Calibri"/>
              </a:rPr>
              <a:t>Problem with a purchase on your statement  —  11.2%</a:t>
            </a:r>
            <a:endParaRPr sz="1050"/>
          </a:p>
        </p:txBody>
      </p:sp>
      <p:sp>
        <p:nvSpPr>
          <p:cNvPr id="16" name="Shape 13">
            <a:extLst xmlns:a="http://schemas.openxmlformats.org/drawingml/2006/main">
              <a:ext uri="{FF2B5EF4-FFF2-40B4-BE49-F238E27FC236}">
                <a16:creationId xmlns:a16="http://schemas.microsoft.com/office/drawing/2014/main" id="{71D54875-B153-4C23-95D0-851678E85996}"/>
              </a:ext>
            </a:extLst>
          </p:cNvPr>
          <p:cNvSpPr>
            <a:spLocks xmlns:a="http://schemas.openxmlformats.org/drawingml/2006/main" noGrp="1"/>
          </p:cNvSpPr>
          <p:nvPr/>
        </p:nvSpPr>
        <p:spPr>
          <a:xfrm xmlns:a="http://schemas.openxmlformats.org/drawingml/2006/main">
            <a:off x="786384" y="3191256"/>
            <a:ext cx="6192500" cy="329184"/>
          </a:xfrm>
          <a:prstGeom xmlns:a="http://schemas.openxmlformats.org/drawingml/2006/main" prst="rect">
            <a:avLst/>
          </a:prstGeom>
          <a:solidFill xmlns:a="http://schemas.openxmlformats.org/drawingml/2006/main">
            <a:srgbClr val="24343F">
              <a:alpha val="88000"/>
            </a:srgbClr>
          </a:solidFill>
        </p:spPr>
      </p:sp>
      <p:sp>
        <p:nvSpPr>
          <p:cNvPr id="17" name="Text 14">
            <a:extLst xmlns:a="http://schemas.openxmlformats.org/drawingml/2006/main">
              <a:ext uri="{FF2B5EF4-FFF2-40B4-BE49-F238E27FC236}">
                <a16:creationId xmlns:a16="http://schemas.microsoft.com/office/drawing/2014/main" id="{D69ADEBB-615C-44A4-BEAB-3D651C0A2CAA}"/>
              </a:ext>
            </a:extLst>
          </p:cNvPr>
          <p:cNvSpPr>
            <a:spLocks xmlns:a="http://schemas.openxmlformats.org/drawingml/2006/main" noGrp="1"/>
          </p:cNvSpPr>
          <p:nvPr/>
        </p:nvSpPr>
        <p:spPr>
          <a:xfrm xmlns:a="http://schemas.openxmlformats.org/drawingml/2006/main">
            <a:off x="932688" y="3191256"/>
            <a:ext cx="59181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FFFFF"/>
                </a:solidFill>
                <a:latin typeface="Calibri"/>
                <a:ea typeface="Calibri"/>
                <a:cs typeface="Calibri"/>
              </a:rPr>
              <a:t>A lender or company charging your account  —  5.6%</a:t>
            </a:r>
            <a:endParaRPr sz="1050"/>
          </a:p>
        </p:txBody>
      </p:sp>
      <p:sp>
        <p:nvSpPr>
          <p:cNvPr id="18" name="Shape 15">
            <a:extLst xmlns:a="http://schemas.openxmlformats.org/drawingml/2006/main">
              <a:ext uri="{FF2B5EF4-FFF2-40B4-BE49-F238E27FC236}">
                <a16:creationId xmlns:a16="http://schemas.microsoft.com/office/drawing/2014/main" id="{AE059A9D-A47E-445F-82E5-4F707A5EC080}"/>
              </a:ext>
            </a:extLst>
          </p:cNvPr>
          <p:cNvSpPr>
            <a:spLocks xmlns:a="http://schemas.openxmlformats.org/drawingml/2006/main" noGrp="1"/>
          </p:cNvSpPr>
          <p:nvPr/>
        </p:nvSpPr>
        <p:spPr>
          <a:xfrm xmlns:a="http://schemas.openxmlformats.org/drawingml/2006/main">
            <a:off x="896112" y="3589020"/>
            <a:ext cx="6082772" cy="329184"/>
          </a:xfrm>
          <a:prstGeom xmlns:a="http://schemas.openxmlformats.org/drawingml/2006/main" prst="rect">
            <a:avLst/>
          </a:prstGeom>
          <a:solidFill xmlns:a="http://schemas.openxmlformats.org/drawingml/2006/main">
            <a:srgbClr val="24343F">
              <a:alpha val="82000"/>
            </a:srgbClr>
          </a:solidFill>
        </p:spPr>
      </p:sp>
      <p:sp>
        <p:nvSpPr>
          <p:cNvPr id="19" name="Text 16">
            <a:extLst xmlns:a="http://schemas.openxmlformats.org/drawingml/2006/main">
              <a:ext uri="{FF2B5EF4-FFF2-40B4-BE49-F238E27FC236}">
                <a16:creationId xmlns:a16="http://schemas.microsoft.com/office/drawing/2014/main" id="{8DD74476-B68C-41F9-BC8A-5EC588FD8810}"/>
              </a:ext>
            </a:extLst>
          </p:cNvPr>
          <p:cNvSpPr>
            <a:spLocks xmlns:a="http://schemas.openxmlformats.org/drawingml/2006/main" noGrp="1"/>
          </p:cNvSpPr>
          <p:nvPr/>
        </p:nvSpPr>
        <p:spPr>
          <a:xfrm xmlns:a="http://schemas.openxmlformats.org/drawingml/2006/main">
            <a:off x="1042416" y="3589020"/>
            <a:ext cx="580845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FFFFF"/>
                </a:solidFill>
                <a:latin typeface="Calibri"/>
                <a:ea typeface="Calibri"/>
                <a:cs typeface="Calibri"/>
              </a:rPr>
              <a:t>Fraud or scam  —  4.8%</a:t>
            </a:r>
            <a:endParaRPr sz="1050"/>
          </a:p>
        </p:txBody>
      </p:sp>
      <p:sp>
        <p:nvSpPr>
          <p:cNvPr id="20" name="Shape 17">
            <a:extLst xmlns:a="http://schemas.openxmlformats.org/drawingml/2006/main">
              <a:ext uri="{FF2B5EF4-FFF2-40B4-BE49-F238E27FC236}">
                <a16:creationId xmlns:a16="http://schemas.microsoft.com/office/drawing/2014/main" id="{D37CB98A-E6FF-4C2F-BF70-BDEEAA79AD63}"/>
              </a:ext>
            </a:extLst>
          </p:cNvPr>
          <p:cNvSpPr>
            <a:spLocks xmlns:a="http://schemas.openxmlformats.org/drawingml/2006/main" noGrp="1"/>
          </p:cNvSpPr>
          <p:nvPr/>
        </p:nvSpPr>
        <p:spPr>
          <a:xfrm xmlns:a="http://schemas.openxmlformats.org/drawingml/2006/main">
            <a:off x="1005840" y="3986784"/>
            <a:ext cx="5973044" cy="329184"/>
          </a:xfrm>
          <a:prstGeom xmlns:a="http://schemas.openxmlformats.org/drawingml/2006/main" prst="rect">
            <a:avLst/>
          </a:prstGeom>
          <a:solidFill xmlns:a="http://schemas.openxmlformats.org/drawingml/2006/main">
            <a:srgbClr val="24343F">
              <a:alpha val="76000"/>
            </a:srgbClr>
          </a:solidFill>
        </p:spPr>
      </p:sp>
      <p:sp>
        <p:nvSpPr>
          <p:cNvPr id="21" name="Text 18">
            <a:extLst xmlns:a="http://schemas.openxmlformats.org/drawingml/2006/main">
              <a:ext uri="{FF2B5EF4-FFF2-40B4-BE49-F238E27FC236}">
                <a16:creationId xmlns:a16="http://schemas.microsoft.com/office/drawing/2014/main" id="{8734A012-6B1D-45DF-809E-C36DEC901840}"/>
              </a:ext>
            </a:extLst>
          </p:cNvPr>
          <p:cNvSpPr>
            <a:spLocks xmlns:a="http://schemas.openxmlformats.org/drawingml/2006/main" noGrp="1"/>
          </p:cNvSpPr>
          <p:nvPr/>
        </p:nvSpPr>
        <p:spPr>
          <a:xfrm xmlns:a="http://schemas.openxmlformats.org/drawingml/2006/main">
            <a:off x="1152144" y="3986784"/>
            <a:ext cx="569872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FFFFF"/>
                </a:solidFill>
                <a:latin typeface="Calibri"/>
                <a:ea typeface="Calibri"/>
                <a:cs typeface="Calibri"/>
              </a:rPr>
              <a:t>Closing an account  —  4.6%</a:t>
            </a:r>
            <a:endParaRPr sz="1050"/>
          </a:p>
        </p:txBody>
      </p:sp>
      <p:sp>
        <p:nvSpPr>
          <p:cNvPr id="22" name="Shape 19">
            <a:extLst xmlns:a="http://schemas.openxmlformats.org/drawingml/2006/main">
              <a:ext uri="{FF2B5EF4-FFF2-40B4-BE49-F238E27FC236}">
                <a16:creationId xmlns:a16="http://schemas.microsoft.com/office/drawing/2014/main" id="{59BC8660-8123-4C02-965A-F13742D90C3F}"/>
              </a:ext>
            </a:extLst>
          </p:cNvPr>
          <p:cNvSpPr>
            <a:spLocks xmlns:a="http://schemas.openxmlformats.org/drawingml/2006/main" noGrp="1"/>
          </p:cNvSpPr>
          <p:nvPr/>
        </p:nvSpPr>
        <p:spPr>
          <a:xfrm xmlns:a="http://schemas.openxmlformats.org/drawingml/2006/main">
            <a:off x="7253204" y="2395728"/>
            <a:ext cx="4368820" cy="1920240"/>
          </a:xfrm>
          <a:prstGeom xmlns:a="http://schemas.openxmlformats.org/drawingml/2006/main" prst="rect">
            <a:avLst/>
          </a:prstGeom>
          <a:solidFill xmlns:a="http://schemas.openxmlformats.org/drawingml/2006/main">
            <a:srgbClr val="24343F"/>
          </a:solidFill>
          <a:effectLst xmlns:a="http://schemas.openxmlformats.org/drawingml/2006/main">
            <a:outerShdw blurRad="88900" dist="38100" dir="8100000" sx="100000" sy="100000" kx="0" ky="0" algn="bl" rotWithShape="0">
              <a:srgbClr val="1C2440">
                <a:alpha val="13000"/>
              </a:srgbClr>
            </a:outerShdw>
          </a:effectLst>
        </p:spPr>
      </p:sp>
      <p:sp>
        <p:nvSpPr>
          <p:cNvPr id="23" name="Text 20">
            <a:extLst xmlns:a="http://schemas.openxmlformats.org/drawingml/2006/main">
              <a:ext uri="{FF2B5EF4-FFF2-40B4-BE49-F238E27FC236}">
                <a16:creationId xmlns:a16="http://schemas.microsoft.com/office/drawing/2014/main" id="{65F2D466-EBB3-4CEF-98AD-131B92168419}"/>
              </a:ext>
            </a:extLst>
          </p:cNvPr>
          <p:cNvSpPr>
            <a:spLocks xmlns:a="http://schemas.openxmlformats.org/drawingml/2006/main" noGrp="1"/>
          </p:cNvSpPr>
          <p:nvPr/>
        </p:nvSpPr>
        <p:spPr>
          <a:xfrm xmlns:a="http://schemas.openxmlformats.org/drawingml/2006/main">
            <a:off x="7509236" y="2596896"/>
            <a:ext cx="3856756" cy="1517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2A78D6"/>
                </a:solidFill>
                <a:latin typeface="Trebuchet MS"/>
                <a:ea typeface="Trebuchet MS"/>
                <a:cs typeface="Trebuchet MS"/>
              </a:rPr>
              <a:t>46.1%
</a:t>
            </a:r>
            <a:r>
              <a:rPr sz="1300">
                <a:solidFill>
                  <a:srgbClr val="FFFFFF"/>
                </a:solidFill>
              </a:rPr>
              <a:t>of 16,839 public complaints sit in 5 of 64 categories.</a:t>
            </a:r>
            <a:r>
              <a:rPr sz="1300">
                <a:solidFill>
                  <a:srgbClr val="FFFFFF"/>
                </a:solidFill>
              </a:rPr>
              <a:t>
</a:t>
            </a:r>
            <a:r>
              <a:rPr sz="1200" i="1">
                <a:solidFill>
                  <a:srgbClr val="8FBFF0"/>
                </a:solidFill>
              </a:rPr>
              <a:t>Phase 0 tests whether your complaint book is similarly concentrated.</a:t>
            </a:r>
            <a:endParaRPr sz="4000"/>
          </a:p>
        </p:txBody>
      </p:sp>
    </p:spTree>
    <p:extLst>
      <p:ext uri="{BB962C8B-B14F-4D97-AF65-F5344CB8AC3E}">
        <p14:creationId xmlns:p14="http://schemas.microsoft.com/office/powerpoint/2010/main" val="1533357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38C168-76C0-4A55-8C17-DEB98038580E}"/>
              </a:ext>
            </a:extLst>
          </p:cNvPr>
          <p:cNvSpPr>
            <a:spLocks xmlns:a="http://schemas.openxmlformats.org/drawingml/2006/main" noGrp="1"/>
          </p:cNvSpPr>
          <p:nvPr/>
        </p:nvSpPr>
        <p:spPr>
          <a:xfrm xmlns:a="http://schemas.openxmlformats.org/drawingml/2006/main">
            <a:off x="566928" y="310896"/>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B7C88"/>
                </a:solidFill>
                <a:latin typeface="Calibri"/>
                <a:ea typeface="Calibri"/>
                <a:cs typeface="Calibri"/>
              </a:rPr>
              <a:t>CAPSTONE ROUND 1  ·  AI CONSULTING PITCH</a:t>
            </a:r>
            <a:endParaRPr sz="1050"/>
          </a:p>
        </p:txBody>
      </p:sp>
      <p:sp>
        <p:nvSpPr>
          <p:cNvPr id="3" name="Shape 1">
            <a:extLst xmlns:a="http://schemas.openxmlformats.org/drawingml/2006/main">
              <a:ext uri="{FF2B5EF4-FFF2-40B4-BE49-F238E27FC236}">
                <a16:creationId xmlns:a16="http://schemas.microsoft.com/office/drawing/2014/main" id="{E5E38E64-1936-46EC-BE8B-7E9DE57EE258}"/>
              </a:ext>
            </a:extLst>
          </p:cNvPr>
          <p:cNvSpPr>
            <a:spLocks xmlns:a="http://schemas.openxmlformats.org/drawingml/2006/main" noGrp="1"/>
          </p:cNvSpPr>
          <p:nvPr/>
        </p:nvSpPr>
        <p:spPr>
          <a:xfrm xmlns:a="http://schemas.openxmlformats.org/drawingml/2006/main">
            <a:off x="566928" y="658368"/>
            <a:ext cx="566928" cy="566928"/>
          </a:xfrm>
          <a:prstGeom xmlns:a="http://schemas.openxmlformats.org/drawingml/2006/main" prst="ellipse">
            <a:avLst/>
          </a:prstGeom>
          <a:solidFill xmlns:a="http://schemas.openxmlformats.org/drawingml/2006/main">
            <a:srgbClr val="24343F"/>
          </a:solidFill>
        </p:spPr>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0306a19abd3142e6"/>
          <a:stretch xmlns:a="http://schemas.openxmlformats.org/drawingml/2006/main">
            <a:fillRect l="0" t="0" r="0" b="0"/>
          </a:stretch>
        </p:blipFill>
        <p:spPr>
          <a:xfrm xmlns:a="http://schemas.openxmlformats.org/drawingml/2006/main">
            <a:off x="708660" y="800100"/>
            <a:ext cx="283464" cy="28346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31A691E1-1189-4036-BEEE-58B22D73C256}"/>
              </a:ext>
            </a:extLst>
          </p:cNvPr>
          <p:cNvSpPr>
            <a:spLocks xmlns:a="http://schemas.openxmlformats.org/drawingml/2006/main" noGrp="1"/>
          </p:cNvSpPr>
          <p:nvPr/>
        </p:nvSpPr>
        <p:spPr>
          <a:xfrm xmlns:a="http://schemas.openxmlformats.org/drawingml/2006/main">
            <a:off x="1316736" y="621792"/>
            <a:ext cx="1030528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343F"/>
                </a:solidFill>
                <a:latin typeface="Trebuchet MS"/>
                <a:ea typeface="Trebuchet MS"/>
                <a:cs typeface="Trebuchet MS"/>
              </a:rPr>
              <a:t>Complaint volume does not predict monetary relief</a:t>
            </a:r>
            <a:endParaRPr sz="3000"/>
          </a:p>
        </p:txBody>
      </p:sp>
      <p:sp>
        <p:nvSpPr>
          <p:cNvPr id="6" name="Shape 3">
            <a:extLst xmlns:a="http://schemas.openxmlformats.org/drawingml/2006/main">
              <a:ext uri="{FF2B5EF4-FFF2-40B4-BE49-F238E27FC236}">
                <a16:creationId xmlns:a16="http://schemas.microsoft.com/office/drawing/2014/main" id="{6621DF98-207D-4A64-8241-48E8F0A9EB74}"/>
              </a:ext>
            </a:extLst>
          </p:cNvPr>
          <p:cNvSpPr>
            <a:spLocks xmlns:a="http://schemas.openxmlformats.org/drawingml/2006/main" noGrp="1"/>
          </p:cNvSpPr>
          <p:nvPr/>
        </p:nvSpPr>
        <p:spPr>
          <a:xfrm xmlns:a="http://schemas.openxmlformats.org/drawingml/2006/main">
            <a:off x="566928" y="1481328"/>
            <a:ext cx="11055096" cy="676656"/>
          </a:xfrm>
          <a:prstGeom xmlns:a="http://schemas.openxmlformats.org/drawingml/2006/main" prst="rect">
            <a:avLst/>
          </a:prstGeom>
          <a:solidFill xmlns:a="http://schemas.openxmlformats.org/drawingml/2006/main">
            <a:srgbClr val="EFF5F9"/>
          </a:solidFill>
        </p:spPr>
      </p:sp>
      <p:sp>
        <p:nvSpPr>
          <p:cNvPr id="7" name="Shape 4">
            <a:extLst xmlns:a="http://schemas.openxmlformats.org/drawingml/2006/main">
              <a:ext uri="{FF2B5EF4-FFF2-40B4-BE49-F238E27FC236}">
                <a16:creationId xmlns:a16="http://schemas.microsoft.com/office/drawing/2014/main" id="{2A895384-D1D1-4017-B2AD-04D5F9DAC147}"/>
              </a:ext>
            </a:extLst>
          </p:cNvPr>
          <p:cNvSpPr>
            <a:spLocks xmlns:a="http://schemas.openxmlformats.org/drawingml/2006/main" noGrp="1"/>
          </p:cNvSpPr>
          <p:nvPr/>
        </p:nvSpPr>
        <p:spPr>
          <a:xfrm xmlns:a="http://schemas.openxmlformats.org/drawingml/2006/main">
            <a:off x="566928" y="1481328"/>
            <a:ext cx="82296" cy="676656"/>
          </a:xfrm>
          <a:prstGeom xmlns:a="http://schemas.openxmlformats.org/drawingml/2006/main" prst="rect">
            <a:avLst/>
          </a:prstGeom>
          <a:solidFill xmlns:a="http://schemas.openxmlformats.org/drawingml/2006/main">
            <a:srgbClr val="2A78D6"/>
          </a:solidFill>
        </p:spPr>
      </p:sp>
      <p:sp>
        <p:nvSpPr>
          <p:cNvPr id="8" name="Text 5">
            <a:extLst xmlns:a="http://schemas.openxmlformats.org/drawingml/2006/main">
              <a:ext uri="{FF2B5EF4-FFF2-40B4-BE49-F238E27FC236}">
                <a16:creationId xmlns:a16="http://schemas.microsoft.com/office/drawing/2014/main" id="{D5A310F4-5919-408D-87B1-3CE290AEF447}"/>
              </a:ext>
            </a:extLst>
          </p:cNvPr>
          <p:cNvSpPr>
            <a:spLocks xmlns:a="http://schemas.openxmlformats.org/drawingml/2006/main" noGrp="1"/>
          </p:cNvSpPr>
          <p:nvPr/>
        </p:nvSpPr>
        <p:spPr>
          <a:xfrm xmlns:a="http://schemas.openxmlformats.org/drawingml/2006/main">
            <a:off x="822960" y="1481328"/>
            <a:ext cx="1059789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00">
                <a:solidFill>
                  <a:srgbClr val="2A78D6"/>
                </a:solidFill>
                <a:latin typeface="Calibri"/>
                <a:ea typeface="Calibri"/>
                <a:cs typeface="Calibri"/>
              </a:rPr>
              <a:t>TAKEAWAY   In public CFPB data, credit-card complaints ended with monetary relief 5.7× as often as vehicle-loan complaints.</a:t>
            </a:r>
            <a:endParaRPr sz="1050"/>
          </a:p>
        </p:txBody>
      </p:sp>
      <p:sp>
        <p:nvSpPr>
          <p:cNvPr id="9" name="Shape 6">
            <a:extLst xmlns:a="http://schemas.openxmlformats.org/drawingml/2006/main">
              <a:ext uri="{FF2B5EF4-FFF2-40B4-BE49-F238E27FC236}">
                <a16:creationId xmlns:a16="http://schemas.microsoft.com/office/drawing/2014/main" id="{67E25FD0-114A-43DA-B381-ED5ED615EB9B}"/>
              </a:ext>
            </a:extLst>
          </p:cNvPr>
          <p:cNvSpPr>
            <a:spLocks xmlns:a="http://schemas.openxmlformats.org/drawingml/2006/main" noGrp="1"/>
          </p:cNvSpPr>
          <p:nvPr/>
        </p:nvSpPr>
        <p:spPr>
          <a:xfrm xmlns:a="http://schemas.openxmlformats.org/drawingml/2006/main">
            <a:off x="566928" y="6437376"/>
            <a:ext cx="11055096" cy="0"/>
          </a:xfrm>
          <a:prstGeom xmlns:a="http://schemas.openxmlformats.org/drawingml/2006/main" prst="line">
            <a:avLst/>
          </a:prstGeom>
          <a:noFill xmlns:a="http://schemas.openxmlformats.org/drawingml/2006/main"/>
          <a:ln xmlns:a="http://schemas.openxmlformats.org/drawingml/2006/main" w="12700">
            <a:solidFill>
              <a:srgbClr val="D9E3EA"/>
            </a:solidFill>
            <a:prstDash val="solid"/>
          </a:ln>
        </p:spPr>
      </p:sp>
      <p:sp>
        <p:nvSpPr>
          <p:cNvPr id="10" name="Text 7">
            <a:extLst xmlns:a="http://schemas.openxmlformats.org/drawingml/2006/main">
              <a:ext uri="{FF2B5EF4-FFF2-40B4-BE49-F238E27FC236}">
                <a16:creationId xmlns:a16="http://schemas.microsoft.com/office/drawing/2014/main" id="{ABFDB0A2-26F9-4AED-AB57-83F0F8331767}"/>
              </a:ext>
            </a:extLst>
          </p:cNvPr>
          <p:cNvSpPr>
            <a:spLocks xmlns:a="http://schemas.openxmlformats.org/drawingml/2006/main" noGrp="1"/>
          </p:cNvSpPr>
          <p:nvPr/>
        </p:nvSpPr>
        <p:spPr>
          <a:xfrm xmlns:a="http://schemas.openxmlformats.org/drawingml/2006/main">
            <a:off x="566928" y="64739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850"/>
          </a:p>
        </p:txBody>
      </p:sp>
      <p:sp>
        <p:nvSpPr>
          <p:cNvPr id="11" name="Text 8">
            <a:extLst xmlns:a="http://schemas.openxmlformats.org/drawingml/2006/main">
              <a:ext uri="{FF2B5EF4-FFF2-40B4-BE49-F238E27FC236}">
                <a16:creationId xmlns:a16="http://schemas.microsoft.com/office/drawing/2014/main" id="{490DFB8F-8291-44CF-AA0E-08D8F10D683C}"/>
              </a:ext>
            </a:extLst>
          </p:cNvPr>
          <p:cNvSpPr>
            <a:spLocks xmlns:a="http://schemas.openxmlformats.org/drawingml/2006/main" noGrp="1"/>
          </p:cNvSpPr>
          <p:nvPr/>
        </p:nvSpPr>
        <p:spPr>
          <a:xfrm xmlns:a="http://schemas.openxmlformats.org/drawingml/2006/main">
            <a:off x="10524744" y="647395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B7C88"/>
                </a:solidFill>
                <a:latin typeface="Calibri"/>
                <a:ea typeface="Calibri"/>
                <a:cs typeface="Calibri"/>
              </a:rPr>
              <a:t>7</a:t>
            </a:r>
            <a:endParaRPr sz="850"/>
          </a:p>
        </p:txBody>
      </p:sp>
      <p:graphicFrame>
        <p:nvGraphicFramePr>
          <p:cNvPr id="28" name="Table 0"/>
          <p:cNvGraphicFramePr/>
          <p:nvPr/>
        </p:nvGraphicFramePr>
        <p:xfrm>
          <a:off xmlns:a="http://schemas.openxmlformats.org/drawingml/2006/main" x="566928" y="2395728"/>
          <a:ext xmlns:a="http://schemas.openxmlformats.org/drawingml/2006/main" cx="11055096" cy="914400"/>
        </p:xfrm>
        <a:graphic xmlns:a="http://schemas.openxmlformats.org/drawingml/2006/main">
          <a:graphicData uri="http://schemas.openxmlformats.org/drawingml/2006/table">
            <a:tbl>
              <a:tblPr/>
              <a:tblGrid>
                <a:gridCol w="3749040"/>
                <a:gridCol w="1371600"/>
                <a:gridCol w="1188720"/>
                <a:gridCol w="2377440"/>
              </a:tblGrid>
              <a:tr h="329184">
                <a:tc>
                  <a:txBody>
                    <a:bodyPr/>
                    <a:lstStyle/>
                    <a:p>
                      <a:pPr marL="0" indent="0">
                        <a:buNone/>
                      </a:pPr>
                      <a:r>
                        <a:rPr sz="1100" b="1">
                          <a:solidFill>
                            <a:srgbClr val="FFFFFF"/>
                          </a:solidFill>
                        </a:rPr>
                        <a:t>Product</a:t>
                      </a:r>
                      <a:endParaRPr sz="110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445A69"/>
                    </a:solidFill>
                  </a:tcPr>
                </a:tc>
                <a:tc>
                  <a:txBody>
                    <a:bodyPr/>
                    <a:lstStyle/>
                    <a:p>
                      <a:pPr marL="0" indent="0">
                        <a:buNone/>
                      </a:pPr>
                      <a:r>
                        <a:rPr sz="1100" b="1">
                          <a:solidFill>
                            <a:srgbClr val="FFFFFF"/>
                          </a:solidFill>
                        </a:rPr>
                        <a:t>Complaints</a:t>
                      </a:r>
                      <a:endParaRPr sz="110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445A69"/>
                    </a:solidFill>
                  </a:tcPr>
                </a:tc>
                <a:tc>
                  <a:txBody>
                    <a:bodyPr/>
                    <a:lstStyle/>
                    <a:p>
                      <a:pPr marL="0" indent="0">
                        <a:buNone/>
                      </a:pPr>
                      <a:r>
                        <a:rPr sz="1100" b="1">
                          <a:solidFill>
                            <a:srgbClr val="FFFFFF"/>
                          </a:solidFill>
                        </a:rPr>
                        <a:t>Share</a:t>
                      </a:r>
                      <a:endParaRPr sz="110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445A69"/>
                    </a:solidFill>
                  </a:tcPr>
                </a:tc>
                <a:tc>
                  <a:txBody>
                    <a:bodyPr/>
                    <a:lstStyle/>
                    <a:p>
                      <a:pPr marL="0" indent="0">
                        <a:buNone/>
                      </a:pPr>
                      <a:r>
                        <a:rPr sz="1100" b="1">
                          <a:solidFill>
                            <a:srgbClr val="FFFFFF"/>
                          </a:solidFill>
                        </a:rPr>
                        <a:t>Closed with money paid</a:t>
                      </a:r>
                      <a:endParaRPr sz="110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445A69"/>
                    </a:solidFill>
                  </a:tcPr>
                </a:tc>
              </a:tr>
              <a:tr h="384048">
                <a:tc>
                  <a:txBody>
                    <a:bodyPr/>
                    <a:lstStyle/>
                    <a:p>
                      <a:pPr marL="0" indent="0">
                        <a:buNone/>
                      </a:pPr>
                      <a:r>
                        <a:rPr sz="1050" b="1">
                          <a:solidFill>
                            <a:srgbClr val="24343F"/>
                          </a:solidFill>
                        </a:rPr>
                        <a:t>Checking or savings</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5,835</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34.7%</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14.0%</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r h="384048">
                <a:tc>
                  <a:txBody>
                    <a:bodyPr/>
                    <a:lstStyle/>
                    <a:p>
                      <a:pPr marL="0" indent="0">
                        <a:buNone/>
                      </a:pPr>
                      <a:r>
                        <a:rPr sz="1050" b="1">
                          <a:solidFill>
                            <a:srgbClr val="24343F"/>
                          </a:solidFill>
                        </a:rPr>
                        <a:t>Credit card</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5,382</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32.0%</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17.2%</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r h="384048">
                <a:tc>
                  <a:txBody>
                    <a:bodyPr/>
                    <a:lstStyle/>
                    <a:p>
                      <a:pPr marL="0" indent="0">
                        <a:buNone/>
                      </a:pPr>
                      <a:r>
                        <a:rPr sz="1050" b="1">
                          <a:solidFill>
                            <a:srgbClr val="24343F"/>
                          </a:solidFill>
                        </a:rPr>
                        <a:t>Money transfer</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2,551</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15.1%</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10.6%</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r h="384048">
                <a:tc>
                  <a:txBody>
                    <a:bodyPr/>
                    <a:lstStyle/>
                    <a:p>
                      <a:pPr marL="0" indent="0">
                        <a:buNone/>
                      </a:pPr>
                      <a:r>
                        <a:rPr sz="1050" b="1">
                          <a:solidFill>
                            <a:srgbClr val="24343F"/>
                          </a:solidFill>
                        </a:rPr>
                        <a:t>Vehicle loan</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1,523</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9.0%</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3.0%</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bl>
          </a:graphicData>
        </a:graphic>
      </p:graphicFrame>
      <p:sp>
        <p:nvSpPr>
          <p:cNvPr id="13" name="Shape 9">
            <a:extLst xmlns:a="http://schemas.openxmlformats.org/drawingml/2006/main">
              <a:ext uri="{FF2B5EF4-FFF2-40B4-BE49-F238E27FC236}">
                <a16:creationId xmlns:a16="http://schemas.microsoft.com/office/drawing/2014/main" id="{058E1A81-D93E-4FDE-BBA8-FB47E36E48BB}"/>
              </a:ext>
            </a:extLst>
          </p:cNvPr>
          <p:cNvSpPr>
            <a:spLocks xmlns:a="http://schemas.openxmlformats.org/drawingml/2006/main" noGrp="1"/>
          </p:cNvSpPr>
          <p:nvPr/>
        </p:nvSpPr>
        <p:spPr>
          <a:xfrm xmlns:a="http://schemas.openxmlformats.org/drawingml/2006/main">
            <a:off x="566928" y="4489704"/>
            <a:ext cx="11055096" cy="640080"/>
          </a:xfrm>
          <a:prstGeom xmlns:a="http://schemas.openxmlformats.org/drawingml/2006/main" prst="rect">
            <a:avLst/>
          </a:prstGeom>
          <a:solidFill xmlns:a="http://schemas.openxmlformats.org/drawingml/2006/main">
            <a:srgbClr val="EFF5F9"/>
          </a:solidFill>
        </p:spPr>
      </p:sp>
      <p:sp>
        <p:nvSpPr>
          <p:cNvPr id="14" name="Shape 10">
            <a:extLst xmlns:a="http://schemas.openxmlformats.org/drawingml/2006/main">
              <a:ext uri="{FF2B5EF4-FFF2-40B4-BE49-F238E27FC236}">
                <a16:creationId xmlns:a16="http://schemas.microsoft.com/office/drawing/2014/main" id="{3D4B9AD0-36F3-4DF7-8AD1-76FBADC3E4D9}"/>
              </a:ext>
            </a:extLst>
          </p:cNvPr>
          <p:cNvSpPr>
            <a:spLocks xmlns:a="http://schemas.openxmlformats.org/drawingml/2006/main" noGrp="1"/>
          </p:cNvSpPr>
          <p:nvPr/>
        </p:nvSpPr>
        <p:spPr>
          <a:xfrm xmlns:a="http://schemas.openxmlformats.org/drawingml/2006/main">
            <a:off x="566928" y="4489704"/>
            <a:ext cx="82296" cy="640080"/>
          </a:xfrm>
          <a:prstGeom xmlns:a="http://schemas.openxmlformats.org/drawingml/2006/main" prst="rect">
            <a:avLst/>
          </a:prstGeom>
          <a:solidFill xmlns:a="http://schemas.openxmlformats.org/drawingml/2006/main">
            <a:srgbClr val="2A78D6"/>
          </a:solidFill>
        </p:spPr>
      </p:sp>
      <p:sp>
        <p:nvSpPr>
          <p:cNvPr id="15" name="Text 11">
            <a:extLst xmlns:a="http://schemas.openxmlformats.org/drawingml/2006/main">
              <a:ext uri="{FF2B5EF4-FFF2-40B4-BE49-F238E27FC236}">
                <a16:creationId xmlns:a16="http://schemas.microsoft.com/office/drawing/2014/main" id="{89924444-5835-4F06-9F8F-D36A8E66FF83}"/>
              </a:ext>
            </a:extLst>
          </p:cNvPr>
          <p:cNvSpPr>
            <a:spLocks xmlns:a="http://schemas.openxmlformats.org/drawingml/2006/main" noGrp="1"/>
          </p:cNvSpPr>
          <p:nvPr/>
        </p:nvSpPr>
        <p:spPr>
          <a:xfrm xmlns:a="http://schemas.openxmlformats.org/drawingml/2006/main">
            <a:off x="822960" y="4489704"/>
            <a:ext cx="10597896"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00000"/>
                </a:solidFill>
                <a:latin typeface="Calibri"/>
                <a:ea typeface="Calibri"/>
                <a:cs typeface="Calibri"/>
              </a:rPr>
              <a:t>This is a public-data relationship; Phase 0 tests whether it appears in your complaint book.</a:t>
            </a:r>
            <a:endParaRPr sz="1250"/>
          </a:p>
        </p:txBody>
      </p:sp>
    </p:spTree>
    <p:extLst>
      <p:ext uri="{BB962C8B-B14F-4D97-AF65-F5344CB8AC3E}">
        <p14:creationId xmlns:p14="http://schemas.microsoft.com/office/powerpoint/2010/main" val="21106212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767F41-F5E3-4A08-8566-3D083A35ECEB}"/>
              </a:ext>
            </a:extLst>
          </p:cNvPr>
          <p:cNvSpPr>
            <a:spLocks xmlns:a="http://schemas.openxmlformats.org/drawingml/2006/main" noGrp="1"/>
          </p:cNvSpPr>
          <p:nvPr/>
        </p:nvSpPr>
        <p:spPr>
          <a:xfrm xmlns:a="http://schemas.openxmlformats.org/drawingml/2006/main">
            <a:off x="566928" y="310896"/>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B7C88"/>
                </a:solidFill>
                <a:latin typeface="Calibri"/>
                <a:ea typeface="Calibri"/>
                <a:cs typeface="Calibri"/>
              </a:rPr>
              <a:t>CAPSTONE ROUND 1  ·  AI CONSULTING PITCH</a:t>
            </a:r>
            <a:endParaRPr sz="1050"/>
          </a:p>
        </p:txBody>
      </p:sp>
      <p:sp>
        <p:nvSpPr>
          <p:cNvPr id="3" name="Shape 1">
            <a:extLst xmlns:a="http://schemas.openxmlformats.org/drawingml/2006/main">
              <a:ext uri="{FF2B5EF4-FFF2-40B4-BE49-F238E27FC236}">
                <a16:creationId xmlns:a16="http://schemas.microsoft.com/office/drawing/2014/main" id="{EE704676-748F-4BFF-8647-4340CF3BD0D2}"/>
              </a:ext>
            </a:extLst>
          </p:cNvPr>
          <p:cNvSpPr>
            <a:spLocks xmlns:a="http://schemas.openxmlformats.org/drawingml/2006/main" noGrp="1"/>
          </p:cNvSpPr>
          <p:nvPr/>
        </p:nvSpPr>
        <p:spPr>
          <a:xfrm xmlns:a="http://schemas.openxmlformats.org/drawingml/2006/main">
            <a:off x="566928" y="658368"/>
            <a:ext cx="566928" cy="566928"/>
          </a:xfrm>
          <a:prstGeom xmlns:a="http://schemas.openxmlformats.org/drawingml/2006/main" prst="ellipse">
            <a:avLst/>
          </a:prstGeom>
          <a:solidFill xmlns:a="http://schemas.openxmlformats.org/drawingml/2006/main">
            <a:srgbClr val="24343F"/>
          </a:solidFill>
        </p:spPr>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904af97ae8654a15"/>
          <a:stretch xmlns:a="http://schemas.openxmlformats.org/drawingml/2006/main">
            <a:fillRect l="0" t="0" r="0" b="0"/>
          </a:stretch>
        </p:blipFill>
        <p:spPr>
          <a:xfrm xmlns:a="http://schemas.openxmlformats.org/drawingml/2006/main">
            <a:off x="708660" y="800100"/>
            <a:ext cx="283464" cy="28346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E78C994F-A3C9-4C9F-9790-7F14CC5985FC}"/>
              </a:ext>
            </a:extLst>
          </p:cNvPr>
          <p:cNvSpPr>
            <a:spLocks xmlns:a="http://schemas.openxmlformats.org/drawingml/2006/main" noGrp="1"/>
          </p:cNvSpPr>
          <p:nvPr/>
        </p:nvSpPr>
        <p:spPr>
          <a:xfrm xmlns:a="http://schemas.openxmlformats.org/drawingml/2006/main">
            <a:off x="1316736" y="621792"/>
            <a:ext cx="1030528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343F"/>
                </a:solidFill>
                <a:latin typeface="Trebuchet MS"/>
                <a:ea typeface="Trebuchet MS"/>
                <a:cs typeface="Trebuchet MS"/>
              </a:rPr>
              <a:t>All 60 evaluation decisions are accounted for</a:t>
            </a:r>
            <a:endParaRPr sz="3000"/>
          </a:p>
        </p:txBody>
      </p:sp>
      <p:sp>
        <p:nvSpPr>
          <p:cNvPr id="6" name="Shape 3">
            <a:extLst xmlns:a="http://schemas.openxmlformats.org/drawingml/2006/main">
              <a:ext uri="{FF2B5EF4-FFF2-40B4-BE49-F238E27FC236}">
                <a16:creationId xmlns:a16="http://schemas.microsoft.com/office/drawing/2014/main" id="{F4276BF7-BD11-427A-8D8C-D6578032A259}"/>
              </a:ext>
            </a:extLst>
          </p:cNvPr>
          <p:cNvSpPr>
            <a:spLocks xmlns:a="http://schemas.openxmlformats.org/drawingml/2006/main" noGrp="1"/>
          </p:cNvSpPr>
          <p:nvPr/>
        </p:nvSpPr>
        <p:spPr>
          <a:xfrm xmlns:a="http://schemas.openxmlformats.org/drawingml/2006/main">
            <a:off x="566928" y="1481328"/>
            <a:ext cx="11055096" cy="676656"/>
          </a:xfrm>
          <a:prstGeom xmlns:a="http://schemas.openxmlformats.org/drawingml/2006/main" prst="rect">
            <a:avLst/>
          </a:prstGeom>
          <a:solidFill xmlns:a="http://schemas.openxmlformats.org/drawingml/2006/main">
            <a:srgbClr val="EFF5F9"/>
          </a:solidFill>
        </p:spPr>
      </p:sp>
      <p:sp>
        <p:nvSpPr>
          <p:cNvPr id="7" name="Shape 4">
            <a:extLst xmlns:a="http://schemas.openxmlformats.org/drawingml/2006/main">
              <a:ext uri="{FF2B5EF4-FFF2-40B4-BE49-F238E27FC236}">
                <a16:creationId xmlns:a16="http://schemas.microsoft.com/office/drawing/2014/main" id="{F65156A7-B4A3-4D02-934D-12DC414B0293}"/>
              </a:ext>
            </a:extLst>
          </p:cNvPr>
          <p:cNvSpPr>
            <a:spLocks xmlns:a="http://schemas.openxmlformats.org/drawingml/2006/main" noGrp="1"/>
          </p:cNvSpPr>
          <p:nvPr/>
        </p:nvSpPr>
        <p:spPr>
          <a:xfrm xmlns:a="http://schemas.openxmlformats.org/drawingml/2006/main">
            <a:off x="566928" y="1481328"/>
            <a:ext cx="82296" cy="676656"/>
          </a:xfrm>
          <a:prstGeom xmlns:a="http://schemas.openxmlformats.org/drawingml/2006/main" prst="rect">
            <a:avLst/>
          </a:prstGeom>
          <a:solidFill xmlns:a="http://schemas.openxmlformats.org/drawingml/2006/main">
            <a:srgbClr val="2A78D6"/>
          </a:solidFill>
        </p:spPr>
      </p:sp>
      <p:sp>
        <p:nvSpPr>
          <p:cNvPr id="8" name="Text 5">
            <a:extLst xmlns:a="http://schemas.openxmlformats.org/drawingml/2006/main">
              <a:ext uri="{FF2B5EF4-FFF2-40B4-BE49-F238E27FC236}">
                <a16:creationId xmlns:a16="http://schemas.microsoft.com/office/drawing/2014/main" id="{062D030E-4B15-4E2D-B412-E54D65E50934}"/>
              </a:ext>
            </a:extLst>
          </p:cNvPr>
          <p:cNvSpPr>
            <a:spLocks xmlns:a="http://schemas.openxmlformats.org/drawingml/2006/main" noGrp="1"/>
          </p:cNvSpPr>
          <p:nvPr/>
        </p:nvSpPr>
        <p:spPr>
          <a:xfrm xmlns:a="http://schemas.openxmlformats.org/drawingml/2006/main">
            <a:off x="822960" y="1481328"/>
            <a:ext cx="1059789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00">
                <a:solidFill>
                  <a:srgbClr val="2A78D6"/>
                </a:solidFill>
                <a:latin typeface="Calibri"/>
                <a:ea typeface="Calibri"/>
                <a:cs typeface="Calibri"/>
              </a:rPr>
              <a:t>TAKEAWAY   </a:t>
            </a:r>
            <a:r>
              <a:rPr sz="1300">
                <a:solidFill>
                  <a:srgbClr val="1B2730"/>
                </a:solidFill>
                <a:latin typeface="Calibri"/>
                <a:ea typeface="Calibri"/>
                <a:cs typeface="Calibri"/>
              </a:rPr>
              <a:t>60 evaluation cases; every outcome has a reason code.</a:t>
            </a:r>
            <a:endParaRPr sz="1050"/>
          </a:p>
        </p:txBody>
      </p:sp>
      <p:sp>
        <p:nvSpPr>
          <p:cNvPr id="9" name="Shape 6">
            <a:extLst xmlns:a="http://schemas.openxmlformats.org/drawingml/2006/main">
              <a:ext uri="{FF2B5EF4-FFF2-40B4-BE49-F238E27FC236}">
                <a16:creationId xmlns:a16="http://schemas.microsoft.com/office/drawing/2014/main" id="{8D4174F3-C1DA-4F32-9978-34A92CD256E6}"/>
              </a:ext>
            </a:extLst>
          </p:cNvPr>
          <p:cNvSpPr>
            <a:spLocks xmlns:a="http://schemas.openxmlformats.org/drawingml/2006/main" noGrp="1"/>
          </p:cNvSpPr>
          <p:nvPr/>
        </p:nvSpPr>
        <p:spPr>
          <a:xfrm xmlns:a="http://schemas.openxmlformats.org/drawingml/2006/main">
            <a:off x="566928" y="6437376"/>
            <a:ext cx="11055096" cy="0"/>
          </a:xfrm>
          <a:prstGeom xmlns:a="http://schemas.openxmlformats.org/drawingml/2006/main" prst="line">
            <a:avLst/>
          </a:prstGeom>
          <a:noFill xmlns:a="http://schemas.openxmlformats.org/drawingml/2006/main"/>
          <a:ln xmlns:a="http://schemas.openxmlformats.org/drawingml/2006/main" w="12700">
            <a:solidFill>
              <a:srgbClr val="D9E3EA"/>
            </a:solidFill>
            <a:prstDash val="solid"/>
          </a:ln>
        </p:spPr>
      </p:sp>
      <p:sp>
        <p:nvSpPr>
          <p:cNvPr id="10" name="Text 7">
            <a:extLst xmlns:a="http://schemas.openxmlformats.org/drawingml/2006/main">
              <a:ext uri="{FF2B5EF4-FFF2-40B4-BE49-F238E27FC236}">
                <a16:creationId xmlns:a16="http://schemas.microsoft.com/office/drawing/2014/main" id="{A7C1EA5D-7D52-4ED4-AD83-8ECBEECCF734}"/>
              </a:ext>
            </a:extLst>
          </p:cNvPr>
          <p:cNvSpPr>
            <a:spLocks xmlns:a="http://schemas.openxmlformats.org/drawingml/2006/main" noGrp="1"/>
          </p:cNvSpPr>
          <p:nvPr/>
        </p:nvSpPr>
        <p:spPr>
          <a:xfrm xmlns:a="http://schemas.openxmlformats.org/drawingml/2006/main">
            <a:off x="566928" y="64739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850"/>
          </a:p>
        </p:txBody>
      </p:sp>
      <p:sp>
        <p:nvSpPr>
          <p:cNvPr id="11" name="Text 8">
            <a:extLst xmlns:a="http://schemas.openxmlformats.org/drawingml/2006/main">
              <a:ext uri="{FF2B5EF4-FFF2-40B4-BE49-F238E27FC236}">
                <a16:creationId xmlns:a16="http://schemas.microsoft.com/office/drawing/2014/main" id="{FE5D79FF-1575-42D7-861B-5F2EA86FE970}"/>
              </a:ext>
            </a:extLst>
          </p:cNvPr>
          <p:cNvSpPr>
            <a:spLocks xmlns:a="http://schemas.openxmlformats.org/drawingml/2006/main" noGrp="1"/>
          </p:cNvSpPr>
          <p:nvPr/>
        </p:nvSpPr>
        <p:spPr>
          <a:xfrm xmlns:a="http://schemas.openxmlformats.org/drawingml/2006/main">
            <a:off x="10524744" y="647395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B7C88"/>
                </a:solidFill>
                <a:latin typeface="Calibri"/>
                <a:ea typeface="Calibri"/>
                <a:cs typeface="Calibri"/>
              </a:rPr>
              <a:t>8</a:t>
            </a:r>
            <a:endParaRPr sz="850"/>
          </a:p>
        </p:txBody>
      </p:sp>
      <p:graphicFrame>
        <p:nvGraphicFramePr>
          <p:cNvPr id="28" name="Table 0"/>
          <p:cNvGraphicFramePr/>
          <p:nvPr/>
        </p:nvGraphicFramePr>
        <p:xfrm>
          <a:off xmlns:a="http://schemas.openxmlformats.org/drawingml/2006/main" x="566928" y="2395728"/>
          <a:ext xmlns:a="http://schemas.openxmlformats.org/drawingml/2006/main" cx="11055096" cy="914400"/>
        </p:xfrm>
        <a:graphic xmlns:a="http://schemas.openxmlformats.org/drawingml/2006/main">
          <a:graphicData uri="http://schemas.openxmlformats.org/drawingml/2006/table">
            <a:tbl>
              <a:tblPr/>
              <a:tblGrid>
                <a:gridCol w="3931920"/>
                <a:gridCol w="7123176"/>
              </a:tblGrid>
              <a:tr h="329184">
                <a:tc>
                  <a:txBody>
                    <a:bodyPr/>
                    <a:lstStyle/>
                    <a:p>
                      <a:pPr marL="0" indent="0">
                        <a:buNone/>
                      </a:pPr>
                      <a:r>
                        <a:rPr sz="1100" b="1" spc="100">
                          <a:solidFill>
                            <a:srgbClr val="FFFFFF"/>
                          </a:solidFill>
                        </a:rPr>
                        <a:t>WHAT HAPPENED</a:t>
                      </a:r>
                      <a:endParaRPr sz="110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445A69"/>
                    </a:solidFill>
                  </a:tcPr>
                </a:tc>
                <a:tc>
                  <a:txBody>
                    <a:bodyPr/>
                    <a:lstStyle/>
                    <a:p>
                      <a:pPr marL="0" indent="0">
                        <a:buNone/>
                      </a:pPr>
                      <a:r>
                        <a:rPr sz="1100" b="1" spc="100">
                          <a:solidFill>
                            <a:srgbClr val="1D2A32"/>
                          </a:solidFill>
                        </a:rPr>
                        <a:t>HOW OFTEN, IN 60 DECISIONS</a:t>
                      </a:r>
                      <a:endParaRPr sz="110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2A78D6"/>
                    </a:solidFill>
                  </a:tcPr>
                </a:tc>
              </a:tr>
              <a:tr h="338328">
                <a:tc>
                  <a:txBody>
                    <a:bodyPr/>
                    <a:lstStyle/>
                    <a:p>
                      <a:pPr marL="0" indent="0">
                        <a:buNone/>
                      </a:pPr>
                      <a:r>
                        <a:rPr sz="1050" b="1">
                          <a:solidFill>
                            <a:srgbClr val="24343F"/>
                          </a:solidFill>
                        </a:rPr>
                        <a:t>Produced a proposal; validation checks passed</a:t>
                      </a:r>
                      <a:endParaRPr sz="105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52</a:t>
                      </a:r>
                      <a:endParaRPr sz="105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r h="338328">
                <a:tc>
                  <a:txBody>
                    <a:bodyPr/>
                    <a:lstStyle/>
                    <a:p>
                      <a:pPr marL="0" indent="0">
                        <a:buNone/>
                      </a:pPr>
                      <a:r>
                        <a:rPr sz="1050" b="1">
                          <a:solidFill>
                            <a:srgbClr val="24343F"/>
                          </a:solidFill>
                        </a:rPr>
                        <a:t>Quote was not actually in the complaint</a:t>
                      </a:r>
                      <a:endParaRPr sz="105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EFF5F9"/>
                    </a:solidFill>
                  </a:tcPr>
                </a:tc>
                <a:tc>
                  <a:txBody>
                    <a:bodyPr/>
                    <a:lstStyle/>
                    <a:p>
                      <a:pPr marL="0" indent="0">
                        <a:buNone/>
                      </a:pPr>
                      <a:r>
                        <a:rPr sz="1050">
                          <a:solidFill>
                            <a:srgbClr val="1B2730"/>
                          </a:solidFill>
                        </a:rPr>
                        <a:t>4 — flagged for human review</a:t>
                      </a:r>
                      <a:endParaRPr sz="105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EFF5F9"/>
                    </a:solidFill>
                  </a:tcPr>
                </a:tc>
              </a:tr>
              <a:tr h="338328">
                <a:tc>
                  <a:txBody>
                    <a:bodyPr/>
                    <a:lstStyle/>
                    <a:p>
                      <a:pPr marL="0" indent="0">
                        <a:buNone/>
                      </a:pPr>
                      <a:r>
                        <a:rPr sz="1050" b="1">
                          <a:solidFill>
                            <a:srgbClr val="24343F"/>
                          </a:solidFill>
                        </a:rPr>
                        <a:t>Confidence below the 0.70 threshold</a:t>
                      </a:r>
                      <a:endParaRPr sz="105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4 — flagged for human review</a:t>
                      </a:r>
                      <a:endParaRPr sz="105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r h="338328">
                <a:tc>
                  <a:txBody>
                    <a:bodyPr/>
                    <a:lstStyle/>
                    <a:p>
                      <a:pPr marL="0" indent="0">
                        <a:buNone/>
                      </a:pPr>
                      <a:r>
                        <a:rPr sz="1050" b="1">
                          <a:solidFill>
                            <a:srgbClr val="24343F"/>
                          </a:solidFill>
                        </a:rPr>
                        <a:t>Cases without a recorded outcome</a:t>
                      </a:r>
                      <a:endParaRPr sz="105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EFF5F9"/>
                    </a:solidFill>
                  </a:tcPr>
                </a:tc>
                <a:tc>
                  <a:txBody>
                    <a:bodyPr/>
                    <a:lstStyle/>
                    <a:p>
                      <a:pPr marL="0" indent="0">
                        <a:buNone/>
                      </a:pPr>
                      <a:r>
                        <a:rPr sz="1050">
                          <a:solidFill>
                            <a:srgbClr val="1B2730"/>
                          </a:solidFill>
                        </a:rPr>
                        <a:t>0</a:t>
                      </a:r>
                      <a:endParaRPr sz="105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EFF5F9"/>
                    </a:solidFill>
                  </a:tcPr>
                </a:tc>
              </a:tr>
            </a:tbl>
          </a:graphicData>
        </a:graphic>
      </p:graphicFrame>
      <p:sp>
        <p:nvSpPr>
          <p:cNvPr id="13" name="Shape 9">
            <a:extLst xmlns:a="http://schemas.openxmlformats.org/drawingml/2006/main">
              <a:ext uri="{FF2B5EF4-FFF2-40B4-BE49-F238E27FC236}">
                <a16:creationId xmlns:a16="http://schemas.microsoft.com/office/drawing/2014/main" id="{BA5697E4-693B-443D-B872-6C4AF59B87B8}"/>
              </a:ext>
            </a:extLst>
          </p:cNvPr>
          <p:cNvSpPr>
            <a:spLocks xmlns:a="http://schemas.openxmlformats.org/drawingml/2006/main" noGrp="1"/>
          </p:cNvSpPr>
          <p:nvPr/>
        </p:nvSpPr>
        <p:spPr>
          <a:xfrm xmlns:a="http://schemas.openxmlformats.org/drawingml/2006/main">
            <a:off x="566928" y="4306824"/>
            <a:ext cx="11055096" cy="640080"/>
          </a:xfrm>
          <a:prstGeom xmlns:a="http://schemas.openxmlformats.org/drawingml/2006/main" prst="rect">
            <a:avLst/>
          </a:prstGeom>
          <a:solidFill xmlns:a="http://schemas.openxmlformats.org/drawingml/2006/main">
            <a:srgbClr val="24343F"/>
          </a:solidFill>
        </p:spPr>
      </p:sp>
      <p:sp>
        <p:nvSpPr>
          <p:cNvPr id="14" name="Shape 10">
            <a:extLst xmlns:a="http://schemas.openxmlformats.org/drawingml/2006/main">
              <a:ext uri="{FF2B5EF4-FFF2-40B4-BE49-F238E27FC236}">
                <a16:creationId xmlns:a16="http://schemas.microsoft.com/office/drawing/2014/main" id="{C32452CF-E5A8-4881-8C96-FEDC013C53F7}"/>
              </a:ext>
            </a:extLst>
          </p:cNvPr>
          <p:cNvSpPr>
            <a:spLocks xmlns:a="http://schemas.openxmlformats.org/drawingml/2006/main" noGrp="1"/>
          </p:cNvSpPr>
          <p:nvPr/>
        </p:nvSpPr>
        <p:spPr>
          <a:xfrm xmlns:a="http://schemas.openxmlformats.org/drawingml/2006/main">
            <a:off x="566928" y="4306824"/>
            <a:ext cx="82296" cy="640080"/>
          </a:xfrm>
          <a:prstGeom xmlns:a="http://schemas.openxmlformats.org/drawingml/2006/main" prst="rect">
            <a:avLst/>
          </a:prstGeom>
          <a:solidFill xmlns:a="http://schemas.openxmlformats.org/drawingml/2006/main">
            <a:srgbClr val="2A78D6"/>
          </a:solidFill>
        </p:spPr>
      </p:sp>
      <p:sp>
        <p:nvSpPr>
          <p:cNvPr id="15" name="Text 11">
            <a:extLst xmlns:a="http://schemas.openxmlformats.org/drawingml/2006/main">
              <a:ext uri="{FF2B5EF4-FFF2-40B4-BE49-F238E27FC236}">
                <a16:creationId xmlns:a16="http://schemas.microsoft.com/office/drawing/2014/main" id="{702751CC-BFDE-4F56-9C13-C725FF460F90}"/>
              </a:ext>
            </a:extLst>
          </p:cNvPr>
          <p:cNvSpPr>
            <a:spLocks xmlns:a="http://schemas.openxmlformats.org/drawingml/2006/main" noGrp="1"/>
          </p:cNvSpPr>
          <p:nvPr/>
        </p:nvSpPr>
        <p:spPr>
          <a:xfrm xmlns:a="http://schemas.openxmlformats.org/drawingml/2006/main">
            <a:off x="822960" y="4306824"/>
            <a:ext cx="10597896"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Calibri"/>
                <a:ea typeface="Calibri"/>
                <a:cs typeface="Calibri"/>
              </a:rPr>
              <a:t>A system that explains itself convincingly but falsely is more dangerous than one that says nothing.</a:t>
            </a:r>
            <a:endParaRPr sz="1250"/>
          </a:p>
        </p:txBody>
      </p:sp>
    </p:spTree>
    <p:extLst>
      <p:ext uri="{BB962C8B-B14F-4D97-AF65-F5344CB8AC3E}">
        <p14:creationId xmlns:p14="http://schemas.microsoft.com/office/powerpoint/2010/main" val="203113884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05A42C3-6F98-4F0E-96B5-40C97376D3F3}"/>
              </a:ext>
            </a:extLst>
          </p:cNvPr>
          <p:cNvSpPr>
            <a:spLocks xmlns:a="http://schemas.openxmlformats.org/drawingml/2006/main" noGrp="1"/>
          </p:cNvSpPr>
          <p:nvPr/>
        </p:nvSpPr>
        <p:spPr>
          <a:xfrm xmlns:a="http://schemas.openxmlformats.org/drawingml/2006/main">
            <a:off x="566928" y="310896"/>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B7C88"/>
                </a:solidFill>
                <a:latin typeface="Calibri"/>
                <a:ea typeface="Calibri"/>
                <a:cs typeface="Calibri"/>
              </a:rPr>
              <a:t>CAPSTONE ROUND 1  ·  AI CONSULTING PITCH</a:t>
            </a:r>
            <a:endParaRPr sz="1050"/>
          </a:p>
        </p:txBody>
      </p:sp>
      <p:sp>
        <p:nvSpPr>
          <p:cNvPr id="3" name="Shape 1">
            <a:extLst xmlns:a="http://schemas.openxmlformats.org/drawingml/2006/main">
              <a:ext uri="{FF2B5EF4-FFF2-40B4-BE49-F238E27FC236}">
                <a16:creationId xmlns:a16="http://schemas.microsoft.com/office/drawing/2014/main" id="{8B8086FB-4698-4B5F-98D9-A60291BFBB96}"/>
              </a:ext>
            </a:extLst>
          </p:cNvPr>
          <p:cNvSpPr>
            <a:spLocks xmlns:a="http://schemas.openxmlformats.org/drawingml/2006/main" noGrp="1"/>
          </p:cNvSpPr>
          <p:nvPr/>
        </p:nvSpPr>
        <p:spPr>
          <a:xfrm xmlns:a="http://schemas.openxmlformats.org/drawingml/2006/main">
            <a:off x="566928" y="658368"/>
            <a:ext cx="566928" cy="566928"/>
          </a:xfrm>
          <a:prstGeom xmlns:a="http://schemas.openxmlformats.org/drawingml/2006/main" prst="ellipse">
            <a:avLst/>
          </a:prstGeom>
          <a:solidFill xmlns:a="http://schemas.openxmlformats.org/drawingml/2006/main">
            <a:srgbClr val="24343F"/>
          </a:solidFill>
        </p:spPr>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af04b2489948485a"/>
          <a:stretch xmlns:a="http://schemas.openxmlformats.org/drawingml/2006/main">
            <a:fillRect l="0" t="0" r="0" b="0"/>
          </a:stretch>
        </p:blipFill>
        <p:spPr>
          <a:xfrm xmlns:a="http://schemas.openxmlformats.org/drawingml/2006/main">
            <a:off x="708660" y="800100"/>
            <a:ext cx="283464" cy="28346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31E8D3B7-3B23-46BB-BE16-77F38CF7AE50}"/>
              </a:ext>
            </a:extLst>
          </p:cNvPr>
          <p:cNvSpPr>
            <a:spLocks xmlns:a="http://schemas.openxmlformats.org/drawingml/2006/main" noGrp="1"/>
          </p:cNvSpPr>
          <p:nvPr/>
        </p:nvSpPr>
        <p:spPr>
          <a:xfrm xmlns:a="http://schemas.openxmlformats.org/drawingml/2006/main">
            <a:off x="1316736" y="621792"/>
            <a:ext cx="1030528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343F"/>
                </a:solidFill>
                <a:latin typeface="Trebuchet MS"/>
                <a:ea typeface="Trebuchet MS"/>
                <a:cs typeface="Trebuchet MS"/>
              </a:rPr>
              <a:t>60.5% agreement makes expert labels essential</a:t>
            </a:r>
            <a:endParaRPr sz="3000"/>
          </a:p>
        </p:txBody>
      </p:sp>
      <p:sp>
        <p:nvSpPr>
          <p:cNvPr id="6" name="Shape 3">
            <a:extLst xmlns:a="http://schemas.openxmlformats.org/drawingml/2006/main">
              <a:ext uri="{FF2B5EF4-FFF2-40B4-BE49-F238E27FC236}">
                <a16:creationId xmlns:a16="http://schemas.microsoft.com/office/drawing/2014/main" id="{9FBDD608-80F8-4840-9B69-E494B42BC080}"/>
              </a:ext>
            </a:extLst>
          </p:cNvPr>
          <p:cNvSpPr>
            <a:spLocks xmlns:a="http://schemas.openxmlformats.org/drawingml/2006/main" noGrp="1"/>
          </p:cNvSpPr>
          <p:nvPr/>
        </p:nvSpPr>
        <p:spPr>
          <a:xfrm xmlns:a="http://schemas.openxmlformats.org/drawingml/2006/main">
            <a:off x="566928" y="1481328"/>
            <a:ext cx="11055096" cy="676656"/>
          </a:xfrm>
          <a:prstGeom xmlns:a="http://schemas.openxmlformats.org/drawingml/2006/main" prst="rect">
            <a:avLst/>
          </a:prstGeom>
          <a:solidFill xmlns:a="http://schemas.openxmlformats.org/drawingml/2006/main">
            <a:srgbClr val="EFF5F9"/>
          </a:solidFill>
        </p:spPr>
      </p:sp>
      <p:sp>
        <p:nvSpPr>
          <p:cNvPr id="7" name="Shape 4">
            <a:extLst xmlns:a="http://schemas.openxmlformats.org/drawingml/2006/main">
              <a:ext uri="{FF2B5EF4-FFF2-40B4-BE49-F238E27FC236}">
                <a16:creationId xmlns:a16="http://schemas.microsoft.com/office/drawing/2014/main" id="{0513622E-9512-441B-865E-4F9C4EE748A1}"/>
              </a:ext>
            </a:extLst>
          </p:cNvPr>
          <p:cNvSpPr>
            <a:spLocks xmlns:a="http://schemas.openxmlformats.org/drawingml/2006/main" noGrp="1"/>
          </p:cNvSpPr>
          <p:nvPr/>
        </p:nvSpPr>
        <p:spPr>
          <a:xfrm xmlns:a="http://schemas.openxmlformats.org/drawingml/2006/main">
            <a:off x="566928" y="1481328"/>
            <a:ext cx="82296" cy="676656"/>
          </a:xfrm>
          <a:prstGeom xmlns:a="http://schemas.openxmlformats.org/drawingml/2006/main" prst="rect">
            <a:avLst/>
          </a:prstGeom>
          <a:solidFill xmlns:a="http://schemas.openxmlformats.org/drawingml/2006/main">
            <a:srgbClr val="2A78D6"/>
          </a:solidFill>
        </p:spPr>
      </p:sp>
      <p:sp>
        <p:nvSpPr>
          <p:cNvPr id="8" name="Text 5">
            <a:extLst xmlns:a="http://schemas.openxmlformats.org/drawingml/2006/main">
              <a:ext uri="{FF2B5EF4-FFF2-40B4-BE49-F238E27FC236}">
                <a16:creationId xmlns:a16="http://schemas.microsoft.com/office/drawing/2014/main" id="{8293D481-229D-499D-9F2A-6816F93280D3}"/>
              </a:ext>
            </a:extLst>
          </p:cNvPr>
          <p:cNvSpPr>
            <a:spLocks xmlns:a="http://schemas.openxmlformats.org/drawingml/2006/main" noGrp="1"/>
          </p:cNvSpPr>
          <p:nvPr/>
        </p:nvSpPr>
        <p:spPr>
          <a:xfrm xmlns:a="http://schemas.openxmlformats.org/drawingml/2006/main">
            <a:off x="822960" y="1481328"/>
            <a:ext cx="1059789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00">
                <a:solidFill>
                  <a:srgbClr val="2A78D6"/>
                </a:solidFill>
                <a:latin typeface="Calibri"/>
                <a:ea typeface="Calibri"/>
                <a:cs typeface="Calibri"/>
              </a:rPr>
              <a:t>TAKEAWAY   CFPB labels are not expert routing ground truth; Phase 0 creates it.</a:t>
            </a:r>
            <a:endParaRPr sz="1050"/>
          </a:p>
        </p:txBody>
      </p:sp>
      <p:sp>
        <p:nvSpPr>
          <p:cNvPr id="9" name="Shape 6">
            <a:extLst xmlns:a="http://schemas.openxmlformats.org/drawingml/2006/main">
              <a:ext uri="{FF2B5EF4-FFF2-40B4-BE49-F238E27FC236}">
                <a16:creationId xmlns:a16="http://schemas.microsoft.com/office/drawing/2014/main" id="{DD003455-8344-4140-8412-E65222CF9572}"/>
              </a:ext>
            </a:extLst>
          </p:cNvPr>
          <p:cNvSpPr>
            <a:spLocks xmlns:a="http://schemas.openxmlformats.org/drawingml/2006/main" noGrp="1"/>
          </p:cNvSpPr>
          <p:nvPr/>
        </p:nvSpPr>
        <p:spPr>
          <a:xfrm xmlns:a="http://schemas.openxmlformats.org/drawingml/2006/main">
            <a:off x="566928" y="6437376"/>
            <a:ext cx="11055096" cy="0"/>
          </a:xfrm>
          <a:prstGeom xmlns:a="http://schemas.openxmlformats.org/drawingml/2006/main" prst="line">
            <a:avLst/>
          </a:prstGeom>
          <a:noFill xmlns:a="http://schemas.openxmlformats.org/drawingml/2006/main"/>
          <a:ln xmlns:a="http://schemas.openxmlformats.org/drawingml/2006/main" w="12700">
            <a:solidFill>
              <a:srgbClr val="D9E3EA"/>
            </a:solidFill>
            <a:prstDash val="solid"/>
          </a:ln>
        </p:spPr>
      </p:sp>
      <p:sp>
        <p:nvSpPr>
          <p:cNvPr id="10" name="Text 7">
            <a:extLst xmlns:a="http://schemas.openxmlformats.org/drawingml/2006/main">
              <a:ext uri="{FF2B5EF4-FFF2-40B4-BE49-F238E27FC236}">
                <a16:creationId xmlns:a16="http://schemas.microsoft.com/office/drawing/2014/main" id="{62991595-1CB2-4A39-BBD5-33A93C2E377B}"/>
              </a:ext>
            </a:extLst>
          </p:cNvPr>
          <p:cNvSpPr>
            <a:spLocks xmlns:a="http://schemas.openxmlformats.org/drawingml/2006/main" noGrp="1"/>
          </p:cNvSpPr>
          <p:nvPr/>
        </p:nvSpPr>
        <p:spPr>
          <a:xfrm xmlns:a="http://schemas.openxmlformats.org/drawingml/2006/main">
            <a:off x="566928" y="64739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850"/>
          </a:p>
        </p:txBody>
      </p:sp>
      <p:sp>
        <p:nvSpPr>
          <p:cNvPr id="11" name="Text 8">
            <a:extLst xmlns:a="http://schemas.openxmlformats.org/drawingml/2006/main">
              <a:ext uri="{FF2B5EF4-FFF2-40B4-BE49-F238E27FC236}">
                <a16:creationId xmlns:a16="http://schemas.microsoft.com/office/drawing/2014/main" id="{F2439A02-322A-4F99-AD37-0D2B77FEC6D7}"/>
              </a:ext>
            </a:extLst>
          </p:cNvPr>
          <p:cNvSpPr>
            <a:spLocks xmlns:a="http://schemas.openxmlformats.org/drawingml/2006/main" noGrp="1"/>
          </p:cNvSpPr>
          <p:nvPr/>
        </p:nvSpPr>
        <p:spPr>
          <a:xfrm xmlns:a="http://schemas.openxmlformats.org/drawingml/2006/main">
            <a:off x="10524744" y="647395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B7C88"/>
                </a:solidFill>
                <a:latin typeface="Calibri"/>
                <a:ea typeface="Calibri"/>
                <a:cs typeface="Calibri"/>
              </a:rPr>
              <a:t>9</a:t>
            </a:r>
            <a:endParaRPr sz="850"/>
          </a:p>
        </p:txBody>
      </p:sp>
      <p:sp>
        <p:nvSpPr>
          <p:cNvPr id="12" name="Shape 9">
            <a:extLst xmlns:a="http://schemas.openxmlformats.org/drawingml/2006/main">
              <a:ext uri="{FF2B5EF4-FFF2-40B4-BE49-F238E27FC236}">
                <a16:creationId xmlns:a16="http://schemas.microsoft.com/office/drawing/2014/main" id="{6355D7D4-E8DE-4C77-ADC3-1937CD5D66FE}"/>
              </a:ext>
            </a:extLst>
          </p:cNvPr>
          <p:cNvSpPr>
            <a:spLocks xmlns:a="http://schemas.openxmlformats.org/drawingml/2006/main" noGrp="1"/>
          </p:cNvSpPr>
          <p:nvPr/>
        </p:nvSpPr>
        <p:spPr>
          <a:xfrm xmlns:a="http://schemas.openxmlformats.org/drawingml/2006/main">
            <a:off x="566928" y="2395728"/>
            <a:ext cx="5390388" cy="1874520"/>
          </a:xfrm>
          <a:prstGeom xmlns:a="http://schemas.openxmlformats.org/drawingml/2006/main" prst="rect">
            <a:avLst/>
          </a:prstGeom>
          <a:solidFill xmlns:a="http://schemas.openxmlformats.org/drawingml/2006/main">
            <a:srgbClr val="FFFFFF"/>
          </a:solidFill>
          <a:ln xmlns:a="http://schemas.openxmlformats.org/drawingml/2006/main" w="12700">
            <a:solidFill>
              <a:srgbClr val="D9E3EA"/>
            </a:solidFill>
            <a:prstDash val="solid"/>
          </a:ln>
          <a:effectLst xmlns:a="http://schemas.openxmlformats.org/drawingml/2006/main">
            <a:outerShdw blurRad="88900" dist="38100" dir="8100000" sx="100000" sy="100000" kx="0" ky="0" algn="bl" rotWithShape="0">
              <a:srgbClr val="1C2440">
                <a:alpha val="13000"/>
              </a:srgbClr>
            </a:outerShdw>
          </a:effectLst>
        </p:spPr>
      </p:sp>
      <p:sp>
        <p:nvSpPr>
          <p:cNvPr id="13" name="Shape 10">
            <a:extLst xmlns:a="http://schemas.openxmlformats.org/drawingml/2006/main">
              <a:ext uri="{FF2B5EF4-FFF2-40B4-BE49-F238E27FC236}">
                <a16:creationId xmlns:a16="http://schemas.microsoft.com/office/drawing/2014/main" id="{A831C8F0-AABE-41C7-AF53-2F66F3A1DE2B}"/>
              </a:ext>
            </a:extLst>
          </p:cNvPr>
          <p:cNvSpPr>
            <a:spLocks xmlns:a="http://schemas.openxmlformats.org/drawingml/2006/main" noGrp="1"/>
          </p:cNvSpPr>
          <p:nvPr/>
        </p:nvSpPr>
        <p:spPr>
          <a:xfrm xmlns:a="http://schemas.openxmlformats.org/drawingml/2006/main">
            <a:off x="566928" y="2395728"/>
            <a:ext cx="5390388" cy="457200"/>
          </a:xfrm>
          <a:prstGeom xmlns:a="http://schemas.openxmlformats.org/drawingml/2006/main" prst="rect">
            <a:avLst/>
          </a:prstGeom>
          <a:solidFill xmlns:a="http://schemas.openxmlformats.org/drawingml/2006/main">
            <a:srgbClr val="24343F"/>
          </a:solidFill>
        </p:spPr>
      </p:sp>
      <p:sp>
        <p:nvSpPr>
          <p:cNvPr id="14" name="Text 11">
            <a:extLst xmlns:a="http://schemas.openxmlformats.org/drawingml/2006/main">
              <a:ext uri="{FF2B5EF4-FFF2-40B4-BE49-F238E27FC236}">
                <a16:creationId xmlns:a16="http://schemas.microsoft.com/office/drawing/2014/main" id="{6725D714-AAD5-471A-911D-869302B968F5}"/>
              </a:ext>
            </a:extLst>
          </p:cNvPr>
          <p:cNvSpPr>
            <a:spLocks xmlns:a="http://schemas.openxmlformats.org/drawingml/2006/main" noGrp="1"/>
          </p:cNvSpPr>
          <p:nvPr/>
        </p:nvSpPr>
        <p:spPr>
          <a:xfrm xmlns:a="http://schemas.openxmlformats.org/drawingml/2006/main">
            <a:off x="768096" y="2395728"/>
            <a:ext cx="502462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FFFFFF"/>
                </a:solidFill>
                <a:latin typeface="Calibri"/>
                <a:ea typeface="Calibri"/>
                <a:cs typeface="Calibri"/>
              </a:rPr>
              <a:t>What I measured</a:t>
            </a:r>
            <a:endParaRPr sz="1300"/>
          </a:p>
        </p:txBody>
      </p:sp>
      <p:sp>
        <p:nvSpPr>
          <p:cNvPr id="15" name="Text 12">
            <a:extLst xmlns:a="http://schemas.openxmlformats.org/drawingml/2006/main">
              <a:ext uri="{FF2B5EF4-FFF2-40B4-BE49-F238E27FC236}">
                <a16:creationId xmlns:a16="http://schemas.microsoft.com/office/drawing/2014/main" id="{2EEE9339-A6F5-4E49-BD59-DE93F216C3BF}"/>
              </a:ext>
            </a:extLst>
          </p:cNvPr>
          <p:cNvSpPr>
            <a:spLocks xmlns:a="http://schemas.openxmlformats.org/drawingml/2006/main" noGrp="1"/>
          </p:cNvSpPr>
          <p:nvPr/>
        </p:nvSpPr>
        <p:spPr>
          <a:xfrm xmlns:a="http://schemas.openxmlformats.org/drawingml/2006/main">
            <a:off x="768096" y="2962656"/>
            <a:ext cx="4988052"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600"/>
              </a:spcAft>
              <a:buSzPct val="100000"/>
              <a:buChar char="•"/>
            </a:pPr>
            <a:r>
              <a:rPr sz="1150">
                <a:solidFill>
                  <a:srgbClr val="1B2730"/>
                </a:solidFill>
                <a:latin typeface="Calibri"/>
                <a:ea typeface="Calibri"/>
                <a:cs typeface="Calibri"/>
              </a:rPr>
              <a:t>60.5% agreement with CFPB-derived team labels (gpt-4o, n=240)</a:t>
            </a:r>
            <a:endParaRPr sz="1150"/>
          </a:p>
          <a:p xmlns:a="http://schemas.openxmlformats.org/drawingml/2006/main">
            <a:pPr marL="152400" indent="-152400">
              <a:spcAft>
                <a:spcPts val="600"/>
              </a:spcAft>
              <a:buSzPct val="100000"/>
              <a:buChar char="•"/>
            </a:pPr>
            <a:r>
              <a:rPr sz="1150">
                <a:solidFill>
                  <a:srgbClr val="1B2730"/>
                </a:solidFill>
                <a:latin typeface="Calibri"/>
                <a:ea typeface="Calibri"/>
                <a:cs typeface="Calibri"/>
              </a:rPr>
              <a:t>A model costing 6× more improved agreement by 4 percentage points</a:t>
            </a:r>
            <a:endParaRPr sz="1150"/>
          </a:p>
          <a:p xmlns:a="http://schemas.openxmlformats.org/drawingml/2006/main">
            <a:pPr marL="152400" indent="-152400">
              <a:spcAft>
                <a:spcPts val="600"/>
              </a:spcAft>
              <a:buSzPct val="100000"/>
              <a:buChar char="•"/>
            </a:pPr>
            <a:r>
              <a:rPr sz="1150">
                <a:solidFill>
                  <a:srgbClr val="1B2730"/>
                </a:solidFill>
                <a:latin typeface="Calibri"/>
                <a:ea typeface="Calibri"/>
                <a:cs typeface="Calibri"/>
              </a:rPr>
              <a:t>That comparison does not establish expert-routing accuracy</a:t>
            </a:r>
            <a:endParaRPr sz="1150"/>
          </a:p>
        </p:txBody>
      </p:sp>
      <p:sp>
        <p:nvSpPr>
          <p:cNvPr id="16" name="Shape 13">
            <a:extLst xmlns:a="http://schemas.openxmlformats.org/drawingml/2006/main">
              <a:ext uri="{FF2B5EF4-FFF2-40B4-BE49-F238E27FC236}">
                <a16:creationId xmlns:a16="http://schemas.microsoft.com/office/drawing/2014/main" id="{4CD963AE-872A-4031-923D-EAB3A8AB0851}"/>
              </a:ext>
            </a:extLst>
          </p:cNvPr>
          <p:cNvSpPr>
            <a:spLocks xmlns:a="http://schemas.openxmlformats.org/drawingml/2006/main" noGrp="1"/>
          </p:cNvSpPr>
          <p:nvPr/>
        </p:nvSpPr>
        <p:spPr>
          <a:xfrm xmlns:a="http://schemas.openxmlformats.org/drawingml/2006/main">
            <a:off x="6231636" y="2395728"/>
            <a:ext cx="5390388" cy="1874520"/>
          </a:xfrm>
          <a:prstGeom xmlns:a="http://schemas.openxmlformats.org/drawingml/2006/main" prst="rect">
            <a:avLst/>
          </a:prstGeom>
          <a:solidFill xmlns:a="http://schemas.openxmlformats.org/drawingml/2006/main">
            <a:srgbClr val="FFFFFF"/>
          </a:solidFill>
          <a:ln xmlns:a="http://schemas.openxmlformats.org/drawingml/2006/main" w="12700">
            <a:solidFill>
              <a:srgbClr val="D9E3EA"/>
            </a:solidFill>
            <a:prstDash val="solid"/>
          </a:ln>
          <a:effectLst xmlns:a="http://schemas.openxmlformats.org/drawingml/2006/main">
            <a:outerShdw blurRad="88900" dist="38100" dir="8100000" sx="100000" sy="100000" kx="0" ky="0" algn="bl" rotWithShape="0">
              <a:srgbClr val="1C2440">
                <a:alpha val="13000"/>
              </a:srgbClr>
            </a:outerShdw>
          </a:effectLst>
        </p:spPr>
      </p:sp>
      <p:sp>
        <p:nvSpPr>
          <p:cNvPr id="17" name="Shape 14">
            <a:extLst xmlns:a="http://schemas.openxmlformats.org/drawingml/2006/main">
              <a:ext uri="{FF2B5EF4-FFF2-40B4-BE49-F238E27FC236}">
                <a16:creationId xmlns:a16="http://schemas.microsoft.com/office/drawing/2014/main" id="{BE6A9CED-BCC4-47BE-A107-C353F0177F31}"/>
              </a:ext>
            </a:extLst>
          </p:cNvPr>
          <p:cNvSpPr>
            <a:spLocks xmlns:a="http://schemas.openxmlformats.org/drawingml/2006/main" noGrp="1"/>
          </p:cNvSpPr>
          <p:nvPr/>
        </p:nvSpPr>
        <p:spPr>
          <a:xfrm xmlns:a="http://schemas.openxmlformats.org/drawingml/2006/main">
            <a:off x="6231636" y="2395728"/>
            <a:ext cx="5390388" cy="457200"/>
          </a:xfrm>
          <a:prstGeom xmlns:a="http://schemas.openxmlformats.org/drawingml/2006/main" prst="rect">
            <a:avLst/>
          </a:prstGeom>
          <a:solidFill xmlns:a="http://schemas.openxmlformats.org/drawingml/2006/main">
            <a:srgbClr val="445A69"/>
          </a:solidFill>
        </p:spPr>
      </p:sp>
      <p:sp>
        <p:nvSpPr>
          <p:cNvPr id="18" name="Text 15">
            <a:extLst xmlns:a="http://schemas.openxmlformats.org/drawingml/2006/main">
              <a:ext uri="{FF2B5EF4-FFF2-40B4-BE49-F238E27FC236}">
                <a16:creationId xmlns:a16="http://schemas.microsoft.com/office/drawing/2014/main" id="{11123818-7162-4AC2-ACDC-5939A76B78DB}"/>
              </a:ext>
            </a:extLst>
          </p:cNvPr>
          <p:cNvSpPr>
            <a:spLocks xmlns:a="http://schemas.openxmlformats.org/drawingml/2006/main" noGrp="1"/>
          </p:cNvSpPr>
          <p:nvPr/>
        </p:nvSpPr>
        <p:spPr>
          <a:xfrm xmlns:a="http://schemas.openxmlformats.org/drawingml/2006/main">
            <a:off x="6432804" y="2395728"/>
            <a:ext cx="502462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FFFFFF"/>
                </a:solidFill>
                <a:latin typeface="Calibri"/>
                <a:ea typeface="Calibri"/>
                <a:cs typeface="Calibri"/>
              </a:rPr>
              <a:t>Why the number is what it is</a:t>
            </a:r>
            <a:endParaRPr sz="1300"/>
          </a:p>
        </p:txBody>
      </p:sp>
      <p:sp>
        <p:nvSpPr>
          <p:cNvPr id="19" name="Text 16">
            <a:extLst xmlns:a="http://schemas.openxmlformats.org/drawingml/2006/main">
              <a:ext uri="{FF2B5EF4-FFF2-40B4-BE49-F238E27FC236}">
                <a16:creationId xmlns:a16="http://schemas.microsoft.com/office/drawing/2014/main" id="{870AAE1A-23E1-4755-A50B-5C762E29D08C}"/>
              </a:ext>
            </a:extLst>
          </p:cNvPr>
          <p:cNvSpPr>
            <a:spLocks xmlns:a="http://schemas.openxmlformats.org/drawingml/2006/main" noGrp="1"/>
          </p:cNvSpPr>
          <p:nvPr/>
        </p:nvSpPr>
        <p:spPr>
          <a:xfrm xmlns:a="http://schemas.openxmlformats.org/drawingml/2006/main">
            <a:off x="6432804" y="2962656"/>
            <a:ext cx="4988052"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600"/>
              </a:spcAft>
              <a:buSzPct val="100000"/>
              <a:buChar char="•"/>
            </a:pPr>
            <a:r>
              <a:rPr sz="1150">
                <a:solidFill>
                  <a:srgbClr val="6B7C88"/>
                </a:solidFill>
                <a:latin typeface="Calibri"/>
                <a:ea typeface="Calibri"/>
                <a:cs typeface="Calibri"/>
              </a:rPr>
              <a:t>gpt-4o chose the same team on 89.0% of repeated runs</a:t>
            </a:r>
            <a:endParaRPr sz="1150"/>
          </a:p>
          <a:p xmlns:a="http://schemas.openxmlformats.org/drawingml/2006/main">
            <a:pPr marL="152400" indent="-152400">
              <a:spcAft>
                <a:spcPts val="600"/>
              </a:spcAft>
              <a:buSzPct val="100000"/>
              <a:buChar char="•"/>
            </a:pPr>
            <a:r>
              <a:rPr sz="1150">
                <a:solidFill>
                  <a:srgbClr val="6B7C88"/>
                </a:solidFill>
                <a:latin typeface="Calibri"/>
                <a:ea typeface="Calibri"/>
                <a:cs typeface="Calibri"/>
              </a:rPr>
              <a:t>It still agreed with CFPB-derived team labels only 60.5%</a:t>
            </a:r>
            <a:endParaRPr sz="1150"/>
          </a:p>
          <a:p xmlns:a="http://schemas.openxmlformats.org/drawingml/2006/main">
            <a:pPr marL="152400" indent="-152400">
              <a:spcAft>
                <a:spcPts val="600"/>
              </a:spcAft>
              <a:buSzPct val="100000"/>
              <a:buChar char="•"/>
            </a:pPr>
            <a:r>
              <a:rPr sz="1150">
                <a:solidFill>
                  <a:srgbClr val="6B7C88"/>
                </a:solidFill>
                <a:latin typeface="Calibri"/>
                <a:ea typeface="Calibri"/>
                <a:cs typeface="Calibri"/>
              </a:rPr>
              <a:t>Those labels came from consumer-selected issue menus, not expert routing</a:t>
            </a:r>
            <a:endParaRPr sz="1150"/>
          </a:p>
        </p:txBody>
      </p:sp>
    </p:spTree>
    <p:extLst>
      <p:ext uri="{BB962C8B-B14F-4D97-AF65-F5344CB8AC3E}">
        <p14:creationId xmlns:p14="http://schemas.microsoft.com/office/powerpoint/2010/main" val="5471299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6EDDBBD-9505-4469-98ED-7D40ADEAAD89}"/>
              </a:ext>
            </a:extLst>
          </p:cNvPr>
          <p:cNvSpPr>
            <a:spLocks xmlns:a="http://schemas.openxmlformats.org/drawingml/2006/main" noGrp="1"/>
          </p:cNvSpPr>
          <p:nvPr/>
        </p:nvSpPr>
        <p:spPr>
          <a:xfrm xmlns:a="http://schemas.openxmlformats.org/drawingml/2006/main">
            <a:off x="566928" y="310896"/>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B7C88"/>
                </a:solidFill>
                <a:latin typeface="Calibri"/>
                <a:ea typeface="Calibri"/>
                <a:cs typeface="Calibri"/>
              </a:rPr>
              <a:t>CAPSTONE ROUND 1  ·  AI CONSULTING PITCH</a:t>
            </a:r>
            <a:endParaRPr sz="1050"/>
          </a:p>
        </p:txBody>
      </p:sp>
      <p:sp>
        <p:nvSpPr>
          <p:cNvPr id="3" name="Shape 1">
            <a:extLst xmlns:a="http://schemas.openxmlformats.org/drawingml/2006/main">
              <a:ext uri="{FF2B5EF4-FFF2-40B4-BE49-F238E27FC236}">
                <a16:creationId xmlns:a16="http://schemas.microsoft.com/office/drawing/2014/main" id="{604B142D-325D-4235-8F0A-6E25C5330DAB}"/>
              </a:ext>
            </a:extLst>
          </p:cNvPr>
          <p:cNvSpPr>
            <a:spLocks xmlns:a="http://schemas.openxmlformats.org/drawingml/2006/main" noGrp="1"/>
          </p:cNvSpPr>
          <p:nvPr/>
        </p:nvSpPr>
        <p:spPr>
          <a:xfrm xmlns:a="http://schemas.openxmlformats.org/drawingml/2006/main">
            <a:off x="566928" y="658368"/>
            <a:ext cx="566928" cy="566928"/>
          </a:xfrm>
          <a:prstGeom xmlns:a="http://schemas.openxmlformats.org/drawingml/2006/main" prst="ellipse">
            <a:avLst/>
          </a:prstGeom>
          <a:solidFill xmlns:a="http://schemas.openxmlformats.org/drawingml/2006/main">
            <a:srgbClr val="24343F"/>
          </a:solidFill>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4584125345324127"/>
          <a:stretch xmlns:a="http://schemas.openxmlformats.org/drawingml/2006/main">
            <a:fillRect l="0" t="0" r="0" b="0"/>
          </a:stretch>
        </p:blipFill>
        <p:spPr>
          <a:xfrm xmlns:a="http://schemas.openxmlformats.org/drawingml/2006/main">
            <a:off x="708660" y="800100"/>
            <a:ext cx="283464" cy="28346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E1E2E2F5-F661-4E6F-8DEE-CE78E261F400}"/>
              </a:ext>
            </a:extLst>
          </p:cNvPr>
          <p:cNvSpPr>
            <a:spLocks xmlns:a="http://schemas.openxmlformats.org/drawingml/2006/main" noGrp="1"/>
          </p:cNvSpPr>
          <p:nvPr/>
        </p:nvSpPr>
        <p:spPr>
          <a:xfrm xmlns:a="http://schemas.openxmlformats.org/drawingml/2006/main">
            <a:off x="1316736" y="621792"/>
            <a:ext cx="1030528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343F"/>
                </a:solidFill>
                <a:latin typeface="Trebuchet MS"/>
                <a:ea typeface="Trebuchet MS"/>
                <a:cs typeface="Trebuchet MS"/>
              </a:rPr>
              <a:t>3 data corrections changed the story</a:t>
            </a:r>
            <a:endParaRPr sz="3000"/>
          </a:p>
        </p:txBody>
      </p:sp>
      <p:sp>
        <p:nvSpPr>
          <p:cNvPr id="6" name="Shape 3">
            <a:extLst xmlns:a="http://schemas.openxmlformats.org/drawingml/2006/main">
              <a:ext uri="{FF2B5EF4-FFF2-40B4-BE49-F238E27FC236}">
                <a16:creationId xmlns:a16="http://schemas.microsoft.com/office/drawing/2014/main" id="{54DDBA36-09BA-413C-9CCF-726371215AE6}"/>
              </a:ext>
            </a:extLst>
          </p:cNvPr>
          <p:cNvSpPr>
            <a:spLocks xmlns:a="http://schemas.openxmlformats.org/drawingml/2006/main" noGrp="1"/>
          </p:cNvSpPr>
          <p:nvPr/>
        </p:nvSpPr>
        <p:spPr>
          <a:xfrm xmlns:a="http://schemas.openxmlformats.org/drawingml/2006/main">
            <a:off x="566928" y="1481328"/>
            <a:ext cx="11055096" cy="676656"/>
          </a:xfrm>
          <a:prstGeom xmlns:a="http://schemas.openxmlformats.org/drawingml/2006/main" prst="rect">
            <a:avLst/>
          </a:prstGeom>
          <a:solidFill xmlns:a="http://schemas.openxmlformats.org/drawingml/2006/main">
            <a:srgbClr val="EFF5F9"/>
          </a:solidFill>
        </p:spPr>
      </p:sp>
      <p:sp>
        <p:nvSpPr>
          <p:cNvPr id="7" name="Shape 4">
            <a:extLst xmlns:a="http://schemas.openxmlformats.org/drawingml/2006/main">
              <a:ext uri="{FF2B5EF4-FFF2-40B4-BE49-F238E27FC236}">
                <a16:creationId xmlns:a16="http://schemas.microsoft.com/office/drawing/2014/main" id="{977388FD-A653-436D-89AB-018D2BA05E7C}"/>
              </a:ext>
            </a:extLst>
          </p:cNvPr>
          <p:cNvSpPr>
            <a:spLocks xmlns:a="http://schemas.openxmlformats.org/drawingml/2006/main" noGrp="1"/>
          </p:cNvSpPr>
          <p:nvPr/>
        </p:nvSpPr>
        <p:spPr>
          <a:xfrm xmlns:a="http://schemas.openxmlformats.org/drawingml/2006/main">
            <a:off x="566928" y="1481328"/>
            <a:ext cx="82296" cy="676656"/>
          </a:xfrm>
          <a:prstGeom xmlns:a="http://schemas.openxmlformats.org/drawingml/2006/main" prst="rect">
            <a:avLst/>
          </a:prstGeom>
          <a:solidFill xmlns:a="http://schemas.openxmlformats.org/drawingml/2006/main">
            <a:srgbClr val="2A78D6"/>
          </a:solidFill>
        </p:spPr>
      </p:sp>
      <p:sp>
        <p:nvSpPr>
          <p:cNvPr id="8" name="Text 5">
            <a:extLst xmlns:a="http://schemas.openxmlformats.org/drawingml/2006/main">
              <a:ext uri="{FF2B5EF4-FFF2-40B4-BE49-F238E27FC236}">
                <a16:creationId xmlns:a16="http://schemas.microsoft.com/office/drawing/2014/main" id="{BC7AC2FA-8922-47DA-BBC7-628716BA8471}"/>
              </a:ext>
            </a:extLst>
          </p:cNvPr>
          <p:cNvSpPr>
            <a:spLocks xmlns:a="http://schemas.openxmlformats.org/drawingml/2006/main" noGrp="1"/>
          </p:cNvSpPr>
          <p:nvPr/>
        </p:nvSpPr>
        <p:spPr>
          <a:xfrm xmlns:a="http://schemas.openxmlformats.org/drawingml/2006/main">
            <a:off x="822960" y="1481328"/>
            <a:ext cx="1059789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00">
                <a:solidFill>
                  <a:srgbClr val="2A78D6"/>
                </a:solidFill>
                <a:latin typeface="Calibri"/>
                <a:ea typeface="Calibri"/>
                <a:cs typeface="Calibri"/>
              </a:rPr>
              <a:t>TAKEAWAY   </a:t>
            </a:r>
            <a:r>
              <a:rPr sz="1300">
                <a:solidFill>
                  <a:srgbClr val="1B2730"/>
                </a:solidFill>
                <a:latin typeface="Calibri"/>
                <a:ea typeface="Calibri"/>
                <a:cs typeface="Calibri"/>
              </a:rPr>
              <a:t>Each one would have produced a confident wrong answer.</a:t>
            </a:r>
            <a:endParaRPr sz="1050"/>
          </a:p>
        </p:txBody>
      </p:sp>
      <p:sp>
        <p:nvSpPr>
          <p:cNvPr id="9" name="Shape 6">
            <a:extLst xmlns:a="http://schemas.openxmlformats.org/drawingml/2006/main">
              <a:ext uri="{FF2B5EF4-FFF2-40B4-BE49-F238E27FC236}">
                <a16:creationId xmlns:a16="http://schemas.microsoft.com/office/drawing/2014/main" id="{F746F43D-58C3-4F77-BFC5-4611442E3CF9}"/>
              </a:ext>
            </a:extLst>
          </p:cNvPr>
          <p:cNvSpPr>
            <a:spLocks xmlns:a="http://schemas.openxmlformats.org/drawingml/2006/main" noGrp="1"/>
          </p:cNvSpPr>
          <p:nvPr/>
        </p:nvSpPr>
        <p:spPr>
          <a:xfrm xmlns:a="http://schemas.openxmlformats.org/drawingml/2006/main">
            <a:off x="566928" y="6437376"/>
            <a:ext cx="11055096" cy="0"/>
          </a:xfrm>
          <a:prstGeom xmlns:a="http://schemas.openxmlformats.org/drawingml/2006/main" prst="line">
            <a:avLst/>
          </a:prstGeom>
          <a:noFill xmlns:a="http://schemas.openxmlformats.org/drawingml/2006/main"/>
          <a:ln xmlns:a="http://schemas.openxmlformats.org/drawingml/2006/main" w="12700">
            <a:solidFill>
              <a:srgbClr val="D9E3EA"/>
            </a:solidFill>
            <a:prstDash val="solid"/>
          </a:ln>
        </p:spPr>
      </p:sp>
      <p:sp>
        <p:nvSpPr>
          <p:cNvPr id="10" name="Text 7">
            <a:extLst xmlns:a="http://schemas.openxmlformats.org/drawingml/2006/main">
              <a:ext uri="{FF2B5EF4-FFF2-40B4-BE49-F238E27FC236}">
                <a16:creationId xmlns:a16="http://schemas.microsoft.com/office/drawing/2014/main" id="{5717993E-EF41-4851-B13D-1382A01FDD4F}"/>
              </a:ext>
            </a:extLst>
          </p:cNvPr>
          <p:cNvSpPr>
            <a:spLocks xmlns:a="http://schemas.openxmlformats.org/drawingml/2006/main" noGrp="1"/>
          </p:cNvSpPr>
          <p:nvPr/>
        </p:nvSpPr>
        <p:spPr>
          <a:xfrm xmlns:a="http://schemas.openxmlformats.org/drawingml/2006/main">
            <a:off x="566928" y="64739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850"/>
          </a:p>
        </p:txBody>
      </p:sp>
      <p:sp>
        <p:nvSpPr>
          <p:cNvPr id="11" name="Text 8">
            <a:extLst xmlns:a="http://schemas.openxmlformats.org/drawingml/2006/main">
              <a:ext uri="{FF2B5EF4-FFF2-40B4-BE49-F238E27FC236}">
                <a16:creationId xmlns:a16="http://schemas.microsoft.com/office/drawing/2014/main" id="{5C005951-6E2B-4167-AE24-99AE11B6E227}"/>
              </a:ext>
            </a:extLst>
          </p:cNvPr>
          <p:cNvSpPr>
            <a:spLocks xmlns:a="http://schemas.openxmlformats.org/drawingml/2006/main" noGrp="1"/>
          </p:cNvSpPr>
          <p:nvPr/>
        </p:nvSpPr>
        <p:spPr>
          <a:xfrm xmlns:a="http://schemas.openxmlformats.org/drawingml/2006/main">
            <a:off x="10524744" y="647395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B7C88"/>
                </a:solidFill>
                <a:latin typeface="Calibri"/>
                <a:ea typeface="Calibri"/>
                <a:cs typeface="Calibri"/>
              </a:rPr>
              <a:t>10</a:t>
            </a:r>
            <a:endParaRPr sz="850"/>
          </a:p>
        </p:txBody>
      </p:sp>
      <p:graphicFrame>
        <p:nvGraphicFramePr>
          <p:cNvPr id="24" name="Table 0"/>
          <p:cNvGraphicFramePr/>
          <p:nvPr/>
        </p:nvGraphicFramePr>
        <p:xfrm>
          <a:off xmlns:a="http://schemas.openxmlformats.org/drawingml/2006/main" x="566928" y="2395728"/>
          <a:ext xmlns:a="http://schemas.openxmlformats.org/drawingml/2006/main" cx="11055096" cy="914400"/>
        </p:xfrm>
        <a:graphic xmlns:a="http://schemas.openxmlformats.org/drawingml/2006/main">
          <a:graphicData uri="http://schemas.openxmlformats.org/drawingml/2006/table">
            <a:tbl>
              <a:tblPr/>
              <a:tblGrid>
                <a:gridCol w="4206240"/>
                <a:gridCol w="6848856"/>
              </a:tblGrid>
              <a:tr h="329184">
                <a:tc>
                  <a:txBody>
                    <a:bodyPr/>
                    <a:lstStyle/>
                    <a:p>
                      <a:pPr marL="0" indent="0">
                        <a:buNone/>
                      </a:pPr>
                      <a:r>
                        <a:rPr sz="1100" b="1" spc="100">
                          <a:solidFill>
                            <a:srgbClr val="FFFFFF"/>
                          </a:solidFill>
                        </a:rPr>
                        <a:t>WHAT THE DATA APPEARED TO SAY</a:t>
                      </a:r>
                      <a:endParaRPr sz="110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445A69"/>
                    </a:solidFill>
                  </a:tcPr>
                </a:tc>
                <a:tc>
                  <a:txBody>
                    <a:bodyPr/>
                    <a:lstStyle/>
                    <a:p>
                      <a:pPr marL="0" indent="0">
                        <a:buNone/>
                      </a:pPr>
                      <a:r>
                        <a:rPr sz="1100" b="1" spc="100">
                          <a:solidFill>
                            <a:srgbClr val="1D2A32"/>
                          </a:solidFill>
                        </a:rPr>
                        <a:t>WHAT WAS ACTUALLY HAPPENING</a:t>
                      </a:r>
                      <a:endParaRPr sz="110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2A78D6"/>
                    </a:solidFill>
                  </a:tcPr>
                </a:tc>
              </a:tr>
              <a:tr h="338328">
                <a:tc>
                  <a:txBody>
                    <a:bodyPr/>
                    <a:lstStyle/>
                    <a:p>
                      <a:pPr marL="0" indent="0">
                        <a:buNone/>
                      </a:pPr>
                      <a:r>
                        <a:rPr sz="1050" b="1">
                          <a:solidFill>
                            <a:srgbClr val="24343F"/>
                          </a:solidFill>
                        </a:rPr>
                        <a:t>Complaints fell 73% in July</a:t>
                      </a:r>
                      <a:endParaRPr sz="105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CFPB publication lag — records appear after a company responds or enough time passes. Analysis ends 27 Jun 2026</a:t>
                      </a:r>
                      <a:endParaRPr sz="105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r h="338328">
                <a:tc>
                  <a:txBody>
                    <a:bodyPr/>
                    <a:lstStyle/>
                    <a:p>
                      <a:pPr marL="0" indent="0">
                        <a:buNone/>
                      </a:pPr>
                      <a:r>
                        <a:rPr sz="1050" b="1">
                          <a:solidFill>
                            <a:srgbClr val="24343F"/>
                          </a:solidFill>
                        </a:rPr>
                        <a:t>Handling time is 0 days</a:t>
                      </a:r>
                      <a:endParaRPr sz="105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EFF5F9"/>
                    </a:solidFill>
                  </a:tcPr>
                </a:tc>
                <a:tc>
                  <a:txBody>
                    <a:bodyPr/>
                    <a:lstStyle/>
                    <a:p>
                      <a:pPr marL="0" indent="0">
                        <a:buNone/>
                      </a:pPr>
                      <a:r>
                        <a:rPr sz="1050">
                          <a:solidFill>
                            <a:srgbClr val="1B2730"/>
                          </a:solidFill>
                        </a:rPr>
                        <a:t>It measures the regulator's routing, not any firm's speed. Metric dropped</a:t>
                      </a:r>
                      <a:endParaRPr sz="105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EFF5F9"/>
                    </a:solidFill>
                  </a:tcPr>
                </a:tc>
              </a:tr>
              <a:tr h="338328">
                <a:tc>
                  <a:txBody>
                    <a:bodyPr/>
                    <a:lstStyle/>
                    <a:p>
                      <a:pPr marL="0" indent="0">
                        <a:buNone/>
                      </a:pPr>
                      <a:r>
                        <a:rPr sz="1050" b="1">
                          <a:solidFill>
                            <a:srgbClr val="24343F"/>
                          </a:solidFill>
                        </a:rPr>
                        <a:t>Timeliness 98.0% vs 0.6% untimely</a:t>
                      </a:r>
                      <a:endParaRPr sz="105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Two different fields. Relabelled so a CEO is not shown a contradiction</a:t>
                      </a:r>
                      <a:endParaRPr sz="1050"/>
                    </a:p>
                  </a:txBody>
                  <a:tcPr marL="101600" marR="101600" marT="25400" marB="254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bl>
          </a:graphicData>
        </a:graphic>
      </p:graphicFrame>
    </p:spTree>
    <p:extLst>
      <p:ext uri="{BB962C8B-B14F-4D97-AF65-F5344CB8AC3E}">
        <p14:creationId xmlns:p14="http://schemas.microsoft.com/office/powerpoint/2010/main" val="18617828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D022C4-638E-44EA-B6EA-A52B0F431FED}"/>
              </a:ext>
            </a:extLst>
          </p:cNvPr>
          <p:cNvSpPr>
            <a:spLocks xmlns:a="http://schemas.openxmlformats.org/drawingml/2006/main" noGrp="1"/>
          </p:cNvSpPr>
          <p:nvPr/>
        </p:nvSpPr>
        <p:spPr>
          <a:xfrm xmlns:a="http://schemas.openxmlformats.org/drawingml/2006/main">
            <a:off x="566928" y="310896"/>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B7C88"/>
                </a:solidFill>
                <a:latin typeface="Calibri"/>
                <a:ea typeface="Calibri"/>
                <a:cs typeface="Calibri"/>
              </a:rPr>
              <a:t>CAPSTONE ROUND 1  ·  AI CONSULTING PITCH</a:t>
            </a:r>
            <a:endParaRPr sz="1050"/>
          </a:p>
        </p:txBody>
      </p:sp>
      <p:sp>
        <p:nvSpPr>
          <p:cNvPr id="3" name="Shape 1">
            <a:extLst xmlns:a="http://schemas.openxmlformats.org/drawingml/2006/main">
              <a:ext uri="{FF2B5EF4-FFF2-40B4-BE49-F238E27FC236}">
                <a16:creationId xmlns:a16="http://schemas.microsoft.com/office/drawing/2014/main" id="{EA919AC1-4394-406C-98C1-A02015AB5ED9}"/>
              </a:ext>
            </a:extLst>
          </p:cNvPr>
          <p:cNvSpPr>
            <a:spLocks xmlns:a="http://schemas.openxmlformats.org/drawingml/2006/main" noGrp="1"/>
          </p:cNvSpPr>
          <p:nvPr/>
        </p:nvSpPr>
        <p:spPr>
          <a:xfrm xmlns:a="http://schemas.openxmlformats.org/drawingml/2006/main">
            <a:off x="566928" y="658368"/>
            <a:ext cx="566928" cy="566928"/>
          </a:xfrm>
          <a:prstGeom xmlns:a="http://schemas.openxmlformats.org/drawingml/2006/main" prst="ellipse">
            <a:avLst/>
          </a:prstGeom>
          <a:solidFill xmlns:a="http://schemas.openxmlformats.org/drawingml/2006/main">
            <a:srgbClr val="24343F"/>
          </a:solidFill>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3b26cb9bdd7f4a2b"/>
          <a:stretch xmlns:a="http://schemas.openxmlformats.org/drawingml/2006/main">
            <a:fillRect l="0" t="0" r="0" b="0"/>
          </a:stretch>
        </p:blipFill>
        <p:spPr>
          <a:xfrm xmlns:a="http://schemas.openxmlformats.org/drawingml/2006/main">
            <a:off x="708660" y="800100"/>
            <a:ext cx="283464" cy="28346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97741F4D-F167-4BA5-8D0E-0CEABD3E91B9}"/>
              </a:ext>
            </a:extLst>
          </p:cNvPr>
          <p:cNvSpPr>
            <a:spLocks xmlns:a="http://schemas.openxmlformats.org/drawingml/2006/main" noGrp="1"/>
          </p:cNvSpPr>
          <p:nvPr/>
        </p:nvSpPr>
        <p:spPr>
          <a:xfrm xmlns:a="http://schemas.openxmlformats.org/drawingml/2006/main">
            <a:off x="1316736" y="621792"/>
            <a:ext cx="1030528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343F"/>
                </a:solidFill>
                <a:latin typeface="Trebuchet MS"/>
                <a:ea typeface="Trebuchet MS"/>
                <a:cs typeface="Trebuchet MS"/>
              </a:rPr>
              <a:t>Human review supports a preliminary compliance view</a:t>
            </a:r>
            <a:endParaRPr sz="3000"/>
          </a:p>
        </p:txBody>
      </p:sp>
      <p:sp>
        <p:nvSpPr>
          <p:cNvPr id="6" name="Shape 3">
            <a:extLst xmlns:a="http://schemas.openxmlformats.org/drawingml/2006/main">
              <a:ext uri="{FF2B5EF4-FFF2-40B4-BE49-F238E27FC236}">
                <a16:creationId xmlns:a16="http://schemas.microsoft.com/office/drawing/2014/main" id="{A1350174-4B90-47AB-87E6-4B9537D675C6}"/>
              </a:ext>
            </a:extLst>
          </p:cNvPr>
          <p:cNvSpPr>
            <a:spLocks xmlns:a="http://schemas.openxmlformats.org/drawingml/2006/main" noGrp="1"/>
          </p:cNvSpPr>
          <p:nvPr/>
        </p:nvSpPr>
        <p:spPr>
          <a:xfrm xmlns:a="http://schemas.openxmlformats.org/drawingml/2006/main">
            <a:off x="566928" y="1481328"/>
            <a:ext cx="11055096" cy="676656"/>
          </a:xfrm>
          <a:prstGeom xmlns:a="http://schemas.openxmlformats.org/drawingml/2006/main" prst="rect">
            <a:avLst/>
          </a:prstGeom>
          <a:solidFill xmlns:a="http://schemas.openxmlformats.org/drawingml/2006/main">
            <a:srgbClr val="EFF5F9"/>
          </a:solidFill>
        </p:spPr>
      </p:sp>
      <p:sp>
        <p:nvSpPr>
          <p:cNvPr id="7" name="Shape 4">
            <a:extLst xmlns:a="http://schemas.openxmlformats.org/drawingml/2006/main">
              <a:ext uri="{FF2B5EF4-FFF2-40B4-BE49-F238E27FC236}">
                <a16:creationId xmlns:a16="http://schemas.microsoft.com/office/drawing/2014/main" id="{829B278E-1B55-4A02-A5BC-A48973FBADF9}"/>
              </a:ext>
            </a:extLst>
          </p:cNvPr>
          <p:cNvSpPr>
            <a:spLocks xmlns:a="http://schemas.openxmlformats.org/drawingml/2006/main" noGrp="1"/>
          </p:cNvSpPr>
          <p:nvPr/>
        </p:nvSpPr>
        <p:spPr>
          <a:xfrm xmlns:a="http://schemas.openxmlformats.org/drawingml/2006/main">
            <a:off x="566928" y="1481328"/>
            <a:ext cx="82296" cy="676656"/>
          </a:xfrm>
          <a:prstGeom xmlns:a="http://schemas.openxmlformats.org/drawingml/2006/main" prst="rect">
            <a:avLst/>
          </a:prstGeom>
          <a:solidFill xmlns:a="http://schemas.openxmlformats.org/drawingml/2006/main">
            <a:srgbClr val="2A78D6"/>
          </a:solidFill>
        </p:spPr>
      </p:sp>
      <p:sp>
        <p:nvSpPr>
          <p:cNvPr id="8" name="Text 5">
            <a:extLst xmlns:a="http://schemas.openxmlformats.org/drawingml/2006/main">
              <a:ext uri="{FF2B5EF4-FFF2-40B4-BE49-F238E27FC236}">
                <a16:creationId xmlns:a16="http://schemas.microsoft.com/office/drawing/2014/main" id="{EC54657B-BD9C-453F-B170-B6DF5EF7186C}"/>
              </a:ext>
            </a:extLst>
          </p:cNvPr>
          <p:cNvSpPr>
            <a:spLocks xmlns:a="http://schemas.openxmlformats.org/drawingml/2006/main" noGrp="1"/>
          </p:cNvSpPr>
          <p:nvPr/>
        </p:nvSpPr>
        <p:spPr>
          <a:xfrm xmlns:a="http://schemas.openxmlformats.org/drawingml/2006/main">
            <a:off x="822960" y="1481328"/>
            <a:ext cx="1059789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00">
                <a:solidFill>
                  <a:srgbClr val="2A78D6"/>
                </a:solidFill>
                <a:latin typeface="Calibri"/>
                <a:ea typeface="Calibri"/>
                <a:cs typeface="Calibri"/>
              </a:rPr>
              <a:t>TAKEAWAY   This is a Round 1 working view, not a final legal classification.</a:t>
            </a:r>
            <a:endParaRPr sz="1050"/>
          </a:p>
        </p:txBody>
      </p:sp>
      <p:sp>
        <p:nvSpPr>
          <p:cNvPr id="9" name="Shape 6">
            <a:extLst xmlns:a="http://schemas.openxmlformats.org/drawingml/2006/main">
              <a:ext uri="{FF2B5EF4-FFF2-40B4-BE49-F238E27FC236}">
                <a16:creationId xmlns:a16="http://schemas.microsoft.com/office/drawing/2014/main" id="{4778F047-D2F3-485F-8F42-175910086159}"/>
              </a:ext>
            </a:extLst>
          </p:cNvPr>
          <p:cNvSpPr>
            <a:spLocks xmlns:a="http://schemas.openxmlformats.org/drawingml/2006/main" noGrp="1"/>
          </p:cNvSpPr>
          <p:nvPr/>
        </p:nvSpPr>
        <p:spPr>
          <a:xfrm xmlns:a="http://schemas.openxmlformats.org/drawingml/2006/main">
            <a:off x="566928" y="6437376"/>
            <a:ext cx="11055096" cy="0"/>
          </a:xfrm>
          <a:prstGeom xmlns:a="http://schemas.openxmlformats.org/drawingml/2006/main" prst="line">
            <a:avLst/>
          </a:prstGeom>
          <a:noFill xmlns:a="http://schemas.openxmlformats.org/drawingml/2006/main"/>
          <a:ln xmlns:a="http://schemas.openxmlformats.org/drawingml/2006/main" w="12700">
            <a:solidFill>
              <a:srgbClr val="D9E3EA"/>
            </a:solidFill>
            <a:prstDash val="solid"/>
          </a:ln>
        </p:spPr>
      </p:sp>
      <p:sp>
        <p:nvSpPr>
          <p:cNvPr id="10" name="Text 7">
            <a:extLst xmlns:a="http://schemas.openxmlformats.org/drawingml/2006/main">
              <a:ext uri="{FF2B5EF4-FFF2-40B4-BE49-F238E27FC236}">
                <a16:creationId xmlns:a16="http://schemas.microsoft.com/office/drawing/2014/main" id="{B7BBCBD9-14CC-4F2A-9C62-7DEBC4D4FE36}"/>
              </a:ext>
            </a:extLst>
          </p:cNvPr>
          <p:cNvSpPr>
            <a:spLocks xmlns:a="http://schemas.openxmlformats.org/drawingml/2006/main" noGrp="1"/>
          </p:cNvSpPr>
          <p:nvPr/>
        </p:nvSpPr>
        <p:spPr>
          <a:xfrm xmlns:a="http://schemas.openxmlformats.org/drawingml/2006/main">
            <a:off x="566928" y="64739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850"/>
          </a:p>
        </p:txBody>
      </p:sp>
      <p:sp>
        <p:nvSpPr>
          <p:cNvPr id="11" name="Text 8">
            <a:extLst xmlns:a="http://schemas.openxmlformats.org/drawingml/2006/main">
              <a:ext uri="{FF2B5EF4-FFF2-40B4-BE49-F238E27FC236}">
                <a16:creationId xmlns:a16="http://schemas.microsoft.com/office/drawing/2014/main" id="{087E6D7C-9A22-40B4-8314-3A91929D36B2}"/>
              </a:ext>
            </a:extLst>
          </p:cNvPr>
          <p:cNvSpPr>
            <a:spLocks xmlns:a="http://schemas.openxmlformats.org/drawingml/2006/main" noGrp="1"/>
          </p:cNvSpPr>
          <p:nvPr/>
        </p:nvSpPr>
        <p:spPr>
          <a:xfrm xmlns:a="http://schemas.openxmlformats.org/drawingml/2006/main">
            <a:off x="10524744" y="647395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B7C88"/>
                </a:solidFill>
                <a:latin typeface="Calibri"/>
                <a:ea typeface="Calibri"/>
                <a:cs typeface="Calibri"/>
              </a:rPr>
              <a:t>11</a:t>
            </a:r>
            <a:endParaRPr sz="850"/>
          </a:p>
        </p:txBody>
      </p:sp>
      <p:graphicFrame>
        <p:nvGraphicFramePr>
          <p:cNvPr id="24" name="Table 0"/>
          <p:cNvGraphicFramePr/>
          <p:nvPr/>
        </p:nvGraphicFramePr>
        <p:xfrm>
          <a:off xmlns:a="http://schemas.openxmlformats.org/drawingml/2006/main" x="566928" y="2395728"/>
          <a:ext xmlns:a="http://schemas.openxmlformats.org/drawingml/2006/main" cx="11055096" cy="914400"/>
        </p:xfrm>
        <a:graphic xmlns:a="http://schemas.openxmlformats.org/drawingml/2006/main">
          <a:graphicData uri="http://schemas.openxmlformats.org/drawingml/2006/table">
            <a:tbl>
              <a:tblPr/>
              <a:tblGrid>
                <a:gridCol w="3291840"/>
                <a:gridCol w="5394960"/>
              </a:tblGrid>
              <a:tr h="329184">
                <a:tc>
                  <a:txBody>
                    <a:bodyPr/>
                    <a:lstStyle/>
                    <a:p>
                      <a:pPr marL="0" indent="0">
                        <a:buNone/>
                      </a:pPr>
                      <a:r>
                        <a:rPr sz="1100" b="1">
                          <a:solidFill>
                            <a:srgbClr val="FFFFFF"/>
                          </a:solidFill>
                        </a:rPr>
                        <a:t>Question</a:t>
                      </a:r>
                      <a:endParaRPr sz="110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445A69"/>
                    </a:solidFill>
                  </a:tcPr>
                </a:tc>
                <a:tc>
                  <a:txBody>
                    <a:bodyPr/>
                    <a:lstStyle/>
                    <a:p>
                      <a:pPr marL="0" indent="0">
                        <a:buNone/>
                      </a:pPr>
                      <a:r>
                        <a:rPr sz="1100" b="1">
                          <a:solidFill>
                            <a:srgbClr val="FFFFFF"/>
                          </a:solidFill>
                        </a:rPr>
                        <a:t>Round 1 working view</a:t>
                      </a:r>
                      <a:endParaRPr sz="110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445A69"/>
                    </a:solidFill>
                  </a:tcPr>
                </a:tc>
              </a:tr>
              <a:tr h="502920">
                <a:tc>
                  <a:txBody>
                    <a:bodyPr/>
                    <a:lstStyle/>
                    <a:p>
                      <a:pPr marL="0" indent="0">
                        <a:buNone/>
                      </a:pPr>
                      <a:r>
                        <a:rPr sz="1050" b="1">
                          <a:solidFill>
                            <a:srgbClr val="24343F"/>
                          </a:solidFill>
                        </a:rPr>
                        <a:t>EU AI Act classification</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Not identified as Annex III high-risk for this intended use; Round 2 legal validation is required</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r h="502920">
                <a:tc>
                  <a:txBody>
                    <a:bodyPr/>
                    <a:lstStyle/>
                    <a:p>
                      <a:pPr marL="0" indent="0">
                        <a:buNone/>
                      </a:pPr>
                      <a:r>
                        <a:rPr sz="1050" b="1">
                          <a:solidFill>
                            <a:srgbClr val="24343F"/>
                          </a:solidFill>
                        </a:rPr>
                        <a:t>Decision boundary</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The system proposes a route; a human confirms and resolves. Autonomous routing requires a new assessment</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r h="502920">
                <a:tc>
                  <a:txBody>
                    <a:bodyPr/>
                    <a:lstStyle/>
                    <a:p>
                      <a:pPr marL="0" indent="0">
                        <a:buNone/>
                      </a:pPr>
                      <a:r>
                        <a:rPr sz="1050" b="1">
                          <a:solidFill>
                            <a:srgbClr val="24343F"/>
                          </a:solidFill>
                        </a:rPr>
                        <a:t>GDPR work</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Round 2 assesses legal basis, retention, and whether a DPIA is required</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r h="502920">
                <a:tc>
                  <a:txBody>
                    <a:bodyPr/>
                    <a:lstStyle/>
                    <a:p>
                      <a:pPr marL="0" indent="0">
                        <a:buNone/>
                      </a:pPr>
                      <a:r>
                        <a:rPr sz="1050" b="1">
                          <a:solidFill>
                            <a:srgbClr val="24343F"/>
                          </a:solidFill>
                        </a:rPr>
                        <a:t>Open risk</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Hosting region and cross-border transfer controls are not yet verified</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bl>
          </a:graphicData>
        </a:graphic>
      </p:graphicFrame>
    </p:spTree>
    <p:extLst>
      <p:ext uri="{BB962C8B-B14F-4D97-AF65-F5344CB8AC3E}">
        <p14:creationId xmlns:p14="http://schemas.microsoft.com/office/powerpoint/2010/main" val="818523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ABDF90F-91E1-48A9-AEC3-AB8689DD0758}"/>
              </a:ext>
            </a:extLst>
          </p:cNvPr>
          <p:cNvSpPr>
            <a:spLocks xmlns:a="http://schemas.openxmlformats.org/drawingml/2006/main" noGrp="1"/>
          </p:cNvSpPr>
          <p:nvPr/>
        </p:nvSpPr>
        <p:spPr>
          <a:xfrm xmlns:a="http://schemas.openxmlformats.org/drawingml/2006/main">
            <a:off x="566928" y="310896"/>
            <a:ext cx="11055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00">
                <a:solidFill>
                  <a:srgbClr val="6B7C88"/>
                </a:solidFill>
                <a:latin typeface="Calibri"/>
                <a:ea typeface="Calibri"/>
                <a:cs typeface="Calibri"/>
              </a:rPr>
              <a:t>CAPSTONE ROUND 1  ·  AI CONSULTING PITCH</a:t>
            </a:r>
            <a:endParaRPr sz="1050"/>
          </a:p>
        </p:txBody>
      </p:sp>
      <p:sp>
        <p:nvSpPr>
          <p:cNvPr id="3" name="Shape 1">
            <a:extLst xmlns:a="http://schemas.openxmlformats.org/drawingml/2006/main">
              <a:ext uri="{FF2B5EF4-FFF2-40B4-BE49-F238E27FC236}">
                <a16:creationId xmlns:a16="http://schemas.microsoft.com/office/drawing/2014/main" id="{F70B1A62-2D66-44DB-9089-7B731F580057}"/>
              </a:ext>
            </a:extLst>
          </p:cNvPr>
          <p:cNvSpPr>
            <a:spLocks xmlns:a="http://schemas.openxmlformats.org/drawingml/2006/main" noGrp="1"/>
          </p:cNvSpPr>
          <p:nvPr/>
        </p:nvSpPr>
        <p:spPr>
          <a:xfrm xmlns:a="http://schemas.openxmlformats.org/drawingml/2006/main">
            <a:off x="566928" y="658368"/>
            <a:ext cx="566928" cy="566928"/>
          </a:xfrm>
          <a:prstGeom xmlns:a="http://schemas.openxmlformats.org/drawingml/2006/main" prst="ellipse">
            <a:avLst/>
          </a:prstGeom>
          <a:solidFill xmlns:a="http://schemas.openxmlformats.org/drawingml/2006/main">
            <a:srgbClr val="24343F"/>
          </a:solidFill>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8a81df8573a04e21"/>
          <a:stretch xmlns:a="http://schemas.openxmlformats.org/drawingml/2006/main">
            <a:fillRect l="0" t="0" r="0" b="0"/>
          </a:stretch>
        </p:blipFill>
        <p:spPr>
          <a:xfrm xmlns:a="http://schemas.openxmlformats.org/drawingml/2006/main">
            <a:off x="708660" y="800100"/>
            <a:ext cx="283464" cy="28346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00221943-D41C-4834-8289-185472238871}"/>
              </a:ext>
            </a:extLst>
          </p:cNvPr>
          <p:cNvSpPr>
            <a:spLocks xmlns:a="http://schemas.openxmlformats.org/drawingml/2006/main" noGrp="1"/>
          </p:cNvSpPr>
          <p:nvPr/>
        </p:nvSpPr>
        <p:spPr>
          <a:xfrm xmlns:a="http://schemas.openxmlformats.org/drawingml/2006/main">
            <a:off x="1316736" y="621792"/>
            <a:ext cx="1030528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343F"/>
                </a:solidFill>
                <a:latin typeface="Trebuchet MS"/>
                <a:ea typeface="Trebuchet MS"/>
                <a:cs typeface="Trebuchet MS"/>
              </a:rPr>
              <a:t>Every number is measured, sourced, or assumed</a:t>
            </a:r>
            <a:endParaRPr sz="3000"/>
          </a:p>
        </p:txBody>
      </p:sp>
      <p:sp>
        <p:nvSpPr>
          <p:cNvPr id="6" name="Shape 3">
            <a:extLst xmlns:a="http://schemas.openxmlformats.org/drawingml/2006/main">
              <a:ext uri="{FF2B5EF4-FFF2-40B4-BE49-F238E27FC236}">
                <a16:creationId xmlns:a16="http://schemas.microsoft.com/office/drawing/2014/main" id="{8483479E-4296-401A-8867-CC6428197FCE}"/>
              </a:ext>
            </a:extLst>
          </p:cNvPr>
          <p:cNvSpPr>
            <a:spLocks xmlns:a="http://schemas.openxmlformats.org/drawingml/2006/main" noGrp="1"/>
          </p:cNvSpPr>
          <p:nvPr/>
        </p:nvSpPr>
        <p:spPr>
          <a:xfrm xmlns:a="http://schemas.openxmlformats.org/drawingml/2006/main">
            <a:off x="566928" y="1481328"/>
            <a:ext cx="11055096" cy="676656"/>
          </a:xfrm>
          <a:prstGeom xmlns:a="http://schemas.openxmlformats.org/drawingml/2006/main" prst="rect">
            <a:avLst/>
          </a:prstGeom>
          <a:solidFill xmlns:a="http://schemas.openxmlformats.org/drawingml/2006/main">
            <a:srgbClr val="EFF5F9"/>
          </a:solidFill>
        </p:spPr>
      </p:sp>
      <p:sp>
        <p:nvSpPr>
          <p:cNvPr id="7" name="Shape 4">
            <a:extLst xmlns:a="http://schemas.openxmlformats.org/drawingml/2006/main">
              <a:ext uri="{FF2B5EF4-FFF2-40B4-BE49-F238E27FC236}">
                <a16:creationId xmlns:a16="http://schemas.microsoft.com/office/drawing/2014/main" id="{3C793C62-6C32-4C88-93F0-B3BBCC29D2B7}"/>
              </a:ext>
            </a:extLst>
          </p:cNvPr>
          <p:cNvSpPr>
            <a:spLocks xmlns:a="http://schemas.openxmlformats.org/drawingml/2006/main" noGrp="1"/>
          </p:cNvSpPr>
          <p:nvPr/>
        </p:nvSpPr>
        <p:spPr>
          <a:xfrm xmlns:a="http://schemas.openxmlformats.org/drawingml/2006/main">
            <a:off x="566928" y="1481328"/>
            <a:ext cx="82296" cy="676656"/>
          </a:xfrm>
          <a:prstGeom xmlns:a="http://schemas.openxmlformats.org/drawingml/2006/main" prst="rect">
            <a:avLst/>
          </a:prstGeom>
          <a:solidFill xmlns:a="http://schemas.openxmlformats.org/drawingml/2006/main">
            <a:srgbClr val="2A78D6"/>
          </a:solidFill>
        </p:spPr>
      </p:sp>
      <p:sp>
        <p:nvSpPr>
          <p:cNvPr id="8" name="Text 5">
            <a:extLst xmlns:a="http://schemas.openxmlformats.org/drawingml/2006/main">
              <a:ext uri="{FF2B5EF4-FFF2-40B4-BE49-F238E27FC236}">
                <a16:creationId xmlns:a16="http://schemas.microsoft.com/office/drawing/2014/main" id="{D647D352-3DC6-4028-B2BA-AC66D1C89F1B}"/>
              </a:ext>
            </a:extLst>
          </p:cNvPr>
          <p:cNvSpPr>
            <a:spLocks xmlns:a="http://schemas.openxmlformats.org/drawingml/2006/main" noGrp="1"/>
          </p:cNvSpPr>
          <p:nvPr/>
        </p:nvSpPr>
        <p:spPr>
          <a:xfrm xmlns:a="http://schemas.openxmlformats.org/drawingml/2006/main">
            <a:off x="822960" y="1481328"/>
            <a:ext cx="1059789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B2730"/>
                </a:solidFill>
                <a:latin typeface="Calibri"/>
                <a:ea typeface="Calibri"/>
                <a:cs typeface="Calibri"/>
              </a:rPr>
              <a:t>Measured, sourced, and assumed figures are labelled separately.</a:t>
            </a:r>
            <a:endParaRPr sz="1050"/>
          </a:p>
        </p:txBody>
      </p:sp>
      <p:sp>
        <p:nvSpPr>
          <p:cNvPr id="9" name="Shape 6">
            <a:extLst xmlns:a="http://schemas.openxmlformats.org/drawingml/2006/main">
              <a:ext uri="{FF2B5EF4-FFF2-40B4-BE49-F238E27FC236}">
                <a16:creationId xmlns:a16="http://schemas.microsoft.com/office/drawing/2014/main" id="{544C8F67-CF99-49B0-8DD0-934686D98AA2}"/>
              </a:ext>
            </a:extLst>
          </p:cNvPr>
          <p:cNvSpPr>
            <a:spLocks xmlns:a="http://schemas.openxmlformats.org/drawingml/2006/main" noGrp="1"/>
          </p:cNvSpPr>
          <p:nvPr/>
        </p:nvSpPr>
        <p:spPr>
          <a:xfrm xmlns:a="http://schemas.openxmlformats.org/drawingml/2006/main">
            <a:off x="566928" y="6437376"/>
            <a:ext cx="11055096" cy="0"/>
          </a:xfrm>
          <a:prstGeom xmlns:a="http://schemas.openxmlformats.org/drawingml/2006/main" prst="line">
            <a:avLst/>
          </a:prstGeom>
          <a:noFill xmlns:a="http://schemas.openxmlformats.org/drawingml/2006/main"/>
          <a:ln xmlns:a="http://schemas.openxmlformats.org/drawingml/2006/main" w="12700">
            <a:solidFill>
              <a:srgbClr val="D9E3EA"/>
            </a:solidFill>
            <a:prstDash val="solid"/>
          </a:ln>
        </p:spPr>
      </p:sp>
      <p:sp>
        <p:nvSpPr>
          <p:cNvPr id="10" name="Text 7">
            <a:extLst xmlns:a="http://schemas.openxmlformats.org/drawingml/2006/main">
              <a:ext uri="{FF2B5EF4-FFF2-40B4-BE49-F238E27FC236}">
                <a16:creationId xmlns:a16="http://schemas.microsoft.com/office/drawing/2014/main" id="{9D412CF9-850D-439D-82D4-20F29652C975}"/>
              </a:ext>
            </a:extLst>
          </p:cNvPr>
          <p:cNvSpPr>
            <a:spLocks xmlns:a="http://schemas.openxmlformats.org/drawingml/2006/main" noGrp="1"/>
          </p:cNvSpPr>
          <p:nvPr/>
        </p:nvSpPr>
        <p:spPr>
          <a:xfrm xmlns:a="http://schemas.openxmlformats.org/drawingml/2006/main">
            <a:off x="566928" y="647395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850"/>
          </a:p>
        </p:txBody>
      </p:sp>
      <p:sp>
        <p:nvSpPr>
          <p:cNvPr id="11" name="Text 8">
            <a:extLst xmlns:a="http://schemas.openxmlformats.org/drawingml/2006/main">
              <a:ext uri="{FF2B5EF4-FFF2-40B4-BE49-F238E27FC236}">
                <a16:creationId xmlns:a16="http://schemas.microsoft.com/office/drawing/2014/main" id="{E4A337CA-DF2F-49FE-AAC2-296DB8D87B1F}"/>
              </a:ext>
            </a:extLst>
          </p:cNvPr>
          <p:cNvSpPr>
            <a:spLocks xmlns:a="http://schemas.openxmlformats.org/drawingml/2006/main" noGrp="1"/>
          </p:cNvSpPr>
          <p:nvPr/>
        </p:nvSpPr>
        <p:spPr>
          <a:xfrm xmlns:a="http://schemas.openxmlformats.org/drawingml/2006/main">
            <a:off x="10524744" y="647395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B7C88"/>
                </a:solidFill>
                <a:latin typeface="Calibri"/>
                <a:ea typeface="Calibri"/>
                <a:cs typeface="Calibri"/>
              </a:rPr>
              <a:t>12</a:t>
            </a:r>
            <a:endParaRPr sz="850"/>
          </a:p>
        </p:txBody>
      </p:sp>
      <p:graphicFrame>
        <p:nvGraphicFramePr>
          <p:cNvPr id="24" name="Table 0"/>
          <p:cNvGraphicFramePr/>
          <p:nvPr/>
        </p:nvGraphicFramePr>
        <p:xfrm>
          <a:off xmlns:a="http://schemas.openxmlformats.org/drawingml/2006/main" x="566928" y="2395728"/>
          <a:ext xmlns:a="http://schemas.openxmlformats.org/drawingml/2006/main" cx="11055096" cy="914400"/>
        </p:xfrm>
        <a:graphic xmlns:a="http://schemas.openxmlformats.org/drawingml/2006/main">
          <a:graphicData uri="http://schemas.openxmlformats.org/drawingml/2006/table">
            <a:tbl>
              <a:tblPr/>
              <a:tblGrid>
                <a:gridCol w="3200400"/>
                <a:gridCol w="1828800"/>
                <a:gridCol w="3657600"/>
              </a:tblGrid>
              <a:tr h="329184">
                <a:tc>
                  <a:txBody>
                    <a:bodyPr/>
                    <a:lstStyle/>
                    <a:p>
                      <a:pPr marL="0" indent="0">
                        <a:buNone/>
                      </a:pPr>
                      <a:r>
                        <a:rPr sz="1100" b="1">
                          <a:solidFill>
                            <a:srgbClr val="FFFFFF"/>
                          </a:solidFill>
                        </a:rPr>
                        <a:t>Figure</a:t>
                      </a:r>
                      <a:endParaRPr sz="110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445A69"/>
                    </a:solidFill>
                  </a:tcPr>
                </a:tc>
                <a:tc>
                  <a:txBody>
                    <a:bodyPr/>
                    <a:lstStyle/>
                    <a:p>
                      <a:pPr marL="0" indent="0">
                        <a:buNone/>
                      </a:pPr>
                      <a:r>
                        <a:rPr sz="1100" b="1">
                          <a:solidFill>
                            <a:srgbClr val="FFFFFF"/>
                          </a:solidFill>
                        </a:rPr>
                        <a:t>Value</a:t>
                      </a:r>
                      <a:endParaRPr sz="110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445A69"/>
                    </a:solidFill>
                  </a:tcPr>
                </a:tc>
                <a:tc>
                  <a:txBody>
                    <a:bodyPr/>
                    <a:lstStyle/>
                    <a:p>
                      <a:pPr marL="0" indent="0">
                        <a:buNone/>
                      </a:pPr>
                      <a:r>
                        <a:rPr sz="1100" b="1">
                          <a:solidFill>
                            <a:srgbClr val="FFFFFF"/>
                          </a:solidFill>
                        </a:rPr>
                        <a:t>Source</a:t>
                      </a:r>
                      <a:endParaRPr sz="110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445A69"/>
                    </a:solidFill>
                  </a:tcPr>
                </a:tc>
              </a:tr>
              <a:tr h="384048">
                <a:tc>
                  <a:txBody>
                    <a:bodyPr/>
                    <a:lstStyle/>
                    <a:p>
                      <a:pPr marL="0" indent="0">
                        <a:buNone/>
                      </a:pPr>
                      <a:r>
                        <a:rPr sz="1050" b="1">
                          <a:solidFill>
                            <a:srgbClr val="24343F"/>
                          </a:solidFill>
                        </a:rPr>
                        <a:t>Complaint corpus</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16,839</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CFPB public API, 2026-05-01 to 06-27</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r h="384048">
                <a:tc>
                  <a:txBody>
                    <a:bodyPr/>
                    <a:lstStyle/>
                    <a:p>
                      <a:pPr marL="0" indent="0">
                        <a:buNone/>
                      </a:pPr>
                      <a:r>
                        <a:rPr sz="1050" b="1">
                          <a:solidFill>
                            <a:srgbClr val="24343F"/>
                          </a:solidFill>
                        </a:rPr>
                        <a:t>Scenario complaint rate</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3.7 per 1,000 accounts</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FCA aggregate benchmark, 2025 H2</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r h="384048">
                <a:tc>
                  <a:txBody>
                    <a:bodyPr/>
                    <a:lstStyle/>
                    <a:p>
                      <a:pPr marL="0" indent="0">
                        <a:buNone/>
                      </a:pPr>
                      <a:r>
                        <a:rPr sz="1050" b="1">
                          <a:solidFill>
                            <a:srgbClr val="24343F"/>
                          </a:solidFill>
                        </a:rPr>
                        <a:t>Ombudsman case fee</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£650 after 3 free cases/year</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Financial Ombudsman Service 2025/26</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r h="384048">
                <a:tc>
                  <a:txBody>
                    <a:bodyPr/>
                    <a:lstStyle/>
                    <a:p>
                      <a:pPr marL="0" indent="0">
                        <a:buNone/>
                      </a:pPr>
                      <a:r>
                        <a:rPr sz="1050" b="1">
                          <a:solidFill>
                            <a:srgbClr val="24343F"/>
                          </a:solidFill>
                        </a:rPr>
                        <a:t>Tokens per complaint</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684 input / 49 output tokens</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Project measurement, n=12</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r h="384048">
                <a:tc>
                  <a:txBody>
                    <a:bodyPr/>
                    <a:lstStyle/>
                    <a:p>
                      <a:pPr marL="0" indent="0">
                        <a:buNone/>
                      </a:pPr>
                      <a:r>
                        <a:rPr sz="1050" b="1">
                          <a:solidFill>
                            <a:srgbClr val="24343F"/>
                          </a:solidFill>
                        </a:rPr>
                        <a:t>Agreement with CFPB label</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60.5%</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c>
                  <a:txBody>
                    <a:bodyPr/>
                    <a:lstStyle/>
                    <a:p>
                      <a:pPr marL="0" indent="0">
                        <a:buNone/>
                      </a:pPr>
                      <a:r>
                        <a:rPr sz="1050">
                          <a:solidFill>
                            <a:srgbClr val="1B2730"/>
                          </a:solidFill>
                        </a:rPr>
                        <a:t>gpt-4o, n=240, seed 42</a:t>
                      </a:r>
                      <a:endParaRPr sz="1050"/>
                    </a:p>
                  </a:txBody>
                  <a:tcPr marL="76200" marR="76200" marT="38100" marB="38100" anchor="ctr">
                    <a:lnL w="12700" cmpd="sng">
                      <a:solidFill>
                        <a:srgbClr val="D9E3EA"/>
                      </a:solidFill>
                      <a:prstDash val="solid"/>
                    </a:lnL>
                    <a:lnR w="12700" cmpd="sng">
                      <a:solidFill>
                        <a:srgbClr val="D9E3EA"/>
                      </a:solidFill>
                      <a:prstDash val="solid"/>
                    </a:lnR>
                    <a:lnT w="12700" cmpd="sng">
                      <a:solidFill>
                        <a:srgbClr val="D9E3EA"/>
                      </a:solidFill>
                      <a:prstDash val="solid"/>
                    </a:lnT>
                    <a:lnB w="12700" cmpd="sng">
                      <a:solidFill>
                        <a:srgbClr val="D9E3EA"/>
                      </a:solidFill>
                      <a:prstDash val="solid"/>
                    </a:lnB>
                    <a:solidFill>
                      <a:srgbClr val="FFFFFF"/>
                    </a:solidFill>
                  </a:tcPr>
                </a:tc>
              </a:tr>
            </a:tbl>
          </a:graphicData>
        </a:graphic>
      </p:graphicFrame>
    </p:spTree>
    <p:extLst>
      <p:ext uri="{BB962C8B-B14F-4D97-AF65-F5344CB8AC3E}">
        <p14:creationId xmlns:p14="http://schemas.microsoft.com/office/powerpoint/2010/main" val="5714145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2026-08-30T07:17:15.4960000Z</dcterms:created>
  <dcterms:modified xsi:type="dcterms:W3CDTF">2026-08-30T07:17:15.4960000Z</dcterms:modified>
</coreProperties>
</file>