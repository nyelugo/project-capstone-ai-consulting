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Three capabilities, all running. One decision you can watch end to end. And the business</a:t>
            </a:r>
          </a:p>
          <a:p>
            <a:r>
              <a:t>case as it actually came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Direction is unchanged: same sector, same firm, same lead use case.</a:t>
            </a:r>
          </a:p>
          <a:p/>
          <a:p>
            <a:r>
              <a:t>Scope widened. Round 1 proposed three use cases and built one; all three are built now. And</a:t>
            </a:r>
          </a:p>
          <a:p>
            <a:r>
              <a:t>two things got harder rather than easier — a real ROI number in place of a cost estimate,</a:t>
            </a:r>
          </a:p>
          <a:p>
            <a:r>
              <a:t>and the AI Act work Round 1 deliberately refused to guess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What stops this being solved isn't technical. It is that nobody can see what such a system</a:t>
            </a:r>
          </a:p>
          <a:p>
            <a:r>
              <a:t>does — and a decision you cannot see is one you cannot sign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 proposed Disputes and fraud, and quoted</a:t>
            </a:r>
          </a:p>
          <a:p>
            <a:r>
              <a:t>the customer's own sentence as the reason. Not a summary — her words. Then it stopped and</a:t>
            </a:r>
          </a:p>
          <a:p>
            <a:r>
              <a:t>waited for a person.</a:t>
            </a:r>
          </a:p>
          <a:p/>
          <a:p>
            <a:r>
              <a:t>[If time, edit the complaint and re-run.] When it isn't sure it doesn't fail. It says which</a:t>
            </a:r>
          </a:p>
          <a:p>
            <a:r>
              <a:t>check stopped it, in words a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complainant from a dropdown. That is</a:t>
            </a:r>
          </a:p>
          <a:p>
            <a:r>
              <a:t>agreement, not accuracy.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Built as a one-off for a firm this size, it does not pay back. Minus thirty-one per cent</a:t>
            </a:r>
          </a:p>
          <a:p>
            <a:r>
              <a:t>over three years, break-even in month sixty-nine.</a:t>
            </a:r>
          </a:p>
          <a:p/>
          <a:p>
            <a:r>
              <a:t>That number could have been positive — start the benefits on day one, or trim the oversight</a:t>
            </a:r>
          </a:p>
          <a:p>
            <a:r>
              <a:t>line. Both would have been wrong, and both would have surfaced in the pilot.</a:t>
            </a:r>
          </a:p>
          <a:p/>
          <a:p>
            <a:r>
              <a:t>The capability is fine; the commercial shape is wrong. A bespoke build needs about three</a:t>
            </a:r>
          </a:p>
          <a:p>
            <a:r>
              <a:t>thousand eight hundred complaints a year to pay for itself, and this firm has two and a</a:t>
            </a:r>
          </a:p>
          <a:p>
            <a:r>
              <a:t>half thousand — a third too small. That is a fact about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Not Annex Three, because it never evaluates creditworthiness — the trap everyone expects to</a:t>
            </a:r>
          </a:p>
          <a:p>
            <a:r>
              <a:t>catch a bank, and why credit scoring is excluded by design. Article Four, AI literacy,</a:t>
            </a:r>
          </a:p>
          <a:p>
            <a:r>
              <a:t>applies today whatever the tier, which is why training is funded rather than assumed.</a:t>
            </a:r>
          </a:p>
          <a:p/>
          <a:p>
            <a:r>
              <a:t>Two questions are left for counsel, both on anomaly flagging, both cheaper to answer before</a:t>
            </a:r>
          </a:p>
          <a:p>
            <a:r>
              <a:t>it is built.</a:t>
            </a:r>
          </a:p>
          <a:p/>
          <a:p>
            <a:r>
              <a:t>On the right, the part worth stating plainly. We pseudonymise the reference — but the</a:t>
            </a:r>
          </a:p>
          <a:p>
            <a:r>
              <a:t>complaint narrative goes to the model in full. Anyone who says "it's fine, the data is</a:t>
            </a:r>
          </a:p>
          <a:p>
            <a:r>
              <a:t>pseudonymised" has not read the system. So the transfer work is a gate before any pilot on</a:t>
            </a:r>
          </a:p>
          <a:p>
            <a:r>
              <a:t>real customer data.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 not yet pay for itself at this size.</a:t>
            </a:r>
          </a:p>
          <a:p/>
          <a:p>
            <a:r>
              <a:t>[Beat.] The pilot is what settles the third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 The slide shows four steps; these are all seven.]</a:t>
            </a:r>
          </a:p>
          <a:p/>
          <a:p>
            <a:r>
              <a:t>Seven steps in the assessment. The slide shows the four that decide the outcome.</a:t>
            </a:r>
          </a:p>
          <a:p/>
          <a:p>
            <a:r>
              <a:t>One: it is an AI system under Article 3(1) — inference from input to output.</a:t>
            </a:r>
          </a:p>
          <a:p>
            <a:r>
              <a:t>Two: not a prohibited practice under Article 5. One close call on anomaly flagging, and it</a:t>
            </a:r>
          </a:p>
          <a:p>
            <a:r>
              <a:t>is flagged for your counsel rather than waved through.</a:t>
            </a:r>
          </a:p>
          <a:p>
            <a:r>
              <a:t>Three: not a safety component of an Annex One product — nothing here goes into a regulated</a:t>
            </a:r>
          </a:p>
          <a:p>
            <a:r>
              <a:t>machine, so Article 6(1) does not apply.</a:t>
            </a:r>
          </a:p>
          <a:p>
            <a:r>
              <a:t>Four: not an Annex Three use case. This is the one that matters. Annex Three, point five(b)</a:t>
            </a:r>
          </a:p>
          <a:p>
            <a:r>
              <a:t>covers creditworthiness, and this system never evaluates it.</a:t>
            </a:r>
          </a:p>
          <a:p>
            <a:r>
              <a:t>Five: the Article 6(3) derogation is therefore not reached. Worth knowing why that matters —</a:t>
            </a:r>
          </a:p>
          <a:p>
            <a:r>
              <a:t>if step four ever failed, anomaly flagging alone would become high-risk, because it profiles,</a:t>
            </a:r>
          </a:p>
          <a:p>
            <a:r>
              <a:t>and the derogation cannot save something that profiles. Triage and reporting stay outside.</a:t>
            </a:r>
          </a:p>
          <a:p>
            <a:r>
              <a:t>That asymmetry is exactly why anomaly flagging is built last and can be switched off without</a:t>
            </a:r>
          </a:p>
          <a:p>
            <a:r>
              <a:t>touching the other two.</a:t>
            </a:r>
          </a:p>
          <a:p>
            <a:r>
              <a:t>Six: Article 50 transparency. No customer-facing surface, but generated drafts are marked</a:t>
            </a:r>
          </a:p>
          <a:p>
            <a:r>
              <a:t>anyway.</a:t>
            </a:r>
          </a:p>
          <a:p>
            <a:r>
              <a:t>Seven: the obligations that apply whatever the tier — Article 4 AI literacy applies today.</a:t>
            </a:r>
          </a:p>
          <a:p/>
          <a:p>
            <a:r>
              <a:t>[If pressed on the label:] What holds it out of the high-risk tier is not a claim, it is a</a:t>
            </a:r>
          </a:p>
          <a:p>
            <a:r>
              <a:t>design property: it proposes, a person decides. Remove that step and it is a new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 ·  ROUND 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345643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6118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operations for a mid-size EU bank.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 EU retail bank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  Reporting assistance      Anomaly flagging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54838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06763" y="1773936"/>
            <a:ext cx="50619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use cases proposed, one built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306763" y="2340864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built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workflow you could watch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06763" y="3054096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you can use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54838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work deferred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06763" y="3767328"/>
            <a:ext cx="50619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Classified, with the reasoning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No customer-facing chatbot. No credit scoring.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year, 64 categories. Two handlers pick differently.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return, assembled by hand, under deadline.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477316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are unauthorised transactions. The money has already gone.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557784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</a:t>
            </a:r>
            <a:pPr indent="0" marL="0">
              <a:buNone/>
            </a:pPr>
            <a:r>
              <a:rPr lang="en-US" sz="2400" b="1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decides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907792"/>
            <a:ext cx="1054577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evidence changes — a verbatim quote, a figure we computed, or the transaction's own values.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418795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routes, files or blocks by itself.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</a:t>
            </a:r>
            <a:endParaRPr lang="en-US" sz="2600" dirty="0"/>
          </a:p>
        </p:txBody>
      </p:sp>
      <p:pic>
        <p:nvPicPr>
          <p:cNvPr id="8" name="Image 0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0619" y="2523744"/>
            <a:ext cx="8690458" cy="36210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returns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AT 36 MONTHS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build, as proposed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−31.0%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Productised across five firms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…with oversight in-house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+96.6%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 69. €18,200 buys a decision, not a deployment.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assumptions are wrong   4×5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measures exactly that. Fixed fee — you can stop at €18,200.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Handlers rubber-stamp the proposal   4×4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above 97% is a failure signal, measured per handler.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costs more than it saves   3×4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477316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spine, so one review covers all three. Instrumented from day one.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552297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high-risk. Not an Annex III use case — it never touches creditworthiness.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4871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reaches the model in full — pseudonyms protect the reference, not the content.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91363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7731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 That is what holds the tier.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32746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50425" y="1773936"/>
            <a:ext cx="4218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DURATION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Discovery, expert labelling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150425" y="2340864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€5,600 · 4 weeks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Pilot, 60-day shadow run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50425" y="3054096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€12,600 · 12 weeks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Full deployment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50425" y="3767328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€14,000 · 10 weeks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09744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runs in shadow — nobody acts on it, nothing changes for a customer.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" y="5559552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only if accuracy ≥80%, acceptance 75–97%, zero ungrounded outputs.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already read. Every check by name. Nothing moves until someone presses a button.</a:t>
            </a:r>
            <a:endParaRPr lang="en-US" sz="2400" dirty="0"/>
          </a:p>
        </p:txBody>
      </p:sp>
      <p:pic>
        <p:nvPicPr>
          <p:cNvPr id="8" name="Image 0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398" y="2505456"/>
            <a:ext cx="5822899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7452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€18,200 to Phase 1. Nobody acts on a single suggestion.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88036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checked.</a:t>
            </a:r>
            <a:endParaRPr lang="en-US" sz="2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down.</a:t>
            </a:r>
            <a:endParaRPr lang="en-US" sz="2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600" dirty="0">
                <a:solidFill>
                  <a:srgbClr val="A8A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size. The pilot settles that.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60.5% is not accuracy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CFPB labels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Self-agreement, exact queue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quotes caught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labels were picked by the complainant, not by an expert.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anomaly detector's 100%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Deterministic. All four patterns. 97.1% precision on 2,069 transactions.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0358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show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3511296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and data generator share an author — it measures self-agreement.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431596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Act classification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32746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150425" y="1773936"/>
            <a:ext cx="4218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An AI system?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150425" y="2340864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Art. 3(1)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Prohibited under Art. 5?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50425" y="3054096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one close call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An Annex III use case?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150425" y="3767328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22960" y="448056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632746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Art. 50 transparency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150425" y="4480560"/>
            <a:ext cx="421831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marked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22960" y="550468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 in full. Step 4 is the one that decides it.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leaves the building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464014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63101" y="1773936"/>
            <a:ext cx="59056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complaint narrative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63101" y="2340864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model provider, in full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quoted sentence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63101" y="3054096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monitoring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464014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reference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463101" y="3767328"/>
            <a:ext cx="590563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864608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reference, not the content.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pilot has to prove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69602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83172" y="1773936"/>
            <a:ext cx="35855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spc="100" kern="0" dirty="0">
                <a:solidFill>
                  <a:srgbClr val="B0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2212848"/>
            <a:ext cx="10545775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40864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accuracy vs expert labels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783172" y="2340864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80%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54096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rate, per handler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783172" y="3054096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– 97%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67328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67328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Ungrounded output reaching a handler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83172" y="3767328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22960" y="448056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abstention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783172" y="4480560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95%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22960" y="5193792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93792"/>
            <a:ext cx="69602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precision on disposition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783172" y="5193792"/>
            <a:ext cx="35855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30%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0350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Anomaly flagging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44752"/>
            <a:ext cx="1371600" cy="0"/>
          </a:xfrm>
          <a:prstGeom prst="line">
            <a:avLst/>
          </a:prstGeom>
          <a:noFill/>
          <a:ln w="25400">
            <a:solidFill>
              <a:srgbClr val="B034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55080"/>
            <a:ext cx="1054577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45433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7739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decides what is unusual. The model only explains why.</a:t>
            </a:r>
            <a:endParaRPr lang="en-US" sz="2400" dirty="0"/>
          </a:p>
        </p:txBody>
      </p:sp>
      <p:pic>
        <p:nvPicPr>
          <p:cNvPr id="8" name="Image 0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4398" y="2505456"/>
            <a:ext cx="5822899" cy="3639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2026-09-03T16:13:15Z</dcterms:created>
  <dcterms:modified xsi:type="dcterms:W3CDTF">2026-09-03T16:13:15Z</dcterms:modified>
</cp:coreProperties>
</file>