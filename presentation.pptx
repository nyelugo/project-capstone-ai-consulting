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59" r:id="rId4"/>
    <p:sldId id="271"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71053"/>
  </p:normalViewPr>
  <p:slideViewPr>
    <p:cSldViewPr snapToGrid="0" snapToObjects="1">
      <p:cViewPr varScale="1">
        <p:scale>
          <a:sx n="95" d="100"/>
          <a:sy n="95" d="100"/>
        </p:scale>
        <p:origin x="1408"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387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Round 1 established that an inspectable, assist-only system was worth developing. Round 2 implemented all three use cases, built the MVP, and tested the economics and compliance constraints. The control mechanism works, but performance on the client's data and the value of a bespoke deployment are not yet proven.</a:t>
            </a:r>
          </a:p>
          <a:p>
            <a:endParaRPr dirty="0"/>
          </a:p>
          <a:p>
            <a:r>
              <a:rPr dirty="0"/>
              <a:t>[Sources]</a:t>
            </a:r>
          </a:p>
          <a:p>
            <a:r>
              <a:rPr dirty="0"/>
              <a:t>- `presentation/round1_pitch.pptx`, slides 1–6</a:t>
            </a:r>
          </a:p>
          <a:p>
            <a:r>
              <a:rPr dirty="0"/>
              <a:t>- `feedback/round1_decision.md`</a:t>
            </a:r>
          </a:p>
          <a:p>
            <a:r>
              <a:rPr dirty="0"/>
              <a:t>- `</a:t>
            </a:r>
            <a:r>
              <a:rPr dirty="0" err="1"/>
              <a:t>README.md</a:t>
            </a:r>
            <a:r>
              <a:rPr dirty="0"/>
              <a:t>`, Round 2 deliverables and headline findings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Round 1 kept the client, complaint triage and the human-decision boundary. The material change was scope: build all three use cases. Round 2 did that and added a working MVP, ROI analysis and compliance assessment. The decision now is whether to fund a controlled evidence </a:t>
            </a:r>
            <a:r>
              <a:rPr dirty="0" err="1"/>
              <a:t>programme</a:t>
            </a:r>
            <a:r>
              <a:rPr dirty="0"/>
              <a:t>, not whether to deploy.</a:t>
            </a:r>
          </a:p>
          <a:p>
            <a:endParaRPr dirty="0"/>
          </a:p>
          <a:p>
            <a:r>
              <a:rPr dirty="0"/>
              <a:t>[Sources]</a:t>
            </a:r>
          </a:p>
          <a:p>
            <a:r>
              <a:rPr dirty="0"/>
              <a:t>- `feedback/round1_decision.md`</a:t>
            </a:r>
          </a:p>
          <a:p>
            <a:r>
              <a:rPr dirty="0"/>
              <a:t>- `</a:t>
            </a:r>
            <a:r>
              <a:rPr dirty="0" err="1"/>
              <a:t>use_case_definition.md</a:t>
            </a:r>
            <a:r>
              <a:rPr dirty="0"/>
              <a:t>`, “How this evolved from Round 1”</a:t>
            </a:r>
          </a:p>
          <a:p>
            <a:r>
              <a:rPr dirty="0"/>
              <a:t>- `presentation/round1_pitch.pptx`, slides 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Each request follows the same sequence. The input is validated. The model may propose. Deterministic guards test scope, confidence and grounding. A person then decides what happens next. The system never routes a case, files a report or blocks a transaction. The POC tests this sequence end to end.</a:t>
            </a:r>
          </a:p>
          <a:p>
            <a:endParaRPr dirty="0"/>
          </a:p>
          <a:p>
            <a:r>
              <a:rPr dirty="0"/>
              <a:t>[Sources]</a:t>
            </a:r>
          </a:p>
          <a:p>
            <a:r>
              <a:rPr dirty="0"/>
              <a:t>- `</a:t>
            </a:r>
            <a:r>
              <a:rPr dirty="0" err="1"/>
              <a:t>mvp</a:t>
            </a:r>
            <a:r>
              <a:rPr dirty="0"/>
              <a:t>/</a:t>
            </a:r>
            <a:r>
              <a:rPr dirty="0" err="1"/>
              <a:t>mvp_documentation.md</a:t>
            </a:r>
            <a:r>
              <a:rPr dirty="0"/>
              <a:t>`, architecture, six guards and error handling</a:t>
            </a:r>
          </a:p>
          <a:p>
            <a:r>
              <a:rPr dirty="0"/>
              <a:t>- `</a:t>
            </a:r>
            <a:r>
              <a:rPr dirty="0" err="1"/>
              <a:t>mvp</a:t>
            </a:r>
            <a:r>
              <a:rPr dirty="0"/>
              <a:t>/</a:t>
            </a:r>
            <a:r>
              <a:rPr dirty="0" err="1"/>
              <a:t>spine.py</a:t>
            </a:r>
            <a:r>
              <a:rPr dirty="0"/>
              <a:t>`</a:t>
            </a:r>
          </a:p>
          <a:p>
            <a:r>
              <a:rPr dirty="0"/>
              <a:t>- `</a:t>
            </a:r>
            <a:r>
              <a:rPr dirty="0" err="1"/>
              <a:t>mvp</a:t>
            </a:r>
            <a:r>
              <a:rPr dirty="0"/>
              <a:t>/</a:t>
            </a:r>
            <a:r>
              <a:rPr dirty="0" err="1"/>
              <a:t>test_spine.py</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Read it left to right, one row at a time. Three jobs, three different reasons they are hard today, and three different ways a proposal gets made — the AI only chooses in triage. For anomalies rules pick the case and the AI explains it; for reporting the figures are computed and the AI writes them up. Two of the three proposals are not the AI's call at all.</a:t>
            </a:r>
          </a:p>
          <a:p>
            <a:endParaRPr dirty="0"/>
          </a:p>
          <a:p>
            <a:r>
              <a:rPr dirty="0"/>
              <a:t>The third column is where it stops being a demo. Each capability has to prove its answer against something the system already holds: the customer's own sentence, the transaction record, the computed sheet. Same six checks, same order — only the proof differs.</a:t>
            </a:r>
          </a:p>
          <a:p>
            <a:endParaRPr dirty="0"/>
          </a:p>
          <a:p>
            <a:r>
              <a:rPr dirty="0"/>
              <a:t>Then one person, for all three, and their decision is stored beside the proposal. That pairing is what makes agreement and override rates measurable later.</a:t>
            </a:r>
          </a:p>
          <a:p>
            <a:endParaRPr dirty="0"/>
          </a:p>
          <a:p>
            <a:r>
              <a:rPr dirty="0"/>
              <a:t>[If asked which six checks] In scope, the model replied, the reply is readable, what it named exists, confident enough, evidence really there. It stops at the first failure, so a refusal always names exactly one reason.</a:t>
            </a:r>
          </a:p>
          <a:p>
            <a:endParaRPr dirty="0"/>
          </a:p>
          <a:p>
            <a:r>
              <a:rPr dirty="0"/>
              <a:t>[Sources]</a:t>
            </a:r>
          </a:p>
          <a:p>
            <a:r>
              <a:rPr dirty="0"/>
              <a:t>- `</a:t>
            </a:r>
            <a:r>
              <a:rPr dirty="0" err="1"/>
              <a:t>mvp</a:t>
            </a:r>
            <a:r>
              <a:rPr dirty="0"/>
              <a:t>/</a:t>
            </a:r>
            <a:r>
              <a:rPr dirty="0" err="1"/>
              <a:t>spine.py</a:t>
            </a:r>
            <a:r>
              <a:rPr dirty="0"/>
              <a:t>`, the six stages and twelve reason codes</a:t>
            </a:r>
          </a:p>
          <a:p>
            <a:r>
              <a:rPr dirty="0"/>
              <a:t>- `</a:t>
            </a:r>
            <a:r>
              <a:rPr dirty="0" err="1"/>
              <a:t>mvp</a:t>
            </a:r>
            <a:r>
              <a:rPr dirty="0"/>
              <a:t>/capabilities/`, what each capability submits as evidence</a:t>
            </a:r>
          </a:p>
          <a:p>
            <a:r>
              <a:rPr dirty="0"/>
              <a:t>- `</a:t>
            </a:r>
            <a:r>
              <a:rPr dirty="0" err="1"/>
              <a:t>use_case_definition.md</a:t>
            </a:r>
            <a:r>
              <a:rPr dirty="0"/>
              <a:t>`, the three problems named in column one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POC proposes a routing team and quotes the complaint as evidence. Low confidence or missing evidence stops the workflow and records the reason. It never routes the case. This proves the mechanism can propose, cite and abstain safely. It does not prove performance or value on client data; those require expert-labelled client cases.</a:t>
            </a:r>
          </a:p>
          <a:p>
            <a:endParaRPr dirty="0"/>
          </a:p>
          <a:p>
            <a:r>
              <a:rPr dirty="0"/>
              <a:t>[Sources]</a:t>
            </a:r>
          </a:p>
          <a:p>
            <a:r>
              <a:rPr dirty="0"/>
              <a:t>- `</a:t>
            </a:r>
            <a:r>
              <a:rPr dirty="0" err="1"/>
              <a:t>poc</a:t>
            </a:r>
            <a:r>
              <a:rPr dirty="0"/>
              <a:t>/</a:t>
            </a:r>
            <a:r>
              <a:rPr dirty="0" err="1"/>
              <a:t>poc_documentation.md</a:t>
            </a:r>
            <a:r>
              <a:rPr dirty="0"/>
              <a:t>`</a:t>
            </a:r>
          </a:p>
          <a:p>
            <a:r>
              <a:rPr dirty="0"/>
              <a:t>- `</a:t>
            </a:r>
            <a:r>
              <a:rPr dirty="0" err="1"/>
              <a:t>poc</a:t>
            </a:r>
            <a:r>
              <a:rPr dirty="0"/>
              <a:t>/</a:t>
            </a:r>
            <a:r>
              <a:rPr dirty="0" err="1"/>
              <a:t>poc_workflow.json</a:t>
            </a:r>
            <a:r>
              <a:rPr dirty="0"/>
              <a:t>`</a:t>
            </a:r>
          </a:p>
          <a:p>
            <a:r>
              <a:rPr dirty="0"/>
              <a:t>- `demo/recordings/poc_demo.mp4`</a:t>
            </a:r>
          </a:p>
          <a:p>
            <a:r>
              <a:rPr dirty="0"/>
              <a:t>- `classifier/</a:t>
            </a:r>
            <a:r>
              <a:rPr dirty="0" err="1"/>
              <a:t>FINDINGS.md</a:t>
            </a:r>
            <a:r>
              <a:rPr dirty="0"/>
              <a:t>`</a:t>
            </a:r>
          </a:p>
          <a:p>
            <a:r>
              <a:rPr dirty="0"/>
              <a:t>- CFPB Consumer Complaint Database: https://</a:t>
            </a:r>
            <a:r>
              <a:rPr dirty="0" err="1"/>
              <a:t>www.consumerfinance.gov</a:t>
            </a:r>
            <a:r>
              <a:rPr dirty="0"/>
              <a:t>/data-research/consumer-complaints/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At 2,426 complaints a year this build does not pay for itself inside three years. The line crosses in month 46. At 36 months the firm is 9,480 euro down on 52,795 spent, which is minus 18 per cent. That already assumes the consultant hands oversight to a named internal owner after year one — charging the consultant rate for all three years would read minus 31, and would be pricing an engagement nobody is offering. The conservative line never crosses, and the gap between the two lines is the anomaly and reporting value the shadow pilot is built to measure. Of the 17,326 euro annual value, 9,918 is cash the firm does not spend: ombudsman case fees avoided at 650 pounds each, and fraud redress avoided by catching it earlier. The remaining 7,408 is displaced time, and displaced time is not a saving unless the hours are actually removed or redeployed. Three minutes on 2,426 complaints is 121 hours a year, which is seven per cent of one person. The model does not bank it. So the case rests on four avoided ombudsman referrals a year, and that is exactly what the shadow pilot is built to measure.</a:t>
            </a:r>
          </a:p>
          <a:p>
            <a:endParaRPr dirty="0"/>
          </a:p>
          <a:p>
            <a:r>
              <a:rPr dirty="0"/>
              <a:t>[If asked whether this ever pays] Not as a one-off build at this volume — about 3,100 complaints a year would be needed, and this firm has 2,426. Shared across five firms the same capability returns positive, and absorbing the oversight into an existing remit improves it further. That is my problem to solve, not a cost to load onto one firm.</a:t>
            </a:r>
          </a:p>
          <a:p>
            <a:endParaRPr dirty="0"/>
          </a:p>
          <a:p>
            <a:r>
              <a:rPr dirty="0"/>
              <a:t>[Sources]</a:t>
            </a:r>
          </a:p>
          <a:p>
            <a:r>
              <a:rPr dirty="0"/>
              <a:t>- `</a:t>
            </a:r>
            <a:r>
              <a:rPr dirty="0" err="1"/>
              <a:t>roi_risk_assessment.md</a:t>
            </a:r>
            <a:r>
              <a:rPr dirty="0"/>
              <a:t>`, headline, ROI, break-even and sensitivity</a:t>
            </a:r>
          </a:p>
          <a:p>
            <a:r>
              <a:rPr dirty="0"/>
              <a:t>- `</a:t>
            </a:r>
            <a:r>
              <a:rPr dirty="0" err="1"/>
              <a:t>cost_estimation</a:t>
            </a:r>
            <a:r>
              <a:rPr dirty="0"/>
              <a:t>/</a:t>
            </a:r>
            <a:r>
              <a:rPr dirty="0" err="1"/>
              <a:t>roi_model.json</a:t>
            </a:r>
            <a:r>
              <a:rPr dirty="0"/>
              <a:t>`</a:t>
            </a:r>
          </a:p>
          <a:p>
            <a:r>
              <a:rPr dirty="0"/>
              <a:t>- `presentation/assets/</a:t>
            </a:r>
            <a:r>
              <a:rPr dirty="0" err="1"/>
              <a:t>roi_breakeven_chart.py</a:t>
            </a:r>
            <a:r>
              <a:rPr dirty="0"/>
              <a:t>`, which reads that model</a:t>
            </a:r>
          </a:p>
          <a:p>
            <a:r>
              <a:rPr dirty="0"/>
              <a:t>- `</a:t>
            </a:r>
            <a:r>
              <a:rPr dirty="0" err="1"/>
              <a:t>strategic_plan.md</a:t>
            </a:r>
            <a:r>
              <a:rPr dirty="0"/>
              <a:t>`, </a:t>
            </a:r>
            <a:r>
              <a:rPr dirty="0" err="1"/>
              <a:t>commercialisation</a:t>
            </a:r>
            <a:r>
              <a:rPr dirty="0"/>
              <a:t> model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Expected value may not appear in client data. Acceptance above 97 per cent may indicate rubber-stamping. Oversight may exceed three days per quarter and erase the savings. The pilot measures all three risks, and fixed phase exits preserve the option to stop.</a:t>
            </a:r>
          </a:p>
          <a:p>
            <a:endParaRPr dirty="0"/>
          </a:p>
          <a:p>
            <a:r>
              <a:rPr dirty="0"/>
              <a:t>[Sources]</a:t>
            </a:r>
          </a:p>
          <a:p>
            <a:r>
              <a:rPr dirty="0"/>
              <a:t>- `</a:t>
            </a:r>
            <a:r>
              <a:rPr dirty="0" err="1"/>
              <a:t>roi_risk_assessment.md</a:t>
            </a:r>
            <a:r>
              <a:rPr dirty="0"/>
              <a:t>`, risk matrix R1–R3</a:t>
            </a:r>
          </a:p>
          <a:p>
            <a:r>
              <a:rPr dirty="0"/>
              <a:t>- `</a:t>
            </a:r>
            <a:r>
              <a:rPr dirty="0" err="1"/>
              <a:t>strategic_plan.md</a:t>
            </a:r>
            <a:r>
              <a:rPr dirty="0"/>
              <a:t>`, Phase 1 KPIs and exit gates</a:t>
            </a:r>
          </a:p>
          <a:p>
            <a:r>
              <a:rPr dirty="0"/>
              <a:t>- `</a:t>
            </a:r>
            <a:r>
              <a:rPr dirty="0" err="1"/>
              <a:t>mvp</a:t>
            </a:r>
            <a:r>
              <a:rPr dirty="0"/>
              <a:t>/</a:t>
            </a:r>
            <a:r>
              <a:rPr dirty="0" err="1"/>
              <a:t>mvp_documentation.md</a:t>
            </a:r>
            <a:r>
              <a:rPr dirty="0"/>
              <a:t>`, decision logging and 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Under this assist-only design, triage and reporting are not high-risk. Anomaly flagging needs counsel confirmation because it profiles transaction </a:t>
            </a:r>
            <a:r>
              <a:rPr dirty="0" err="1"/>
              <a:t>behaviour</a:t>
            </a:r>
            <a:r>
              <a:rPr dirty="0"/>
              <a:t>. AI literacy applies now. The immediate GDPR issue is data transfer: the identifier is </a:t>
            </a:r>
            <a:r>
              <a:rPr dirty="0" err="1"/>
              <a:t>pseudonymised</a:t>
            </a:r>
            <a:r>
              <a:rPr dirty="0"/>
              <a:t>, but the full complaint narrative reaches the provider. Real-data work waits for the DPA, transfer assessment and zero-retention controls.</a:t>
            </a:r>
          </a:p>
          <a:p>
            <a:endParaRPr dirty="0"/>
          </a:p>
          <a:p>
            <a:r>
              <a:rPr dirty="0"/>
              <a:t>[Sources]</a:t>
            </a:r>
          </a:p>
          <a:p>
            <a:r>
              <a:rPr dirty="0"/>
              <a:t>- `compliance/</a:t>
            </a:r>
            <a:r>
              <a:rPr dirty="0" err="1"/>
              <a:t>eu_ai_act_compliance.md</a:t>
            </a:r>
            <a:r>
              <a:rPr dirty="0"/>
              <a:t>`, classification conclusion and mandatory requirements</a:t>
            </a:r>
          </a:p>
          <a:p>
            <a:r>
              <a:rPr dirty="0"/>
              <a:t>- `compliance/</a:t>
            </a:r>
            <a:r>
              <a:rPr dirty="0" err="1"/>
              <a:t>gdpr_documentation.md</a:t>
            </a:r>
            <a:r>
              <a:rPr dirty="0"/>
              <a:t>`, data flow, DPIA and transfer assessment</a:t>
            </a:r>
          </a:p>
          <a:p>
            <a:r>
              <a:rPr dirty="0"/>
              <a:t>- Regulation (EU) 2024/1689: https://</a:t>
            </a:r>
            <a:r>
              <a:rPr dirty="0" err="1"/>
              <a:t>eur-lex.europa.eu</a:t>
            </a:r>
            <a:r>
              <a:rPr dirty="0"/>
              <a:t>/</a:t>
            </a:r>
            <a:r>
              <a:rPr dirty="0" err="1"/>
              <a:t>eli</a:t>
            </a:r>
            <a:r>
              <a:rPr dirty="0"/>
              <a:t>/2024/1689/</a:t>
            </a:r>
            <a:r>
              <a:rPr dirty="0" err="1"/>
              <a:t>oj</a:t>
            </a:r>
            <a:endParaRPr dirty="0"/>
          </a:p>
          <a:p>
            <a:r>
              <a:rPr dirty="0"/>
              <a:t>- Regulation (EU) 2016/679: https://</a:t>
            </a:r>
            <a:r>
              <a:rPr dirty="0" err="1"/>
              <a:t>eur-lex.europa.eu</a:t>
            </a:r>
            <a:r>
              <a:rPr dirty="0"/>
              <a:t>/</a:t>
            </a:r>
            <a:r>
              <a:rPr dirty="0" err="1"/>
              <a:t>eli</a:t>
            </a:r>
            <a:r>
              <a:rPr dirty="0"/>
              <a:t>/2016/679/</a:t>
            </a:r>
            <a:r>
              <a:rPr dirty="0" err="1"/>
              <a:t>oj</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Phase 0 spends €5,600 to create expert labels, measure baselines and close the legal and data-transfer gates. Phase 1 adds €12,600 to configure the three capabilities and run a 60-day shadow pilot; staff continue the current process and do not act on AI suggestions. €18,200 therefore buys the evidence and a deployment decision. Phase 2 receives no funding unless every gate passes.</a:t>
            </a:r>
          </a:p>
          <a:p>
            <a:endParaRPr dirty="0"/>
          </a:p>
          <a:p>
            <a:r>
              <a:rPr dirty="0"/>
              <a:t>[Sources]</a:t>
            </a:r>
          </a:p>
          <a:p>
            <a:r>
              <a:rPr dirty="0"/>
              <a:t>- `</a:t>
            </a:r>
            <a:r>
              <a:rPr dirty="0" err="1"/>
              <a:t>strategic_plan.md</a:t>
            </a:r>
            <a:r>
              <a:rPr dirty="0"/>
              <a:t>`, phase plan, milestones and KPIs</a:t>
            </a:r>
          </a:p>
          <a:p>
            <a:r>
              <a:rPr dirty="0"/>
              <a:t>- `</a:t>
            </a:r>
            <a:r>
              <a:rPr dirty="0" err="1"/>
              <a:t>roi_risk_assessment.md</a:t>
            </a:r>
            <a:r>
              <a:rPr dirty="0"/>
              <a:t>`, upfront costs and recommendation</a:t>
            </a:r>
          </a:p>
          <a:p>
            <a:r>
              <a:rPr dirty="0"/>
              <a:t>- `</a:t>
            </a:r>
            <a:r>
              <a:rPr dirty="0" err="1"/>
              <a:t>use_case_definition.md</a:t>
            </a:r>
            <a:r>
              <a:rPr dirty="0"/>
              <a:t>`, measurable success criteria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MVP presents the team's work as a queue. One record shows the proposal, its evidence, every guard result and the named human decision. No case is routed until a person acts. The record makes the proposal's basis and the person's response reviewable.</a:t>
            </a:r>
          </a:p>
          <a:p>
            <a:endParaRPr dirty="0"/>
          </a:p>
          <a:p>
            <a:r>
              <a:rPr dirty="0"/>
              <a:t>[Sources]</a:t>
            </a:r>
          </a:p>
          <a:p>
            <a:r>
              <a:rPr dirty="0"/>
              <a:t>- `</a:t>
            </a:r>
            <a:r>
              <a:rPr dirty="0" err="1"/>
              <a:t>mvp</a:t>
            </a:r>
            <a:r>
              <a:rPr dirty="0"/>
              <a:t>/</a:t>
            </a:r>
            <a:r>
              <a:rPr dirty="0" err="1"/>
              <a:t>mvp_documentation.md</a:t>
            </a:r>
            <a:r>
              <a:rPr dirty="0"/>
              <a:t>`, capabilities, UI, decision log and demo brief</a:t>
            </a:r>
          </a:p>
          <a:p>
            <a:r>
              <a:rPr dirty="0"/>
              <a:t>- `demo/recordings/mvp_demo.mp4`</a:t>
            </a:r>
          </a:p>
          <a:p>
            <a:r>
              <a:rPr dirty="0"/>
              <a:t>- `</a:t>
            </a:r>
            <a:r>
              <a:rPr dirty="0" err="1"/>
              <a:t>mvp</a:t>
            </a:r>
            <a:r>
              <a:rPr dirty="0"/>
              <a:t>/</a:t>
            </a:r>
            <a:r>
              <a:rPr dirty="0" err="1"/>
              <a:t>app.py</a:t>
            </a:r>
            <a:r>
              <a:rPr dirty="0"/>
              <a:t>`</a:t>
            </a:r>
          </a:p>
          <a:p>
            <a:r>
              <a:rPr dirty="0"/>
              <a:t>- `</a:t>
            </a:r>
            <a:r>
              <a:rPr dirty="0" err="1"/>
              <a:t>mvp</a:t>
            </a:r>
            <a:r>
              <a:rPr dirty="0"/>
              <a:t>/</a:t>
            </a:r>
            <a:r>
              <a:rPr dirty="0" err="1"/>
              <a:t>queue_store.py</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My recommendation is to approve Phases 0 and 1, capped at €18,200. Before real-data processing, close the legal and transfer gates. Keep the stated performance thresholds and phase exits. Do not fund the €14,000 deployment phase unless client data proves the performance case and the commercial structure proves the economics.</a:t>
            </a:r>
          </a:p>
          <a:p>
            <a:endParaRPr dirty="0"/>
          </a:p>
          <a:p>
            <a:r>
              <a:rPr dirty="0"/>
              <a:t>[Sources]</a:t>
            </a:r>
          </a:p>
          <a:p>
            <a:r>
              <a:rPr dirty="0"/>
              <a:t>- `</a:t>
            </a:r>
            <a:r>
              <a:rPr dirty="0" err="1"/>
              <a:t>roi_risk_assessment.md</a:t>
            </a:r>
            <a:r>
              <a:rPr dirty="0"/>
              <a:t>`, recommendation and phase costs</a:t>
            </a:r>
          </a:p>
          <a:p>
            <a:r>
              <a:rPr dirty="0"/>
              <a:t>- `</a:t>
            </a:r>
            <a:r>
              <a:rPr dirty="0" err="1"/>
              <a:t>strategic_plan.md</a:t>
            </a:r>
            <a:r>
              <a:rPr dirty="0"/>
              <a:t>`, phase exits and deployment gates</a:t>
            </a:r>
          </a:p>
          <a:p>
            <a:r>
              <a:rPr dirty="0"/>
              <a:t>- `compliance/</a:t>
            </a:r>
            <a:r>
              <a:rPr dirty="0" err="1"/>
              <a:t>gdpr_documentation.md</a:t>
            </a:r>
            <a:r>
              <a:rPr dirty="0"/>
              <a:t>`, blockers to real-data processing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figures are diagnostic, not client performance. The 60.5 per cent is agreement with complainant-selected CFPB labels, not expert accuracy. The model agreed with itself on 88.0 per cent of repeated inputs, showing that the disagreement is systematic rather than random; it does not identify the cause. The anomaly detector reached 97.9 per cent precision on synthetic data designed around its thresholds, and 98.9 per cent recall — it now misses one pattern in twenty on threshold structuring, which appeared only once the fixture grew from forty accounts to two hundred. Phase 0 creates the client benchmark.
[If someone opens FINDINGS.md and sees different numbers] These are the 2026-08-28 run, which is the baseline this whole deck was built on, and FINDINGS.md says so. Re-running the identical sample six days later, gpt-4o came back within a third of a point — so the sampling, prompt and scoring are all doing the same thing — but gpt-4o-mini moved from 56.8 to 61.6, twelve of two hundred and forty predictions flipping. Nothing in the repo changed; the alias almost certainly resolves to a newer snapshot. The conclusion gets stronger, not weaker: the premium I charged gpt-4o with earning does not reproduce. Both runs are committed with dated evidence files.</a:t>
            </a:r>
          </a:p>
          <a:p>
            <a:endParaRPr/>
          </a:p>
          <a:p>
            <a:r>
              <a:t>[Sources]</a:t>
            </a:r>
          </a:p>
          <a:p>
            <a:r>
              <a:t>- `classifier/FINDINGS.md`</a:t>
            </a:r>
          </a:p>
          <a:p>
            <a:r>
              <a:t>- `classifier/eval_results_gpt-4o.json`</a:t>
            </a:r>
          </a:p>
          <a:p>
            <a:r>
              <a:t>- `classifier/eval_results_gpt-4o-mini.json`</a:t>
            </a:r>
          </a:p>
          <a:p>
            <a:r>
              <a:t>- CFPB Consumer Complaint Database: https://www.consumerfinance.gov/data-research/consumer-complaints/</a:t>
            </a:r>
          </a:p>
          <a:p>
            <a:r>
              <a:t>- `mvp/synth/make_transactions.py`</a:t>
            </a:r>
          </a:p>
          <a:p>
            <a:r>
              <a:t>- `mvp/capabilities/anomaly.py`</a:t>
            </a:r>
          </a:p>
          <a:p>
            <a:r>
              <a:t>- `strategic_plan.md`, Phase 1 KPI G6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UC-1 is complaint triage; UC-2 is anomaly flagging; UC-3 is reporting assistance. UC-1 and UC-3 do not match the Annex III high-risk uses under this assist-only design. UC-2 remains open because it profiles transaction behaviour. Counsel must confirm whether the fraud-detection reasoning applies. If counsel concludes that it does not, UC-2 becomes high-risk and can be disabled without affecting the other two.</a:t>
            </a:r>
          </a:p>
          <a:p>
            <a:endParaRPr/>
          </a:p>
          <a:p>
            <a:r>
              <a:t>[Sources]</a:t>
            </a:r>
          </a:p>
          <a:p>
            <a:r>
              <a:t>- `compliance/eu_ai_act_compliance.md`, classification steps 1–7</a:t>
            </a:r>
          </a:p>
          <a:p>
            <a:r>
              <a:t>- Regulation (EU) 2024/1689: https://eur-lex.europa.eu/eli/2024/1689/oj</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complaint identifier is replaced before the model call, but the full narrative still reaches the provider and quoted evidence is stored in monitoring. Pseudonymisation therefore protects the reference, not the content. The data remains personal data. The DPA, transfer assessment and zero-retention configuration are the real-data gates.</a:t>
            </a:r>
          </a:p>
          <a:p>
            <a:endParaRPr/>
          </a:p>
          <a:p>
            <a:r>
              <a:t>[Sources]</a:t>
            </a:r>
          </a:p>
          <a:p>
            <a:r>
              <a:t>- `compliance/gdpr_documentation.md`, data flow and third-party transfers</a:t>
            </a:r>
          </a:p>
          <a:p>
            <a:r>
              <a:t>- Regulation (EU) 2016/679: https://eur-lex.europa.eu/eli/2016/679/oj</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hard gates are at least 80 per cent accuracy against expert labels, 75 to 97 per cent handler acceptance and zero ungrounded outputs reaching a handler. The remaining thresholds test time saved, oversight, abstention and anomaly usefulness. Because the capabilities are separable, UC-2 can fail without blocking UC-1 and UC-3.</a:t>
            </a:r>
          </a:p>
          <a:p>
            <a:endParaRPr/>
          </a:p>
          <a:p>
            <a:r>
              <a:t>[Sources]</a:t>
            </a:r>
          </a:p>
          <a:p>
            <a:r>
              <a:t>- `strategic_plan.md`, Phase 1 KPIs G1–G7</a:t>
            </a:r>
          </a:p>
          <a:p>
            <a:r>
              <a:t>- `use_case_definition.md`, success criteria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9D26A1A2-51FE-4CD7-BDE0-701C76331419}"/>
              </a:ext>
            </a:extLst>
          </p:cNvPr>
          <p:cNvSpPr>
            <a:spLocks noGrp="1"/>
          </p:cNvSpPr>
          <p:nvPr/>
        </p:nvSpPr>
        <p:spPr>
          <a:xfrm>
            <a:off x="822960" y="2148840"/>
            <a:ext cx="10545775" cy="365760"/>
          </a:xfrm>
          <a:prstGeom prst="rect">
            <a:avLst/>
          </a:prstGeom>
          <a:noFill/>
        </p:spPr>
        <p:txBody>
          <a:bodyPr wrap="square" lIns="0" tIns="0" rIns="0" bIns="0" anchor="ctr"/>
          <a:lstStyle/>
          <a:p>
            <a:pPr marL="0" indent="0">
              <a:buNone/>
            </a:pPr>
            <a:r>
              <a:rPr sz="2400" b="1" spc="300">
                <a:solidFill>
                  <a:srgbClr val="B0341F"/>
                </a:solidFill>
                <a:latin typeface="Calibri"/>
                <a:ea typeface="Calibri"/>
                <a:cs typeface="Calibri"/>
              </a:rPr>
              <a:t>AI CONSULTING CAPSTONE  ·  ROUND 2</a:t>
            </a:r>
            <a:endParaRPr sz="2400"/>
          </a:p>
        </p:txBody>
      </p:sp>
      <p:sp>
        <p:nvSpPr>
          <p:cNvPr id="3" name="Text 1">
            <a:extLst>
              <a:ext uri="{FF2B5EF4-FFF2-40B4-BE49-F238E27FC236}">
                <a16:creationId xmlns:a16="http://schemas.microsoft.com/office/drawing/2014/main" id="{8B367124-5A72-4B16-B0D0-50D0B1EC89C5}"/>
              </a:ext>
            </a:extLst>
          </p:cNvPr>
          <p:cNvSpPr>
            <a:spLocks noGrp="1"/>
          </p:cNvSpPr>
          <p:nvPr/>
        </p:nvSpPr>
        <p:spPr>
          <a:xfrm>
            <a:off x="822960" y="2606040"/>
            <a:ext cx="10545775" cy="1005840"/>
          </a:xfrm>
          <a:prstGeom prst="rect">
            <a:avLst/>
          </a:prstGeom>
          <a:noFill/>
        </p:spPr>
        <p:txBody>
          <a:bodyPr wrap="square" lIns="0" tIns="0" rIns="0" bIns="0" anchor="ctr"/>
          <a:lstStyle/>
          <a:p>
            <a:pPr marL="0" indent="0">
              <a:buNone/>
            </a:pPr>
            <a:r>
              <a:rPr sz="5400" b="1">
                <a:solidFill>
                  <a:srgbClr val="FFFFFF"/>
                </a:solidFill>
                <a:latin typeface="Trebuchet MS"/>
                <a:ea typeface="Trebuchet MS"/>
                <a:cs typeface="Trebuchet MS"/>
              </a:rPr>
              <a:t>Assist</a:t>
            </a:r>
            <a:endParaRPr sz="5400"/>
          </a:p>
        </p:txBody>
      </p:sp>
      <p:sp>
        <p:nvSpPr>
          <p:cNvPr id="4" name="Shape 2">
            <a:extLst>
              <a:ext uri="{FF2B5EF4-FFF2-40B4-BE49-F238E27FC236}">
                <a16:creationId xmlns:a16="http://schemas.microsoft.com/office/drawing/2014/main" id="{8B819D20-CA3A-4BC6-892E-94D76DC1F128}"/>
              </a:ext>
            </a:extLst>
          </p:cNvPr>
          <p:cNvSpPr>
            <a:spLocks noGrp="1"/>
          </p:cNvSpPr>
          <p:nvPr/>
        </p:nvSpPr>
        <p:spPr>
          <a:xfrm>
            <a:off x="822960" y="3730752"/>
            <a:ext cx="1371600" cy="0"/>
          </a:xfrm>
          <a:prstGeom prst="line">
            <a:avLst/>
          </a:prstGeom>
          <a:noFill/>
          <a:ln w="25400">
            <a:solidFill>
              <a:srgbClr val="B0341F"/>
            </a:solidFill>
            <a:prstDash val="solid"/>
          </a:ln>
        </p:spPr>
        <p:txBody>
          <a:bodyPr/>
          <a:lstStyle/>
          <a:p>
            <a:endParaRPr lang="en-US"/>
          </a:p>
        </p:txBody>
      </p:sp>
      <p:sp>
        <p:nvSpPr>
          <p:cNvPr id="5" name="Text 3">
            <a:extLst>
              <a:ext uri="{FF2B5EF4-FFF2-40B4-BE49-F238E27FC236}">
                <a16:creationId xmlns:a16="http://schemas.microsoft.com/office/drawing/2014/main" id="{CE72A465-54C7-4FC1-98E6-73B5C9CFFC86}"/>
              </a:ext>
            </a:extLst>
          </p:cNvPr>
          <p:cNvSpPr>
            <a:spLocks noGrp="1"/>
          </p:cNvSpPr>
          <p:nvPr/>
        </p:nvSpPr>
        <p:spPr>
          <a:xfrm>
            <a:off x="822960" y="3886200"/>
            <a:ext cx="10545775" cy="457200"/>
          </a:xfrm>
          <a:prstGeom prst="rect">
            <a:avLst/>
          </a:prstGeom>
          <a:noFill/>
        </p:spPr>
        <p:txBody>
          <a:bodyPr wrap="square" lIns="0" tIns="0" rIns="0" bIns="0" anchor="ctr"/>
          <a:lstStyle/>
          <a:p>
            <a:pPr marL="0" indent="0">
              <a:buNone/>
            </a:pPr>
            <a:r>
              <a:rPr lang="en-US" sz="2600">
                <a:solidFill>
                  <a:srgbClr val="B9B9B9"/>
                </a:solidFill>
                <a:latin typeface="Calibri"/>
                <a:ea typeface="Calibri"/>
                <a:cs typeface="Calibri"/>
              </a:rPr>
              <a:t>Three capabilities. One controlled decision process.</a:t>
            </a:r>
            <a:endParaRPr sz="2600"/>
          </a:p>
        </p:txBody>
      </p:sp>
      <p:sp>
        <p:nvSpPr>
          <p:cNvPr id="6" name="Text 4">
            <a:extLst>
              <a:ext uri="{FF2B5EF4-FFF2-40B4-BE49-F238E27FC236}">
                <a16:creationId xmlns:a16="http://schemas.microsoft.com/office/drawing/2014/main" id="{49E77AFF-4B5B-43FE-B46F-30FB9B44453B}"/>
              </a:ext>
            </a:extLst>
          </p:cNvPr>
          <p:cNvSpPr>
            <a:spLocks noGrp="1"/>
          </p:cNvSpPr>
          <p:nvPr/>
        </p:nvSpPr>
        <p:spPr>
          <a:xfrm>
            <a:off x="822960" y="4617720"/>
            <a:ext cx="10545775" cy="914400"/>
          </a:xfrm>
          <a:prstGeom prst="rect">
            <a:avLst/>
          </a:prstGeom>
          <a:noFill/>
        </p:spPr>
        <p:txBody>
          <a:bodyPr wrap="square" lIns="0" tIns="0" rIns="0" bIns="0" anchor="ctr"/>
          <a:lstStyle/>
          <a:p>
            <a:pPr marL="0" indent="0">
              <a:buNone/>
            </a:pPr>
            <a:r>
              <a:rPr sz="2400" b="1">
                <a:solidFill>
                  <a:srgbClr val="FFFFFF"/>
                </a:solidFill>
                <a:latin typeface="Calibri"/>
                <a:ea typeface="Calibri"/>
                <a:cs typeface="Calibri"/>
              </a:rPr>
              <a:t>What works, what does not yet pay, and how to decide with evidence.</a:t>
            </a:r>
            <a:endParaRPr sz="2400"/>
          </a:p>
        </p:txBody>
      </p:sp>
    </p:spTree>
    <p:extLst>
      <p:ext uri="{BB962C8B-B14F-4D97-AF65-F5344CB8AC3E}">
        <p14:creationId xmlns:p14="http://schemas.microsoft.com/office/powerpoint/2010/main" val="21179708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7" name="Band"/>
          <p:cNvSpPr/>
          <p:nvPr/>
        </p:nvSpPr>
        <p:spPr>
          <a:xfrm>
            <a:off x="6492240" y="4059936"/>
            <a:ext cx="4663440" cy="13716"/>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Band"/>
          <p:cNvSpPr/>
          <p:nvPr/>
        </p:nvSpPr>
        <p:spPr>
          <a:xfrm>
            <a:off x="1051560" y="4059936"/>
            <a:ext cx="4663440" cy="13716"/>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and"/>
          <p:cNvSpPr/>
          <p:nvPr/>
        </p:nvSpPr>
        <p:spPr>
          <a:xfrm>
            <a:off x="6492240" y="3273552"/>
            <a:ext cx="4663440" cy="13716"/>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Band"/>
          <p:cNvSpPr/>
          <p:nvPr/>
        </p:nvSpPr>
        <p:spPr>
          <a:xfrm>
            <a:off x="1051560" y="3273552"/>
            <a:ext cx="4663440" cy="13716"/>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Bar"/>
          <p:cNvSpPr/>
          <p:nvPr/>
        </p:nvSpPr>
        <p:spPr>
          <a:xfrm>
            <a:off x="822960" y="5230368"/>
            <a:ext cx="10543032" cy="18288"/>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Bar"/>
          <p:cNvSpPr/>
          <p:nvPr/>
        </p:nvSpPr>
        <p:spPr>
          <a:xfrm>
            <a:off x="6263640" y="1847088"/>
            <a:ext cx="68580" cy="3127248"/>
          </a:xfrm>
          <a:prstGeom prst="rect">
            <a:avLst/>
          </a:prstGeom>
          <a:solidFill>
            <a:srgbClr val="0E6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ard"/>
          <p:cNvSpPr/>
          <p:nvPr/>
        </p:nvSpPr>
        <p:spPr>
          <a:xfrm>
            <a:off x="6263640" y="1847088"/>
            <a:ext cx="5102352" cy="3127248"/>
          </a:xfrm>
          <a:prstGeom prst="roundRect">
            <a:avLst>
              <a:gd name="adj" fmla="val 3500"/>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Bar"/>
          <p:cNvSpPr/>
          <p:nvPr/>
        </p:nvSpPr>
        <p:spPr>
          <a:xfrm>
            <a:off x="822960" y="1847088"/>
            <a:ext cx="68580" cy="3127248"/>
          </a:xfrm>
          <a:prstGeom prst="rect">
            <a:avLst/>
          </a:prstGeom>
          <a:solidFill>
            <a:srgbClr val="84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Card"/>
          <p:cNvSpPr/>
          <p:nvPr/>
        </p:nvSpPr>
        <p:spPr>
          <a:xfrm>
            <a:off x="822960" y="1847088"/>
            <a:ext cx="5102352" cy="3127248"/>
          </a:xfrm>
          <a:prstGeom prst="roundRect">
            <a:avLst>
              <a:gd name="adj" fmla="val 3500"/>
            </a:avLst>
          </a:prstGeom>
          <a:solidFill>
            <a:srgbClr val="EDE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06EDA611-D26E-4CB7-88DC-DB389FE67A7F}"/>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dirty="0">
                <a:solidFill>
                  <a:srgbClr val="1A1A1A"/>
                </a:solidFill>
                <a:latin typeface="Trebuchet MS"/>
                <a:ea typeface="Trebuchet MS"/>
                <a:cs typeface="Trebuchet MS"/>
              </a:rPr>
              <a:t>Round 1 set the direction. Round 2 built the evidence</a:t>
            </a:r>
            <a:endParaRPr sz="3200" dirty="0"/>
          </a:p>
        </p:txBody>
      </p:sp>
      <p:sp>
        <p:nvSpPr>
          <p:cNvPr id="3" name="Shape 1">
            <a:extLst>
              <a:ext uri="{FF2B5EF4-FFF2-40B4-BE49-F238E27FC236}">
                <a16:creationId xmlns:a16="http://schemas.microsoft.com/office/drawing/2014/main" id="{E914C169-B5E8-4227-A3EA-562A68A99BC0}"/>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lang="en-US"/>
          </a:p>
        </p:txBody>
      </p:sp>
      <p:sp>
        <p:nvSpPr>
          <p:cNvPr id="4" name="Shape 2">
            <a:extLst>
              <a:ext uri="{FF2B5EF4-FFF2-40B4-BE49-F238E27FC236}">
                <a16:creationId xmlns:a16="http://schemas.microsoft.com/office/drawing/2014/main" id="{C7564ACF-FD64-477E-92F2-0CDEDF006B71}"/>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FDC7151C-1FB7-4D42-A6E7-22A3CA1DD46F}"/>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06DFD4D4-D3A9-4D77-9633-3A85BB88BD4D}"/>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1</a:t>
            </a:r>
            <a:endParaRPr sz="900"/>
          </a:p>
        </p:txBody>
      </p:sp>
      <p:sp>
        <p:nvSpPr>
          <p:cNvPr id="7" name="Text 5">
            <a:extLst>
              <a:ext uri="{FF2B5EF4-FFF2-40B4-BE49-F238E27FC236}">
                <a16:creationId xmlns:a16="http://schemas.microsoft.com/office/drawing/2014/main" id="{06165F0D-74BE-4E5D-B1C5-E41A47C85629}"/>
              </a:ext>
            </a:extLst>
          </p:cNvPr>
          <p:cNvSpPr>
            <a:spLocks noGrp="1"/>
          </p:cNvSpPr>
          <p:nvPr/>
        </p:nvSpPr>
        <p:spPr>
          <a:xfrm>
            <a:off x="1051560" y="1993392"/>
            <a:ext cx="4663440" cy="420624"/>
          </a:xfrm>
          <a:prstGeom prst="rect">
            <a:avLst/>
          </a:prstGeom>
          <a:noFill/>
        </p:spPr>
        <p:txBody>
          <a:bodyPr wrap="square" lIns="0" tIns="0" rIns="0" bIns="0" anchor="ctr"/>
          <a:lstStyle/>
          <a:p>
            <a:pPr marL="0" indent="0" algn="l">
              <a:buNone/>
            </a:pPr>
            <a:r>
              <a:rPr lang="en-US" sz="2400" b="1" spc="100">
                <a:solidFill>
                  <a:srgbClr val="697D8B"/>
                </a:solidFill>
                <a:latin typeface="Calibri"/>
                <a:ea typeface="Calibri"/>
                <a:cs typeface="Calibri"/>
              </a:rPr>
              <a:t>KEPT</a:t>
            </a:r>
            <a:endParaRPr sz="2400"/>
          </a:p>
        </p:txBody>
      </p:sp>
      <p:sp>
        <p:nvSpPr>
          <p:cNvPr id="8" name="Text 6">
            <a:extLst>
              <a:ext uri="{FF2B5EF4-FFF2-40B4-BE49-F238E27FC236}">
                <a16:creationId xmlns:a16="http://schemas.microsoft.com/office/drawing/2014/main" id="{4ABC772A-F401-4DF4-8B9D-A4053DAA6A95}"/>
              </a:ext>
            </a:extLst>
          </p:cNvPr>
          <p:cNvSpPr>
            <a:spLocks noGrp="1"/>
          </p:cNvSpPr>
          <p:nvPr/>
        </p:nvSpPr>
        <p:spPr>
          <a:xfrm>
            <a:off x="6492240" y="1993392"/>
            <a:ext cx="4663440" cy="420624"/>
          </a:xfrm>
          <a:prstGeom prst="rect">
            <a:avLst/>
          </a:prstGeom>
          <a:noFill/>
        </p:spPr>
        <p:txBody>
          <a:bodyPr wrap="square" lIns="0" tIns="0" rIns="0" bIns="0" anchor="ctr"/>
          <a:lstStyle/>
          <a:p>
            <a:pPr marL="0" indent="0" algn="l">
              <a:buNone/>
            </a:pPr>
            <a:r>
              <a:rPr sz="2400" b="1" spc="100">
                <a:solidFill>
                  <a:srgbClr val="0E6E67"/>
                </a:solidFill>
                <a:latin typeface="Calibri"/>
                <a:ea typeface="Calibri"/>
                <a:cs typeface="Calibri"/>
              </a:rPr>
              <a:t>CHANGED</a:t>
            </a:r>
            <a:endParaRPr sz="2400"/>
          </a:p>
        </p:txBody>
      </p:sp>
      <p:sp>
        <p:nvSpPr>
          <p:cNvPr id="10" name="Text 8">
            <a:extLst>
              <a:ext uri="{FF2B5EF4-FFF2-40B4-BE49-F238E27FC236}">
                <a16:creationId xmlns:a16="http://schemas.microsoft.com/office/drawing/2014/main" id="{4B89049F-BBF3-4977-8382-22D66B9C8E04}"/>
              </a:ext>
            </a:extLst>
          </p:cNvPr>
          <p:cNvSpPr>
            <a:spLocks noGrp="1"/>
          </p:cNvSpPr>
          <p:nvPr/>
        </p:nvSpPr>
        <p:spPr>
          <a:xfrm>
            <a:off x="1051560" y="2542032"/>
            <a:ext cx="4663440" cy="749808"/>
          </a:xfrm>
          <a:prstGeom prst="rect">
            <a:avLst/>
          </a:prstGeom>
          <a:noFill/>
        </p:spPr>
        <p:txBody>
          <a:bodyPr wrap="square" lIns="0" tIns="0" rIns="0" bIns="0" anchor="ctr"/>
          <a:lstStyle/>
          <a:p>
            <a:pPr marL="0" indent="0" algn="l">
              <a:buNone/>
            </a:pPr>
            <a:r>
              <a:rPr sz="2400" b="0">
                <a:solidFill>
                  <a:srgbClr val="1A1A1A"/>
                </a:solidFill>
                <a:latin typeface="Calibri"/>
                <a:ea typeface="Calibri"/>
                <a:cs typeface="Calibri"/>
              </a:rPr>
              <a:t>Mid-size EU financial services firm</a:t>
            </a:r>
            <a:endParaRPr sz="2400"/>
          </a:p>
        </p:txBody>
      </p:sp>
      <p:sp>
        <p:nvSpPr>
          <p:cNvPr id="11" name="Text 9">
            <a:extLst>
              <a:ext uri="{FF2B5EF4-FFF2-40B4-BE49-F238E27FC236}">
                <a16:creationId xmlns:a16="http://schemas.microsoft.com/office/drawing/2014/main" id="{B7E7F686-3C92-4DD8-BA5E-9A9E5C64297D}"/>
              </a:ext>
            </a:extLst>
          </p:cNvPr>
          <p:cNvSpPr>
            <a:spLocks noGrp="1"/>
          </p:cNvSpPr>
          <p:nvPr/>
        </p:nvSpPr>
        <p:spPr>
          <a:xfrm>
            <a:off x="6492240" y="2542032"/>
            <a:ext cx="4663440" cy="749808"/>
          </a:xfrm>
          <a:prstGeom prst="rect">
            <a:avLst/>
          </a:prstGeom>
          <a:noFill/>
        </p:spPr>
        <p:txBody>
          <a:bodyPr wrap="square" lIns="0" tIns="0" rIns="0" bIns="0" anchor="ctr"/>
          <a:lstStyle/>
          <a:p>
            <a:pPr marL="0" indent="0" algn="l">
              <a:buNone/>
            </a:pPr>
            <a:r>
              <a:rPr sz="2400" b="1">
                <a:solidFill>
                  <a:srgbClr val="1A1A1A"/>
                </a:solidFill>
                <a:latin typeface="Calibri"/>
                <a:ea typeface="Calibri"/>
                <a:cs typeface="Calibri"/>
              </a:rPr>
              <a:t>One implemented use case became three</a:t>
            </a:r>
            <a:endParaRPr sz="2400"/>
          </a:p>
        </p:txBody>
      </p:sp>
      <p:sp>
        <p:nvSpPr>
          <p:cNvPr id="13" name="Text 11">
            <a:extLst>
              <a:ext uri="{FF2B5EF4-FFF2-40B4-BE49-F238E27FC236}">
                <a16:creationId xmlns:a16="http://schemas.microsoft.com/office/drawing/2014/main" id="{31DF4B66-FF6D-40A2-BAEA-D7592AE0CFA1}"/>
              </a:ext>
            </a:extLst>
          </p:cNvPr>
          <p:cNvSpPr>
            <a:spLocks noGrp="1"/>
          </p:cNvSpPr>
          <p:nvPr/>
        </p:nvSpPr>
        <p:spPr>
          <a:xfrm>
            <a:off x="1051560" y="3328415"/>
            <a:ext cx="4663440" cy="749808"/>
          </a:xfrm>
          <a:prstGeom prst="rect">
            <a:avLst/>
          </a:prstGeom>
          <a:noFill/>
        </p:spPr>
        <p:txBody>
          <a:bodyPr wrap="square" lIns="0" tIns="0" rIns="0" bIns="0" anchor="ctr"/>
          <a:lstStyle/>
          <a:p>
            <a:pPr marL="0" indent="0" algn="l">
              <a:buNone/>
            </a:pPr>
            <a:r>
              <a:rPr sz="2400" b="0">
                <a:solidFill>
                  <a:srgbClr val="1A1A1A"/>
                </a:solidFill>
                <a:latin typeface="Calibri"/>
                <a:ea typeface="Calibri"/>
                <a:cs typeface="Calibri"/>
              </a:rPr>
              <a:t>Complaint triage remained the lead use case</a:t>
            </a:r>
            <a:endParaRPr sz="2400"/>
          </a:p>
        </p:txBody>
      </p:sp>
      <p:sp>
        <p:nvSpPr>
          <p:cNvPr id="14" name="Text 12">
            <a:extLst>
              <a:ext uri="{FF2B5EF4-FFF2-40B4-BE49-F238E27FC236}">
                <a16:creationId xmlns:a16="http://schemas.microsoft.com/office/drawing/2014/main" id="{A1F2684E-5580-40F2-B541-88B7951BD6A7}"/>
              </a:ext>
            </a:extLst>
          </p:cNvPr>
          <p:cNvSpPr>
            <a:spLocks noGrp="1"/>
          </p:cNvSpPr>
          <p:nvPr/>
        </p:nvSpPr>
        <p:spPr>
          <a:xfrm>
            <a:off x="6492240" y="3328415"/>
            <a:ext cx="4663440" cy="749808"/>
          </a:xfrm>
          <a:prstGeom prst="rect">
            <a:avLst/>
          </a:prstGeom>
          <a:noFill/>
        </p:spPr>
        <p:txBody>
          <a:bodyPr wrap="square" lIns="0" tIns="0" rIns="0" bIns="0" anchor="ctr"/>
          <a:lstStyle/>
          <a:p>
            <a:pPr marL="0" indent="0" algn="l">
              <a:buNone/>
            </a:pPr>
            <a:r>
              <a:rPr sz="2400" b="1">
                <a:solidFill>
                  <a:srgbClr val="1A1A1A"/>
                </a:solidFill>
                <a:latin typeface="Calibri"/>
                <a:ea typeface="Calibri"/>
                <a:cs typeface="Calibri"/>
              </a:rPr>
              <a:t>A POC became a working MVP</a:t>
            </a:r>
            <a:endParaRPr sz="2400"/>
          </a:p>
        </p:txBody>
      </p:sp>
      <p:sp>
        <p:nvSpPr>
          <p:cNvPr id="16" name="Text 14">
            <a:extLst>
              <a:ext uri="{FF2B5EF4-FFF2-40B4-BE49-F238E27FC236}">
                <a16:creationId xmlns:a16="http://schemas.microsoft.com/office/drawing/2014/main" id="{32D45C6B-2A1E-4458-9CA3-7101D0090ED7}"/>
              </a:ext>
            </a:extLst>
          </p:cNvPr>
          <p:cNvSpPr>
            <a:spLocks noGrp="1"/>
          </p:cNvSpPr>
          <p:nvPr/>
        </p:nvSpPr>
        <p:spPr>
          <a:xfrm>
            <a:off x="1051560" y="4114800"/>
            <a:ext cx="4663440" cy="749808"/>
          </a:xfrm>
          <a:prstGeom prst="rect">
            <a:avLst/>
          </a:prstGeom>
          <a:noFill/>
        </p:spPr>
        <p:txBody>
          <a:bodyPr wrap="square" lIns="0" tIns="0" rIns="0" bIns="0" anchor="ctr"/>
          <a:lstStyle/>
          <a:p>
            <a:pPr marL="0" indent="0" algn="l">
              <a:buNone/>
            </a:pPr>
            <a:r>
              <a:rPr sz="2400" b="0">
                <a:solidFill>
                  <a:srgbClr val="1A1A1A"/>
                </a:solidFill>
                <a:latin typeface="Calibri"/>
                <a:ea typeface="Calibri"/>
                <a:cs typeface="Calibri"/>
              </a:rPr>
              <a:t>The system proposes; a person decides</a:t>
            </a:r>
            <a:endParaRPr sz="2400"/>
          </a:p>
        </p:txBody>
      </p:sp>
      <p:sp>
        <p:nvSpPr>
          <p:cNvPr id="17" name="Text 15">
            <a:extLst>
              <a:ext uri="{FF2B5EF4-FFF2-40B4-BE49-F238E27FC236}">
                <a16:creationId xmlns:a16="http://schemas.microsoft.com/office/drawing/2014/main" id="{7FEDBFC3-32BB-41F0-939A-015B8CD7ACE7}"/>
              </a:ext>
            </a:extLst>
          </p:cNvPr>
          <p:cNvSpPr>
            <a:spLocks noGrp="1"/>
          </p:cNvSpPr>
          <p:nvPr/>
        </p:nvSpPr>
        <p:spPr>
          <a:xfrm>
            <a:off x="6492240" y="4114800"/>
            <a:ext cx="4663440" cy="749808"/>
          </a:xfrm>
          <a:prstGeom prst="rect">
            <a:avLst/>
          </a:prstGeom>
          <a:noFill/>
        </p:spPr>
        <p:txBody>
          <a:bodyPr wrap="square" lIns="0" tIns="0" rIns="0" bIns="0" anchor="ctr"/>
          <a:lstStyle/>
          <a:p>
            <a:pPr marL="0" indent="0" algn="l">
              <a:buNone/>
            </a:pPr>
            <a:r>
              <a:rPr sz="2400" b="1">
                <a:solidFill>
                  <a:srgbClr val="1A1A1A"/>
                </a:solidFill>
                <a:latin typeface="Calibri"/>
                <a:ea typeface="Calibri"/>
                <a:cs typeface="Calibri"/>
              </a:rPr>
              <a:t>Cost estimates became ROI, risk and compliance assessments</a:t>
            </a:r>
            <a:endParaRPr sz="2400"/>
          </a:p>
        </p:txBody>
      </p:sp>
      <p:sp>
        <p:nvSpPr>
          <p:cNvPr id="18" name="Text 16">
            <a:extLst>
              <a:ext uri="{FF2B5EF4-FFF2-40B4-BE49-F238E27FC236}">
                <a16:creationId xmlns:a16="http://schemas.microsoft.com/office/drawing/2014/main" id="{3E5D7CDA-83EC-4754-869F-893D64C4B3C6}"/>
              </a:ext>
            </a:extLst>
          </p:cNvPr>
          <p:cNvSpPr>
            <a:spLocks noGrp="1"/>
          </p:cNvSpPr>
          <p:nvPr/>
        </p:nvSpPr>
        <p:spPr>
          <a:xfrm>
            <a:off x="822960" y="5349240"/>
            <a:ext cx="10543032" cy="548640"/>
          </a:xfrm>
          <a:prstGeom prst="rect">
            <a:avLst/>
          </a:prstGeom>
          <a:noFill/>
        </p:spPr>
        <p:txBody>
          <a:bodyPr wrap="square" lIns="0" tIns="0" rIns="0" bIns="0" anchor="ctr"/>
          <a:lstStyle/>
          <a:p>
            <a:pPr marL="0" indent="0" algn="l">
              <a:buNone/>
            </a:pPr>
            <a:r>
              <a:rPr sz="2600" b="0">
                <a:solidFill>
                  <a:srgbClr val="1A1A1A"/>
                </a:solidFill>
                <a:latin typeface="Calibri"/>
                <a:ea typeface="Calibri"/>
                <a:cs typeface="Calibri"/>
              </a:rPr>
              <a:t>Decision now: a staged evidence programme — not deployment.</a:t>
            </a:r>
            <a:endParaRPr sz="2600"/>
          </a:p>
        </p:txBody>
      </p:sp>
      <p:sp>
        <p:nvSpPr>
          <p:cNvPr id="28" name="Hair"/>
          <p:cNvSpPr/>
          <p:nvPr/>
        </p:nvSpPr>
        <p:spPr>
          <a:xfrm>
            <a:off x="1051560" y="3273552"/>
            <a:ext cx="4663440" cy="12801"/>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Hair"/>
          <p:cNvSpPr/>
          <p:nvPr/>
        </p:nvSpPr>
        <p:spPr>
          <a:xfrm>
            <a:off x="6492240" y="3273552"/>
            <a:ext cx="4663440" cy="12801"/>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Hair"/>
          <p:cNvSpPr/>
          <p:nvPr/>
        </p:nvSpPr>
        <p:spPr>
          <a:xfrm>
            <a:off x="1051560" y="4059936"/>
            <a:ext cx="4663440" cy="12801"/>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Hair"/>
          <p:cNvSpPr/>
          <p:nvPr/>
        </p:nvSpPr>
        <p:spPr>
          <a:xfrm>
            <a:off x="6492240" y="4059936"/>
            <a:ext cx="4663440" cy="12801"/>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590094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2" name="Bar"/>
          <p:cNvSpPr/>
          <p:nvPr/>
        </p:nvSpPr>
        <p:spPr>
          <a:xfrm>
            <a:off x="822960" y="5102352"/>
            <a:ext cx="10543032" cy="18288"/>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ard"/>
          <p:cNvSpPr/>
          <p:nvPr/>
        </p:nvSpPr>
        <p:spPr>
          <a:xfrm>
            <a:off x="822960" y="3785615"/>
            <a:ext cx="10543032" cy="1060704"/>
          </a:xfrm>
          <a:prstGeom prst="roundRect">
            <a:avLst>
              <a:gd name="adj" fmla="val 35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Bar"/>
          <p:cNvSpPr/>
          <p:nvPr/>
        </p:nvSpPr>
        <p:spPr>
          <a:xfrm>
            <a:off x="8915400" y="2121408"/>
            <a:ext cx="68580" cy="1298448"/>
          </a:xfrm>
          <a:prstGeom prst="rect">
            <a:avLst/>
          </a:prstGeom>
          <a:solidFill>
            <a:srgbClr val="B03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Card"/>
          <p:cNvSpPr/>
          <p:nvPr/>
        </p:nvSpPr>
        <p:spPr>
          <a:xfrm>
            <a:off x="8915400" y="2121408"/>
            <a:ext cx="2432304" cy="1298448"/>
          </a:xfrm>
          <a:prstGeom prst="roundRect">
            <a:avLst>
              <a:gd name="adj" fmla="val 3500"/>
            </a:avLst>
          </a:prstGeom>
          <a:solidFill>
            <a:srgbClr val="F3E4E0"/>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ard"/>
          <p:cNvSpPr/>
          <p:nvPr/>
        </p:nvSpPr>
        <p:spPr>
          <a:xfrm>
            <a:off x="6217920" y="2121408"/>
            <a:ext cx="2432304" cy="1298448"/>
          </a:xfrm>
          <a:prstGeom prst="roundRect">
            <a:avLst>
              <a:gd name="adj" fmla="val 3500"/>
            </a:avLst>
          </a:prstGeom>
          <a:solidFill>
            <a:srgbClr val="E4F0ED"/>
          </a:solidFill>
          <a:ln w="15875">
            <a:solidFill>
              <a:srgbClr val="D3DB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Card"/>
          <p:cNvSpPr/>
          <p:nvPr/>
        </p:nvSpPr>
        <p:spPr>
          <a:xfrm>
            <a:off x="3520440" y="2121408"/>
            <a:ext cx="2432304" cy="1298448"/>
          </a:xfrm>
          <a:prstGeom prst="roundRect">
            <a:avLst>
              <a:gd name="adj" fmla="val 3500"/>
            </a:avLst>
          </a:prstGeom>
          <a:noFill/>
          <a:ln w="15875">
            <a:solidFill>
              <a:srgbClr val="D3DB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Card"/>
          <p:cNvSpPr/>
          <p:nvPr/>
        </p:nvSpPr>
        <p:spPr>
          <a:xfrm>
            <a:off x="822960" y="2121408"/>
            <a:ext cx="2432304" cy="1298448"/>
          </a:xfrm>
          <a:prstGeom prst="roundRect">
            <a:avLst>
              <a:gd name="adj" fmla="val 3500"/>
            </a:avLst>
          </a:prstGeom>
          <a:noFill/>
          <a:ln w="15875">
            <a:solidFill>
              <a:srgbClr val="D3DB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B434CB8D-79DE-4B74-BF68-B62BDA02D1A5}"/>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1A1A1A"/>
                </a:solidFill>
                <a:latin typeface="Trebuchet MS"/>
                <a:ea typeface="Trebuchet MS"/>
                <a:cs typeface="Trebuchet MS"/>
              </a:rPr>
              <a:t>One decision spine controls all three</a:t>
            </a:r>
            <a:endParaRPr sz="3200"/>
          </a:p>
        </p:txBody>
      </p:sp>
      <p:sp>
        <p:nvSpPr>
          <p:cNvPr id="3" name="Shape 1">
            <a:extLst>
              <a:ext uri="{FF2B5EF4-FFF2-40B4-BE49-F238E27FC236}">
                <a16:creationId xmlns:a16="http://schemas.microsoft.com/office/drawing/2014/main" id="{554D6246-44B2-49A4-90CB-6EE6427B085E}"/>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a:p>
        </p:txBody>
      </p:sp>
      <p:sp>
        <p:nvSpPr>
          <p:cNvPr id="4" name="Shape 2">
            <a:extLst>
              <a:ext uri="{FF2B5EF4-FFF2-40B4-BE49-F238E27FC236}">
                <a16:creationId xmlns:a16="http://schemas.microsoft.com/office/drawing/2014/main" id="{BC0A988B-5CEF-4737-B178-507D33B4590F}"/>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a:p>
        </p:txBody>
      </p:sp>
      <p:sp>
        <p:nvSpPr>
          <p:cNvPr id="5" name="Text 3">
            <a:extLst>
              <a:ext uri="{FF2B5EF4-FFF2-40B4-BE49-F238E27FC236}">
                <a16:creationId xmlns:a16="http://schemas.microsoft.com/office/drawing/2014/main" id="{33F065A9-9F36-4D0B-91AD-B595DCB46BB7}"/>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09DA4E89-49D7-4BD5-AD7A-3CFFE72AB40F}"/>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2</a:t>
            </a:r>
            <a:endParaRPr sz="900"/>
          </a:p>
        </p:txBody>
      </p:sp>
      <p:sp>
        <p:nvSpPr>
          <p:cNvPr id="7" name="Text 5">
            <a:extLst>
              <a:ext uri="{FF2B5EF4-FFF2-40B4-BE49-F238E27FC236}">
                <a16:creationId xmlns:a16="http://schemas.microsoft.com/office/drawing/2014/main" id="{98F61D32-0D88-4008-BEB4-707556032EDB}"/>
              </a:ext>
            </a:extLst>
          </p:cNvPr>
          <p:cNvSpPr>
            <a:spLocks noGrp="1"/>
          </p:cNvSpPr>
          <p:nvPr/>
        </p:nvSpPr>
        <p:spPr>
          <a:xfrm>
            <a:off x="932688" y="2121408"/>
            <a:ext cx="2212848" cy="1298448"/>
          </a:xfrm>
          <a:prstGeom prst="rect">
            <a:avLst/>
          </a:prstGeom>
          <a:noFill/>
        </p:spPr>
        <p:txBody>
          <a:bodyPr wrap="square" lIns="54864" tIns="54864" rIns="54864" bIns="54864" anchor="ctr"/>
          <a:lstStyle/>
          <a:p>
            <a:pPr marL="0" indent="0" algn="ctr">
              <a:buNone/>
            </a:pPr>
            <a:r>
              <a:rPr sz="2400" b="1">
                <a:solidFill>
                  <a:srgbClr val="1A1A1A"/>
                </a:solidFill>
                <a:latin typeface="Calibri"/>
                <a:ea typeface="Calibri"/>
                <a:cs typeface="Calibri"/>
              </a:rPr>
              <a:t>Validate input</a:t>
            </a:r>
            <a:endParaRPr sz="2400"/>
          </a:p>
        </p:txBody>
      </p:sp>
      <p:sp>
        <p:nvSpPr>
          <p:cNvPr id="8" name="Text 6">
            <a:extLst>
              <a:ext uri="{FF2B5EF4-FFF2-40B4-BE49-F238E27FC236}">
                <a16:creationId xmlns:a16="http://schemas.microsoft.com/office/drawing/2014/main" id="{113D4632-CCC3-4899-BF0B-F006EC94F331}"/>
              </a:ext>
            </a:extLst>
          </p:cNvPr>
          <p:cNvSpPr>
            <a:spLocks noGrp="1"/>
          </p:cNvSpPr>
          <p:nvPr/>
        </p:nvSpPr>
        <p:spPr>
          <a:xfrm>
            <a:off x="1060704" y="3785615"/>
            <a:ext cx="10058400" cy="1060704"/>
          </a:xfrm>
          <a:prstGeom prst="rect">
            <a:avLst/>
          </a:prstGeom>
          <a:noFill/>
        </p:spPr>
        <p:txBody>
          <a:bodyPr wrap="square" lIns="0" tIns="0" rIns="0" bIns="0" anchor="ctr"/>
          <a:lstStyle/>
          <a:p>
            <a:pPr marL="0" indent="0" algn="l">
              <a:buNone/>
            </a:pPr>
            <a:r>
              <a:rPr sz="2400" b="0">
                <a:solidFill>
                  <a:srgbClr val="4B5C69"/>
                </a:solidFill>
                <a:latin typeface="Calibri"/>
                <a:ea typeface="Calibri"/>
                <a:cs typeface="Calibri"/>
              </a:rPr>
              <a:t>In scope? Confident enough to propose? Every quote, figure or value present in the evidence?</a:t>
            </a:r>
            <a:endParaRPr sz="2400"/>
          </a:p>
        </p:txBody>
      </p:sp>
      <p:sp>
        <p:nvSpPr>
          <p:cNvPr id="9" name="Text 7">
            <a:extLst>
              <a:ext uri="{FF2B5EF4-FFF2-40B4-BE49-F238E27FC236}">
                <a16:creationId xmlns:a16="http://schemas.microsoft.com/office/drawing/2014/main" id="{9018D886-755D-4E7F-8207-A5295CA04F02}"/>
              </a:ext>
            </a:extLst>
          </p:cNvPr>
          <p:cNvSpPr>
            <a:spLocks noGrp="1"/>
          </p:cNvSpPr>
          <p:nvPr/>
        </p:nvSpPr>
        <p:spPr>
          <a:xfrm>
            <a:off x="822960" y="5230368"/>
            <a:ext cx="10543032" cy="566928"/>
          </a:xfrm>
          <a:prstGeom prst="rect">
            <a:avLst/>
          </a:prstGeom>
          <a:noFill/>
        </p:spPr>
        <p:txBody>
          <a:bodyPr wrap="square" lIns="0" tIns="0" rIns="0" bIns="0" anchor="ctr"/>
          <a:lstStyle/>
          <a:p>
            <a:pPr marL="0" indent="0" algn="l">
              <a:buNone/>
            </a:pPr>
            <a:r>
              <a:rPr sz="2600" b="0">
                <a:solidFill>
                  <a:srgbClr val="1A1A1A"/>
                </a:solidFill>
                <a:latin typeface="Calibri"/>
                <a:ea typeface="Calibri"/>
                <a:cs typeface="Calibri"/>
              </a:rPr>
              <a:t>The system never routes, files or blocks anything by itself.</a:t>
            </a:r>
            <a:endParaRPr sz="2600"/>
          </a:p>
        </p:txBody>
      </p:sp>
      <p:sp>
        <p:nvSpPr>
          <p:cNvPr id="10" name="Text 10">
            <a:extLst>
              <a:ext uri="{FF2B5EF4-FFF2-40B4-BE49-F238E27FC236}">
                <a16:creationId xmlns:a16="http://schemas.microsoft.com/office/drawing/2014/main" id="{98F61D32-0D88-4008-BEB4-707556032EDB}"/>
              </a:ext>
            </a:extLst>
          </p:cNvPr>
          <p:cNvSpPr>
            <a:spLocks noGrp="1"/>
          </p:cNvSpPr>
          <p:nvPr/>
        </p:nvSpPr>
        <p:spPr>
          <a:xfrm>
            <a:off x="3630168" y="2121408"/>
            <a:ext cx="2212848" cy="1298448"/>
          </a:xfrm>
          <a:prstGeom prst="rect">
            <a:avLst/>
          </a:prstGeom>
          <a:noFill/>
        </p:spPr>
        <p:txBody>
          <a:bodyPr wrap="square" lIns="54864" tIns="54864" rIns="54864" bIns="54864" anchor="ctr"/>
          <a:lstStyle/>
          <a:p>
            <a:pPr marL="0" indent="0" algn="ctr">
              <a:buNone/>
            </a:pPr>
            <a:r>
              <a:rPr sz="2400" b="1">
                <a:solidFill>
                  <a:srgbClr val="1A1A1A"/>
                </a:solidFill>
                <a:latin typeface="Calibri"/>
                <a:ea typeface="Calibri"/>
                <a:cs typeface="Calibri"/>
              </a:rPr>
              <a:t>Model proposes</a:t>
            </a:r>
            <a:endParaRPr sz="2400"/>
          </a:p>
        </p:txBody>
      </p:sp>
      <p:sp>
        <p:nvSpPr>
          <p:cNvPr id="11" name="Text 11">
            <a:extLst>
              <a:ext uri="{FF2B5EF4-FFF2-40B4-BE49-F238E27FC236}">
                <a16:creationId xmlns:a16="http://schemas.microsoft.com/office/drawing/2014/main" id="{98F61D32-0D88-4008-BEB4-707556032EDB}"/>
              </a:ext>
            </a:extLst>
          </p:cNvPr>
          <p:cNvSpPr>
            <a:spLocks noGrp="1"/>
          </p:cNvSpPr>
          <p:nvPr/>
        </p:nvSpPr>
        <p:spPr>
          <a:xfrm>
            <a:off x="6327648" y="2121408"/>
            <a:ext cx="2212848" cy="1298448"/>
          </a:xfrm>
          <a:prstGeom prst="rect">
            <a:avLst/>
          </a:prstGeom>
          <a:noFill/>
        </p:spPr>
        <p:txBody>
          <a:bodyPr wrap="square" lIns="54864" tIns="54864" rIns="54864" bIns="54864" anchor="ctr"/>
          <a:lstStyle/>
          <a:p>
            <a:pPr marL="0" indent="0" algn="ctr">
              <a:buNone/>
            </a:pPr>
            <a:r>
              <a:rPr sz="2400" b="1">
                <a:solidFill>
                  <a:srgbClr val="1A1A1A"/>
                </a:solidFill>
                <a:latin typeface="Calibri"/>
                <a:ea typeface="Calibri"/>
                <a:cs typeface="Calibri"/>
              </a:rPr>
              <a:t>Guards verify</a:t>
            </a:r>
            <a:endParaRPr sz="2400"/>
          </a:p>
        </p:txBody>
      </p:sp>
      <p:sp>
        <p:nvSpPr>
          <p:cNvPr id="12" name="Text 12">
            <a:extLst>
              <a:ext uri="{FF2B5EF4-FFF2-40B4-BE49-F238E27FC236}">
                <a16:creationId xmlns:a16="http://schemas.microsoft.com/office/drawing/2014/main" id="{98F61D32-0D88-4008-BEB4-707556032EDB}"/>
              </a:ext>
            </a:extLst>
          </p:cNvPr>
          <p:cNvSpPr>
            <a:spLocks noGrp="1"/>
          </p:cNvSpPr>
          <p:nvPr/>
        </p:nvSpPr>
        <p:spPr>
          <a:xfrm>
            <a:off x="9025128" y="2121408"/>
            <a:ext cx="2212848" cy="1298448"/>
          </a:xfrm>
          <a:prstGeom prst="rect">
            <a:avLst/>
          </a:prstGeom>
          <a:noFill/>
        </p:spPr>
        <p:txBody>
          <a:bodyPr wrap="square" lIns="54864" tIns="54864" rIns="54864" bIns="54864" anchor="ctr"/>
          <a:lstStyle/>
          <a:p>
            <a:pPr marL="0" indent="0" algn="ctr">
              <a:buNone/>
            </a:pPr>
            <a:r>
              <a:rPr lang="en-US" sz="2400" b="1">
                <a:solidFill>
                  <a:srgbClr val="B0341F"/>
                </a:solidFill>
                <a:latin typeface="Calibri"/>
                <a:ea typeface="Calibri"/>
                <a:cs typeface="Calibri"/>
              </a:rPr>
              <a:t>Human decides</a:t>
            </a:r>
            <a:endParaRPr sz="2400"/>
          </a:p>
        </p:txBody>
      </p:sp>
      <p:sp>
        <p:nvSpPr>
          <p:cNvPr id="13" name="Text 13">
            <a:extLst>
              <a:ext uri="{FF2B5EF4-FFF2-40B4-BE49-F238E27FC236}">
                <a16:creationId xmlns:a16="http://schemas.microsoft.com/office/drawing/2014/main" id="{98F61D32-0D88-4008-BEB4-707556032EDB}"/>
              </a:ext>
            </a:extLst>
          </p:cNvPr>
          <p:cNvSpPr>
            <a:spLocks noGrp="1"/>
          </p:cNvSpPr>
          <p:nvPr/>
        </p:nvSpPr>
        <p:spPr>
          <a:xfrm>
            <a:off x="3255264" y="2121408"/>
            <a:ext cx="265176" cy="1298448"/>
          </a:xfrm>
          <a:prstGeom prst="rect">
            <a:avLst/>
          </a:prstGeom>
          <a:noFill/>
        </p:spPr>
        <p:txBody>
          <a:bodyPr wrap="square" lIns="0" tIns="0" rIns="0" bIns="0" anchor="ctr"/>
          <a:lstStyle/>
          <a:p>
            <a:pPr marL="0" indent="0" algn="ctr">
              <a:buNone/>
            </a:pPr>
            <a:r>
              <a:rPr sz="2800" b="0">
                <a:solidFill>
                  <a:srgbClr val="8496A3"/>
                </a:solidFill>
                <a:latin typeface="Calibri"/>
                <a:ea typeface="Calibri"/>
                <a:cs typeface="Calibri"/>
              </a:rPr>
              <a:t>→</a:t>
            </a:r>
            <a:endParaRPr sz="2400"/>
          </a:p>
        </p:txBody>
      </p:sp>
      <p:sp>
        <p:nvSpPr>
          <p:cNvPr id="14" name="Text 14">
            <a:extLst>
              <a:ext uri="{FF2B5EF4-FFF2-40B4-BE49-F238E27FC236}">
                <a16:creationId xmlns:a16="http://schemas.microsoft.com/office/drawing/2014/main" id="{98F61D32-0D88-4008-BEB4-707556032EDB}"/>
              </a:ext>
            </a:extLst>
          </p:cNvPr>
          <p:cNvSpPr>
            <a:spLocks noGrp="1"/>
          </p:cNvSpPr>
          <p:nvPr/>
        </p:nvSpPr>
        <p:spPr>
          <a:xfrm>
            <a:off x="5952744" y="2121408"/>
            <a:ext cx="265176" cy="1298448"/>
          </a:xfrm>
          <a:prstGeom prst="rect">
            <a:avLst/>
          </a:prstGeom>
          <a:noFill/>
        </p:spPr>
        <p:txBody>
          <a:bodyPr wrap="square" lIns="0" tIns="0" rIns="0" bIns="0" anchor="ctr"/>
          <a:lstStyle/>
          <a:p>
            <a:pPr marL="0" indent="0" algn="ctr">
              <a:buNone/>
            </a:pPr>
            <a:r>
              <a:rPr sz="2800" b="0">
                <a:solidFill>
                  <a:srgbClr val="8496A3"/>
                </a:solidFill>
                <a:latin typeface="Calibri"/>
                <a:ea typeface="Calibri"/>
                <a:cs typeface="Calibri"/>
              </a:rPr>
              <a:t>→</a:t>
            </a:r>
            <a:endParaRPr sz="2400"/>
          </a:p>
        </p:txBody>
      </p:sp>
      <p:sp>
        <p:nvSpPr>
          <p:cNvPr id="15" name="Text 15">
            <a:extLst>
              <a:ext uri="{FF2B5EF4-FFF2-40B4-BE49-F238E27FC236}">
                <a16:creationId xmlns:a16="http://schemas.microsoft.com/office/drawing/2014/main" id="{98F61D32-0D88-4008-BEB4-707556032EDB}"/>
              </a:ext>
            </a:extLst>
          </p:cNvPr>
          <p:cNvSpPr>
            <a:spLocks noGrp="1"/>
          </p:cNvSpPr>
          <p:nvPr/>
        </p:nvSpPr>
        <p:spPr>
          <a:xfrm>
            <a:off x="8650224" y="2121408"/>
            <a:ext cx="265176" cy="1298448"/>
          </a:xfrm>
          <a:prstGeom prst="rect">
            <a:avLst/>
          </a:prstGeom>
          <a:noFill/>
        </p:spPr>
        <p:txBody>
          <a:bodyPr wrap="square" lIns="0" tIns="0" rIns="0" bIns="0" anchor="ctr"/>
          <a:lstStyle/>
          <a:p>
            <a:pPr marL="0" indent="0" algn="ctr">
              <a:buNone/>
            </a:pPr>
            <a:r>
              <a:rPr sz="2800" b="0">
                <a:solidFill>
                  <a:srgbClr val="8496A3"/>
                </a:solidFill>
                <a:latin typeface="Calibri"/>
                <a:ea typeface="Calibri"/>
                <a:cs typeface="Calibri"/>
              </a:rPr>
              <a:t>→</a:t>
            </a:r>
            <a:endParaRPr sz="2400"/>
          </a:p>
        </p:txBody>
      </p:sp>
      <p:sp>
        <p:nvSpPr>
          <p:cNvPr id="23" name="Rectangle 22"/>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3220383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pic>
        <p:nvPicPr>
          <p:cNvPr id="8" name="Picture 7" descr="The system proposes. A person decides. — three use cases, what makes each proposal, what each must prove, and the person who decides."/>
          <p:cNvPicPr>
            <a:picLocks noChangeAspect="1"/>
          </p:cNvPicPr>
          <p:nvPr/>
        </p:nvPicPr>
        <p:blipFill>
          <a:blip r:embed="rId3"/>
          <a:stretch>
            <a:fillRect/>
          </a:stretch>
        </p:blipFill>
        <p:spPr>
          <a:xfrm>
            <a:off x="0" y="0"/>
            <a:ext cx="12191999" cy="6355080"/>
          </a:xfrm>
          <a:prstGeom prst="rect">
            <a:avLst/>
          </a:prstGeom>
        </p:spPr>
      </p:pic>
      <p:sp>
        <p:nvSpPr>
          <p:cNvPr id="4" name="Shape 2">
            <a:extLst>
              <a:ext uri="{FF2B5EF4-FFF2-40B4-BE49-F238E27FC236}">
                <a16:creationId xmlns:a16="http://schemas.microsoft.com/office/drawing/2014/main" id="{233529F4-9A82-4A8D-8FA5-8DABE5CA27A9}"/>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A2942C5E-0ADF-4D08-A40A-E228D34A4710}"/>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2A3DB2A2-CF25-4557-9B0C-54687E4FA0D1}"/>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3</a:t>
            </a:r>
            <a:endParaRPr sz="900"/>
          </a:p>
        </p:txBody>
      </p:sp>
      <p:sp>
        <p:nvSpPr>
          <p:cNvPr id="7" name="Rectangle 6"/>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8A28D43-32B7-4C19-B734-D3A6F1E2F6BF}"/>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1A1A1A"/>
                </a:solidFill>
                <a:latin typeface="Trebuchet MS"/>
                <a:ea typeface="Trebuchet MS"/>
                <a:cs typeface="Trebuchet MS"/>
              </a:rPr>
              <a:t>The POC proves the mechanism — not accuracy</a:t>
            </a:r>
            <a:endParaRPr sz="3200"/>
          </a:p>
        </p:txBody>
      </p:sp>
      <p:sp>
        <p:nvSpPr>
          <p:cNvPr id="3" name="Shape 1">
            <a:extLst>
              <a:ext uri="{FF2B5EF4-FFF2-40B4-BE49-F238E27FC236}">
                <a16:creationId xmlns:a16="http://schemas.microsoft.com/office/drawing/2014/main" id="{C43CF5C8-89B6-43F6-AF3F-9E4920F00150}"/>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lang="en-US"/>
          </a:p>
        </p:txBody>
      </p:sp>
      <p:sp>
        <p:nvSpPr>
          <p:cNvPr id="4" name="Shape 2">
            <a:extLst>
              <a:ext uri="{FF2B5EF4-FFF2-40B4-BE49-F238E27FC236}">
                <a16:creationId xmlns:a16="http://schemas.microsoft.com/office/drawing/2014/main" id="{233529F4-9A82-4A8D-8FA5-8DABE5CA27A9}"/>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A2942C5E-0ADF-4D08-A40A-E228D34A4710}"/>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2A3DB2A2-CF25-4557-9B0C-54687E4FA0D1}"/>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4</a:t>
            </a:r>
            <a:endParaRPr sz="900"/>
          </a:p>
        </p:txBody>
      </p:sp>
      <p:sp>
        <p:nvSpPr>
          <p:cNvPr id="7" name="Text 5">
            <a:extLst>
              <a:ext uri="{FF2B5EF4-FFF2-40B4-BE49-F238E27FC236}">
                <a16:creationId xmlns:a16="http://schemas.microsoft.com/office/drawing/2014/main" id="{10F72280-FEB7-4077-9BCE-B00740543F64}"/>
              </a:ext>
            </a:extLst>
          </p:cNvPr>
          <p:cNvSpPr>
            <a:spLocks noGrp="1"/>
          </p:cNvSpPr>
          <p:nvPr/>
        </p:nvSpPr>
        <p:spPr>
          <a:xfrm>
            <a:off x="822960" y="1434864"/>
            <a:ext cx="10545775" cy="822960"/>
          </a:xfrm>
          <a:prstGeom prst="rect">
            <a:avLst/>
          </a:prstGeom>
          <a:noFill/>
        </p:spPr>
        <p:txBody>
          <a:bodyPr wrap="square" lIns="0" tIns="0" rIns="0" bIns="0" anchor="t"/>
          <a:lstStyle/>
          <a:p>
            <a:pPr marL="0" indent="0">
              <a:buNone/>
            </a:pPr>
            <a:r>
              <a:rPr lang="en-US" sz="2600" b="1" dirty="0">
                <a:solidFill>
                  <a:srgbClr val="0E6E67"/>
                </a:solidFill>
                <a:latin typeface="Calibri"/>
                <a:ea typeface="Calibri"/>
                <a:cs typeface="Calibri"/>
              </a:rPr>
              <a:t>Proves:</a:t>
            </a:r>
            <a:r>
              <a:rPr lang="en-US" sz="2600" b="0" dirty="0">
                <a:solidFill>
                  <a:srgbClr val="1A1A1A"/>
                </a:solidFill>
                <a:latin typeface="Calibri"/>
              </a:rPr>
              <a:t> the workflow can propose, cite evidence and stop safely.</a:t>
            </a:r>
            <a:endParaRPr sz="2600" dirty="0"/>
          </a:p>
          <a:p>
            <a:pPr marL="0" indent="0">
              <a:buNone/>
            </a:pPr>
            <a:r>
              <a:rPr lang="en-US" sz="2600" b="1" dirty="0">
                <a:solidFill>
                  <a:srgbClr val="B0341F"/>
                </a:solidFill>
                <a:latin typeface="Calibri"/>
                <a:ea typeface="Calibri"/>
                <a:cs typeface="Calibri"/>
              </a:rPr>
              <a:t>Does not prove:</a:t>
            </a:r>
            <a:r>
              <a:rPr lang="en-US" sz="2600" b="0" dirty="0">
                <a:solidFill>
                  <a:srgbClr val="1A1A1A"/>
                </a:solidFill>
                <a:latin typeface="Calibri"/>
              </a:rPr>
              <a:t> client performance or value.</a:t>
            </a:r>
            <a:endParaRPr sz="2600" dirty="0"/>
          </a:p>
        </p:txBody>
      </p:sp>
      <p:pic>
        <p:nvPicPr>
          <p:cNvPr id="15" name="Image 0" descr="The proof-of-concept workflow in n8n, executed green from trigger to proposal."/>
          <p:cNvPicPr>
            <a:picLocks noChangeAspect="1"/>
          </p:cNvPicPr>
          <p:nvPr/>
        </p:nvPicPr>
        <p:blipFill>
          <a:blip r:embed="rId3"/>
          <a:stretch>
            <a:fillRect/>
          </a:stretch>
        </p:blipFill>
        <p:spPr>
          <a:xfrm>
            <a:off x="1752447" y="2464799"/>
            <a:ext cx="8686800" cy="3562945"/>
          </a:xfrm>
          <a:prstGeom prst="rect">
            <a:avLst/>
          </a:prstGeom>
        </p:spPr>
      </p:pic>
      <p:sp>
        <p:nvSpPr>
          <p:cNvPr id="16" name="Frame"/>
          <p:cNvSpPr/>
          <p:nvPr/>
        </p:nvSpPr>
        <p:spPr>
          <a:xfrm>
            <a:off x="1752447" y="2435760"/>
            <a:ext cx="8686800" cy="3621024"/>
          </a:xfrm>
          <a:prstGeom prst="rect">
            <a:avLst/>
          </a:prstGeom>
          <a:noFill/>
          <a:ln w="12700">
            <a:solidFill>
              <a:srgbClr val="D4D0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71321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3" name="Band"/>
          <p:cNvSpPr/>
          <p:nvPr/>
        </p:nvSpPr>
        <p:spPr>
          <a:xfrm>
            <a:off x="822960" y="4709159"/>
            <a:ext cx="10543032" cy="18288"/>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A7A448E3-6A25-437D-A56B-7B353879B3D0}"/>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1A1A1A"/>
                </a:solidFill>
                <a:latin typeface="Trebuchet MS"/>
                <a:ea typeface="Trebuchet MS"/>
                <a:cs typeface="Trebuchet MS"/>
              </a:rPr>
              <a:t>The system works; the bespoke economics do not</a:t>
            </a:r>
            <a:endParaRPr sz="3200"/>
          </a:p>
        </p:txBody>
      </p:sp>
      <p:sp>
        <p:nvSpPr>
          <p:cNvPr id="3" name="Shape 1">
            <a:extLst>
              <a:ext uri="{FF2B5EF4-FFF2-40B4-BE49-F238E27FC236}">
                <a16:creationId xmlns:a16="http://schemas.microsoft.com/office/drawing/2014/main" id="{EE382AC9-C458-4448-A028-F7B0B6B2FAC7}"/>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lang="en-US"/>
          </a:p>
        </p:txBody>
      </p:sp>
      <p:sp>
        <p:nvSpPr>
          <p:cNvPr id="4" name="Shape 2">
            <a:extLst>
              <a:ext uri="{FF2B5EF4-FFF2-40B4-BE49-F238E27FC236}">
                <a16:creationId xmlns:a16="http://schemas.microsoft.com/office/drawing/2014/main" id="{501AF663-098B-4908-968B-95F5B4657296}"/>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18F2D69B-0177-45A2-8C12-991E90DE47D1}"/>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64B11649-53EB-4BEC-85F8-E6C2A082E2E9}"/>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5</a:t>
            </a:r>
            <a:endParaRPr sz="900"/>
          </a:p>
        </p:txBody>
      </p:sp>
      <p:sp>
        <p:nvSpPr>
          <p:cNvPr id="18" name="Text 16">
            <a:extLst>
              <a:ext uri="{FF2B5EF4-FFF2-40B4-BE49-F238E27FC236}">
                <a16:creationId xmlns:a16="http://schemas.microsoft.com/office/drawing/2014/main" id="{ED24CD4C-9A82-4463-9BCD-BB4D966F4283}"/>
              </a:ext>
            </a:extLst>
          </p:cNvPr>
          <p:cNvSpPr>
            <a:spLocks noGrp="1"/>
          </p:cNvSpPr>
          <p:nvPr/>
        </p:nvSpPr>
        <p:spPr>
          <a:xfrm>
            <a:off x="822960" y="4837176"/>
            <a:ext cx="10543032" cy="731520"/>
          </a:xfrm>
          <a:prstGeom prst="rect">
            <a:avLst/>
          </a:prstGeom>
          <a:noFill/>
        </p:spPr>
        <p:txBody>
          <a:bodyPr wrap="square" lIns="0" tIns="0" rIns="0" bIns="0" anchor="t"/>
          <a:lstStyle/>
          <a:p>
            <a:pPr marL="0" indent="0" algn="l">
              <a:buNone/>
            </a:pPr>
            <a:r>
              <a:rPr sz="2000" b="0" dirty="0">
                <a:solidFill>
                  <a:srgbClr val="1A1A1A"/>
                </a:solidFill>
                <a:latin typeface="Calibri"/>
                <a:ea typeface="Calibri"/>
                <a:cs typeface="Calibri"/>
              </a:rPr>
              <a:t>At 2,426 complaints a year, bespoke deployment breaks even in month 46. Approximately 3,100 are needed.</a:t>
            </a:r>
            <a:endParaRPr sz="2000" dirty="0"/>
          </a:p>
        </p:txBody>
      </p:sp>
      <p:sp>
        <p:nvSpPr>
          <p:cNvPr id="19" name="Text 17">
            <a:extLst>
              <a:ext uri="{FF2B5EF4-FFF2-40B4-BE49-F238E27FC236}">
                <a16:creationId xmlns:a16="http://schemas.microsoft.com/office/drawing/2014/main" id="{ED24CD4C-9A82-4463-9BCD-BB4D966F4284}"/>
              </a:ext>
            </a:extLst>
          </p:cNvPr>
          <p:cNvSpPr>
            <a:spLocks noGrp="1"/>
          </p:cNvSpPr>
          <p:nvPr/>
        </p:nvSpPr>
        <p:spPr>
          <a:xfrm>
            <a:off x="822960" y="5623559"/>
            <a:ext cx="10543032" cy="457200"/>
          </a:xfrm>
          <a:prstGeom prst="rect">
            <a:avLst/>
          </a:prstGeom>
          <a:noFill/>
        </p:spPr>
        <p:txBody>
          <a:bodyPr wrap="square" lIns="0" tIns="0" rIns="0" bIns="0" anchor="t"/>
          <a:lstStyle/>
          <a:p>
            <a:pPr marL="0" indent="0" algn="l">
              <a:buNone/>
            </a:pPr>
            <a:r>
              <a:rPr sz="2000" b="0" dirty="0">
                <a:solidFill>
                  <a:srgbClr val="4B5C69"/>
                </a:solidFill>
                <a:latin typeface="Calibri"/>
                <a:ea typeface="Calibri"/>
                <a:cs typeface="Calibri"/>
              </a:rPr>
              <a:t>€9,918 of €17,326 is cash — ombudsman fees and fraud losses, not saved time.</a:t>
            </a:r>
            <a:endParaRPr sz="2000" dirty="0"/>
          </a:p>
        </p:txBody>
      </p:sp>
      <p:pic>
        <p:nvPicPr>
          <p:cNvPr id="22" name="Picture 21" descr="Cumulative net position for the client over 48 months: the central case crosses zero in month 46, the conservative case never crosses."/>
          <p:cNvPicPr>
            <a:picLocks noChangeAspect="1"/>
          </p:cNvPicPr>
          <p:nvPr/>
        </p:nvPicPr>
        <p:blipFill>
          <a:blip r:embed="rId3"/>
          <a:stretch>
            <a:fillRect/>
          </a:stretch>
        </p:blipFill>
        <p:spPr>
          <a:xfrm>
            <a:off x="822960" y="1700784"/>
            <a:ext cx="10543032" cy="2880360"/>
          </a:xfrm>
          <a:prstGeom prst="rect">
            <a:avLst/>
          </a:prstGeom>
        </p:spPr>
      </p:pic>
      <p:sp>
        <p:nvSpPr>
          <p:cNvPr id="24" name="Rectangle 23"/>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960184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18" name="Bar"/>
          <p:cNvSpPr/>
          <p:nvPr/>
        </p:nvSpPr>
        <p:spPr>
          <a:xfrm>
            <a:off x="822960" y="4846320"/>
            <a:ext cx="68580" cy="1316736"/>
          </a:xfrm>
          <a:prstGeom prst="rect">
            <a:avLst/>
          </a:prstGeom>
          <a:solidFill>
            <a:srgbClr val="A93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Card"/>
          <p:cNvSpPr/>
          <p:nvPr/>
        </p:nvSpPr>
        <p:spPr>
          <a:xfrm>
            <a:off x="822960" y="4846320"/>
            <a:ext cx="10543032" cy="1316736"/>
          </a:xfrm>
          <a:prstGeom prst="roundRect">
            <a:avLst>
              <a:gd name="adj" fmla="val 3500"/>
            </a:avLst>
          </a:prstGeom>
          <a:solidFill>
            <a:srgbClr val="F1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Bar"/>
          <p:cNvSpPr/>
          <p:nvPr/>
        </p:nvSpPr>
        <p:spPr>
          <a:xfrm>
            <a:off x="822960" y="3383280"/>
            <a:ext cx="68580" cy="1316736"/>
          </a:xfrm>
          <a:prstGeom prst="rect">
            <a:avLst/>
          </a:prstGeom>
          <a:solidFill>
            <a:srgbClr val="A93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Card"/>
          <p:cNvSpPr/>
          <p:nvPr/>
        </p:nvSpPr>
        <p:spPr>
          <a:xfrm>
            <a:off x="822960" y="3383280"/>
            <a:ext cx="10543032" cy="1316736"/>
          </a:xfrm>
          <a:prstGeom prst="roundRect">
            <a:avLst>
              <a:gd name="adj" fmla="val 3500"/>
            </a:avLst>
          </a:prstGeom>
          <a:solidFill>
            <a:srgbClr val="EDE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Bar"/>
          <p:cNvSpPr/>
          <p:nvPr/>
        </p:nvSpPr>
        <p:spPr>
          <a:xfrm>
            <a:off x="822960" y="1920240"/>
            <a:ext cx="68580" cy="1316736"/>
          </a:xfrm>
          <a:prstGeom prst="rect">
            <a:avLst/>
          </a:prstGeom>
          <a:solidFill>
            <a:srgbClr val="A93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Card"/>
          <p:cNvSpPr/>
          <p:nvPr/>
        </p:nvSpPr>
        <p:spPr>
          <a:xfrm>
            <a:off x="822960" y="1920240"/>
            <a:ext cx="10543032" cy="1316736"/>
          </a:xfrm>
          <a:prstGeom prst="roundRect">
            <a:avLst>
              <a:gd name="adj" fmla="val 3500"/>
            </a:avLst>
          </a:prstGeom>
          <a:solidFill>
            <a:srgbClr val="F3E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7AA92469-DF26-465E-AFC2-660C24768F2E}"/>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1A1A1A"/>
                </a:solidFill>
                <a:latin typeface="Trebuchet MS"/>
                <a:ea typeface="Trebuchet MS"/>
                <a:cs typeface="Trebuchet MS"/>
              </a:rPr>
              <a:t>Three risks decide whether a pilot is defensible</a:t>
            </a:r>
            <a:endParaRPr sz="3200"/>
          </a:p>
        </p:txBody>
      </p:sp>
      <p:sp>
        <p:nvSpPr>
          <p:cNvPr id="3" name="Shape 1">
            <a:extLst>
              <a:ext uri="{FF2B5EF4-FFF2-40B4-BE49-F238E27FC236}">
                <a16:creationId xmlns:a16="http://schemas.microsoft.com/office/drawing/2014/main" id="{5EB15278-A8A7-4A83-8739-79F3608EBE0A}"/>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lang="en-US"/>
          </a:p>
        </p:txBody>
      </p:sp>
      <p:sp>
        <p:nvSpPr>
          <p:cNvPr id="4" name="Shape 2">
            <a:extLst>
              <a:ext uri="{FF2B5EF4-FFF2-40B4-BE49-F238E27FC236}">
                <a16:creationId xmlns:a16="http://schemas.microsoft.com/office/drawing/2014/main" id="{1DC6D1FB-83CB-4EB1-B1E8-91F5BD6AF115}"/>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C1C7628B-63B9-4871-AFC6-FBC6F1031E8C}"/>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0E31CB3C-6E5D-46A0-903A-FE524E9E44D0}"/>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6</a:t>
            </a:r>
            <a:endParaRPr sz="900"/>
          </a:p>
        </p:txBody>
      </p:sp>
      <p:sp>
        <p:nvSpPr>
          <p:cNvPr id="7" name="Text 5">
            <a:extLst>
              <a:ext uri="{FF2B5EF4-FFF2-40B4-BE49-F238E27FC236}">
                <a16:creationId xmlns:a16="http://schemas.microsoft.com/office/drawing/2014/main" id="{AC773AE0-99DC-4CCC-949D-EB1D44646FF5}"/>
              </a:ext>
            </a:extLst>
          </p:cNvPr>
          <p:cNvSpPr>
            <a:spLocks noGrp="1"/>
          </p:cNvSpPr>
          <p:nvPr/>
        </p:nvSpPr>
        <p:spPr>
          <a:xfrm>
            <a:off x="1078992" y="2048256"/>
            <a:ext cx="7498079" cy="512064"/>
          </a:xfrm>
          <a:prstGeom prst="rect">
            <a:avLst/>
          </a:prstGeom>
          <a:noFill/>
        </p:spPr>
        <p:txBody>
          <a:bodyPr wrap="square" lIns="0" tIns="0" rIns="0" bIns="0" anchor="ctr"/>
          <a:lstStyle/>
          <a:p>
            <a:pPr marL="0" indent="0" algn="l">
              <a:buNone/>
            </a:pPr>
            <a:r>
              <a:rPr sz="2600" b="1">
                <a:solidFill>
                  <a:srgbClr val="1A1A1A"/>
                </a:solidFill>
                <a:latin typeface="Calibri"/>
                <a:ea typeface="Calibri"/>
                <a:cs typeface="Calibri"/>
              </a:rPr>
              <a:t>Value assumptions fail on real data</a:t>
            </a:r>
            <a:endParaRPr sz="2600"/>
          </a:p>
        </p:txBody>
      </p:sp>
      <p:sp>
        <p:nvSpPr>
          <p:cNvPr id="8" name="Text 6">
            <a:extLst>
              <a:ext uri="{FF2B5EF4-FFF2-40B4-BE49-F238E27FC236}">
                <a16:creationId xmlns:a16="http://schemas.microsoft.com/office/drawing/2014/main" id="{8268CC89-A0B9-47E9-8B0A-043DD32B9B68}"/>
              </a:ext>
            </a:extLst>
          </p:cNvPr>
          <p:cNvSpPr>
            <a:spLocks noGrp="1"/>
          </p:cNvSpPr>
          <p:nvPr/>
        </p:nvSpPr>
        <p:spPr>
          <a:xfrm>
            <a:off x="1078992" y="2578608"/>
            <a:ext cx="10058400" cy="512064"/>
          </a:xfrm>
          <a:prstGeom prst="rect">
            <a:avLst/>
          </a:prstGeom>
          <a:noFill/>
        </p:spPr>
        <p:txBody>
          <a:bodyPr wrap="square" lIns="0" tIns="0" rIns="0" bIns="0" anchor="ctr"/>
          <a:lstStyle/>
          <a:p>
            <a:pPr marL="0" indent="0" algn="l">
              <a:buNone/>
            </a:pPr>
            <a:r>
              <a:rPr sz="2400" b="0">
                <a:solidFill>
                  <a:srgbClr val="4B5C69"/>
                </a:solidFill>
                <a:latin typeface="Calibri"/>
                <a:ea typeface="Calibri"/>
                <a:cs typeface="Calibri"/>
              </a:rPr>
              <a:t>Measure before committing to deployment. Fixed phase exits preserve the right to stop.</a:t>
            </a:r>
            <a:endParaRPr sz="2400"/>
          </a:p>
        </p:txBody>
      </p:sp>
      <p:sp>
        <p:nvSpPr>
          <p:cNvPr id="9" name="Text 7">
            <a:extLst>
              <a:ext uri="{FF2B5EF4-FFF2-40B4-BE49-F238E27FC236}">
                <a16:creationId xmlns:a16="http://schemas.microsoft.com/office/drawing/2014/main" id="{D2FE464A-D188-470D-82FB-F9BE9CDE16C5}"/>
              </a:ext>
            </a:extLst>
          </p:cNvPr>
          <p:cNvSpPr>
            <a:spLocks noGrp="1"/>
          </p:cNvSpPr>
          <p:nvPr/>
        </p:nvSpPr>
        <p:spPr>
          <a:xfrm>
            <a:off x="1078992" y="3511296"/>
            <a:ext cx="7498079" cy="512064"/>
          </a:xfrm>
          <a:prstGeom prst="rect">
            <a:avLst/>
          </a:prstGeom>
          <a:noFill/>
        </p:spPr>
        <p:txBody>
          <a:bodyPr wrap="square" lIns="0" tIns="0" rIns="0" bIns="0" anchor="ctr"/>
          <a:lstStyle/>
          <a:p>
            <a:pPr marL="0" indent="0" algn="l">
              <a:buNone/>
            </a:pPr>
            <a:r>
              <a:rPr sz="2600" b="1">
                <a:solidFill>
                  <a:srgbClr val="1A1A1A"/>
                </a:solidFill>
                <a:latin typeface="Calibri"/>
                <a:ea typeface="Calibri"/>
                <a:cs typeface="Calibri"/>
              </a:rPr>
              <a:t>Handlers rubber-stamp proposals</a:t>
            </a:r>
            <a:endParaRPr sz="2600"/>
          </a:p>
        </p:txBody>
      </p:sp>
      <p:sp>
        <p:nvSpPr>
          <p:cNvPr id="10" name="Text 8">
            <a:extLst>
              <a:ext uri="{FF2B5EF4-FFF2-40B4-BE49-F238E27FC236}">
                <a16:creationId xmlns:a16="http://schemas.microsoft.com/office/drawing/2014/main" id="{09CD94B9-D13A-49E3-B76A-A01A32956C38}"/>
              </a:ext>
            </a:extLst>
          </p:cNvPr>
          <p:cNvSpPr>
            <a:spLocks noGrp="1"/>
          </p:cNvSpPr>
          <p:nvPr/>
        </p:nvSpPr>
        <p:spPr>
          <a:xfrm>
            <a:off x="1078992" y="4041648"/>
            <a:ext cx="10058400" cy="512064"/>
          </a:xfrm>
          <a:prstGeom prst="rect">
            <a:avLst/>
          </a:prstGeom>
          <a:noFill/>
        </p:spPr>
        <p:txBody>
          <a:bodyPr wrap="square" lIns="0" tIns="0" rIns="0" bIns="0" anchor="ctr"/>
          <a:lstStyle/>
          <a:p>
            <a:pPr marL="0" indent="0" algn="l">
              <a:buNone/>
            </a:pPr>
            <a:r>
              <a:rPr sz="2400" b="0">
                <a:solidFill>
                  <a:srgbClr val="4B5C69"/>
                </a:solidFill>
                <a:latin typeface="Calibri"/>
                <a:ea typeface="Calibri"/>
                <a:cs typeface="Calibri"/>
              </a:rPr>
              <a:t>Acceptance above 97% is a failure signal, measured per handler.</a:t>
            </a:r>
            <a:endParaRPr sz="2400"/>
          </a:p>
        </p:txBody>
      </p:sp>
      <p:sp>
        <p:nvSpPr>
          <p:cNvPr id="11" name="Text 9">
            <a:extLst>
              <a:ext uri="{FF2B5EF4-FFF2-40B4-BE49-F238E27FC236}">
                <a16:creationId xmlns:a16="http://schemas.microsoft.com/office/drawing/2014/main" id="{6D9EA6E0-65D8-49FE-B5BE-E961C035737F}"/>
              </a:ext>
            </a:extLst>
          </p:cNvPr>
          <p:cNvSpPr>
            <a:spLocks noGrp="1"/>
          </p:cNvSpPr>
          <p:nvPr/>
        </p:nvSpPr>
        <p:spPr>
          <a:xfrm>
            <a:off x="1078992" y="4974336"/>
            <a:ext cx="7498079" cy="512064"/>
          </a:xfrm>
          <a:prstGeom prst="rect">
            <a:avLst/>
          </a:prstGeom>
          <a:noFill/>
        </p:spPr>
        <p:txBody>
          <a:bodyPr wrap="square" lIns="0" tIns="0" rIns="0" bIns="0" anchor="ctr"/>
          <a:lstStyle/>
          <a:p>
            <a:pPr marL="0" indent="0" algn="l">
              <a:buNone/>
            </a:pPr>
            <a:r>
              <a:rPr sz="2600" b="1">
                <a:solidFill>
                  <a:srgbClr val="1A1A1A"/>
                </a:solidFill>
                <a:latin typeface="Calibri"/>
                <a:ea typeface="Calibri"/>
                <a:cs typeface="Calibri"/>
              </a:rPr>
              <a:t>Oversight costs more than it saves</a:t>
            </a:r>
            <a:endParaRPr sz="2600"/>
          </a:p>
        </p:txBody>
      </p:sp>
      <p:sp>
        <p:nvSpPr>
          <p:cNvPr id="12" name="Text 10">
            <a:extLst>
              <a:ext uri="{FF2B5EF4-FFF2-40B4-BE49-F238E27FC236}">
                <a16:creationId xmlns:a16="http://schemas.microsoft.com/office/drawing/2014/main" id="{E6129510-3755-46A4-9705-BB6EA9A086DD}"/>
              </a:ext>
            </a:extLst>
          </p:cNvPr>
          <p:cNvSpPr>
            <a:spLocks noGrp="1"/>
          </p:cNvSpPr>
          <p:nvPr/>
        </p:nvSpPr>
        <p:spPr>
          <a:xfrm>
            <a:off x="1078992" y="5504688"/>
            <a:ext cx="10058400" cy="512064"/>
          </a:xfrm>
          <a:prstGeom prst="rect">
            <a:avLst/>
          </a:prstGeom>
          <a:noFill/>
        </p:spPr>
        <p:txBody>
          <a:bodyPr wrap="square" lIns="0" tIns="0" rIns="0" bIns="0" anchor="ctr"/>
          <a:lstStyle/>
          <a:p>
            <a:pPr marL="0" indent="0" algn="l">
              <a:buNone/>
            </a:pPr>
            <a:r>
              <a:rPr sz="2400" b="0">
                <a:solidFill>
                  <a:srgbClr val="4B5C69"/>
                </a:solidFill>
                <a:latin typeface="Calibri"/>
                <a:ea typeface="Calibri"/>
                <a:cs typeface="Calibri"/>
              </a:rPr>
              <a:t>Measure effort during the shadow pilot from day one.</a:t>
            </a:r>
            <a:endParaRPr sz="2400"/>
          </a:p>
        </p:txBody>
      </p:sp>
      <p:sp>
        <p:nvSpPr>
          <p:cNvPr id="19" name="Meta"/>
          <p:cNvSpPr txBox="1"/>
          <p:nvPr/>
        </p:nvSpPr>
        <p:spPr>
          <a:xfrm>
            <a:off x="8778240" y="2042678"/>
            <a:ext cx="2377440" cy="523220"/>
          </a:xfrm>
          <a:prstGeom prst="rect">
            <a:avLst/>
          </a:prstGeom>
          <a:noFill/>
        </p:spPr>
        <p:txBody>
          <a:bodyPr wrap="square" lIns="0" tIns="0" rIns="0" bIns="0" anchor="ctr">
            <a:spAutoFit/>
          </a:bodyPr>
          <a:lstStyle/>
          <a:p>
            <a:pPr algn="r"/>
            <a:r>
              <a:rPr lang="en-US" sz="3400" b="1">
                <a:solidFill>
                  <a:srgbClr val="B0341F"/>
                </a:solidFill>
                <a:latin typeface="Calibri"/>
              </a:rPr>
              <a:t>4×5</a:t>
            </a:r>
          </a:p>
        </p:txBody>
      </p:sp>
      <p:sp>
        <p:nvSpPr>
          <p:cNvPr id="20" name="Meta"/>
          <p:cNvSpPr txBox="1"/>
          <p:nvPr/>
        </p:nvSpPr>
        <p:spPr>
          <a:xfrm>
            <a:off x="8778240" y="3505718"/>
            <a:ext cx="2377440" cy="523220"/>
          </a:xfrm>
          <a:prstGeom prst="rect">
            <a:avLst/>
          </a:prstGeom>
          <a:noFill/>
        </p:spPr>
        <p:txBody>
          <a:bodyPr wrap="square" lIns="0" tIns="0" rIns="0" bIns="0" anchor="ctr">
            <a:spAutoFit/>
          </a:bodyPr>
          <a:lstStyle/>
          <a:p>
            <a:pPr algn="r"/>
            <a:r>
              <a:rPr lang="en-US" sz="3400" b="1">
                <a:solidFill>
                  <a:srgbClr val="B0341F"/>
                </a:solidFill>
                <a:latin typeface="Calibri"/>
              </a:rPr>
              <a:t>4×4</a:t>
            </a:r>
          </a:p>
        </p:txBody>
      </p:sp>
      <p:sp>
        <p:nvSpPr>
          <p:cNvPr id="21" name="Meta"/>
          <p:cNvSpPr txBox="1"/>
          <p:nvPr/>
        </p:nvSpPr>
        <p:spPr>
          <a:xfrm>
            <a:off x="8778240" y="4968758"/>
            <a:ext cx="2377440" cy="523220"/>
          </a:xfrm>
          <a:prstGeom prst="rect">
            <a:avLst/>
          </a:prstGeom>
          <a:noFill/>
        </p:spPr>
        <p:txBody>
          <a:bodyPr wrap="square" lIns="0" tIns="0" rIns="0" bIns="0" anchor="ctr">
            <a:spAutoFit/>
          </a:bodyPr>
          <a:lstStyle/>
          <a:p>
            <a:pPr algn="r"/>
            <a:r>
              <a:rPr lang="en-US" sz="3400" b="1">
                <a:solidFill>
                  <a:srgbClr val="B0341F"/>
                </a:solidFill>
                <a:latin typeface="Calibri"/>
              </a:rPr>
              <a:t>3×4</a:t>
            </a:r>
          </a:p>
        </p:txBody>
      </p:sp>
      <p:sp>
        <p:nvSpPr>
          <p:cNvPr id="22" name="Rectangle 21"/>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730372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16" name="Bar"/>
          <p:cNvSpPr/>
          <p:nvPr/>
        </p:nvSpPr>
        <p:spPr>
          <a:xfrm>
            <a:off x="822960" y="4966425"/>
            <a:ext cx="10543032" cy="18288"/>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Bar"/>
          <p:cNvSpPr/>
          <p:nvPr/>
        </p:nvSpPr>
        <p:spPr>
          <a:xfrm>
            <a:off x="822960" y="3558249"/>
            <a:ext cx="68580" cy="1133856"/>
          </a:xfrm>
          <a:prstGeom prst="rect">
            <a:avLst/>
          </a:prstGeom>
          <a:solidFill>
            <a:srgbClr val="A93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ard"/>
          <p:cNvSpPr/>
          <p:nvPr/>
        </p:nvSpPr>
        <p:spPr>
          <a:xfrm>
            <a:off x="822960" y="3558249"/>
            <a:ext cx="10543032" cy="1133856"/>
          </a:xfrm>
          <a:prstGeom prst="roundRect">
            <a:avLst>
              <a:gd name="adj" fmla="val 3500"/>
            </a:avLst>
          </a:prstGeom>
          <a:solidFill>
            <a:srgbClr val="F3E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Bar"/>
          <p:cNvSpPr/>
          <p:nvPr/>
        </p:nvSpPr>
        <p:spPr>
          <a:xfrm>
            <a:off x="822960" y="1711161"/>
            <a:ext cx="68580" cy="1572768"/>
          </a:xfrm>
          <a:prstGeom prst="rect">
            <a:avLst/>
          </a:prstGeom>
          <a:solidFill>
            <a:srgbClr val="0E6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ard"/>
          <p:cNvSpPr/>
          <p:nvPr/>
        </p:nvSpPr>
        <p:spPr>
          <a:xfrm>
            <a:off x="822960" y="1711161"/>
            <a:ext cx="10543032" cy="1572768"/>
          </a:xfrm>
          <a:prstGeom prst="roundRect">
            <a:avLst>
              <a:gd name="adj" fmla="val 3500"/>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FE9A16E5-808D-4E13-B1CF-A404528F0FB3}"/>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1A1A1A"/>
                </a:solidFill>
                <a:latin typeface="Trebuchet MS"/>
                <a:ea typeface="Trebuchet MS"/>
                <a:cs typeface="Trebuchet MS"/>
              </a:rPr>
              <a:t>Not high-risk. Real-data use still has gates</a:t>
            </a:r>
            <a:endParaRPr sz="3200"/>
          </a:p>
        </p:txBody>
      </p:sp>
      <p:sp>
        <p:nvSpPr>
          <p:cNvPr id="3" name="Shape 1">
            <a:extLst>
              <a:ext uri="{FF2B5EF4-FFF2-40B4-BE49-F238E27FC236}">
                <a16:creationId xmlns:a16="http://schemas.microsoft.com/office/drawing/2014/main" id="{D4AA5190-0081-45AF-A5A7-B8AA87E6FEF1}"/>
              </a:ext>
            </a:extLst>
          </p:cNvPr>
          <p:cNvSpPr>
            <a:spLocks noGrp="1"/>
          </p:cNvSpPr>
          <p:nvPr/>
        </p:nvSpPr>
        <p:spPr>
          <a:xfrm>
            <a:off x="822960" y="1308825"/>
            <a:ext cx="987552" cy="32004"/>
          </a:xfrm>
          <a:prstGeom prst="line">
            <a:avLst/>
          </a:prstGeom>
          <a:solidFill>
            <a:srgbClr val="B0341F"/>
          </a:solidFill>
          <a:ln w="25400">
            <a:noFill/>
            <a:prstDash val="solid"/>
          </a:ln>
        </p:spPr>
        <p:txBody>
          <a:bodyPr/>
          <a:lstStyle/>
          <a:p>
            <a:endParaRPr lang="en-US"/>
          </a:p>
        </p:txBody>
      </p:sp>
      <p:sp>
        <p:nvSpPr>
          <p:cNvPr id="4" name="Shape 2">
            <a:extLst>
              <a:ext uri="{FF2B5EF4-FFF2-40B4-BE49-F238E27FC236}">
                <a16:creationId xmlns:a16="http://schemas.microsoft.com/office/drawing/2014/main" id="{37C74313-CEAA-4828-848C-8D225AB2EF35}"/>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17D17FAC-FB51-4B2D-BAE5-D6A5826C96DD}"/>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3662326A-B1E7-4B72-AB1F-C370F161523C}"/>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7</a:t>
            </a:r>
            <a:endParaRPr sz="900"/>
          </a:p>
        </p:txBody>
      </p:sp>
      <p:sp>
        <p:nvSpPr>
          <p:cNvPr id="7" name="Text 5">
            <a:extLst>
              <a:ext uri="{FF2B5EF4-FFF2-40B4-BE49-F238E27FC236}">
                <a16:creationId xmlns:a16="http://schemas.microsoft.com/office/drawing/2014/main" id="{4B353CFD-797F-4173-A01B-F42835B33D2B}"/>
              </a:ext>
            </a:extLst>
          </p:cNvPr>
          <p:cNvSpPr>
            <a:spLocks noGrp="1"/>
          </p:cNvSpPr>
          <p:nvPr/>
        </p:nvSpPr>
        <p:spPr>
          <a:xfrm>
            <a:off x="2798064" y="1857465"/>
            <a:ext cx="8321040" cy="530352"/>
          </a:xfrm>
          <a:prstGeom prst="rect">
            <a:avLst/>
          </a:prstGeom>
          <a:noFill/>
        </p:spPr>
        <p:txBody>
          <a:bodyPr wrap="square" lIns="0" tIns="0" rIns="0" bIns="0" anchor="ctr"/>
          <a:lstStyle/>
          <a:p>
            <a:pPr marL="0" indent="0" algn="l">
              <a:buNone/>
            </a:pPr>
            <a:r>
              <a:rPr sz="2400" b="0">
                <a:solidFill>
                  <a:srgbClr val="1A1A1A"/>
                </a:solidFill>
                <a:latin typeface="Calibri"/>
                <a:ea typeface="Calibri"/>
                <a:cs typeface="Calibri"/>
              </a:rPr>
              <a:t>Triage and reporting are not high-risk.</a:t>
            </a:r>
            <a:endParaRPr sz="2400"/>
          </a:p>
        </p:txBody>
      </p:sp>
      <p:sp>
        <p:nvSpPr>
          <p:cNvPr id="8" name="Text 6">
            <a:extLst>
              <a:ext uri="{FF2B5EF4-FFF2-40B4-BE49-F238E27FC236}">
                <a16:creationId xmlns:a16="http://schemas.microsoft.com/office/drawing/2014/main" id="{9386379E-B987-4D52-B558-9892A45CF496}"/>
              </a:ext>
            </a:extLst>
          </p:cNvPr>
          <p:cNvSpPr>
            <a:spLocks noGrp="1"/>
          </p:cNvSpPr>
          <p:nvPr/>
        </p:nvSpPr>
        <p:spPr>
          <a:xfrm>
            <a:off x="2798064" y="2479257"/>
            <a:ext cx="8321040" cy="530352"/>
          </a:xfrm>
          <a:prstGeom prst="rect">
            <a:avLst/>
          </a:prstGeom>
          <a:noFill/>
        </p:spPr>
        <p:txBody>
          <a:bodyPr wrap="square" lIns="0" tIns="0" rIns="0" bIns="0" anchor="ctr"/>
          <a:lstStyle/>
          <a:p>
            <a:pPr marL="0" indent="0" algn="l">
              <a:buNone/>
            </a:pPr>
            <a:r>
              <a:rPr sz="2400" b="0">
                <a:solidFill>
                  <a:srgbClr val="4B5C69"/>
                </a:solidFill>
                <a:latin typeface="Calibri"/>
                <a:ea typeface="Calibri"/>
                <a:cs typeface="Calibri"/>
              </a:rPr>
              <a:t>Anomaly flagging requires counsel confirmation. AI literacy applies now.</a:t>
            </a:r>
            <a:endParaRPr sz="2400"/>
          </a:p>
        </p:txBody>
      </p:sp>
      <p:sp>
        <p:nvSpPr>
          <p:cNvPr id="10" name="Text 8">
            <a:extLst>
              <a:ext uri="{FF2B5EF4-FFF2-40B4-BE49-F238E27FC236}">
                <a16:creationId xmlns:a16="http://schemas.microsoft.com/office/drawing/2014/main" id="{D4F74A11-44A8-436D-B84C-7A6AFBC1AEF1}"/>
              </a:ext>
            </a:extLst>
          </p:cNvPr>
          <p:cNvSpPr>
            <a:spLocks noGrp="1"/>
          </p:cNvSpPr>
          <p:nvPr/>
        </p:nvSpPr>
        <p:spPr>
          <a:xfrm>
            <a:off x="2798064" y="3558249"/>
            <a:ext cx="8321040" cy="1133856"/>
          </a:xfrm>
          <a:prstGeom prst="rect">
            <a:avLst/>
          </a:prstGeom>
          <a:noFill/>
        </p:spPr>
        <p:txBody>
          <a:bodyPr wrap="square" lIns="0" tIns="0" rIns="0" bIns="0" anchor="ctr"/>
          <a:lstStyle/>
          <a:p>
            <a:pPr marL="0" indent="0" algn="l">
              <a:buNone/>
            </a:pPr>
            <a:r>
              <a:rPr sz="2400" b="0">
                <a:solidFill>
                  <a:srgbClr val="1A1A1A"/>
                </a:solidFill>
                <a:latin typeface="Calibri"/>
                <a:ea typeface="Calibri"/>
                <a:cs typeface="Calibri"/>
              </a:rPr>
              <a:t>The full complaint narrative reaches the provider.</a:t>
            </a:r>
            <a:endParaRPr sz="2400"/>
          </a:p>
        </p:txBody>
      </p:sp>
      <p:sp>
        <p:nvSpPr>
          <p:cNvPr id="11" name="Text 9">
            <a:extLst>
              <a:ext uri="{FF2B5EF4-FFF2-40B4-BE49-F238E27FC236}">
                <a16:creationId xmlns:a16="http://schemas.microsoft.com/office/drawing/2014/main" id="{CEF271E3-966B-4EBC-BFBC-4BEAEF6F86AF}"/>
              </a:ext>
            </a:extLst>
          </p:cNvPr>
          <p:cNvSpPr>
            <a:spLocks noGrp="1"/>
          </p:cNvSpPr>
          <p:nvPr/>
        </p:nvSpPr>
        <p:spPr>
          <a:xfrm>
            <a:off x="822960" y="5094441"/>
            <a:ext cx="10543032" cy="676656"/>
          </a:xfrm>
          <a:prstGeom prst="rect">
            <a:avLst/>
          </a:prstGeom>
          <a:noFill/>
        </p:spPr>
        <p:txBody>
          <a:bodyPr wrap="square" lIns="0" tIns="0" rIns="0" bIns="0" anchor="ctr"/>
          <a:lstStyle/>
          <a:p>
            <a:pPr marL="0" indent="0" algn="l">
              <a:buNone/>
            </a:pPr>
            <a:r>
              <a:rPr sz="2600" b="0">
                <a:solidFill>
                  <a:srgbClr val="1A1A1A"/>
                </a:solidFill>
                <a:latin typeface="Calibri"/>
                <a:ea typeface="Calibri"/>
                <a:cs typeface="Calibri"/>
              </a:rPr>
              <a:t>Close the DPA, transfer assessment and zero-retention controls before using real data.</a:t>
            </a:r>
            <a:endParaRPr sz="2600"/>
          </a:p>
        </p:txBody>
      </p:sp>
      <p:sp>
        <p:nvSpPr>
          <p:cNvPr id="17" name="Meta"/>
          <p:cNvSpPr txBox="1"/>
          <p:nvPr/>
        </p:nvSpPr>
        <p:spPr>
          <a:xfrm>
            <a:off x="1060704" y="1857465"/>
            <a:ext cx="1920240" cy="530352"/>
          </a:xfrm>
          <a:prstGeom prst="rect">
            <a:avLst/>
          </a:prstGeom>
          <a:noFill/>
        </p:spPr>
        <p:txBody>
          <a:bodyPr wrap="square" lIns="0" tIns="0" rIns="0" bIns="0" anchor="ctr">
            <a:spAutoFit/>
          </a:bodyPr>
          <a:lstStyle/>
          <a:p>
            <a:pPr algn="l"/>
            <a:r>
              <a:rPr sz="2400" b="1">
                <a:solidFill>
                  <a:srgbClr val="0E6E67"/>
                </a:solidFill>
                <a:latin typeface="Calibri"/>
              </a:rPr>
              <a:t>AI Act:</a:t>
            </a:r>
          </a:p>
        </p:txBody>
      </p:sp>
      <p:sp>
        <p:nvSpPr>
          <p:cNvPr id="18" name="Meta"/>
          <p:cNvSpPr txBox="1"/>
          <p:nvPr/>
        </p:nvSpPr>
        <p:spPr>
          <a:xfrm>
            <a:off x="1060704" y="3940511"/>
            <a:ext cx="1920240" cy="369332"/>
          </a:xfrm>
          <a:prstGeom prst="rect">
            <a:avLst/>
          </a:prstGeom>
          <a:noFill/>
        </p:spPr>
        <p:txBody>
          <a:bodyPr wrap="square" lIns="0" tIns="0" rIns="0" bIns="0" anchor="ctr">
            <a:spAutoFit/>
          </a:bodyPr>
          <a:lstStyle/>
          <a:p>
            <a:pPr algn="l"/>
            <a:r>
              <a:rPr lang="en-US" sz="2400" b="1">
                <a:solidFill>
                  <a:srgbClr val="B0341F"/>
                </a:solidFill>
                <a:latin typeface="Calibri"/>
              </a:rPr>
              <a:t>GDPR:</a:t>
            </a:r>
          </a:p>
        </p:txBody>
      </p:sp>
      <p:sp>
        <p:nvSpPr>
          <p:cNvPr id="19" name="Rectangle 18"/>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5047684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6" name="Band"/>
          <p:cNvSpPr/>
          <p:nvPr/>
        </p:nvSpPr>
        <p:spPr>
          <a:xfrm>
            <a:off x="822960" y="4224528"/>
            <a:ext cx="68580" cy="877824"/>
          </a:xfrm>
          <a:prstGeom prst="rect">
            <a:avLst/>
          </a:prstGeom>
          <a:solidFill>
            <a:srgbClr val="84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and"/>
          <p:cNvSpPr/>
          <p:nvPr/>
        </p:nvSpPr>
        <p:spPr>
          <a:xfrm>
            <a:off x="822960" y="4224528"/>
            <a:ext cx="10543032" cy="877824"/>
          </a:xfrm>
          <a:prstGeom prst="rect">
            <a:avLst/>
          </a:prstGeom>
          <a:solidFill>
            <a:srgbClr val="F3E4E0"/>
          </a:solidFill>
          <a:ln w="15875">
            <a:solidFill>
              <a:srgbClr val="D3DB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Band"/>
          <p:cNvSpPr/>
          <p:nvPr/>
        </p:nvSpPr>
        <p:spPr>
          <a:xfrm>
            <a:off x="822960" y="3255264"/>
            <a:ext cx="68580" cy="877824"/>
          </a:xfrm>
          <a:prstGeom prst="rect">
            <a:avLst/>
          </a:prstGeom>
          <a:solidFill>
            <a:srgbClr val="0E6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Band"/>
          <p:cNvSpPr/>
          <p:nvPr/>
        </p:nvSpPr>
        <p:spPr>
          <a:xfrm>
            <a:off x="822960" y="3255264"/>
            <a:ext cx="10543032" cy="877824"/>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Band"/>
          <p:cNvSpPr/>
          <p:nvPr/>
        </p:nvSpPr>
        <p:spPr>
          <a:xfrm>
            <a:off x="822960" y="2286000"/>
            <a:ext cx="68580" cy="877824"/>
          </a:xfrm>
          <a:prstGeom prst="rect">
            <a:avLst/>
          </a:prstGeom>
          <a:solidFill>
            <a:srgbClr val="0E6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Band"/>
          <p:cNvSpPr/>
          <p:nvPr/>
        </p:nvSpPr>
        <p:spPr>
          <a:xfrm>
            <a:off x="822960" y="2286000"/>
            <a:ext cx="10543032" cy="877824"/>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Band"/>
          <p:cNvSpPr/>
          <p:nvPr/>
        </p:nvSpPr>
        <p:spPr>
          <a:xfrm>
            <a:off x="822960" y="2176272"/>
            <a:ext cx="10543032" cy="18288"/>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0AC23C2F-5DD1-4357-AA70-587A7DE6374B}"/>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1A1A1A"/>
                </a:solidFill>
                <a:latin typeface="Trebuchet MS"/>
                <a:ea typeface="Trebuchet MS"/>
                <a:cs typeface="Trebuchet MS"/>
              </a:rPr>
              <a:t>The programme earns each next step</a:t>
            </a:r>
            <a:endParaRPr sz="3200"/>
          </a:p>
        </p:txBody>
      </p:sp>
      <p:sp>
        <p:nvSpPr>
          <p:cNvPr id="3" name="Shape 1">
            <a:extLst>
              <a:ext uri="{FF2B5EF4-FFF2-40B4-BE49-F238E27FC236}">
                <a16:creationId xmlns:a16="http://schemas.microsoft.com/office/drawing/2014/main" id="{3F6C2007-D7BE-46D2-9445-C55D9392A447}"/>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lang="en-US"/>
          </a:p>
        </p:txBody>
      </p:sp>
      <p:sp>
        <p:nvSpPr>
          <p:cNvPr id="4" name="Shape 2">
            <a:extLst>
              <a:ext uri="{FF2B5EF4-FFF2-40B4-BE49-F238E27FC236}">
                <a16:creationId xmlns:a16="http://schemas.microsoft.com/office/drawing/2014/main" id="{891083A5-37F5-4952-BBAE-2A7B32228296}"/>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DA435F72-37F5-4464-B655-82F9C7FDFF94}"/>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A8FB78A4-8745-434B-AAA7-838895409356}"/>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8</a:t>
            </a:r>
            <a:endParaRPr sz="900"/>
          </a:p>
        </p:txBody>
      </p:sp>
      <p:sp>
        <p:nvSpPr>
          <p:cNvPr id="7" name="Text 5">
            <a:extLst>
              <a:ext uri="{FF2B5EF4-FFF2-40B4-BE49-F238E27FC236}">
                <a16:creationId xmlns:a16="http://schemas.microsoft.com/office/drawing/2014/main" id="{66ADF4B7-39F1-45F5-A0ED-3C53C700F125}"/>
              </a:ext>
            </a:extLst>
          </p:cNvPr>
          <p:cNvSpPr>
            <a:spLocks noGrp="1"/>
          </p:cNvSpPr>
          <p:nvPr/>
        </p:nvSpPr>
        <p:spPr>
          <a:xfrm>
            <a:off x="822960" y="1719072"/>
            <a:ext cx="5486400" cy="402336"/>
          </a:xfrm>
          <a:prstGeom prst="rect">
            <a:avLst/>
          </a:prstGeom>
          <a:noFill/>
        </p:spPr>
        <p:txBody>
          <a:bodyPr wrap="square" lIns="0" tIns="0" rIns="0" bIns="0" anchor="ctr"/>
          <a:lstStyle/>
          <a:p>
            <a:pPr marL="0" indent="0" algn="l">
              <a:buNone/>
            </a:pPr>
            <a:r>
              <a:rPr sz="2400" b="1" spc="100">
                <a:solidFill>
                  <a:srgbClr val="8496A3"/>
                </a:solidFill>
                <a:latin typeface="Calibri"/>
                <a:ea typeface="Calibri"/>
                <a:cs typeface="Calibri"/>
              </a:rPr>
              <a:t>PHASE · WHAT IT BUYS</a:t>
            </a:r>
            <a:endParaRPr sz="2400"/>
          </a:p>
        </p:txBody>
      </p:sp>
      <p:sp>
        <p:nvSpPr>
          <p:cNvPr id="10" name="Text 8">
            <a:extLst>
              <a:ext uri="{FF2B5EF4-FFF2-40B4-BE49-F238E27FC236}">
                <a16:creationId xmlns:a16="http://schemas.microsoft.com/office/drawing/2014/main" id="{11753659-222F-4C71-8118-70BF22934537}"/>
              </a:ext>
            </a:extLst>
          </p:cNvPr>
          <p:cNvSpPr>
            <a:spLocks noGrp="1"/>
          </p:cNvSpPr>
          <p:nvPr/>
        </p:nvSpPr>
        <p:spPr>
          <a:xfrm>
            <a:off x="1060704" y="2286000"/>
            <a:ext cx="5303520" cy="877824"/>
          </a:xfrm>
          <a:prstGeom prst="rect">
            <a:avLst/>
          </a:prstGeom>
          <a:noFill/>
        </p:spPr>
        <p:txBody>
          <a:bodyPr wrap="square" lIns="0" tIns="0" rIns="0" bIns="0" anchor="ctr"/>
          <a:lstStyle/>
          <a:p>
            <a:pPr marL="0" indent="0" algn="l">
              <a:buNone/>
            </a:pPr>
            <a:r>
              <a:rPr sz="3600" b="1">
                <a:solidFill>
                  <a:srgbClr val="0E6E67"/>
                </a:solidFill>
                <a:latin typeface="Calibri"/>
                <a:ea typeface="Calibri"/>
                <a:cs typeface="Calibri"/>
              </a:rPr>
              <a:t>0</a:t>
            </a:r>
            <a:r>
              <a:rPr sz="2400" b="0">
                <a:solidFill>
                  <a:srgbClr val="1A1A1A"/>
                </a:solidFill>
                <a:latin typeface="Calibri"/>
                <a:ea typeface="Calibri"/>
                <a:cs typeface="Calibri"/>
              </a:rPr>
              <a:t> · Ground truth, baselines, legal closure</a:t>
            </a:r>
            <a:endParaRPr sz="2400"/>
          </a:p>
        </p:txBody>
      </p:sp>
      <p:sp>
        <p:nvSpPr>
          <p:cNvPr id="11" name="Text 9">
            <a:extLst>
              <a:ext uri="{FF2B5EF4-FFF2-40B4-BE49-F238E27FC236}">
                <a16:creationId xmlns:a16="http://schemas.microsoft.com/office/drawing/2014/main" id="{81253715-BDEB-4913-B940-E7CF247B6507}"/>
              </a:ext>
            </a:extLst>
          </p:cNvPr>
          <p:cNvSpPr>
            <a:spLocks noGrp="1"/>
          </p:cNvSpPr>
          <p:nvPr/>
        </p:nvSpPr>
        <p:spPr>
          <a:xfrm>
            <a:off x="6492240" y="2286000"/>
            <a:ext cx="4754880" cy="877824"/>
          </a:xfrm>
          <a:prstGeom prst="rect">
            <a:avLst/>
          </a:prstGeom>
          <a:noFill/>
        </p:spPr>
        <p:txBody>
          <a:bodyPr wrap="square" lIns="0" tIns="0" rIns="0" bIns="0" anchor="ctr"/>
          <a:lstStyle/>
          <a:p>
            <a:pPr marL="0" indent="0" algn="l">
              <a:buNone/>
            </a:pPr>
            <a:r>
              <a:rPr sz="2400" b="1">
                <a:solidFill>
                  <a:srgbClr val="0E6E67"/>
                </a:solidFill>
                <a:latin typeface="Calibri"/>
                <a:ea typeface="Calibri"/>
                <a:cs typeface="Calibri"/>
              </a:rPr>
              <a:t>€5,600 · go/no-go on pilot</a:t>
            </a:r>
            <a:endParaRPr sz="2400"/>
          </a:p>
        </p:txBody>
      </p:sp>
      <p:sp>
        <p:nvSpPr>
          <p:cNvPr id="13" name="Text 11">
            <a:extLst>
              <a:ext uri="{FF2B5EF4-FFF2-40B4-BE49-F238E27FC236}">
                <a16:creationId xmlns:a16="http://schemas.microsoft.com/office/drawing/2014/main" id="{926EECE5-3C0D-4D64-95E6-34B2BA0793E1}"/>
              </a:ext>
            </a:extLst>
          </p:cNvPr>
          <p:cNvSpPr>
            <a:spLocks noGrp="1"/>
          </p:cNvSpPr>
          <p:nvPr/>
        </p:nvSpPr>
        <p:spPr>
          <a:xfrm>
            <a:off x="1060704" y="3255264"/>
            <a:ext cx="5303520" cy="877824"/>
          </a:xfrm>
          <a:prstGeom prst="rect">
            <a:avLst/>
          </a:prstGeom>
          <a:noFill/>
        </p:spPr>
        <p:txBody>
          <a:bodyPr wrap="square" lIns="0" tIns="0" rIns="0" bIns="0" anchor="ctr"/>
          <a:lstStyle/>
          <a:p>
            <a:pPr marL="0" indent="0" algn="l">
              <a:buNone/>
            </a:pPr>
            <a:r>
              <a:rPr sz="3600" b="1">
                <a:solidFill>
                  <a:srgbClr val="0E6E67"/>
                </a:solidFill>
                <a:latin typeface="Calibri"/>
                <a:ea typeface="Calibri"/>
                <a:cs typeface="Calibri"/>
              </a:rPr>
              <a:t>1</a:t>
            </a:r>
            <a:r>
              <a:rPr sz="2400" b="0">
                <a:solidFill>
                  <a:srgbClr val="1A1A1A"/>
                </a:solidFill>
                <a:latin typeface="Calibri"/>
                <a:ea typeface="Calibri"/>
                <a:cs typeface="Calibri"/>
              </a:rPr>
              <a:t> · Configuration + 60-day shadow run</a:t>
            </a:r>
            <a:endParaRPr sz="2400"/>
          </a:p>
        </p:txBody>
      </p:sp>
      <p:sp>
        <p:nvSpPr>
          <p:cNvPr id="14" name="Text 12">
            <a:extLst>
              <a:ext uri="{FF2B5EF4-FFF2-40B4-BE49-F238E27FC236}">
                <a16:creationId xmlns:a16="http://schemas.microsoft.com/office/drawing/2014/main" id="{598228BD-E4A1-466E-B72C-BAD12A29F0D6}"/>
              </a:ext>
            </a:extLst>
          </p:cNvPr>
          <p:cNvSpPr>
            <a:spLocks noGrp="1"/>
          </p:cNvSpPr>
          <p:nvPr/>
        </p:nvSpPr>
        <p:spPr>
          <a:xfrm>
            <a:off x="6492240" y="3255264"/>
            <a:ext cx="4754880" cy="877824"/>
          </a:xfrm>
          <a:prstGeom prst="rect">
            <a:avLst/>
          </a:prstGeom>
          <a:noFill/>
        </p:spPr>
        <p:txBody>
          <a:bodyPr wrap="square" lIns="0" tIns="0" rIns="0" bIns="0" anchor="ctr"/>
          <a:lstStyle/>
          <a:p>
            <a:pPr marL="0" indent="0" algn="l">
              <a:buNone/>
            </a:pPr>
            <a:r>
              <a:rPr sz="2400" b="1">
                <a:solidFill>
                  <a:srgbClr val="0E6E67"/>
                </a:solidFill>
                <a:latin typeface="Calibri"/>
                <a:ea typeface="Calibri"/>
                <a:cs typeface="Calibri"/>
              </a:rPr>
              <a:t>€12,600 · go/no-go on deployment</a:t>
            </a:r>
            <a:endParaRPr sz="2400"/>
          </a:p>
        </p:txBody>
      </p:sp>
      <p:sp>
        <p:nvSpPr>
          <p:cNvPr id="16" name="Text 14">
            <a:extLst>
              <a:ext uri="{FF2B5EF4-FFF2-40B4-BE49-F238E27FC236}">
                <a16:creationId xmlns:a16="http://schemas.microsoft.com/office/drawing/2014/main" id="{3C5609FB-D36B-491E-A331-FBBEA9127F41}"/>
              </a:ext>
            </a:extLst>
          </p:cNvPr>
          <p:cNvSpPr>
            <a:spLocks noGrp="1"/>
          </p:cNvSpPr>
          <p:nvPr/>
        </p:nvSpPr>
        <p:spPr>
          <a:xfrm>
            <a:off x="1060704" y="4224528"/>
            <a:ext cx="5303520" cy="877824"/>
          </a:xfrm>
          <a:prstGeom prst="rect">
            <a:avLst/>
          </a:prstGeom>
          <a:noFill/>
        </p:spPr>
        <p:txBody>
          <a:bodyPr wrap="square" lIns="0" tIns="0" rIns="0" bIns="0" anchor="ctr"/>
          <a:lstStyle/>
          <a:p>
            <a:pPr marL="0" indent="0" algn="l">
              <a:buNone/>
            </a:pPr>
            <a:r>
              <a:rPr lang="en-US" sz="3600" b="1">
                <a:solidFill>
                  <a:srgbClr val="B0341F"/>
                </a:solidFill>
                <a:latin typeface="Calibri"/>
                <a:ea typeface="Calibri"/>
                <a:cs typeface="Calibri"/>
              </a:rPr>
              <a:t>2</a:t>
            </a:r>
            <a:r>
              <a:rPr lang="en-US" sz="2400" b="0">
                <a:solidFill>
                  <a:srgbClr val="1A1A1A"/>
                </a:solidFill>
                <a:latin typeface="Calibri"/>
                <a:ea typeface="Calibri"/>
                <a:cs typeface="Calibri"/>
              </a:rPr>
              <a:t> · Integration, training and handover</a:t>
            </a:r>
            <a:endParaRPr sz="2400"/>
          </a:p>
        </p:txBody>
      </p:sp>
      <p:sp>
        <p:nvSpPr>
          <p:cNvPr id="17" name="Text 15">
            <a:extLst>
              <a:ext uri="{FF2B5EF4-FFF2-40B4-BE49-F238E27FC236}">
                <a16:creationId xmlns:a16="http://schemas.microsoft.com/office/drawing/2014/main" id="{0364A474-D0DB-40F4-96D9-F098C96FE46C}"/>
              </a:ext>
            </a:extLst>
          </p:cNvPr>
          <p:cNvSpPr>
            <a:spLocks noGrp="1"/>
          </p:cNvSpPr>
          <p:nvPr/>
        </p:nvSpPr>
        <p:spPr>
          <a:xfrm>
            <a:off x="6492240" y="4224528"/>
            <a:ext cx="4754880" cy="877824"/>
          </a:xfrm>
          <a:prstGeom prst="rect">
            <a:avLst/>
          </a:prstGeom>
          <a:noFill/>
        </p:spPr>
        <p:txBody>
          <a:bodyPr wrap="square" lIns="0" tIns="0" rIns="0" bIns="0" anchor="ctr"/>
          <a:lstStyle/>
          <a:p>
            <a:pPr marL="0" indent="0" algn="l">
              <a:buNone/>
            </a:pPr>
            <a:r>
              <a:rPr lang="en-US" sz="2400" b="1">
                <a:solidFill>
                  <a:srgbClr val="B0341F"/>
                </a:solidFill>
                <a:latin typeface="Calibri"/>
                <a:ea typeface="Calibri"/>
                <a:cs typeface="Calibri"/>
              </a:rPr>
              <a:t>€14,000 · only if gates pass</a:t>
            </a:r>
            <a:endParaRPr sz="2400"/>
          </a:p>
        </p:txBody>
      </p:sp>
      <p:sp>
        <p:nvSpPr>
          <p:cNvPr id="18" name="Text 16">
            <a:extLst>
              <a:ext uri="{FF2B5EF4-FFF2-40B4-BE49-F238E27FC236}">
                <a16:creationId xmlns:a16="http://schemas.microsoft.com/office/drawing/2014/main" id="{9FE2B717-5068-4870-9CBA-3151C865FE72}"/>
              </a:ext>
            </a:extLst>
          </p:cNvPr>
          <p:cNvSpPr>
            <a:spLocks noGrp="1"/>
          </p:cNvSpPr>
          <p:nvPr/>
        </p:nvSpPr>
        <p:spPr>
          <a:xfrm>
            <a:off x="822960" y="5358384"/>
            <a:ext cx="10543032" cy="457200"/>
          </a:xfrm>
          <a:prstGeom prst="rect">
            <a:avLst/>
          </a:prstGeom>
          <a:noFill/>
        </p:spPr>
        <p:txBody>
          <a:bodyPr wrap="square" lIns="0" tIns="0" rIns="0" bIns="0" anchor="ctr"/>
          <a:lstStyle/>
          <a:p>
            <a:pPr marL="0" indent="0" algn="l">
              <a:buNone/>
            </a:pPr>
            <a:r>
              <a:rPr sz="2400" b="0">
                <a:solidFill>
                  <a:srgbClr val="1A1A1A"/>
                </a:solidFill>
                <a:latin typeface="Calibri"/>
                <a:ea typeface="Calibri"/>
                <a:cs typeface="Calibri"/>
              </a:rPr>
              <a:t>€18,200 reaches the deployment decision. Nobody acts on a suggestion in shadow.</a:t>
            </a:r>
            <a:endParaRPr sz="2400"/>
          </a:p>
        </p:txBody>
      </p:sp>
      <p:sp>
        <p:nvSpPr>
          <p:cNvPr id="19" name="Text 17">
            <a:extLst>
              <a:ext uri="{FF2B5EF4-FFF2-40B4-BE49-F238E27FC236}">
                <a16:creationId xmlns:a16="http://schemas.microsoft.com/office/drawing/2014/main" id="{2B05168D-C2C7-40C4-8D32-DD4EA667F053}"/>
              </a:ext>
            </a:extLst>
          </p:cNvPr>
          <p:cNvSpPr>
            <a:spLocks noGrp="1"/>
          </p:cNvSpPr>
          <p:nvPr/>
        </p:nvSpPr>
        <p:spPr>
          <a:xfrm>
            <a:off x="822960" y="5815584"/>
            <a:ext cx="10543032" cy="457200"/>
          </a:xfrm>
          <a:prstGeom prst="rect">
            <a:avLst/>
          </a:prstGeom>
          <a:noFill/>
        </p:spPr>
        <p:txBody>
          <a:bodyPr wrap="square" lIns="0" tIns="0" rIns="0" bIns="0" anchor="ctr"/>
          <a:lstStyle/>
          <a:p>
            <a:pPr marL="0" indent="0" algn="l">
              <a:buNone/>
            </a:pPr>
            <a:r>
              <a:rPr sz="2400" b="0">
                <a:solidFill>
                  <a:srgbClr val="4B5C69"/>
                </a:solidFill>
                <a:latin typeface="Calibri"/>
                <a:ea typeface="Calibri"/>
                <a:cs typeface="Calibri"/>
              </a:rPr>
              <a:t>Hard gates: ≥80% accuracy · 75–97% acceptance · zero ungrounded outputs.</a:t>
            </a:r>
            <a:endParaRPr sz="2400"/>
          </a:p>
        </p:txBody>
      </p:sp>
      <p:sp>
        <p:nvSpPr>
          <p:cNvPr id="8" name="Text 6">
            <a:extLst>
              <a:ext uri="{FF2B5EF4-FFF2-40B4-BE49-F238E27FC236}">
                <a16:creationId xmlns:a16="http://schemas.microsoft.com/office/drawing/2014/main" id="{66ADF4B7-39F1-45F5-A0ED-3C53C700F125}"/>
              </a:ext>
            </a:extLst>
          </p:cNvPr>
          <p:cNvSpPr>
            <a:spLocks noGrp="1"/>
          </p:cNvSpPr>
          <p:nvPr/>
        </p:nvSpPr>
        <p:spPr>
          <a:xfrm>
            <a:off x="6492240" y="1719072"/>
            <a:ext cx="4873752" cy="402336"/>
          </a:xfrm>
          <a:prstGeom prst="rect">
            <a:avLst/>
          </a:prstGeom>
          <a:noFill/>
        </p:spPr>
        <p:txBody>
          <a:bodyPr wrap="square" lIns="0" tIns="0" rIns="0" bIns="0" anchor="ctr"/>
          <a:lstStyle/>
          <a:p>
            <a:pPr marL="0" indent="0" algn="l">
              <a:buNone/>
            </a:pPr>
            <a:r>
              <a:rPr sz="2400" b="1" spc="100">
                <a:solidFill>
                  <a:srgbClr val="8496A3"/>
                </a:solidFill>
                <a:latin typeface="Calibri"/>
                <a:ea typeface="Calibri"/>
                <a:cs typeface="Calibri"/>
              </a:rPr>
              <a:t>FEE · EXIT</a:t>
            </a:r>
            <a:endParaRPr sz="2400"/>
          </a:p>
        </p:txBody>
      </p:sp>
      <p:sp>
        <p:nvSpPr>
          <p:cNvPr id="27" name="Rectangle 26"/>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913816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08563F3-AA93-4360-A229-BE6CC75D800C}"/>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1A1A1A"/>
                </a:solidFill>
                <a:latin typeface="Trebuchet MS"/>
                <a:ea typeface="Trebuchet MS"/>
                <a:cs typeface="Trebuchet MS"/>
              </a:rPr>
              <a:t>The MVP makes every proposal accountable</a:t>
            </a:r>
            <a:endParaRPr sz="3200"/>
          </a:p>
        </p:txBody>
      </p:sp>
      <p:sp>
        <p:nvSpPr>
          <p:cNvPr id="3" name="Shape 1">
            <a:extLst>
              <a:ext uri="{FF2B5EF4-FFF2-40B4-BE49-F238E27FC236}">
                <a16:creationId xmlns:a16="http://schemas.microsoft.com/office/drawing/2014/main" id="{64B79335-1158-4015-89BD-D52A1020F851}"/>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lang="en-US"/>
          </a:p>
        </p:txBody>
      </p:sp>
      <p:sp>
        <p:nvSpPr>
          <p:cNvPr id="4" name="Shape 2">
            <a:extLst>
              <a:ext uri="{FF2B5EF4-FFF2-40B4-BE49-F238E27FC236}">
                <a16:creationId xmlns:a16="http://schemas.microsoft.com/office/drawing/2014/main" id="{2283EF32-1CED-4A83-9177-95F4E178BB6A}"/>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18321AA6-144B-485E-A342-12869C04B26E}"/>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87A61F7A-A481-43D7-AB54-290F77813C44}"/>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9</a:t>
            </a:r>
            <a:endParaRPr sz="900"/>
          </a:p>
        </p:txBody>
      </p:sp>
      <p:sp>
        <p:nvSpPr>
          <p:cNvPr id="7" name="Text 5">
            <a:extLst>
              <a:ext uri="{FF2B5EF4-FFF2-40B4-BE49-F238E27FC236}">
                <a16:creationId xmlns:a16="http://schemas.microsoft.com/office/drawing/2014/main" id="{842C3A54-294F-4FBD-9DBE-78508C4AEDC0}"/>
              </a:ext>
            </a:extLst>
          </p:cNvPr>
          <p:cNvSpPr>
            <a:spLocks noGrp="1"/>
          </p:cNvSpPr>
          <p:nvPr/>
        </p:nvSpPr>
        <p:spPr>
          <a:xfrm>
            <a:off x="822960" y="2926080"/>
            <a:ext cx="3246120" cy="2194560"/>
          </a:xfrm>
          <a:prstGeom prst="rect">
            <a:avLst/>
          </a:prstGeom>
          <a:noFill/>
        </p:spPr>
        <p:txBody>
          <a:bodyPr wrap="square" lIns="0" tIns="0" rIns="0" bIns="0" anchor="ctr"/>
          <a:lstStyle/>
          <a:p>
            <a:pPr marL="0" indent="0">
              <a:buNone/>
            </a:pPr>
            <a:r>
              <a:rPr lang="en-US" sz="2400" b="1">
                <a:solidFill>
                  <a:srgbClr val="0E6E67"/>
                </a:solidFill>
                <a:latin typeface="Calibri"/>
                <a:ea typeface="Calibri"/>
                <a:cs typeface="Calibri"/>
              </a:rPr>
              <a:t>One record</a:t>
            </a:r>
            <a:r>
              <a:rPr lang="en-US" sz="2400" b="0">
                <a:solidFill>
                  <a:srgbClr val="1A1A1A"/>
                </a:solidFill>
                <a:latin typeface="Calibri"/>
              </a:rPr>
              <a:t> connects the proposal, its evidence, every check and the human decision.</a:t>
            </a:r>
            <a:endParaRPr sz="2400"/>
          </a:p>
        </p:txBody>
      </p:sp>
      <p:pic>
        <p:nvPicPr>
          <p:cNvPr id="15" name="Image 0" descr="The MVP's complaint queue with one case open: the proposal, the sentence it quoted, the six checks it passed, and the buttons a person presses."/>
          <p:cNvPicPr>
            <a:picLocks noChangeAspect="1"/>
          </p:cNvPicPr>
          <p:nvPr/>
        </p:nvPicPr>
        <p:blipFill>
          <a:blip r:embed="rId3"/>
          <a:stretch>
            <a:fillRect/>
          </a:stretch>
        </p:blipFill>
        <p:spPr>
          <a:xfrm>
            <a:off x="4241190" y="1719072"/>
            <a:ext cx="6824676" cy="4572000"/>
          </a:xfrm>
          <a:prstGeom prst="rect">
            <a:avLst/>
          </a:prstGeom>
        </p:spPr>
      </p:pic>
      <p:sp>
        <p:nvSpPr>
          <p:cNvPr id="16" name="Frame"/>
          <p:cNvSpPr/>
          <p:nvPr/>
        </p:nvSpPr>
        <p:spPr>
          <a:xfrm>
            <a:off x="4160520" y="1719072"/>
            <a:ext cx="6986016" cy="4572000"/>
          </a:xfrm>
          <a:prstGeom prst="rect">
            <a:avLst/>
          </a:prstGeom>
          <a:noFill/>
          <a:ln w="12700">
            <a:solidFill>
              <a:srgbClr val="D4D0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8058890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10" name="Hair"/>
          <p:cNvSpPr/>
          <p:nvPr/>
        </p:nvSpPr>
        <p:spPr>
          <a:xfrm>
            <a:off x="822960" y="5020056"/>
            <a:ext cx="10543032" cy="10972"/>
          </a:xfrm>
          <a:prstGeom prst="rect">
            <a:avLst/>
          </a:prstGeom>
          <a:solidFill>
            <a:srgbClr val="3A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Hair"/>
          <p:cNvSpPr/>
          <p:nvPr/>
        </p:nvSpPr>
        <p:spPr>
          <a:xfrm>
            <a:off x="822960" y="4224528"/>
            <a:ext cx="10543032" cy="10972"/>
          </a:xfrm>
          <a:prstGeom prst="rect">
            <a:avLst/>
          </a:prstGeom>
          <a:solidFill>
            <a:srgbClr val="3A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92082A7A-D470-4541-9653-8504AF17D79C}"/>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FFFFFF"/>
                </a:solidFill>
                <a:latin typeface="Trebuchet MS"/>
                <a:ea typeface="Trebuchet MS"/>
                <a:cs typeface="Trebuchet MS"/>
              </a:rPr>
              <a:t>Proceed to evidence — not deployment</a:t>
            </a:r>
            <a:endParaRPr sz="3200"/>
          </a:p>
        </p:txBody>
      </p:sp>
      <p:sp>
        <p:nvSpPr>
          <p:cNvPr id="3" name="Shape 1">
            <a:extLst>
              <a:ext uri="{FF2B5EF4-FFF2-40B4-BE49-F238E27FC236}">
                <a16:creationId xmlns:a16="http://schemas.microsoft.com/office/drawing/2014/main" id="{A295E4E7-16BB-4672-AD37-EE192B3004B9}"/>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lang="en-US"/>
          </a:p>
        </p:txBody>
      </p:sp>
      <p:sp>
        <p:nvSpPr>
          <p:cNvPr id="4" name="Text 2">
            <a:extLst>
              <a:ext uri="{FF2B5EF4-FFF2-40B4-BE49-F238E27FC236}">
                <a16:creationId xmlns:a16="http://schemas.microsoft.com/office/drawing/2014/main" id="{DE2DC152-AFDB-4320-BC33-AAC8560120B4}"/>
              </a:ext>
            </a:extLst>
          </p:cNvPr>
          <p:cNvSpPr>
            <a:spLocks noGrp="1"/>
          </p:cNvSpPr>
          <p:nvPr/>
        </p:nvSpPr>
        <p:spPr>
          <a:xfrm>
            <a:off x="822960" y="1920240"/>
            <a:ext cx="10545775" cy="914400"/>
          </a:xfrm>
          <a:prstGeom prst="rect">
            <a:avLst/>
          </a:prstGeom>
          <a:noFill/>
        </p:spPr>
        <p:txBody>
          <a:bodyPr wrap="square" lIns="0" tIns="0" rIns="0" bIns="0" anchor="ctr"/>
          <a:lstStyle/>
          <a:p>
            <a:pPr marL="0" indent="0">
              <a:buNone/>
            </a:pPr>
            <a:r>
              <a:rPr sz="2800" b="1">
                <a:solidFill>
                  <a:srgbClr val="FFFFFF"/>
                </a:solidFill>
                <a:latin typeface="Trebuchet MS"/>
                <a:ea typeface="Trebuchet MS"/>
                <a:cs typeface="Trebuchet MS"/>
              </a:rPr>
              <a:t>Approve </a:t>
            </a:r>
            <a:r>
              <a:rPr lang="en-US" sz="2800" b="1">
                <a:solidFill>
                  <a:srgbClr val="B0341F"/>
                </a:solidFill>
                <a:latin typeface="Trebuchet MS"/>
              </a:rPr>
              <a:t>Phases 0 and 1 up to </a:t>
            </a:r>
            <a:r>
              <a:rPr lang="en-US" sz="4600" b="1">
                <a:solidFill>
                  <a:srgbClr val="FFFFFF"/>
                </a:solidFill>
                <a:latin typeface="Trebuchet MS"/>
              </a:rPr>
              <a:t>€18,200.</a:t>
            </a:r>
            <a:endParaRPr sz="3000"/>
          </a:p>
        </p:txBody>
      </p:sp>
      <p:sp>
        <p:nvSpPr>
          <p:cNvPr id="5" name="Text 3">
            <a:extLst>
              <a:ext uri="{FF2B5EF4-FFF2-40B4-BE49-F238E27FC236}">
                <a16:creationId xmlns:a16="http://schemas.microsoft.com/office/drawing/2014/main" id="{9B48E321-1EA7-48E3-98FB-227D8FC87C61}"/>
              </a:ext>
            </a:extLst>
          </p:cNvPr>
          <p:cNvSpPr>
            <a:spLocks noGrp="1"/>
          </p:cNvSpPr>
          <p:nvPr/>
        </p:nvSpPr>
        <p:spPr>
          <a:xfrm>
            <a:off x="822960" y="3429000"/>
            <a:ext cx="10545775" cy="2377440"/>
          </a:xfrm>
          <a:prstGeom prst="rect">
            <a:avLst/>
          </a:prstGeom>
          <a:noFill/>
        </p:spPr>
        <p:txBody>
          <a:bodyPr wrap="square" lIns="0" tIns="0" rIns="0" bIns="0" anchor="ctr"/>
          <a:lstStyle/>
          <a:p>
            <a:pPr marL="0" indent="0">
              <a:lnSpc>
                <a:spcPct val="150000"/>
              </a:lnSpc>
              <a:spcAft>
                <a:spcPts val="1600"/>
              </a:spcAft>
              <a:buNone/>
            </a:pPr>
            <a:r>
              <a:rPr sz="2600">
                <a:solidFill>
                  <a:srgbClr val="A8A8A8"/>
                </a:solidFill>
                <a:latin typeface="Calibri"/>
                <a:ea typeface="Calibri"/>
                <a:cs typeface="Calibri"/>
              </a:rPr>
              <a:t>Close the legal and data-transfer gates before real-data processing.</a:t>
            </a:r>
            <a:endParaRPr sz="2600"/>
          </a:p>
          <a:p>
            <a:pPr marL="0" indent="0">
              <a:lnSpc>
                <a:spcPct val="150000"/>
              </a:lnSpc>
              <a:spcAft>
                <a:spcPts val="1600"/>
              </a:spcAft>
              <a:buNone/>
            </a:pPr>
            <a:r>
              <a:rPr sz="2600">
                <a:solidFill>
                  <a:srgbClr val="A8A8A8"/>
                </a:solidFill>
                <a:latin typeface="Calibri"/>
                <a:ea typeface="Calibri"/>
                <a:cs typeface="Calibri"/>
              </a:rPr>
              <a:t>Retain fixed phase exits and the stated pilot thresholds.</a:t>
            </a:r>
            <a:endParaRPr sz="2600"/>
          </a:p>
          <a:p>
            <a:pPr marL="0" indent="0">
              <a:lnSpc>
                <a:spcPct val="150000"/>
              </a:lnSpc>
              <a:spcAft>
                <a:spcPts val="1600"/>
              </a:spcAft>
              <a:buNone/>
            </a:pPr>
            <a:r>
              <a:rPr sz="2600">
                <a:solidFill>
                  <a:srgbClr val="A8A8A8"/>
                </a:solidFill>
                <a:latin typeface="Calibri"/>
                <a:ea typeface="Calibri"/>
                <a:cs typeface="Calibri"/>
              </a:rPr>
              <a:t>Do not fund the €14,000 deployment phase unless the evidence and commercial structure support it.</a:t>
            </a:r>
            <a:endParaRPr sz="2600"/>
          </a:p>
        </p:txBody>
      </p:sp>
      <p:sp>
        <p:nvSpPr>
          <p:cNvPr id="6" name="Shape 4">
            <a:extLst>
              <a:ext uri="{FF2B5EF4-FFF2-40B4-BE49-F238E27FC236}">
                <a16:creationId xmlns:a16="http://schemas.microsoft.com/office/drawing/2014/main" id="{87E9177B-F80B-46DB-835F-EEA7C866D855}"/>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7" name="Text 5">
            <a:extLst>
              <a:ext uri="{FF2B5EF4-FFF2-40B4-BE49-F238E27FC236}">
                <a16:creationId xmlns:a16="http://schemas.microsoft.com/office/drawing/2014/main" id="{6A9318B9-E498-469E-B475-33D03E088467}"/>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8" name="Text 6">
            <a:extLst>
              <a:ext uri="{FF2B5EF4-FFF2-40B4-BE49-F238E27FC236}">
                <a16:creationId xmlns:a16="http://schemas.microsoft.com/office/drawing/2014/main" id="{1B3D8D35-8CA0-4666-ABB0-450C52E9D0EC}"/>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10</a:t>
            </a:r>
            <a:endParaRPr sz="900"/>
          </a:p>
        </p:txBody>
      </p:sp>
      <p:sp>
        <p:nvSpPr>
          <p:cNvPr id="11" name="Rectangle 10"/>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432488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5" name="Band"/>
          <p:cNvSpPr/>
          <p:nvPr/>
        </p:nvSpPr>
        <p:spPr>
          <a:xfrm>
            <a:off x="822960" y="2249424"/>
            <a:ext cx="10543032" cy="18288"/>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Band"/>
          <p:cNvSpPr/>
          <p:nvPr/>
        </p:nvSpPr>
        <p:spPr>
          <a:xfrm>
            <a:off x="822960" y="3968496"/>
            <a:ext cx="10543032" cy="786384"/>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Band"/>
          <p:cNvSpPr/>
          <p:nvPr/>
        </p:nvSpPr>
        <p:spPr>
          <a:xfrm>
            <a:off x="822960" y="2359152"/>
            <a:ext cx="10543032" cy="786384"/>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Band"/>
          <p:cNvSpPr/>
          <p:nvPr/>
        </p:nvSpPr>
        <p:spPr>
          <a:xfrm>
            <a:off x="822960" y="1700784"/>
            <a:ext cx="10543032" cy="54864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78422AB6-69AB-4E2D-A86A-F00D8B7FB6DE}"/>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1A1A1A"/>
                </a:solidFill>
                <a:latin typeface="Trebuchet MS"/>
                <a:ea typeface="Trebuchet MS"/>
                <a:cs typeface="Trebuchet MS"/>
              </a:rPr>
              <a:t>The POC has not yet proved client performance</a:t>
            </a:r>
            <a:endParaRPr sz="3200"/>
          </a:p>
        </p:txBody>
      </p:sp>
      <p:sp>
        <p:nvSpPr>
          <p:cNvPr id="3" name="Shape 1">
            <a:extLst>
              <a:ext uri="{FF2B5EF4-FFF2-40B4-BE49-F238E27FC236}">
                <a16:creationId xmlns:a16="http://schemas.microsoft.com/office/drawing/2014/main" id="{C6752D99-6392-427D-BD31-4522D9E17AC3}"/>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lang="en-US"/>
          </a:p>
        </p:txBody>
      </p:sp>
      <p:sp>
        <p:nvSpPr>
          <p:cNvPr id="4" name="Shape 2">
            <a:extLst>
              <a:ext uri="{FF2B5EF4-FFF2-40B4-BE49-F238E27FC236}">
                <a16:creationId xmlns:a16="http://schemas.microsoft.com/office/drawing/2014/main" id="{78909DCB-12F8-4F1C-8906-A536B0DEB644}"/>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47A30F48-AD83-4DC0-9256-7FD2FD48A98F}"/>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D5E9AACA-7F44-468B-84BD-58BBB4CA8B49}"/>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11</a:t>
            </a:r>
            <a:endParaRPr sz="900"/>
          </a:p>
        </p:txBody>
      </p:sp>
      <p:sp>
        <p:nvSpPr>
          <p:cNvPr id="7" name="Text 5">
            <a:extLst>
              <a:ext uri="{FF2B5EF4-FFF2-40B4-BE49-F238E27FC236}">
                <a16:creationId xmlns:a16="http://schemas.microsoft.com/office/drawing/2014/main" id="{D04DB212-D7C1-40FB-BAA0-42A391891DD5}"/>
              </a:ext>
            </a:extLst>
          </p:cNvPr>
          <p:cNvSpPr>
            <a:spLocks noGrp="1"/>
          </p:cNvSpPr>
          <p:nvPr/>
        </p:nvSpPr>
        <p:spPr>
          <a:xfrm>
            <a:off x="822960" y="1773936"/>
            <a:ext cx="6766560" cy="402336"/>
          </a:xfrm>
          <a:prstGeom prst="rect">
            <a:avLst/>
          </a:prstGeom>
          <a:noFill/>
        </p:spPr>
        <p:txBody>
          <a:bodyPr wrap="square" lIns="0" tIns="0" rIns="0" bIns="0" anchor="ctr"/>
          <a:lstStyle/>
          <a:p>
            <a:pPr marL="0" indent="0">
              <a:buNone/>
            </a:pPr>
            <a:r>
              <a:rPr sz="2400" b="1" spc="100">
                <a:solidFill>
                  <a:srgbClr val="B0341F"/>
                </a:solidFill>
                <a:latin typeface="Calibri"/>
                <a:ea typeface="Calibri"/>
                <a:cs typeface="Calibri"/>
              </a:rPr>
              <a:t>MEASURE</a:t>
            </a:r>
            <a:endParaRPr sz="2400"/>
          </a:p>
        </p:txBody>
      </p:sp>
      <p:sp>
        <p:nvSpPr>
          <p:cNvPr id="8" name="Text 6">
            <a:extLst>
              <a:ext uri="{FF2B5EF4-FFF2-40B4-BE49-F238E27FC236}">
                <a16:creationId xmlns:a16="http://schemas.microsoft.com/office/drawing/2014/main" id="{CAA9D526-2D34-4925-94E6-4BF2F62F0C24}"/>
              </a:ext>
            </a:extLst>
          </p:cNvPr>
          <p:cNvSpPr>
            <a:spLocks noGrp="1"/>
          </p:cNvSpPr>
          <p:nvPr/>
        </p:nvSpPr>
        <p:spPr>
          <a:xfrm>
            <a:off x="7772400" y="1773936"/>
            <a:ext cx="3593592" cy="402336"/>
          </a:xfrm>
          <a:prstGeom prst="rect">
            <a:avLst/>
          </a:prstGeom>
          <a:noFill/>
        </p:spPr>
        <p:txBody>
          <a:bodyPr wrap="square" lIns="0" tIns="0" rIns="0" bIns="0" anchor="ctr"/>
          <a:lstStyle/>
          <a:p>
            <a:pPr marL="0" indent="0" algn="r">
              <a:buNone/>
            </a:pPr>
            <a:r>
              <a:rPr sz="2400" b="1" spc="100">
                <a:solidFill>
                  <a:srgbClr val="B0341F"/>
                </a:solidFill>
                <a:latin typeface="Calibri"/>
                <a:ea typeface="Calibri"/>
                <a:cs typeface="Calibri"/>
              </a:rPr>
              <a:t>RESULT</a:t>
            </a:r>
            <a:endParaRPr sz="2400"/>
          </a:p>
        </p:txBody>
      </p:sp>
      <p:sp>
        <p:nvSpPr>
          <p:cNvPr id="9" name="Shape 7">
            <a:extLst>
              <a:ext uri="{FF2B5EF4-FFF2-40B4-BE49-F238E27FC236}">
                <a16:creationId xmlns:a16="http://schemas.microsoft.com/office/drawing/2014/main" id="{FEDC68E5-AC3A-4C6D-8082-8F6AC44C8802}"/>
              </a:ext>
            </a:extLst>
          </p:cNvPr>
          <p:cNvSpPr>
            <a:spLocks noGrp="1"/>
          </p:cNvSpPr>
          <p:nvPr/>
        </p:nvSpPr>
        <p:spPr>
          <a:xfrm>
            <a:off x="822960" y="2249424"/>
            <a:ext cx="10545775" cy="0"/>
          </a:xfrm>
          <a:prstGeom prst="line">
            <a:avLst/>
          </a:prstGeom>
          <a:noFill/>
          <a:ln w="12700">
            <a:solidFill>
              <a:srgbClr val="1A1A1A"/>
            </a:solidFill>
            <a:prstDash val="solid"/>
          </a:ln>
        </p:spPr>
        <p:txBody>
          <a:bodyPr/>
          <a:lstStyle/>
          <a:p>
            <a:endParaRPr lang="en-US"/>
          </a:p>
        </p:txBody>
      </p:sp>
      <p:sp>
        <p:nvSpPr>
          <p:cNvPr id="10" name="Text 8">
            <a:extLst>
              <a:ext uri="{FF2B5EF4-FFF2-40B4-BE49-F238E27FC236}">
                <a16:creationId xmlns:a16="http://schemas.microsoft.com/office/drawing/2014/main" id="{9D62BC10-5949-40EC-9751-7931C8CBA186}"/>
              </a:ext>
            </a:extLst>
          </p:cNvPr>
          <p:cNvSpPr>
            <a:spLocks noGrp="1"/>
          </p:cNvSpPr>
          <p:nvPr/>
        </p:nvSpPr>
        <p:spPr>
          <a:xfrm>
            <a:off x="822960" y="2377440"/>
            <a:ext cx="6766560" cy="749808"/>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Complainant labels · gpt-4o-mini (deployed) / gpt-4o</a:t>
            </a:r>
            <a:endParaRPr sz="2400"/>
          </a:p>
        </p:txBody>
      </p:sp>
      <p:sp>
        <p:nvSpPr>
          <p:cNvPr id="11" name="Text 9">
            <a:extLst>
              <a:ext uri="{FF2B5EF4-FFF2-40B4-BE49-F238E27FC236}">
                <a16:creationId xmlns:a16="http://schemas.microsoft.com/office/drawing/2014/main" id="{6D73736A-612D-46BC-9C3E-A018D495686B}"/>
              </a:ext>
            </a:extLst>
          </p:cNvPr>
          <p:cNvSpPr>
            <a:spLocks noGrp="1"/>
          </p:cNvSpPr>
          <p:nvPr/>
        </p:nvSpPr>
        <p:spPr>
          <a:xfrm>
            <a:off x="7772400" y="2377440"/>
            <a:ext cx="3593592" cy="749808"/>
          </a:xfrm>
          <a:prstGeom prst="rect">
            <a:avLst/>
          </a:prstGeom>
          <a:noFill/>
        </p:spPr>
        <p:txBody>
          <a:bodyPr wrap="square" lIns="0" tIns="0" rIns="0" bIns="0" anchor="ctr"/>
          <a:lstStyle/>
          <a:p>
            <a:pPr marL="0" indent="0" algn="r">
              <a:buNone/>
            </a:pPr>
            <a:r>
              <a:rPr lang="en-US" sz="3000" b="1">
                <a:solidFill>
                  <a:srgbClr val="0E6E67"/>
                </a:solidFill>
                <a:latin typeface="Calibri"/>
                <a:ea typeface="Calibri"/>
                <a:cs typeface="Calibri"/>
              </a:rPr>
              <a:t>56.8% / 60.5%</a:t>
            </a:r>
            <a:endParaRPr sz="2400"/>
          </a:p>
        </p:txBody>
      </p:sp>
      <p:sp>
        <p:nvSpPr>
          <p:cNvPr id="13" name="Text 11">
            <a:extLst>
              <a:ext uri="{FF2B5EF4-FFF2-40B4-BE49-F238E27FC236}">
                <a16:creationId xmlns:a16="http://schemas.microsoft.com/office/drawing/2014/main" id="{DB2D7215-A526-4FCA-8EC4-2DDE373820D6}"/>
              </a:ext>
            </a:extLst>
          </p:cNvPr>
          <p:cNvSpPr>
            <a:spLocks noGrp="1"/>
          </p:cNvSpPr>
          <p:nvPr/>
        </p:nvSpPr>
        <p:spPr>
          <a:xfrm>
            <a:off x="822960" y="3182112"/>
            <a:ext cx="6766560" cy="749808"/>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Self-agreement on the same input · gpt-4o</a:t>
            </a:r>
            <a:endParaRPr sz="2400"/>
          </a:p>
        </p:txBody>
      </p:sp>
      <p:sp>
        <p:nvSpPr>
          <p:cNvPr id="14" name="Text 12">
            <a:extLst>
              <a:ext uri="{FF2B5EF4-FFF2-40B4-BE49-F238E27FC236}">
                <a16:creationId xmlns:a16="http://schemas.microsoft.com/office/drawing/2014/main" id="{63022B1F-9273-4916-A6AC-2A198E97A232}"/>
              </a:ext>
            </a:extLst>
          </p:cNvPr>
          <p:cNvSpPr>
            <a:spLocks noGrp="1"/>
          </p:cNvSpPr>
          <p:nvPr/>
        </p:nvSpPr>
        <p:spPr>
          <a:xfrm>
            <a:off x="7772400" y="3182112"/>
            <a:ext cx="3593592" cy="749808"/>
          </a:xfrm>
          <a:prstGeom prst="rect">
            <a:avLst/>
          </a:prstGeom>
          <a:noFill/>
        </p:spPr>
        <p:txBody>
          <a:bodyPr wrap="square" lIns="0" tIns="0" rIns="0" bIns="0" anchor="ctr"/>
          <a:lstStyle/>
          <a:p>
            <a:pPr marL="0" indent="0" algn="r">
              <a:buNone/>
            </a:pPr>
            <a:r>
              <a:rPr lang="en-US" sz="3000" b="1">
                <a:solidFill>
                  <a:srgbClr val="0E6E67"/>
                </a:solidFill>
                <a:latin typeface="Calibri"/>
                <a:ea typeface="Calibri"/>
                <a:cs typeface="Calibri"/>
              </a:rPr>
              <a:t>88.0%</a:t>
            </a:r>
            <a:endParaRPr sz="2400"/>
          </a:p>
        </p:txBody>
      </p:sp>
      <p:sp>
        <p:nvSpPr>
          <p:cNvPr id="16" name="Text 14">
            <a:extLst>
              <a:ext uri="{FF2B5EF4-FFF2-40B4-BE49-F238E27FC236}">
                <a16:creationId xmlns:a16="http://schemas.microsoft.com/office/drawing/2014/main" id="{28F90436-1D1C-4058-A535-6469D1026AA8}"/>
              </a:ext>
            </a:extLst>
          </p:cNvPr>
          <p:cNvSpPr>
            <a:spLocks noGrp="1"/>
          </p:cNvSpPr>
          <p:nvPr/>
        </p:nvSpPr>
        <p:spPr>
          <a:xfrm>
            <a:off x="822960" y="3986784"/>
            <a:ext cx="6766560" cy="749808"/>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Synthetic anomaly precision</a:t>
            </a:r>
            <a:endParaRPr sz="2400"/>
          </a:p>
        </p:txBody>
      </p:sp>
      <p:sp>
        <p:nvSpPr>
          <p:cNvPr id="17" name="Text 15">
            <a:extLst>
              <a:ext uri="{FF2B5EF4-FFF2-40B4-BE49-F238E27FC236}">
                <a16:creationId xmlns:a16="http://schemas.microsoft.com/office/drawing/2014/main" id="{D7C139B0-6FE4-4B7A-95F5-5572E5C7F64A}"/>
              </a:ext>
            </a:extLst>
          </p:cNvPr>
          <p:cNvSpPr>
            <a:spLocks noGrp="1"/>
          </p:cNvSpPr>
          <p:nvPr/>
        </p:nvSpPr>
        <p:spPr>
          <a:xfrm>
            <a:off x="7772400" y="3986784"/>
            <a:ext cx="3593592" cy="749808"/>
          </a:xfrm>
          <a:prstGeom prst="rect">
            <a:avLst/>
          </a:prstGeom>
          <a:noFill/>
        </p:spPr>
        <p:txBody>
          <a:bodyPr wrap="square" lIns="0" tIns="0" rIns="0" bIns="0" anchor="ctr"/>
          <a:lstStyle/>
          <a:p>
            <a:pPr marL="0" indent="0" algn="r">
              <a:buNone/>
            </a:pPr>
            <a:r>
              <a:rPr lang="en-US" sz="3000" b="1">
                <a:solidFill>
                  <a:srgbClr val="0E6E67"/>
                </a:solidFill>
                <a:latin typeface="Calibri"/>
                <a:ea typeface="Calibri"/>
                <a:cs typeface="Calibri"/>
              </a:rPr>
              <a:t>97.9%</a:t>
            </a:r>
            <a:endParaRPr sz="2400"/>
          </a:p>
        </p:txBody>
      </p:sp>
      <p:sp>
        <p:nvSpPr>
          <p:cNvPr id="19" name="Text 17">
            <a:extLst>
              <a:ext uri="{FF2B5EF4-FFF2-40B4-BE49-F238E27FC236}">
                <a16:creationId xmlns:a16="http://schemas.microsoft.com/office/drawing/2014/main" id="{C174BB8A-BC1C-4206-AAD8-D7BCBCD824FD}"/>
              </a:ext>
            </a:extLst>
          </p:cNvPr>
          <p:cNvSpPr>
            <a:spLocks noGrp="1"/>
          </p:cNvSpPr>
          <p:nvPr/>
        </p:nvSpPr>
        <p:spPr>
          <a:xfrm>
            <a:off x="822960" y="4791456"/>
            <a:ext cx="6766560" cy="749808"/>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Accuracy / anomaly precision on client data</a:t>
            </a:r>
            <a:endParaRPr sz="2400"/>
          </a:p>
        </p:txBody>
      </p:sp>
      <p:sp>
        <p:nvSpPr>
          <p:cNvPr id="20" name="Text 18">
            <a:extLst>
              <a:ext uri="{FF2B5EF4-FFF2-40B4-BE49-F238E27FC236}">
                <a16:creationId xmlns:a16="http://schemas.microsoft.com/office/drawing/2014/main" id="{82FC1976-FC10-4E9A-9AB2-79DCE8DDF4B2}"/>
              </a:ext>
            </a:extLst>
          </p:cNvPr>
          <p:cNvSpPr>
            <a:spLocks noGrp="1"/>
          </p:cNvSpPr>
          <p:nvPr/>
        </p:nvSpPr>
        <p:spPr>
          <a:xfrm>
            <a:off x="7772400" y="4791456"/>
            <a:ext cx="3593592" cy="749808"/>
          </a:xfrm>
          <a:prstGeom prst="rect">
            <a:avLst/>
          </a:prstGeom>
          <a:noFill/>
        </p:spPr>
        <p:txBody>
          <a:bodyPr wrap="square" lIns="0" tIns="0" rIns="0" bIns="0" anchor="ctr"/>
          <a:lstStyle/>
          <a:p>
            <a:pPr marL="0" indent="0" algn="r">
              <a:buNone/>
            </a:pPr>
            <a:r>
              <a:rPr lang="en-US" sz="3000" b="1">
                <a:solidFill>
                  <a:srgbClr val="B0341F"/>
                </a:solidFill>
                <a:latin typeface="Calibri"/>
                <a:ea typeface="Calibri"/>
                <a:cs typeface="Calibri"/>
              </a:rPr>
              <a:t>Not measured</a:t>
            </a:r>
            <a:endParaRPr sz="2400"/>
          </a:p>
        </p:txBody>
      </p:sp>
      <p:sp>
        <p:nvSpPr>
          <p:cNvPr id="21" name="Text 19">
            <a:extLst>
              <a:ext uri="{FF2B5EF4-FFF2-40B4-BE49-F238E27FC236}">
                <a16:creationId xmlns:a16="http://schemas.microsoft.com/office/drawing/2014/main" id="{158B7E2B-223D-481E-87FB-25C12AB2DDC3}"/>
              </a:ext>
            </a:extLst>
          </p:cNvPr>
          <p:cNvSpPr>
            <a:spLocks noGrp="1"/>
          </p:cNvSpPr>
          <p:nvPr/>
        </p:nvSpPr>
        <p:spPr>
          <a:xfrm>
            <a:off x="822960" y="5760720"/>
            <a:ext cx="10545775" cy="457200"/>
          </a:xfrm>
          <a:prstGeom prst="rect">
            <a:avLst/>
          </a:prstGeom>
          <a:noFill/>
        </p:spPr>
        <p:txBody>
          <a:bodyPr wrap="square" lIns="0" tIns="0" rIns="0" bIns="0" anchor="t"/>
          <a:lstStyle/>
          <a:p>
            <a:pPr marL="0" indent="0">
              <a:buNone/>
            </a:pPr>
            <a:r>
              <a:rPr sz="2400">
                <a:solidFill>
                  <a:srgbClr val="1A1A1A"/>
                </a:solidFill>
                <a:latin typeface="Calibri"/>
                <a:ea typeface="Calibri"/>
                <a:cs typeface="Calibri"/>
              </a:rPr>
              <a:t>Phase 0 creates expert labels; the shadow pilot tests real-world usefulness.</a:t>
            </a:r>
            <a:endParaRPr sz="2400"/>
          </a:p>
        </p:txBody>
      </p:sp>
      <p:sp>
        <p:nvSpPr>
          <p:cNvPr id="26" name="Rectangle 25"/>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574449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8F7F4"/>
        </a:solidFill>
        <a:effectLst/>
      </p:bgPr>
    </p:bg>
    <p:spTree>
      <p:nvGrpSpPr>
        <p:cNvPr id="1" name=""/>
        <p:cNvGrpSpPr/>
        <p:nvPr/>
      </p:nvGrpSpPr>
      <p:grpSpPr>
        <a:xfrm>
          <a:off x="0" y="0"/>
          <a:ext cx="0" cy="0"/>
          <a:chOff x="0" y="0"/>
          <a:chExt cx="0" cy="0"/>
        </a:xfrm>
      </p:grpSpPr>
      <p:sp>
        <p:nvSpPr>
          <p:cNvPr id="25" name="Band"/>
          <p:cNvSpPr/>
          <p:nvPr/>
        </p:nvSpPr>
        <p:spPr>
          <a:xfrm>
            <a:off x="822960" y="2249424"/>
            <a:ext cx="10543032" cy="18288"/>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Band"/>
          <p:cNvSpPr/>
          <p:nvPr/>
        </p:nvSpPr>
        <p:spPr>
          <a:xfrm>
            <a:off x="822960" y="3968496"/>
            <a:ext cx="10543032" cy="786384"/>
          </a:xfrm>
          <a:prstGeom prst="rect">
            <a:avLst/>
          </a:prstGeom>
          <a:solidFill>
            <a:srgbClr val="F3E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Band"/>
          <p:cNvSpPr/>
          <p:nvPr/>
        </p:nvSpPr>
        <p:spPr>
          <a:xfrm>
            <a:off x="822960" y="2359152"/>
            <a:ext cx="10543032" cy="786384"/>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Band"/>
          <p:cNvSpPr/>
          <p:nvPr/>
        </p:nvSpPr>
        <p:spPr>
          <a:xfrm>
            <a:off x="822960" y="1700784"/>
            <a:ext cx="10543032" cy="54864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CEC17690-454C-40A8-A7CC-C86880C7FDB2}"/>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1A1A1A"/>
                </a:solidFill>
                <a:latin typeface="Trebuchet MS"/>
                <a:ea typeface="Trebuchet MS"/>
                <a:cs typeface="Trebuchet MS"/>
              </a:rPr>
              <a:t>UC-1 and UC-3 are not high-risk; UC-2 needs counsel</a:t>
            </a:r>
            <a:endParaRPr sz="3200"/>
          </a:p>
        </p:txBody>
      </p:sp>
      <p:sp>
        <p:nvSpPr>
          <p:cNvPr id="3" name="Shape 1">
            <a:extLst>
              <a:ext uri="{FF2B5EF4-FFF2-40B4-BE49-F238E27FC236}">
                <a16:creationId xmlns:a16="http://schemas.microsoft.com/office/drawing/2014/main" id="{2483294B-C978-4325-BB89-2725619D695B}"/>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lang="en-US"/>
          </a:p>
        </p:txBody>
      </p:sp>
      <p:sp>
        <p:nvSpPr>
          <p:cNvPr id="4" name="Shape 2">
            <a:extLst>
              <a:ext uri="{FF2B5EF4-FFF2-40B4-BE49-F238E27FC236}">
                <a16:creationId xmlns:a16="http://schemas.microsoft.com/office/drawing/2014/main" id="{D3556923-0666-4F02-A5C7-37AD396D59EC}"/>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7FA4FA30-72B8-44D5-8C21-F12D304E85D9}"/>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F3DB20CF-909D-41D2-8B36-A2CB4570CC32}"/>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12</a:t>
            </a:r>
            <a:endParaRPr sz="900"/>
          </a:p>
        </p:txBody>
      </p:sp>
      <p:sp>
        <p:nvSpPr>
          <p:cNvPr id="7" name="Text 5">
            <a:extLst>
              <a:ext uri="{FF2B5EF4-FFF2-40B4-BE49-F238E27FC236}">
                <a16:creationId xmlns:a16="http://schemas.microsoft.com/office/drawing/2014/main" id="{BD40C905-8690-4398-9DE7-6847CC63BA65}"/>
              </a:ext>
            </a:extLst>
          </p:cNvPr>
          <p:cNvSpPr>
            <a:spLocks noGrp="1"/>
          </p:cNvSpPr>
          <p:nvPr/>
        </p:nvSpPr>
        <p:spPr>
          <a:xfrm>
            <a:off x="822960" y="1773936"/>
            <a:ext cx="6035040" cy="402336"/>
          </a:xfrm>
          <a:prstGeom prst="rect">
            <a:avLst/>
          </a:prstGeom>
          <a:noFill/>
        </p:spPr>
        <p:txBody>
          <a:bodyPr wrap="square" lIns="0" tIns="0" rIns="0" bIns="0" anchor="ctr"/>
          <a:lstStyle/>
          <a:p>
            <a:pPr marL="0" indent="0">
              <a:buNone/>
            </a:pPr>
            <a:r>
              <a:rPr sz="2400" b="1" spc="100">
                <a:solidFill>
                  <a:srgbClr val="B0341F"/>
                </a:solidFill>
                <a:latin typeface="Calibri"/>
                <a:ea typeface="Calibri"/>
                <a:cs typeface="Calibri"/>
              </a:rPr>
              <a:t>STEP</a:t>
            </a:r>
            <a:endParaRPr sz="2400"/>
          </a:p>
        </p:txBody>
      </p:sp>
      <p:sp>
        <p:nvSpPr>
          <p:cNvPr id="8" name="Text 6">
            <a:extLst>
              <a:ext uri="{FF2B5EF4-FFF2-40B4-BE49-F238E27FC236}">
                <a16:creationId xmlns:a16="http://schemas.microsoft.com/office/drawing/2014/main" id="{53800C3A-F707-497F-8CE4-ECCE421B5F1A}"/>
              </a:ext>
            </a:extLst>
          </p:cNvPr>
          <p:cNvSpPr>
            <a:spLocks noGrp="1"/>
          </p:cNvSpPr>
          <p:nvPr/>
        </p:nvSpPr>
        <p:spPr>
          <a:xfrm>
            <a:off x="7040880" y="1773936"/>
            <a:ext cx="4325112" cy="402336"/>
          </a:xfrm>
          <a:prstGeom prst="rect">
            <a:avLst/>
          </a:prstGeom>
          <a:noFill/>
        </p:spPr>
        <p:txBody>
          <a:bodyPr wrap="square" lIns="0" tIns="0" rIns="0" bIns="0" anchor="ctr"/>
          <a:lstStyle/>
          <a:p>
            <a:pPr marL="0" indent="0" algn="l">
              <a:buNone/>
            </a:pPr>
            <a:r>
              <a:rPr sz="2400" b="1" spc="100">
                <a:solidFill>
                  <a:srgbClr val="B0341F"/>
                </a:solidFill>
                <a:latin typeface="Calibri"/>
                <a:ea typeface="Calibri"/>
                <a:cs typeface="Calibri"/>
              </a:rPr>
              <a:t>FINDING</a:t>
            </a:r>
            <a:endParaRPr sz="2400"/>
          </a:p>
        </p:txBody>
      </p:sp>
      <p:sp>
        <p:nvSpPr>
          <p:cNvPr id="9" name="Shape 7">
            <a:extLst>
              <a:ext uri="{FF2B5EF4-FFF2-40B4-BE49-F238E27FC236}">
                <a16:creationId xmlns:a16="http://schemas.microsoft.com/office/drawing/2014/main" id="{6577D523-FC5A-4690-9F3B-56BA1F4120A6}"/>
              </a:ext>
            </a:extLst>
          </p:cNvPr>
          <p:cNvSpPr>
            <a:spLocks noGrp="1"/>
          </p:cNvSpPr>
          <p:nvPr/>
        </p:nvSpPr>
        <p:spPr>
          <a:xfrm>
            <a:off x="822960" y="2249424"/>
            <a:ext cx="10545775" cy="0"/>
          </a:xfrm>
          <a:prstGeom prst="line">
            <a:avLst/>
          </a:prstGeom>
          <a:noFill/>
          <a:ln w="12700">
            <a:solidFill>
              <a:srgbClr val="1A1A1A"/>
            </a:solidFill>
            <a:prstDash val="solid"/>
          </a:ln>
        </p:spPr>
        <p:txBody>
          <a:bodyPr/>
          <a:lstStyle/>
          <a:p>
            <a:endParaRPr lang="en-US"/>
          </a:p>
        </p:txBody>
      </p:sp>
      <p:sp>
        <p:nvSpPr>
          <p:cNvPr id="10" name="Text 8">
            <a:extLst>
              <a:ext uri="{FF2B5EF4-FFF2-40B4-BE49-F238E27FC236}">
                <a16:creationId xmlns:a16="http://schemas.microsoft.com/office/drawing/2014/main" id="{8B12870D-F924-468E-9412-C611C2EB2550}"/>
              </a:ext>
            </a:extLst>
          </p:cNvPr>
          <p:cNvSpPr>
            <a:spLocks noGrp="1"/>
          </p:cNvSpPr>
          <p:nvPr/>
        </p:nvSpPr>
        <p:spPr>
          <a:xfrm>
            <a:off x="822960" y="2377440"/>
            <a:ext cx="6035040" cy="749808"/>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1 · AI system under Art. 3(1)</a:t>
            </a:r>
            <a:endParaRPr sz="2400"/>
          </a:p>
        </p:txBody>
      </p:sp>
      <p:sp>
        <p:nvSpPr>
          <p:cNvPr id="11" name="Text 9">
            <a:extLst>
              <a:ext uri="{FF2B5EF4-FFF2-40B4-BE49-F238E27FC236}">
                <a16:creationId xmlns:a16="http://schemas.microsoft.com/office/drawing/2014/main" id="{EFA8E50E-D4C6-4B11-941E-6A5661A1188D}"/>
              </a:ext>
            </a:extLst>
          </p:cNvPr>
          <p:cNvSpPr>
            <a:spLocks noGrp="1"/>
          </p:cNvSpPr>
          <p:nvPr/>
        </p:nvSpPr>
        <p:spPr>
          <a:xfrm>
            <a:off x="7040880" y="2377440"/>
            <a:ext cx="4325112" cy="749808"/>
          </a:xfrm>
          <a:prstGeom prst="rect">
            <a:avLst/>
          </a:prstGeom>
          <a:noFill/>
        </p:spPr>
        <p:txBody>
          <a:bodyPr wrap="square" lIns="0" tIns="0" rIns="0" bIns="0" anchor="ctr"/>
          <a:lstStyle/>
          <a:p>
            <a:pPr marL="0" indent="0" algn="l">
              <a:buNone/>
            </a:pPr>
            <a:r>
              <a:rPr lang="en-US" sz="2400" b="1">
                <a:solidFill>
                  <a:srgbClr val="0E6E67"/>
                </a:solidFill>
                <a:latin typeface="Calibri"/>
                <a:ea typeface="Calibri"/>
                <a:cs typeface="Calibri"/>
              </a:rPr>
              <a:t>Yes</a:t>
            </a:r>
            <a:endParaRPr sz="2400"/>
          </a:p>
        </p:txBody>
      </p:sp>
      <p:sp>
        <p:nvSpPr>
          <p:cNvPr id="13" name="Text 11">
            <a:extLst>
              <a:ext uri="{FF2B5EF4-FFF2-40B4-BE49-F238E27FC236}">
                <a16:creationId xmlns:a16="http://schemas.microsoft.com/office/drawing/2014/main" id="{4B5E5B96-66E1-4CEE-8892-886EEF0DA313}"/>
              </a:ext>
            </a:extLst>
          </p:cNvPr>
          <p:cNvSpPr>
            <a:spLocks noGrp="1"/>
          </p:cNvSpPr>
          <p:nvPr/>
        </p:nvSpPr>
        <p:spPr>
          <a:xfrm>
            <a:off x="822960" y="3182112"/>
            <a:ext cx="6035040" cy="749808"/>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2 · Prohibited practice under Art. 5</a:t>
            </a:r>
            <a:endParaRPr sz="2400"/>
          </a:p>
        </p:txBody>
      </p:sp>
      <p:sp>
        <p:nvSpPr>
          <p:cNvPr id="14" name="Text 12">
            <a:extLst>
              <a:ext uri="{FF2B5EF4-FFF2-40B4-BE49-F238E27FC236}">
                <a16:creationId xmlns:a16="http://schemas.microsoft.com/office/drawing/2014/main" id="{56050B06-AD53-4265-AE63-5B52C9DB213E}"/>
              </a:ext>
            </a:extLst>
          </p:cNvPr>
          <p:cNvSpPr>
            <a:spLocks noGrp="1"/>
          </p:cNvSpPr>
          <p:nvPr/>
        </p:nvSpPr>
        <p:spPr>
          <a:xfrm>
            <a:off x="7040880" y="3182112"/>
            <a:ext cx="4325112" cy="749808"/>
          </a:xfrm>
          <a:prstGeom prst="rect">
            <a:avLst/>
          </a:prstGeom>
          <a:noFill/>
        </p:spPr>
        <p:txBody>
          <a:bodyPr wrap="square" lIns="0" tIns="0" rIns="0" bIns="0" anchor="ctr"/>
          <a:lstStyle/>
          <a:p>
            <a:pPr marL="0" indent="0" algn="l">
              <a:buNone/>
            </a:pPr>
            <a:r>
              <a:rPr lang="en-US" sz="2400" b="1">
                <a:solidFill>
                  <a:srgbClr val="0E6E67"/>
                </a:solidFill>
                <a:latin typeface="Calibri"/>
                <a:ea typeface="Calibri"/>
                <a:cs typeface="Calibri"/>
              </a:rPr>
              <a:t>None identified</a:t>
            </a:r>
            <a:endParaRPr sz="2400"/>
          </a:p>
        </p:txBody>
      </p:sp>
      <p:sp>
        <p:nvSpPr>
          <p:cNvPr id="16" name="Text 14">
            <a:extLst>
              <a:ext uri="{FF2B5EF4-FFF2-40B4-BE49-F238E27FC236}">
                <a16:creationId xmlns:a16="http://schemas.microsoft.com/office/drawing/2014/main" id="{87E0FB0C-36A9-46DF-A617-3553209DDF3B}"/>
              </a:ext>
            </a:extLst>
          </p:cNvPr>
          <p:cNvSpPr>
            <a:spLocks noGrp="1"/>
          </p:cNvSpPr>
          <p:nvPr/>
        </p:nvSpPr>
        <p:spPr>
          <a:xfrm>
            <a:off x="822960" y="3986784"/>
            <a:ext cx="6035040" cy="749808"/>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4 · Annex III high-risk use</a:t>
            </a:r>
            <a:endParaRPr sz="2400"/>
          </a:p>
        </p:txBody>
      </p:sp>
      <p:sp>
        <p:nvSpPr>
          <p:cNvPr id="17" name="Text 15">
            <a:extLst>
              <a:ext uri="{FF2B5EF4-FFF2-40B4-BE49-F238E27FC236}">
                <a16:creationId xmlns:a16="http://schemas.microsoft.com/office/drawing/2014/main" id="{EDFB7362-E7EB-4DBF-B6A7-86709998E259}"/>
              </a:ext>
            </a:extLst>
          </p:cNvPr>
          <p:cNvSpPr>
            <a:spLocks noGrp="1"/>
          </p:cNvSpPr>
          <p:nvPr/>
        </p:nvSpPr>
        <p:spPr>
          <a:xfrm>
            <a:off x="7040880" y="3986784"/>
            <a:ext cx="4325112" cy="749808"/>
          </a:xfrm>
          <a:prstGeom prst="rect">
            <a:avLst/>
          </a:prstGeom>
          <a:noFill/>
        </p:spPr>
        <p:txBody>
          <a:bodyPr wrap="square" lIns="0" tIns="0" rIns="0" bIns="0" anchor="ctr"/>
          <a:lstStyle/>
          <a:p>
            <a:pPr marL="0" indent="0" algn="l">
              <a:buNone/>
            </a:pPr>
            <a:r>
              <a:rPr lang="en-US" sz="2400" b="1">
                <a:solidFill>
                  <a:srgbClr val="B0341F"/>
                </a:solidFill>
                <a:latin typeface="Calibri"/>
                <a:ea typeface="Calibri"/>
                <a:cs typeface="Calibri"/>
              </a:rPr>
              <a:t>UC-1/3: no · UC-2: counsel</a:t>
            </a:r>
            <a:endParaRPr sz="2400"/>
          </a:p>
        </p:txBody>
      </p:sp>
      <p:sp>
        <p:nvSpPr>
          <p:cNvPr id="19" name="Text 17">
            <a:extLst>
              <a:ext uri="{FF2B5EF4-FFF2-40B4-BE49-F238E27FC236}">
                <a16:creationId xmlns:a16="http://schemas.microsoft.com/office/drawing/2014/main" id="{E28757EC-F8A7-454D-8B7C-F64237A77F74}"/>
              </a:ext>
            </a:extLst>
          </p:cNvPr>
          <p:cNvSpPr>
            <a:spLocks noGrp="1"/>
          </p:cNvSpPr>
          <p:nvPr/>
        </p:nvSpPr>
        <p:spPr>
          <a:xfrm>
            <a:off x="822960" y="4791456"/>
            <a:ext cx="6035040" cy="749808"/>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Articles 50 and 4</a:t>
            </a:r>
            <a:endParaRPr sz="2400"/>
          </a:p>
        </p:txBody>
      </p:sp>
      <p:sp>
        <p:nvSpPr>
          <p:cNvPr id="20" name="Text 18">
            <a:extLst>
              <a:ext uri="{FF2B5EF4-FFF2-40B4-BE49-F238E27FC236}">
                <a16:creationId xmlns:a16="http://schemas.microsoft.com/office/drawing/2014/main" id="{478F1A60-0315-49B4-95F2-DDCCB89E53F7}"/>
              </a:ext>
            </a:extLst>
          </p:cNvPr>
          <p:cNvSpPr>
            <a:spLocks noGrp="1"/>
          </p:cNvSpPr>
          <p:nvPr/>
        </p:nvSpPr>
        <p:spPr>
          <a:xfrm>
            <a:off x="7040880" y="4791456"/>
            <a:ext cx="4325112" cy="749808"/>
          </a:xfrm>
          <a:prstGeom prst="rect">
            <a:avLst/>
          </a:prstGeom>
          <a:noFill/>
        </p:spPr>
        <p:txBody>
          <a:bodyPr wrap="square" lIns="0" tIns="0" rIns="0" bIns="0" anchor="ctr"/>
          <a:lstStyle/>
          <a:p>
            <a:pPr marL="0" indent="0" algn="l">
              <a:buNone/>
            </a:pPr>
            <a:r>
              <a:rPr lang="en-US" sz="2400" b="1">
                <a:solidFill>
                  <a:srgbClr val="0E6E67"/>
                </a:solidFill>
                <a:latin typeface="Calibri"/>
                <a:ea typeface="Calibri"/>
                <a:cs typeface="Calibri"/>
              </a:rPr>
              <a:t>Marking + AI literacy</a:t>
            </a:r>
            <a:endParaRPr sz="2400"/>
          </a:p>
        </p:txBody>
      </p:sp>
      <p:sp>
        <p:nvSpPr>
          <p:cNvPr id="21" name="Text 19">
            <a:extLst>
              <a:ext uri="{FF2B5EF4-FFF2-40B4-BE49-F238E27FC236}">
                <a16:creationId xmlns:a16="http://schemas.microsoft.com/office/drawing/2014/main" id="{5029C092-4B67-4349-8ED4-300417E741F3}"/>
              </a:ext>
            </a:extLst>
          </p:cNvPr>
          <p:cNvSpPr>
            <a:spLocks noGrp="1"/>
          </p:cNvSpPr>
          <p:nvPr/>
        </p:nvSpPr>
        <p:spPr>
          <a:xfrm>
            <a:off x="822960" y="5760720"/>
            <a:ext cx="10545775" cy="457200"/>
          </a:xfrm>
          <a:prstGeom prst="rect">
            <a:avLst/>
          </a:prstGeom>
          <a:noFill/>
        </p:spPr>
        <p:txBody>
          <a:bodyPr wrap="square" lIns="0" tIns="0" rIns="0" bIns="0" anchor="t"/>
          <a:lstStyle/>
          <a:p>
            <a:pPr marL="0" indent="0">
              <a:buNone/>
            </a:pPr>
            <a:r>
              <a:rPr sz="2400">
                <a:solidFill>
                  <a:srgbClr val="1A1A1A"/>
                </a:solidFill>
                <a:latin typeface="Calibri"/>
                <a:ea typeface="Calibri"/>
                <a:cs typeface="Calibri"/>
              </a:rPr>
              <a:t>The intended use and human decision boundary drive the classification.</a:t>
            </a:r>
            <a:endParaRPr sz="2400"/>
          </a:p>
        </p:txBody>
      </p:sp>
      <p:sp>
        <p:nvSpPr>
          <p:cNvPr id="26" name="Rectangle 25"/>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377330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8F7F4"/>
        </a:solidFill>
        <a:effectLst/>
      </p:bgPr>
    </p:bg>
    <p:spTree>
      <p:nvGrpSpPr>
        <p:cNvPr id="1" name=""/>
        <p:cNvGrpSpPr/>
        <p:nvPr/>
      </p:nvGrpSpPr>
      <p:grpSpPr>
        <a:xfrm>
          <a:off x="0" y="0"/>
          <a:ext cx="0" cy="0"/>
          <a:chOff x="0" y="0"/>
          <a:chExt cx="0" cy="0"/>
        </a:xfrm>
      </p:grpSpPr>
      <p:sp>
        <p:nvSpPr>
          <p:cNvPr id="22" name="Band"/>
          <p:cNvSpPr/>
          <p:nvPr/>
        </p:nvSpPr>
        <p:spPr>
          <a:xfrm>
            <a:off x="822960" y="2249424"/>
            <a:ext cx="10543032" cy="18288"/>
          </a:xfrm>
          <a:prstGeom prst="rect">
            <a:avLst/>
          </a:prstGeom>
          <a:solidFill>
            <a:srgbClr val="D3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Band"/>
          <p:cNvSpPr/>
          <p:nvPr/>
        </p:nvSpPr>
        <p:spPr>
          <a:xfrm>
            <a:off x="822960" y="4279392"/>
            <a:ext cx="10543032" cy="905256"/>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Band"/>
          <p:cNvSpPr/>
          <p:nvPr/>
        </p:nvSpPr>
        <p:spPr>
          <a:xfrm>
            <a:off x="822960" y="2359152"/>
            <a:ext cx="10543032" cy="905256"/>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Band"/>
          <p:cNvSpPr/>
          <p:nvPr/>
        </p:nvSpPr>
        <p:spPr>
          <a:xfrm>
            <a:off x="822960" y="1700784"/>
            <a:ext cx="10543032" cy="54864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B34DA4A5-8BDD-46DA-AD5B-46A0CB21AC16}"/>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1A1A1A"/>
                </a:solidFill>
                <a:latin typeface="Trebuchet MS"/>
                <a:ea typeface="Trebuchet MS"/>
                <a:cs typeface="Trebuchet MS"/>
              </a:rPr>
              <a:t>The full complaint narrative still leaves the bank</a:t>
            </a:r>
            <a:endParaRPr sz="3200"/>
          </a:p>
        </p:txBody>
      </p:sp>
      <p:sp>
        <p:nvSpPr>
          <p:cNvPr id="3" name="Shape 1">
            <a:extLst>
              <a:ext uri="{FF2B5EF4-FFF2-40B4-BE49-F238E27FC236}">
                <a16:creationId xmlns:a16="http://schemas.microsoft.com/office/drawing/2014/main" id="{5EFC6F71-B1C4-4D05-9B22-A6BEC9930817}"/>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lang="en-US"/>
          </a:p>
        </p:txBody>
      </p:sp>
      <p:sp>
        <p:nvSpPr>
          <p:cNvPr id="4" name="Shape 2">
            <a:extLst>
              <a:ext uri="{FF2B5EF4-FFF2-40B4-BE49-F238E27FC236}">
                <a16:creationId xmlns:a16="http://schemas.microsoft.com/office/drawing/2014/main" id="{E70DB046-4075-45D7-8926-9EF4DA517DC9}"/>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68598553-5967-4109-BB6D-04E9B65C6049}"/>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19972238-66CB-4169-ABBF-E2D4C1B67F77}"/>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13</a:t>
            </a:r>
            <a:endParaRPr sz="900"/>
          </a:p>
        </p:txBody>
      </p:sp>
      <p:sp>
        <p:nvSpPr>
          <p:cNvPr id="7" name="Text 5">
            <a:extLst>
              <a:ext uri="{FF2B5EF4-FFF2-40B4-BE49-F238E27FC236}">
                <a16:creationId xmlns:a16="http://schemas.microsoft.com/office/drawing/2014/main" id="{702931D2-077F-44C2-A027-BD3C26440E99}"/>
              </a:ext>
            </a:extLst>
          </p:cNvPr>
          <p:cNvSpPr>
            <a:spLocks noGrp="1"/>
          </p:cNvSpPr>
          <p:nvPr/>
        </p:nvSpPr>
        <p:spPr>
          <a:xfrm>
            <a:off x="822960" y="1773936"/>
            <a:ext cx="5394960" cy="402336"/>
          </a:xfrm>
          <a:prstGeom prst="rect">
            <a:avLst/>
          </a:prstGeom>
          <a:noFill/>
        </p:spPr>
        <p:txBody>
          <a:bodyPr wrap="square" lIns="0" tIns="0" rIns="0" bIns="0" anchor="ctr"/>
          <a:lstStyle/>
          <a:p>
            <a:pPr marL="0" indent="0">
              <a:buNone/>
            </a:pPr>
            <a:r>
              <a:rPr sz="2400" b="1" spc="100">
                <a:solidFill>
                  <a:srgbClr val="B0341F"/>
                </a:solidFill>
                <a:latin typeface="Calibri"/>
                <a:ea typeface="Calibri"/>
                <a:cs typeface="Calibri"/>
              </a:rPr>
              <a:t>WHAT</a:t>
            </a:r>
            <a:endParaRPr sz="2400"/>
          </a:p>
        </p:txBody>
      </p:sp>
      <p:sp>
        <p:nvSpPr>
          <p:cNvPr id="8" name="Text 6">
            <a:extLst>
              <a:ext uri="{FF2B5EF4-FFF2-40B4-BE49-F238E27FC236}">
                <a16:creationId xmlns:a16="http://schemas.microsoft.com/office/drawing/2014/main" id="{93E6417C-1648-4119-8679-D68D6F5C86E4}"/>
              </a:ext>
            </a:extLst>
          </p:cNvPr>
          <p:cNvSpPr>
            <a:spLocks noGrp="1"/>
          </p:cNvSpPr>
          <p:nvPr/>
        </p:nvSpPr>
        <p:spPr>
          <a:xfrm>
            <a:off x="6309360" y="1773936"/>
            <a:ext cx="5056632" cy="402336"/>
          </a:xfrm>
          <a:prstGeom prst="rect">
            <a:avLst/>
          </a:prstGeom>
          <a:noFill/>
        </p:spPr>
        <p:txBody>
          <a:bodyPr wrap="square" lIns="0" tIns="0" rIns="0" bIns="0" anchor="ctr"/>
          <a:lstStyle/>
          <a:p>
            <a:pPr marL="0" indent="0" algn="l">
              <a:buNone/>
            </a:pPr>
            <a:r>
              <a:rPr sz="2400" b="1" spc="100">
                <a:solidFill>
                  <a:srgbClr val="B0341F"/>
                </a:solidFill>
                <a:latin typeface="Calibri"/>
                <a:ea typeface="Calibri"/>
                <a:cs typeface="Calibri"/>
              </a:rPr>
              <a:t>WHERE IT GOES</a:t>
            </a:r>
            <a:endParaRPr sz="2400"/>
          </a:p>
        </p:txBody>
      </p:sp>
      <p:sp>
        <p:nvSpPr>
          <p:cNvPr id="9" name="Shape 7">
            <a:extLst>
              <a:ext uri="{FF2B5EF4-FFF2-40B4-BE49-F238E27FC236}">
                <a16:creationId xmlns:a16="http://schemas.microsoft.com/office/drawing/2014/main" id="{7AB3A231-77EE-416C-8CDF-5C2D5B0E8300}"/>
              </a:ext>
            </a:extLst>
          </p:cNvPr>
          <p:cNvSpPr>
            <a:spLocks noGrp="1"/>
          </p:cNvSpPr>
          <p:nvPr/>
        </p:nvSpPr>
        <p:spPr>
          <a:xfrm>
            <a:off x="822960" y="2249424"/>
            <a:ext cx="10545775" cy="0"/>
          </a:xfrm>
          <a:prstGeom prst="line">
            <a:avLst/>
          </a:prstGeom>
          <a:noFill/>
          <a:ln w="12700">
            <a:solidFill>
              <a:srgbClr val="1A1A1A"/>
            </a:solidFill>
            <a:prstDash val="solid"/>
          </a:ln>
        </p:spPr>
        <p:txBody>
          <a:bodyPr/>
          <a:lstStyle/>
          <a:p>
            <a:endParaRPr lang="en-US"/>
          </a:p>
        </p:txBody>
      </p:sp>
      <p:sp>
        <p:nvSpPr>
          <p:cNvPr id="10" name="Text 8">
            <a:extLst>
              <a:ext uri="{FF2B5EF4-FFF2-40B4-BE49-F238E27FC236}">
                <a16:creationId xmlns:a16="http://schemas.microsoft.com/office/drawing/2014/main" id="{CB85DE6D-24CE-46FC-8437-2818B9A24421}"/>
              </a:ext>
            </a:extLst>
          </p:cNvPr>
          <p:cNvSpPr>
            <a:spLocks noGrp="1"/>
          </p:cNvSpPr>
          <p:nvPr/>
        </p:nvSpPr>
        <p:spPr>
          <a:xfrm>
            <a:off x="822960" y="2377440"/>
            <a:ext cx="5394960" cy="868680"/>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Complaint identifier</a:t>
            </a:r>
            <a:endParaRPr sz="2400"/>
          </a:p>
        </p:txBody>
      </p:sp>
      <p:sp>
        <p:nvSpPr>
          <p:cNvPr id="11" name="Text 9">
            <a:extLst>
              <a:ext uri="{FF2B5EF4-FFF2-40B4-BE49-F238E27FC236}">
                <a16:creationId xmlns:a16="http://schemas.microsoft.com/office/drawing/2014/main" id="{7CDDE7B8-12FD-4DB6-AF13-C2664BCA166F}"/>
              </a:ext>
            </a:extLst>
          </p:cNvPr>
          <p:cNvSpPr>
            <a:spLocks noGrp="1"/>
          </p:cNvSpPr>
          <p:nvPr/>
        </p:nvSpPr>
        <p:spPr>
          <a:xfrm>
            <a:off x="6309360" y="2377440"/>
            <a:ext cx="5056632" cy="868680"/>
          </a:xfrm>
          <a:prstGeom prst="rect">
            <a:avLst/>
          </a:prstGeom>
          <a:noFill/>
        </p:spPr>
        <p:txBody>
          <a:bodyPr wrap="square" lIns="0" tIns="0" rIns="0" bIns="0" anchor="ctr"/>
          <a:lstStyle/>
          <a:p>
            <a:pPr marL="0" indent="0" algn="l">
              <a:buNone/>
            </a:pPr>
            <a:r>
              <a:rPr lang="en-US" sz="2400" b="1">
                <a:solidFill>
                  <a:srgbClr val="0E6E67"/>
                </a:solidFill>
                <a:latin typeface="Calibri"/>
                <a:ea typeface="Calibri"/>
                <a:cs typeface="Calibri"/>
              </a:rPr>
              <a:t>No · replaced before the model call</a:t>
            </a:r>
            <a:endParaRPr sz="2400"/>
          </a:p>
        </p:txBody>
      </p:sp>
      <p:sp>
        <p:nvSpPr>
          <p:cNvPr id="13" name="Text 11">
            <a:extLst>
              <a:ext uri="{FF2B5EF4-FFF2-40B4-BE49-F238E27FC236}">
                <a16:creationId xmlns:a16="http://schemas.microsoft.com/office/drawing/2014/main" id="{7E61DC08-BCC5-4289-9CB2-B6270239A64D}"/>
              </a:ext>
            </a:extLst>
          </p:cNvPr>
          <p:cNvSpPr>
            <a:spLocks noGrp="1"/>
          </p:cNvSpPr>
          <p:nvPr/>
        </p:nvSpPr>
        <p:spPr>
          <a:xfrm>
            <a:off x="822960" y="3337560"/>
            <a:ext cx="5394960" cy="868680"/>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Complaint narrative</a:t>
            </a:r>
            <a:endParaRPr sz="2400"/>
          </a:p>
        </p:txBody>
      </p:sp>
      <p:sp>
        <p:nvSpPr>
          <p:cNvPr id="14" name="Text 12">
            <a:extLst>
              <a:ext uri="{FF2B5EF4-FFF2-40B4-BE49-F238E27FC236}">
                <a16:creationId xmlns:a16="http://schemas.microsoft.com/office/drawing/2014/main" id="{BF1416F2-DBBF-4683-B428-CD255AF58024}"/>
              </a:ext>
            </a:extLst>
          </p:cNvPr>
          <p:cNvSpPr>
            <a:spLocks noGrp="1"/>
          </p:cNvSpPr>
          <p:nvPr/>
        </p:nvSpPr>
        <p:spPr>
          <a:xfrm>
            <a:off x="6309360" y="3337560"/>
            <a:ext cx="5056632" cy="868680"/>
          </a:xfrm>
          <a:prstGeom prst="rect">
            <a:avLst/>
          </a:prstGeom>
          <a:noFill/>
        </p:spPr>
        <p:txBody>
          <a:bodyPr wrap="square" lIns="0" tIns="0" rIns="0" bIns="0" anchor="ctr"/>
          <a:lstStyle/>
          <a:p>
            <a:pPr marL="0" indent="0" algn="l">
              <a:buNone/>
            </a:pPr>
            <a:r>
              <a:rPr lang="en-US" sz="2400" b="1">
                <a:solidFill>
                  <a:srgbClr val="B0341F"/>
                </a:solidFill>
                <a:latin typeface="Calibri"/>
                <a:ea typeface="Calibri"/>
                <a:cs typeface="Calibri"/>
              </a:rPr>
              <a:t>Yes · sent to the provider in full</a:t>
            </a:r>
            <a:endParaRPr sz="2400"/>
          </a:p>
        </p:txBody>
      </p:sp>
      <p:sp>
        <p:nvSpPr>
          <p:cNvPr id="16" name="Text 14">
            <a:extLst>
              <a:ext uri="{FF2B5EF4-FFF2-40B4-BE49-F238E27FC236}">
                <a16:creationId xmlns:a16="http://schemas.microsoft.com/office/drawing/2014/main" id="{00872AE0-0305-4A6A-B142-502C768A7FEB}"/>
              </a:ext>
            </a:extLst>
          </p:cNvPr>
          <p:cNvSpPr>
            <a:spLocks noGrp="1"/>
          </p:cNvSpPr>
          <p:nvPr/>
        </p:nvSpPr>
        <p:spPr>
          <a:xfrm>
            <a:off x="822960" y="4297680"/>
            <a:ext cx="5394960" cy="868680"/>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Evidence + pseudonymous reference</a:t>
            </a:r>
            <a:endParaRPr sz="2400"/>
          </a:p>
        </p:txBody>
      </p:sp>
      <p:sp>
        <p:nvSpPr>
          <p:cNvPr id="17" name="Text 15">
            <a:extLst>
              <a:ext uri="{FF2B5EF4-FFF2-40B4-BE49-F238E27FC236}">
                <a16:creationId xmlns:a16="http://schemas.microsoft.com/office/drawing/2014/main" id="{A0B897EC-9AD3-49F8-9EE6-2B3143C245EC}"/>
              </a:ext>
            </a:extLst>
          </p:cNvPr>
          <p:cNvSpPr>
            <a:spLocks noGrp="1"/>
          </p:cNvSpPr>
          <p:nvPr/>
        </p:nvSpPr>
        <p:spPr>
          <a:xfrm>
            <a:off x="6309360" y="4297680"/>
            <a:ext cx="5056632" cy="868680"/>
          </a:xfrm>
          <a:prstGeom prst="rect">
            <a:avLst/>
          </a:prstGeom>
          <a:noFill/>
        </p:spPr>
        <p:txBody>
          <a:bodyPr wrap="square" lIns="0" tIns="0" rIns="0" bIns="0" anchor="ctr"/>
          <a:lstStyle/>
          <a:p>
            <a:pPr marL="0" indent="0" algn="l">
              <a:buNone/>
            </a:pPr>
            <a:r>
              <a:rPr lang="en-US" sz="2400" b="1">
                <a:solidFill>
                  <a:srgbClr val="0E6E67"/>
                </a:solidFill>
                <a:latin typeface="Calibri"/>
                <a:ea typeface="Calibri"/>
                <a:cs typeface="Calibri"/>
              </a:rPr>
              <a:t>Stored in monitoring</a:t>
            </a:r>
            <a:endParaRPr sz="2400"/>
          </a:p>
        </p:txBody>
      </p:sp>
      <p:sp>
        <p:nvSpPr>
          <p:cNvPr id="18" name="Text 16">
            <a:extLst>
              <a:ext uri="{FF2B5EF4-FFF2-40B4-BE49-F238E27FC236}">
                <a16:creationId xmlns:a16="http://schemas.microsoft.com/office/drawing/2014/main" id="{B041204B-8134-499D-9CCF-DCDAB38615CA}"/>
              </a:ext>
            </a:extLst>
          </p:cNvPr>
          <p:cNvSpPr>
            <a:spLocks noGrp="1"/>
          </p:cNvSpPr>
          <p:nvPr/>
        </p:nvSpPr>
        <p:spPr>
          <a:xfrm>
            <a:off x="822960" y="5486400"/>
            <a:ext cx="10545775" cy="548640"/>
          </a:xfrm>
          <a:prstGeom prst="rect">
            <a:avLst/>
          </a:prstGeom>
          <a:noFill/>
        </p:spPr>
        <p:txBody>
          <a:bodyPr wrap="square" lIns="0" tIns="0" rIns="0" bIns="0" anchor="t"/>
          <a:lstStyle/>
          <a:p>
            <a:pPr marL="0" indent="0">
              <a:buNone/>
            </a:pPr>
            <a:r>
              <a:rPr sz="2400">
                <a:solidFill>
                  <a:srgbClr val="1A1A1A"/>
                </a:solidFill>
                <a:latin typeface="Calibri"/>
                <a:ea typeface="Calibri"/>
                <a:cs typeface="Calibri"/>
              </a:rPr>
              <a:t>Pseudonymisation protects the reference, not the content. Transfer controls are the gate.</a:t>
            </a:r>
            <a:endParaRPr sz="2400"/>
          </a:p>
        </p:txBody>
      </p:sp>
      <p:sp>
        <p:nvSpPr>
          <p:cNvPr id="23" name="Rectangle 22"/>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76197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35" name="Band"/>
          <p:cNvSpPr/>
          <p:nvPr/>
        </p:nvSpPr>
        <p:spPr>
          <a:xfrm>
            <a:off x="822960" y="2249424"/>
            <a:ext cx="10543032" cy="18288"/>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Band"/>
          <p:cNvSpPr/>
          <p:nvPr/>
        </p:nvSpPr>
        <p:spPr>
          <a:xfrm>
            <a:off x="822960" y="5705856"/>
            <a:ext cx="10543032" cy="566928"/>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Band"/>
          <p:cNvSpPr/>
          <p:nvPr/>
        </p:nvSpPr>
        <p:spPr>
          <a:xfrm>
            <a:off x="822960" y="4590288"/>
            <a:ext cx="10543032" cy="566928"/>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Band"/>
          <p:cNvSpPr/>
          <p:nvPr/>
        </p:nvSpPr>
        <p:spPr>
          <a:xfrm>
            <a:off x="822960" y="3474720"/>
            <a:ext cx="10543032" cy="566928"/>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Band"/>
          <p:cNvSpPr/>
          <p:nvPr/>
        </p:nvSpPr>
        <p:spPr>
          <a:xfrm>
            <a:off x="822960" y="2359152"/>
            <a:ext cx="10543032" cy="566928"/>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Band"/>
          <p:cNvSpPr/>
          <p:nvPr/>
        </p:nvSpPr>
        <p:spPr>
          <a:xfrm>
            <a:off x="822960" y="1700784"/>
            <a:ext cx="10543032" cy="548640"/>
          </a:xfrm>
          <a:prstGeom prst="rect">
            <a:avLst/>
          </a:prstGeom>
          <a:solidFill>
            <a:srgbClr val="E4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58B95A86-D9CB-4681-8168-2FBC311755D6}"/>
              </a:ext>
            </a:extLst>
          </p:cNvPr>
          <p:cNvSpPr>
            <a:spLocks noGrp="1"/>
          </p:cNvSpPr>
          <p:nvPr/>
        </p:nvSpPr>
        <p:spPr>
          <a:xfrm>
            <a:off x="822960" y="603504"/>
            <a:ext cx="10545775" cy="731520"/>
          </a:xfrm>
          <a:prstGeom prst="rect">
            <a:avLst/>
          </a:prstGeom>
          <a:noFill/>
        </p:spPr>
        <p:txBody>
          <a:bodyPr wrap="square" lIns="0" tIns="0" rIns="0" bIns="0" anchor="ctr"/>
          <a:lstStyle/>
          <a:p>
            <a:pPr marL="0" indent="0">
              <a:buNone/>
            </a:pPr>
            <a:r>
              <a:rPr sz="3200" b="1">
                <a:solidFill>
                  <a:srgbClr val="1A1A1A"/>
                </a:solidFill>
                <a:latin typeface="Trebuchet MS"/>
                <a:ea typeface="Trebuchet MS"/>
                <a:cs typeface="Trebuchet MS"/>
              </a:rPr>
              <a:t>Every pilot threshold must pass before deployment</a:t>
            </a:r>
            <a:endParaRPr sz="3200"/>
          </a:p>
        </p:txBody>
      </p:sp>
      <p:sp>
        <p:nvSpPr>
          <p:cNvPr id="3" name="Shape 1">
            <a:extLst>
              <a:ext uri="{FF2B5EF4-FFF2-40B4-BE49-F238E27FC236}">
                <a16:creationId xmlns:a16="http://schemas.microsoft.com/office/drawing/2014/main" id="{E298F8BE-1544-42A8-9CDD-CE89373E0F8B}"/>
              </a:ext>
            </a:extLst>
          </p:cNvPr>
          <p:cNvSpPr>
            <a:spLocks noGrp="1"/>
          </p:cNvSpPr>
          <p:nvPr/>
        </p:nvSpPr>
        <p:spPr>
          <a:xfrm>
            <a:off x="822960" y="1444752"/>
            <a:ext cx="987552" cy="32004"/>
          </a:xfrm>
          <a:prstGeom prst="line">
            <a:avLst/>
          </a:prstGeom>
          <a:solidFill>
            <a:srgbClr val="B0341F"/>
          </a:solidFill>
          <a:ln w="25400">
            <a:noFill/>
            <a:prstDash val="solid"/>
          </a:ln>
        </p:spPr>
        <p:txBody>
          <a:bodyPr/>
          <a:lstStyle/>
          <a:p>
            <a:endParaRPr lang="en-US"/>
          </a:p>
        </p:txBody>
      </p:sp>
      <p:sp>
        <p:nvSpPr>
          <p:cNvPr id="4" name="Shape 2">
            <a:extLst>
              <a:ext uri="{FF2B5EF4-FFF2-40B4-BE49-F238E27FC236}">
                <a16:creationId xmlns:a16="http://schemas.microsoft.com/office/drawing/2014/main" id="{C84C2600-AB7B-4E60-984F-47BCA9619AF9}"/>
              </a:ext>
            </a:extLst>
          </p:cNvPr>
          <p:cNvSpPr>
            <a:spLocks noGrp="1"/>
          </p:cNvSpPr>
          <p:nvPr/>
        </p:nvSpPr>
        <p:spPr>
          <a:xfrm>
            <a:off x="822960" y="6355080"/>
            <a:ext cx="10545775" cy="0"/>
          </a:xfrm>
          <a:prstGeom prst="line">
            <a:avLst/>
          </a:prstGeom>
          <a:noFill/>
          <a:ln w="12700">
            <a:solidFill>
              <a:srgbClr val="E0E0E0"/>
            </a:solidFill>
            <a:prstDash val="solid"/>
          </a:ln>
        </p:spPr>
        <p:txBody>
          <a:bodyPr/>
          <a:lstStyle/>
          <a:p>
            <a:endParaRPr lang="en-US"/>
          </a:p>
        </p:txBody>
      </p:sp>
      <p:sp>
        <p:nvSpPr>
          <p:cNvPr id="5" name="Text 3">
            <a:extLst>
              <a:ext uri="{FF2B5EF4-FFF2-40B4-BE49-F238E27FC236}">
                <a16:creationId xmlns:a16="http://schemas.microsoft.com/office/drawing/2014/main" id="{1AB0B1E9-AC5C-41A6-BBB6-7DB173FDB90E}"/>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45E83587-0FEB-4372-90ED-6B63804E1BF7}"/>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lang="en-US" sz="900" b="1">
                <a:solidFill>
                  <a:srgbClr val="B0341F"/>
                </a:solidFill>
                <a:latin typeface="Calibri"/>
                <a:ea typeface="Calibri"/>
                <a:cs typeface="Calibri"/>
              </a:rPr>
              <a:t>14</a:t>
            </a:r>
            <a:endParaRPr sz="900"/>
          </a:p>
        </p:txBody>
      </p:sp>
      <p:sp>
        <p:nvSpPr>
          <p:cNvPr id="7" name="Text 5">
            <a:extLst>
              <a:ext uri="{FF2B5EF4-FFF2-40B4-BE49-F238E27FC236}">
                <a16:creationId xmlns:a16="http://schemas.microsoft.com/office/drawing/2014/main" id="{C46CFE0B-2F79-46E9-ABBE-3A85BA1D1755}"/>
              </a:ext>
            </a:extLst>
          </p:cNvPr>
          <p:cNvSpPr>
            <a:spLocks noGrp="1"/>
          </p:cNvSpPr>
          <p:nvPr/>
        </p:nvSpPr>
        <p:spPr>
          <a:xfrm>
            <a:off x="822960" y="1773936"/>
            <a:ext cx="6583680" cy="402336"/>
          </a:xfrm>
          <a:prstGeom prst="rect">
            <a:avLst/>
          </a:prstGeom>
          <a:noFill/>
        </p:spPr>
        <p:txBody>
          <a:bodyPr wrap="square" lIns="0" tIns="0" rIns="0" bIns="0" anchor="ctr"/>
          <a:lstStyle/>
          <a:p>
            <a:pPr marL="0" indent="0">
              <a:buNone/>
            </a:pPr>
            <a:r>
              <a:rPr sz="2400" b="1" spc="100">
                <a:solidFill>
                  <a:srgbClr val="B0341F"/>
                </a:solidFill>
                <a:latin typeface="Calibri"/>
                <a:ea typeface="Calibri"/>
                <a:cs typeface="Calibri"/>
              </a:rPr>
              <a:t>MEASURE</a:t>
            </a:r>
            <a:endParaRPr sz="2400"/>
          </a:p>
        </p:txBody>
      </p:sp>
      <p:sp>
        <p:nvSpPr>
          <p:cNvPr id="8" name="Text 6">
            <a:extLst>
              <a:ext uri="{FF2B5EF4-FFF2-40B4-BE49-F238E27FC236}">
                <a16:creationId xmlns:a16="http://schemas.microsoft.com/office/drawing/2014/main" id="{816038B4-BCCA-4085-8C97-5AD3DAD52E3E}"/>
              </a:ext>
            </a:extLst>
          </p:cNvPr>
          <p:cNvSpPr>
            <a:spLocks noGrp="1"/>
          </p:cNvSpPr>
          <p:nvPr/>
        </p:nvSpPr>
        <p:spPr>
          <a:xfrm>
            <a:off x="7589520" y="1773936"/>
            <a:ext cx="3776472" cy="402336"/>
          </a:xfrm>
          <a:prstGeom prst="rect">
            <a:avLst/>
          </a:prstGeom>
          <a:noFill/>
        </p:spPr>
        <p:txBody>
          <a:bodyPr wrap="square" lIns="0" tIns="0" rIns="0" bIns="0" anchor="ctr"/>
          <a:lstStyle/>
          <a:p>
            <a:pPr marL="0" indent="0" algn="r">
              <a:buNone/>
            </a:pPr>
            <a:r>
              <a:rPr sz="2400" b="1" spc="100">
                <a:solidFill>
                  <a:srgbClr val="B0341F"/>
                </a:solidFill>
                <a:latin typeface="Calibri"/>
                <a:ea typeface="Calibri"/>
                <a:cs typeface="Calibri"/>
              </a:rPr>
              <a:t>THRESHOLD</a:t>
            </a:r>
            <a:endParaRPr sz="2400"/>
          </a:p>
        </p:txBody>
      </p:sp>
      <p:sp>
        <p:nvSpPr>
          <p:cNvPr id="9" name="Shape 7">
            <a:extLst>
              <a:ext uri="{FF2B5EF4-FFF2-40B4-BE49-F238E27FC236}">
                <a16:creationId xmlns:a16="http://schemas.microsoft.com/office/drawing/2014/main" id="{294D4110-F5D1-46C8-BC24-C818094B397C}"/>
              </a:ext>
            </a:extLst>
          </p:cNvPr>
          <p:cNvSpPr>
            <a:spLocks noGrp="1"/>
          </p:cNvSpPr>
          <p:nvPr/>
        </p:nvSpPr>
        <p:spPr>
          <a:xfrm>
            <a:off x="822960" y="2249424"/>
            <a:ext cx="10545775" cy="0"/>
          </a:xfrm>
          <a:prstGeom prst="line">
            <a:avLst/>
          </a:prstGeom>
          <a:noFill/>
          <a:ln w="12700">
            <a:solidFill>
              <a:srgbClr val="1A1A1A"/>
            </a:solidFill>
            <a:prstDash val="solid"/>
          </a:ln>
        </p:spPr>
        <p:txBody>
          <a:bodyPr/>
          <a:lstStyle/>
          <a:p>
            <a:endParaRPr lang="en-US"/>
          </a:p>
        </p:txBody>
      </p:sp>
      <p:sp>
        <p:nvSpPr>
          <p:cNvPr id="10" name="Text 8">
            <a:extLst>
              <a:ext uri="{FF2B5EF4-FFF2-40B4-BE49-F238E27FC236}">
                <a16:creationId xmlns:a16="http://schemas.microsoft.com/office/drawing/2014/main" id="{AC66237D-461D-47FF-BDFD-10678F62C6B2}"/>
              </a:ext>
            </a:extLst>
          </p:cNvPr>
          <p:cNvSpPr>
            <a:spLocks noGrp="1"/>
          </p:cNvSpPr>
          <p:nvPr/>
        </p:nvSpPr>
        <p:spPr>
          <a:xfrm>
            <a:off x="822960" y="2377440"/>
            <a:ext cx="6583680" cy="530352"/>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Accuracy against expert labels</a:t>
            </a:r>
            <a:endParaRPr sz="2400"/>
          </a:p>
        </p:txBody>
      </p:sp>
      <p:sp>
        <p:nvSpPr>
          <p:cNvPr id="11" name="Text 9">
            <a:extLst>
              <a:ext uri="{FF2B5EF4-FFF2-40B4-BE49-F238E27FC236}">
                <a16:creationId xmlns:a16="http://schemas.microsoft.com/office/drawing/2014/main" id="{AC2F076D-3E0A-42DB-A584-3392657E82BF}"/>
              </a:ext>
            </a:extLst>
          </p:cNvPr>
          <p:cNvSpPr>
            <a:spLocks noGrp="1"/>
          </p:cNvSpPr>
          <p:nvPr/>
        </p:nvSpPr>
        <p:spPr>
          <a:xfrm>
            <a:off x="7589520" y="2377440"/>
            <a:ext cx="3776472" cy="530352"/>
          </a:xfrm>
          <a:prstGeom prst="rect">
            <a:avLst/>
          </a:prstGeom>
          <a:noFill/>
        </p:spPr>
        <p:txBody>
          <a:bodyPr wrap="square" lIns="0" tIns="0" rIns="0" bIns="0" anchor="ctr"/>
          <a:lstStyle/>
          <a:p>
            <a:pPr marL="0" indent="0" algn="r">
              <a:buNone/>
            </a:pPr>
            <a:r>
              <a:rPr lang="en-US" sz="2400" b="1">
                <a:solidFill>
                  <a:srgbClr val="0E6E67"/>
                </a:solidFill>
                <a:latin typeface="Calibri"/>
                <a:ea typeface="Calibri"/>
                <a:cs typeface="Calibri"/>
              </a:rPr>
              <a:t>≥80%</a:t>
            </a:r>
            <a:endParaRPr sz="2400"/>
          </a:p>
        </p:txBody>
      </p:sp>
      <p:sp>
        <p:nvSpPr>
          <p:cNvPr id="13" name="Text 11">
            <a:extLst>
              <a:ext uri="{FF2B5EF4-FFF2-40B4-BE49-F238E27FC236}">
                <a16:creationId xmlns:a16="http://schemas.microsoft.com/office/drawing/2014/main" id="{D6A4BCD7-91BA-4791-B5D0-99EC1646AE1F}"/>
              </a:ext>
            </a:extLst>
          </p:cNvPr>
          <p:cNvSpPr>
            <a:spLocks noGrp="1"/>
          </p:cNvSpPr>
          <p:nvPr/>
        </p:nvSpPr>
        <p:spPr>
          <a:xfrm>
            <a:off x="822960" y="3493008"/>
            <a:ext cx="6583680" cy="530352"/>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Handler acceptance</a:t>
            </a:r>
            <a:endParaRPr sz="2400"/>
          </a:p>
        </p:txBody>
      </p:sp>
      <p:sp>
        <p:nvSpPr>
          <p:cNvPr id="14" name="Text 12">
            <a:extLst>
              <a:ext uri="{FF2B5EF4-FFF2-40B4-BE49-F238E27FC236}">
                <a16:creationId xmlns:a16="http://schemas.microsoft.com/office/drawing/2014/main" id="{ADA3679A-3796-41F1-A32F-3186C0C58C1F}"/>
              </a:ext>
            </a:extLst>
          </p:cNvPr>
          <p:cNvSpPr>
            <a:spLocks noGrp="1"/>
          </p:cNvSpPr>
          <p:nvPr/>
        </p:nvSpPr>
        <p:spPr>
          <a:xfrm>
            <a:off x="7589520" y="3493008"/>
            <a:ext cx="3776472" cy="530352"/>
          </a:xfrm>
          <a:prstGeom prst="rect">
            <a:avLst/>
          </a:prstGeom>
          <a:noFill/>
        </p:spPr>
        <p:txBody>
          <a:bodyPr wrap="square" lIns="0" tIns="0" rIns="0" bIns="0" anchor="ctr"/>
          <a:lstStyle/>
          <a:p>
            <a:pPr marL="0" indent="0" algn="r">
              <a:buNone/>
            </a:pPr>
            <a:r>
              <a:rPr lang="en-US" sz="2400" b="1">
                <a:solidFill>
                  <a:srgbClr val="0E6E67"/>
                </a:solidFill>
                <a:latin typeface="Calibri"/>
                <a:ea typeface="Calibri"/>
                <a:cs typeface="Calibri"/>
              </a:rPr>
              <a:t>75–97%</a:t>
            </a:r>
            <a:endParaRPr sz="2400"/>
          </a:p>
        </p:txBody>
      </p:sp>
      <p:sp>
        <p:nvSpPr>
          <p:cNvPr id="16" name="Text 14">
            <a:extLst>
              <a:ext uri="{FF2B5EF4-FFF2-40B4-BE49-F238E27FC236}">
                <a16:creationId xmlns:a16="http://schemas.microsoft.com/office/drawing/2014/main" id="{D8B0011A-E7AE-4D6B-92D7-53FA1420693C}"/>
              </a:ext>
            </a:extLst>
          </p:cNvPr>
          <p:cNvSpPr>
            <a:spLocks noGrp="1"/>
          </p:cNvSpPr>
          <p:nvPr/>
        </p:nvSpPr>
        <p:spPr>
          <a:xfrm>
            <a:off x="822960" y="4608576"/>
            <a:ext cx="6583680" cy="530352"/>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Ungrounded outputs reaching a handler</a:t>
            </a:r>
            <a:endParaRPr sz="2400"/>
          </a:p>
        </p:txBody>
      </p:sp>
      <p:sp>
        <p:nvSpPr>
          <p:cNvPr id="17" name="Text 15">
            <a:extLst>
              <a:ext uri="{FF2B5EF4-FFF2-40B4-BE49-F238E27FC236}">
                <a16:creationId xmlns:a16="http://schemas.microsoft.com/office/drawing/2014/main" id="{68C15AD1-588F-49EB-B88D-F93A12CD6AB1}"/>
              </a:ext>
            </a:extLst>
          </p:cNvPr>
          <p:cNvSpPr>
            <a:spLocks noGrp="1"/>
          </p:cNvSpPr>
          <p:nvPr/>
        </p:nvSpPr>
        <p:spPr>
          <a:xfrm>
            <a:off x="7589520" y="4608576"/>
            <a:ext cx="3776472" cy="530352"/>
          </a:xfrm>
          <a:prstGeom prst="rect">
            <a:avLst/>
          </a:prstGeom>
          <a:noFill/>
        </p:spPr>
        <p:txBody>
          <a:bodyPr wrap="square" lIns="0" tIns="0" rIns="0" bIns="0" anchor="ctr"/>
          <a:lstStyle/>
          <a:p>
            <a:pPr marL="0" indent="0" algn="r">
              <a:buNone/>
            </a:pPr>
            <a:r>
              <a:rPr lang="en-US" sz="2400" b="1">
                <a:solidFill>
                  <a:srgbClr val="0E6E67"/>
                </a:solidFill>
                <a:latin typeface="Calibri"/>
                <a:ea typeface="Calibri"/>
                <a:cs typeface="Calibri"/>
              </a:rPr>
              <a:t>Zero</a:t>
            </a:r>
            <a:endParaRPr sz="2400"/>
          </a:p>
        </p:txBody>
      </p:sp>
      <p:sp>
        <p:nvSpPr>
          <p:cNvPr id="19" name="Text 17">
            <a:extLst>
              <a:ext uri="{FF2B5EF4-FFF2-40B4-BE49-F238E27FC236}">
                <a16:creationId xmlns:a16="http://schemas.microsoft.com/office/drawing/2014/main" id="{16AD003C-3489-43C2-973E-366E09485037}"/>
              </a:ext>
            </a:extLst>
          </p:cNvPr>
          <p:cNvSpPr>
            <a:spLocks noGrp="1"/>
          </p:cNvSpPr>
          <p:nvPr/>
        </p:nvSpPr>
        <p:spPr>
          <a:xfrm>
            <a:off x="822960" y="5166360"/>
            <a:ext cx="6583680" cy="530352"/>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Correct abstention</a:t>
            </a:r>
            <a:endParaRPr sz="2400"/>
          </a:p>
        </p:txBody>
      </p:sp>
      <p:sp>
        <p:nvSpPr>
          <p:cNvPr id="20" name="Text 18">
            <a:extLst>
              <a:ext uri="{FF2B5EF4-FFF2-40B4-BE49-F238E27FC236}">
                <a16:creationId xmlns:a16="http://schemas.microsoft.com/office/drawing/2014/main" id="{6F4DB6FB-5B57-4BBB-A958-01B7AB305FC7}"/>
              </a:ext>
            </a:extLst>
          </p:cNvPr>
          <p:cNvSpPr>
            <a:spLocks noGrp="1"/>
          </p:cNvSpPr>
          <p:nvPr/>
        </p:nvSpPr>
        <p:spPr>
          <a:xfrm>
            <a:off x="7589520" y="5166360"/>
            <a:ext cx="3776472" cy="530352"/>
          </a:xfrm>
          <a:prstGeom prst="rect">
            <a:avLst/>
          </a:prstGeom>
          <a:noFill/>
        </p:spPr>
        <p:txBody>
          <a:bodyPr wrap="square" lIns="0" tIns="0" rIns="0" bIns="0" anchor="ctr"/>
          <a:lstStyle/>
          <a:p>
            <a:pPr marL="0" indent="0" algn="r">
              <a:buNone/>
            </a:pPr>
            <a:r>
              <a:rPr lang="en-US" sz="2400" b="1">
                <a:solidFill>
                  <a:srgbClr val="0E6E67"/>
                </a:solidFill>
                <a:latin typeface="Calibri"/>
                <a:ea typeface="Calibri"/>
                <a:cs typeface="Calibri"/>
              </a:rPr>
              <a:t>≥95%</a:t>
            </a:r>
            <a:endParaRPr sz="2400"/>
          </a:p>
        </p:txBody>
      </p:sp>
      <p:sp>
        <p:nvSpPr>
          <p:cNvPr id="22" name="Text 20">
            <a:extLst>
              <a:ext uri="{FF2B5EF4-FFF2-40B4-BE49-F238E27FC236}">
                <a16:creationId xmlns:a16="http://schemas.microsoft.com/office/drawing/2014/main" id="{26863846-805A-4D8E-9CC5-D56AA2B8C9DD}"/>
              </a:ext>
            </a:extLst>
          </p:cNvPr>
          <p:cNvSpPr>
            <a:spLocks noGrp="1"/>
          </p:cNvSpPr>
          <p:nvPr/>
        </p:nvSpPr>
        <p:spPr>
          <a:xfrm>
            <a:off x="822960" y="5724144"/>
            <a:ext cx="6583680" cy="530352"/>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Anomaly precision on disposition</a:t>
            </a:r>
            <a:endParaRPr sz="2400"/>
          </a:p>
        </p:txBody>
      </p:sp>
      <p:sp>
        <p:nvSpPr>
          <p:cNvPr id="23" name="Text 21">
            <a:extLst>
              <a:ext uri="{FF2B5EF4-FFF2-40B4-BE49-F238E27FC236}">
                <a16:creationId xmlns:a16="http://schemas.microsoft.com/office/drawing/2014/main" id="{C69919A8-61E5-4E11-8520-C4E8E98EA53C}"/>
              </a:ext>
            </a:extLst>
          </p:cNvPr>
          <p:cNvSpPr>
            <a:spLocks noGrp="1"/>
          </p:cNvSpPr>
          <p:nvPr/>
        </p:nvSpPr>
        <p:spPr>
          <a:xfrm>
            <a:off x="7589520" y="5724144"/>
            <a:ext cx="3776472" cy="530352"/>
          </a:xfrm>
          <a:prstGeom prst="rect">
            <a:avLst/>
          </a:prstGeom>
          <a:noFill/>
        </p:spPr>
        <p:txBody>
          <a:bodyPr wrap="square" lIns="0" tIns="0" rIns="0" bIns="0" anchor="ctr"/>
          <a:lstStyle/>
          <a:p>
            <a:pPr marL="0" indent="0" algn="r">
              <a:buNone/>
            </a:pPr>
            <a:r>
              <a:rPr lang="en-US" sz="2400" b="1">
                <a:solidFill>
                  <a:srgbClr val="0E6E67"/>
                </a:solidFill>
                <a:latin typeface="Calibri"/>
                <a:ea typeface="Calibri"/>
                <a:cs typeface="Calibri"/>
              </a:rPr>
              <a:t>≥30%</a:t>
            </a:r>
            <a:endParaRPr sz="2400"/>
          </a:p>
        </p:txBody>
      </p:sp>
      <p:sp>
        <p:nvSpPr>
          <p:cNvPr id="24" name="Text 24">
            <a:extLst>
              <a:ext uri="{FF2B5EF4-FFF2-40B4-BE49-F238E27FC236}">
                <a16:creationId xmlns:a16="http://schemas.microsoft.com/office/drawing/2014/main" id="{AC66237D-461D-47FF-BDFD-10678F62C6B2}"/>
              </a:ext>
            </a:extLst>
          </p:cNvPr>
          <p:cNvSpPr>
            <a:spLocks noGrp="1"/>
          </p:cNvSpPr>
          <p:nvPr/>
        </p:nvSpPr>
        <p:spPr>
          <a:xfrm>
            <a:off x="822960" y="2935224"/>
            <a:ext cx="6583680" cy="530352"/>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Triage-time reduction</a:t>
            </a:r>
            <a:endParaRPr sz="2400"/>
          </a:p>
        </p:txBody>
      </p:sp>
      <p:sp>
        <p:nvSpPr>
          <p:cNvPr id="25" name="Text 25">
            <a:extLst>
              <a:ext uri="{FF2B5EF4-FFF2-40B4-BE49-F238E27FC236}">
                <a16:creationId xmlns:a16="http://schemas.microsoft.com/office/drawing/2014/main" id="{AC2F076D-3E0A-42DB-A584-3392657E82BF}"/>
              </a:ext>
            </a:extLst>
          </p:cNvPr>
          <p:cNvSpPr>
            <a:spLocks noGrp="1"/>
          </p:cNvSpPr>
          <p:nvPr/>
        </p:nvSpPr>
        <p:spPr>
          <a:xfrm>
            <a:off x="7589520" y="2935224"/>
            <a:ext cx="3776472" cy="530352"/>
          </a:xfrm>
          <a:prstGeom prst="rect">
            <a:avLst/>
          </a:prstGeom>
          <a:noFill/>
        </p:spPr>
        <p:txBody>
          <a:bodyPr wrap="square" lIns="0" tIns="0" rIns="0" bIns="0" anchor="ctr"/>
          <a:lstStyle/>
          <a:p>
            <a:pPr marL="0" indent="0" algn="r">
              <a:buNone/>
            </a:pPr>
            <a:r>
              <a:rPr lang="en-US" sz="2400" b="1">
                <a:solidFill>
                  <a:srgbClr val="0E6E67"/>
                </a:solidFill>
                <a:latin typeface="Calibri"/>
                <a:ea typeface="Calibri"/>
                <a:cs typeface="Calibri"/>
              </a:rPr>
              <a:t>≥40%</a:t>
            </a:r>
            <a:endParaRPr sz="2400"/>
          </a:p>
        </p:txBody>
      </p:sp>
      <p:sp>
        <p:nvSpPr>
          <p:cNvPr id="26" name="Text 26">
            <a:extLst>
              <a:ext uri="{FF2B5EF4-FFF2-40B4-BE49-F238E27FC236}">
                <a16:creationId xmlns:a16="http://schemas.microsoft.com/office/drawing/2014/main" id="{D6A4BCD7-91BA-4791-B5D0-99EC1646AE1F}"/>
              </a:ext>
            </a:extLst>
          </p:cNvPr>
          <p:cNvSpPr>
            <a:spLocks noGrp="1"/>
          </p:cNvSpPr>
          <p:nvPr/>
        </p:nvSpPr>
        <p:spPr>
          <a:xfrm>
            <a:off x="822960" y="4050791"/>
            <a:ext cx="6583680" cy="530352"/>
          </a:xfrm>
          <a:prstGeom prst="rect">
            <a:avLst/>
          </a:prstGeom>
          <a:noFill/>
        </p:spPr>
        <p:txBody>
          <a:bodyPr wrap="square" lIns="0" tIns="0" rIns="0" bIns="0" anchor="ctr"/>
          <a:lstStyle/>
          <a:p>
            <a:pPr marL="0" indent="0">
              <a:buNone/>
            </a:pPr>
            <a:r>
              <a:rPr sz="2400">
                <a:solidFill>
                  <a:srgbClr val="1A1A1A"/>
                </a:solidFill>
                <a:latin typeface="Calibri"/>
                <a:ea typeface="Calibri"/>
                <a:cs typeface="Calibri"/>
              </a:rPr>
              <a:t>Oversight effort</a:t>
            </a:r>
            <a:endParaRPr sz="2400"/>
          </a:p>
        </p:txBody>
      </p:sp>
      <p:sp>
        <p:nvSpPr>
          <p:cNvPr id="27" name="Text 27">
            <a:extLst>
              <a:ext uri="{FF2B5EF4-FFF2-40B4-BE49-F238E27FC236}">
                <a16:creationId xmlns:a16="http://schemas.microsoft.com/office/drawing/2014/main" id="{ADA3679A-3796-41F1-A32F-3186C0C58C1F}"/>
              </a:ext>
            </a:extLst>
          </p:cNvPr>
          <p:cNvSpPr>
            <a:spLocks noGrp="1"/>
          </p:cNvSpPr>
          <p:nvPr/>
        </p:nvSpPr>
        <p:spPr>
          <a:xfrm>
            <a:off x="7589520" y="4050791"/>
            <a:ext cx="3776472" cy="530352"/>
          </a:xfrm>
          <a:prstGeom prst="rect">
            <a:avLst/>
          </a:prstGeom>
          <a:noFill/>
        </p:spPr>
        <p:txBody>
          <a:bodyPr wrap="square" lIns="0" tIns="0" rIns="0" bIns="0" anchor="ctr"/>
          <a:lstStyle/>
          <a:p>
            <a:pPr marL="0" indent="0" algn="r">
              <a:buNone/>
            </a:pPr>
            <a:r>
              <a:rPr lang="en-US" sz="2400" b="1">
                <a:solidFill>
                  <a:srgbClr val="0E6E67"/>
                </a:solidFill>
                <a:latin typeface="Calibri"/>
                <a:ea typeface="Calibri"/>
                <a:cs typeface="Calibri"/>
              </a:rPr>
              <a:t>≤3 days / quarter</a:t>
            </a:r>
            <a:endParaRPr sz="2400"/>
          </a:p>
        </p:txBody>
      </p:sp>
      <p:sp>
        <p:nvSpPr>
          <p:cNvPr id="28" name="Text 28">
            <a:extLst>
              <a:ext uri="{FF2B5EF4-FFF2-40B4-BE49-F238E27FC236}">
                <a16:creationId xmlns:a16="http://schemas.microsoft.com/office/drawing/2014/main" id="{63B9D409-8C59-4EE8-9F81-477501B698BB}"/>
              </a:ext>
            </a:extLst>
          </p:cNvPr>
          <p:cNvSpPr>
            <a:spLocks noGrp="1"/>
          </p:cNvSpPr>
          <p:nvPr/>
        </p:nvSpPr>
        <p:spPr>
          <a:xfrm>
            <a:off x="822960" y="5120640"/>
            <a:ext cx="10543032" cy="0"/>
          </a:xfrm>
          <a:prstGeom prst="line">
            <a:avLst/>
          </a:prstGeom>
          <a:noFill/>
          <a:ln w="12700">
            <a:solidFill>
              <a:srgbClr val="E0E0E0"/>
            </a:solidFill>
            <a:prstDash val="solid"/>
          </a:ln>
        </p:spPr>
        <p:txBody>
          <a:bodyPr/>
          <a:lstStyle/>
          <a:p>
            <a:endParaRPr lang="en-US"/>
          </a:p>
        </p:txBody>
      </p:sp>
      <p:sp>
        <p:nvSpPr>
          <p:cNvPr id="29" name="Text 29">
            <a:extLst>
              <a:ext uri="{FF2B5EF4-FFF2-40B4-BE49-F238E27FC236}">
                <a16:creationId xmlns:a16="http://schemas.microsoft.com/office/drawing/2014/main" id="{E5C7F522-0E9E-48A9-92E0-5ECDC641418F}"/>
              </a:ext>
            </a:extLst>
          </p:cNvPr>
          <p:cNvSpPr>
            <a:spLocks noGrp="1"/>
          </p:cNvSpPr>
          <p:nvPr/>
        </p:nvSpPr>
        <p:spPr>
          <a:xfrm>
            <a:off x="822960" y="5678424"/>
            <a:ext cx="10543032" cy="0"/>
          </a:xfrm>
          <a:prstGeom prst="line">
            <a:avLst/>
          </a:prstGeom>
          <a:noFill/>
          <a:ln w="12700">
            <a:solidFill>
              <a:srgbClr val="E0E0E0"/>
            </a:solidFill>
            <a:prstDash val="solid"/>
          </a:ln>
        </p:spPr>
        <p:txBody>
          <a:bodyPr/>
          <a:lstStyle/>
          <a:p>
            <a:endParaRPr lang="en-US"/>
          </a:p>
        </p:txBody>
      </p:sp>
      <p:sp>
        <p:nvSpPr>
          <p:cNvPr id="36" name="Rectangle 35"/>
          <p:cNvSpPr/>
          <p:nvPr/>
        </p:nvSpPr>
        <p:spPr>
          <a:xfrm>
            <a:off x="0" y="0"/>
            <a:ext cx="50292" cy="6355080"/>
          </a:xfrm>
          <a:prstGeom prst="rect">
            <a:avLst/>
          </a:prstGeom>
          <a:solidFill>
            <a:srgbClr val="B034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058745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2969</Words>
  <Application>Microsoft Macintosh PowerPoint</Application>
  <DocSecurity>0</DocSecurity>
  <PresentationFormat>Widescreen</PresentationFormat>
  <Paragraphs>248</Paragraphs>
  <Slides>15</Slides>
  <Notes>15</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Nnanyelugo Ahukannah</cp:lastModifiedBy>
  <cp:revision>5</cp:revision>
  <dcterms:created xsi:type="dcterms:W3CDTF">2026-09-03T18:35:01Z</dcterms:created>
  <dcterms:modified xsi:type="dcterms:W3CDTF">2026-09-04T10:48:20Z</dcterms:modified>
</cp:coreProperties>
</file>