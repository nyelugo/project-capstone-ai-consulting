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Don't read the slide.]</a:t>
            </a:r>
          </a:p>
          <a:p>
            <a:r>
              <a:t>[Whole deck: you are in the room with Chleo's team. Speak to them as "you". Step out only at</a:t>
            </a:r>
          </a:p>
          <a:p>
            <a:r>
              <a:t>the very end if the staff want the assessor view.]</a:t>
            </a:r>
          </a:p>
          <a:p/>
          <a:p>
            <a:r>
              <a:t>Three capabilities, all running. One decision you can watch end to end. And the business</a:t>
            </a:r>
          </a:p>
          <a:p>
            <a:r>
              <a:t>case as it actually came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seconds. Don't linger.]</a:t>
            </a:r>
          </a:p>
          <a:p/>
          <a:p>
            <a:r>
              <a:t>Direction is unchanged: same sector, same firm, same lead use case.</a:t>
            </a:r>
          </a:p>
          <a:p/>
          <a:p>
            <a:r>
              <a:t>Scope widened. Round 1 proposed three use cases and built one; all three are built now. And</a:t>
            </a:r>
          </a:p>
          <a:p>
            <a:r>
              <a:t>two things got harder rather than easier — a real ROI number in place of a cost estimate,</a:t>
            </a:r>
          </a:p>
          <a:p>
            <a:r>
              <a:t>and the AI Act work Round 1 deliberately refused to guess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jobs your people do, and they're the same job wearing three coats.</a:t>
            </a:r>
          </a:p>
          <a:p/>
          <a:p>
            <a:r>
              <a:t>Routing: two and a half thousand complaints a year, sixty-four categories. Two of your</a:t>
            </a:r>
          </a:p>
          <a:p>
            <a:r>
              <a:t>handlers read the same complaint and pick different categories — not because either is</a:t>
            </a:r>
          </a:p>
          <a:p>
            <a:r>
              <a:t>wrong, but because neighbouring categories describe the same event.</a:t>
            </a:r>
          </a:p>
          <a:p/>
          <a:p>
            <a:r>
              <a:t>Reporting: the regulatory return gets built by hand, under deadline, by the people who can</a:t>
            </a:r>
          </a:p>
          <a:p>
            <a:r>
              <a:t>least afford the day.</a:t>
            </a:r>
          </a:p>
          <a:p/>
          <a:p>
            <a:r>
              <a:t>And fraud. Seven per cent of your complaints are unauthorised transactions — by the time you</a:t>
            </a:r>
          </a:p>
          <a:p>
            <a:r>
              <a:t>hear about it, the money has gone.</a:t>
            </a:r>
          </a:p>
          <a:p/>
          <a:p>
            <a:r>
              <a:t>[Land this:] High volume, low complexity, unstructured text. The shape a firm your size can</a:t>
            </a:r>
          </a:p>
          <a:p>
            <a:r>
              <a:t>neither automate with rules nor afford to staff properly.</a:t>
            </a:r>
          </a:p>
          <a:p/>
          <a:p>
            <a:r>
              <a:t>What stops this being solved isn't technical. It is that nobody can see what such a system</a:t>
            </a:r>
          </a:p>
          <a:p>
            <a:r>
              <a:t>does — and a decision you cannot see is one you cannot sign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here's the answer to that.</a:t>
            </a:r>
          </a:p>
          <a:p/>
          <a:p>
            <a:r>
              <a:t>Four steps. It validates what comes in. The model proposes something. Guards check the</a:t>
            </a:r>
          </a:p>
          <a:p>
            <a:r>
              <a:t>proposal is actually grounded in evidence that exists. And then a person decides.</a:t>
            </a:r>
          </a:p>
          <a:p/>
          <a:p>
            <a:r>
              <a:t>[Point at the last arrow.] That step is not a feature, it is the whole design. There is no</a:t>
            </a:r>
          </a:p>
          <a:p>
            <a:r>
              <a:t>setting where this routes, files or blocks anything by itself.</a:t>
            </a:r>
          </a:p>
          <a:p/>
          <a:p>
            <a:r>
              <a:t>Every capability is those same four steps. Only the evidence changes — a sentence from the</a:t>
            </a:r>
          </a:p>
          <a:p>
            <a:r>
              <a:t>complaint, a figure we computed, or the transaction's own values.</a:t>
            </a:r>
          </a:p>
          <a:p/>
          <a:p>
            <a:r>
              <a:t>[Land this:] Which is why building all three cost 1.3 times building one — not three times.</a:t>
            </a:r>
          </a:p>
          <a:p/>
          <a:p>
            <a:r>
              <a:t>[Point at the strip.] And the checks earn it. On one batch this week it caught a fabrication</a:t>
            </a:r>
          </a:p>
          <a:p>
            <a:r>
              <a:t>in all three: two quotes that weren't in the complaint, six values that weren't in the</a:t>
            </a:r>
          </a:p>
          <a:p>
            <a:r>
              <a:t>transaction, one figure we never computed.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This slide is your fallback if it's cold.]</a:t>
            </a:r>
          </a:p>
          <a:p/>
          <a:p>
            <a:r>
              <a:t>Nine steps, left to right. That's the entire system — you can read it without me.</a:t>
            </a:r>
          </a:p>
          <a:p/>
          <a:p>
            <a:r>
              <a:t>[Run it.] Green ticks mean each step executed. It proposed Disputes and fraud, and quoted</a:t>
            </a:r>
          </a:p>
          <a:p>
            <a:r>
              <a:t>the customer's own sentence as the reason. Not a summary — her words. Then it stopped and</a:t>
            </a:r>
          </a:p>
          <a:p>
            <a:r>
              <a:t>waited for a person.</a:t>
            </a:r>
          </a:p>
          <a:p/>
          <a:p>
            <a:r>
              <a:t>[If time, edit the complaint and re-run.] When it isn't sure it doesn't fail. It says which</a:t>
            </a:r>
          </a:p>
          <a:p>
            <a:r>
              <a:t>check stopped it, in words a handler can act on.</a:t>
            </a:r>
          </a:p>
          <a:p/>
          <a:p>
            <a:r>
              <a:t>[Three things to say before you move on.]</a:t>
            </a:r>
          </a:p>
          <a:p/>
          <a:p>
            <a:r>
              <a:t>Tools: n8n, because your team can read it as boxes and arrows — a Python script would have</a:t>
            </a:r>
          </a:p>
          <a:p>
            <a:r>
              <a:t>been quicker to write and impossible to show you.</a:t>
            </a:r>
          </a:p>
          <a:p/>
          <a:p>
            <a:r>
              <a:t>What it does not prove is accuracy. It agrees with the public dataset's labels sixty per</a:t>
            </a:r>
          </a:p>
          <a:p>
            <a:r>
              <a:t>cent of the time, and those labels were picked by the complainant from a dropdown. That is</a:t>
            </a:r>
          </a:p>
          <a:p>
            <a:r>
              <a:t>agreement, not accuracy.</a:t>
            </a:r>
          </a:p>
          <a:p/>
          <a:p>
            <a:r>
              <a:t>In production the trigger is your case system rather than a button, rejected inputs get</a:t>
            </a:r>
          </a:p>
          <a:p>
            <a:r>
              <a:t>traced too, and delivery is confirmed back — today it records the decision, not the receipt.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down. Do not apologise for this slide.]</a:t>
            </a:r>
          </a:p>
          <a:p/>
          <a:p>
            <a:r>
              <a:t>Built as a one-off for a firm this size, it does not pay back. Minus thirty-one per cent</a:t>
            </a:r>
          </a:p>
          <a:p>
            <a:r>
              <a:t>over three years, break-even in month sixty-nine.</a:t>
            </a:r>
          </a:p>
          <a:p/>
          <a:p>
            <a:r>
              <a:t>That number could have been positive — start the benefits on day one, or trim the oversight</a:t>
            </a:r>
          </a:p>
          <a:p>
            <a:r>
              <a:t>line. Both would have been wrong, and both would have surfaced in the pilot.</a:t>
            </a:r>
          </a:p>
          <a:p/>
          <a:p>
            <a:r>
              <a:t>The capability is fine; the commercial shape is wrong. A bespoke build needs about three</a:t>
            </a:r>
          </a:p>
          <a:p>
            <a:r>
              <a:t>thousand eight hundred complaints a year to pay for itself, and this firm has two and a</a:t>
            </a:r>
          </a:p>
          <a:p>
            <a:r>
              <a:t>half thousand — a third too small. That is a fact about size, not about the technology.</a:t>
            </a:r>
          </a:p>
          <a:p/>
          <a:p>
            <a:r>
              <a:t>[Point at the bottom two rows.] Move the oversight in-house after handover and it's minus</a:t>
            </a:r>
          </a:p>
          <a:p>
            <a:r>
              <a:t>nine. Share the build across five firms your size and it turns positive. Do both and it's</a:t>
            </a:r>
          </a:p>
          <a:p>
            <a:r>
              <a:t>plus ninety-six. The system is identical in every row. The only thing changing is who pays</a:t>
            </a:r>
          </a:p>
          <a:p>
            <a:r>
              <a:t>for the build.</a:t>
            </a:r>
          </a:p>
          <a:p/>
          <a:p>
            <a:r>
              <a:t>[Land this:] So I'm not asking you to fund a deployment. Eighteen thousand two hundred buys</a:t>
            </a:r>
          </a:p>
          <a:p>
            <a:r>
              <a:t>you a decision, on your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full matrix — twelve risks are scored in the pack. Three you should care about.</a:t>
            </a:r>
          </a:p>
          <a:p/>
          <a:p>
            <a:r>
              <a:t>The first is that I'm wrong about the value. Likelihood four, impact five, and I've priced</a:t>
            </a:r>
          </a:p>
          <a:p>
            <a:r>
              <a:t>it rather than argued it away: fixed fee per phase means you can stop at eighteen thousand.</a:t>
            </a:r>
          </a:p>
          <a:p/>
          <a:p>
            <a:r>
              <a:t>The second is the one nobody sells you. Your handlers stop reading and just click accept.</a:t>
            </a:r>
          </a:p>
          <a:p>
            <a:r>
              <a:t>[Beat.] So I measure acceptance per handler, and anything above ninety-seven per cent is a</a:t>
            </a:r>
          </a:p>
          <a:p>
            <a:r>
              <a:t>failure condition — not a success. That's the one number in here a vendor would never offer</a:t>
            </a:r>
          </a:p>
          <a:p>
            <a:r>
              <a:t>you.</a:t>
            </a:r>
          </a:p>
          <a:p/>
          <a:p>
            <a:r>
              <a:t>Third: oversight costing more than it saves. One shared design means one review covers all</a:t>
            </a:r>
          </a:p>
          <a:p>
            <a:r>
              <a:t>three, and it's instrumented from day one so you'll know the real cost by the end of the</a:t>
            </a:r>
          </a:p>
          <a:p>
            <a:r>
              <a:t>pilot rather than in year two.</a:t>
            </a:r>
          </a:p>
          <a:p/>
          <a:p>
            <a:r>
              <a:t>[Land this:] The two biggest risks aren't technical. They're about how you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[This is your Compliance Officer's slide. Slow down.]</a:t>
            </a:r>
          </a:p>
          <a:p/>
          <a:p>
            <a:r>
              <a:t>Not high-risk under the AI Act. But the reason matters more than the label, so here it is.</a:t>
            </a:r>
          </a:p>
          <a:p/>
          <a:p>
            <a:r>
              <a:t>Not Annex Three, because it never evaluates creditworthiness — the trap everyone expects to</a:t>
            </a:r>
          </a:p>
          <a:p>
            <a:r>
              <a:t>catch a bank, and why credit scoring is excluded by design. Article Four, AI literacy,</a:t>
            </a:r>
          </a:p>
          <a:p>
            <a:r>
              <a:t>applies today whatever the tier, which is why training is funded rather than assumed.</a:t>
            </a:r>
          </a:p>
          <a:p/>
          <a:p>
            <a:r>
              <a:t>Two questions are left for counsel, both on anomaly flagging, both cheaper to answer before</a:t>
            </a:r>
          </a:p>
          <a:p>
            <a:r>
              <a:t>it is built.</a:t>
            </a:r>
          </a:p>
          <a:p/>
          <a:p>
            <a:r>
              <a:t>On the right, the part worth stating plainly. We pseudonymise the reference — but the</a:t>
            </a:r>
          </a:p>
          <a:p>
            <a:r>
              <a:t>complaint narrative goes to the model in full. Anyone who says "it's fine, the data is</a:t>
            </a:r>
          </a:p>
          <a:p>
            <a:r>
              <a:t>pseudonymised" has not read the system. So the transfer work is a gate before any pilot on</a:t>
            </a:r>
          </a:p>
          <a:p>
            <a:r>
              <a:t>real customer data.</a:t>
            </a:r>
          </a:p>
          <a:p/>
          <a:p>
            <a:r>
              <a:t>[Land this:] What keeps this out of the high-risk tier isn't a clever argument. It's a design</a:t>
            </a:r>
          </a:p>
          <a:p>
            <a:r>
              <a:t>property: it proposes, a person decides. Take that away and the classification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phases, and the first one is the odd one.</a:t>
            </a:r>
          </a:p>
          <a:p/>
          <a:p>
            <a:r>
              <a:t>Phase zero buys two of your handlers labelling three hundred complaints, before any AI</a:t>
            </a:r>
          </a:p>
          <a:p>
            <a:r>
              <a:t>touches anything. That's the ground truth that doesn't exist today. And it's worth buying</a:t>
            </a:r>
          </a:p>
          <a:p>
            <a:r>
              <a:t>even if you never build this — because if two of your trained people only agree seventy per</a:t>
            </a:r>
          </a:p>
          <a:p>
            <a:r>
              <a:t>cent of the time, no software will do better, and your problem is the taxonomy, not the</a:t>
            </a:r>
          </a:p>
          <a:p>
            <a:r>
              <a:t>technology. That's a finding worth five thousand six hundred on its own.</a:t>
            </a:r>
          </a:p>
          <a:p/>
          <a:p>
            <a:r>
              <a:t>Phase one is sixty days of shadow running. It proposes alongside your team, nobody acts on</a:t>
            </a:r>
          </a:p>
          <a:p>
            <a:r>
              <a:t>it, nothing changes for a customer. And we measure the gap between what it said and what</a:t>
            </a:r>
          </a:p>
          <a:p>
            <a:r>
              <a:t>your handler did.</a:t>
            </a:r>
          </a:p>
          <a:p/>
          <a:p>
            <a:r>
              <a:t>Phase two only happens if it clears three gates: eighty per cent accuracy against your own</a:t>
            </a:r>
          </a:p>
          <a:p>
            <a:r>
              <a:t>labels, handler acceptance between seventy-five and ninety-seven, and zero ungrounded</a:t>
            </a:r>
          </a:p>
          <a:p>
            <a:r>
              <a:t>outputs reaching a person. That last one is absolute.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app. Backup recording if it's cold.]</a:t>
            </a:r>
          </a:p>
          <a:p/>
          <a:p>
            <a:r>
              <a:t>The workflow showed you it was possible. This is the product.</a:t>
            </a:r>
          </a:p>
          <a:p/>
          <a:p>
            <a:r>
              <a:t>[Point at the list.] It's a queue — read overnight. Nobody types a complaint into a box it</a:t>
            </a:r>
          </a:p>
          <a:p>
            <a:r>
              <a:t>already arrived in.</a:t>
            </a:r>
          </a:p>
          <a:p/>
          <a:p>
            <a:r>
              <a:t>[Point at the deadline column.] And that's the column your regulator asks about. Your own</a:t>
            </a:r>
          </a:p>
          <a:p>
            <a:r>
              <a:t>book had three hundred and thirty-five that missed a deadline; this one sorts by it.</a:t>
            </a:r>
          </a:p>
          <a:p/>
          <a:p>
            <a:r>
              <a:t>[Open a row.] Every check it ran, by name, and the one it failed. Not a confidence score —</a:t>
            </a:r>
          </a:p>
          <a:p>
            <a:r>
              <a:t>a list.</a:t>
            </a:r>
          </a:p>
          <a:p/>
          <a:p>
            <a:r>
              <a:t>[Point at the buttons.] Nothing has happened yet. Someone has to press that, and the press</a:t>
            </a:r>
          </a:p>
          <a:p>
            <a:r>
              <a:t>is recorded next to what the system proposed. A proposal with nobody's decision beside it</a:t>
            </a:r>
          </a:p>
          <a:p>
            <a:r>
              <a:t>isn't a decision, it's a suggestion nobody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pitching.]</a:t>
            </a:r>
          </a:p>
          <a:p/>
          <a:p>
            <a:r>
              <a:t>A sixty-day shadow pilot on your own complaints. Eighteen thousand two hundred. Nobody acts</a:t>
            </a:r>
          </a:p>
          <a:p>
            <a:r>
              <a:t>on a single suggestion.</a:t>
            </a:r>
          </a:p>
          <a:p/>
          <a:p>
            <a:r>
              <a:t>It works, it's lawful, and it does not yet pay for itself at this size.</a:t>
            </a:r>
          </a:p>
          <a:p/>
          <a:p>
            <a:r>
              <a:t>[Beat.] The pilot is what settles the third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[Divider. Don't 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Ask it the same complaint twice and it answers the same way nine times in ten. So it's</a:t>
            </a:r>
          </a:p>
          <a:p>
            <a:r>
              <a:t>consistent — it just disagrees with the official label. And that label was picked by the</a:t>
            </a:r>
          </a:p>
          <a:p>
            <a:r>
              <a:t>customer filing the complaint, from a dropdown, with no training.</a:t>
            </a:r>
          </a:p>
          <a:p/>
          <a:p>
            <a:r>
              <a:t>The fix isn't a cleverer model. It's better labels. That's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someone quotes the 100% back at you approvingly.]</a:t>
            </a:r>
          </a:p>
          <a:p/>
          <a:p>
            <a:r>
              <a:t>Don't let me get away with that number. I wrote the detector's thresholds and I wrote the</a:t>
            </a:r>
          </a:p>
          <a:p>
            <a:r>
              <a:t>generator that planted the anomalies. So it measures whether my code agrees with itself.</a:t>
            </a:r>
          </a:p>
          <a:p/>
          <a:p>
            <a:r>
              <a:t>It's the same trap as the sixty per cent, and I've bound the caveat to the figure in the</a:t>
            </a:r>
          </a:p>
          <a:p>
            <a:r>
              <a:t>code so it can't be lifted onto a slide on its own. Only a pilot on real traffic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Legal wants the reasoning. The slide shows four steps; these are all seven.]</a:t>
            </a:r>
          </a:p>
          <a:p/>
          <a:p>
            <a:r>
              <a:t>Seven steps in the assessment. The slide shows the four that decide the outcome.</a:t>
            </a:r>
          </a:p>
          <a:p/>
          <a:p>
            <a:r>
              <a:t>One: it is an AI system under Article 3(1) — inference from input to output.</a:t>
            </a:r>
          </a:p>
          <a:p>
            <a:r>
              <a:t>Two: not a prohibited practice under Article 5. One close call on anomaly flagging, and it</a:t>
            </a:r>
          </a:p>
          <a:p>
            <a:r>
              <a:t>is flagged for your counsel rather than waved through.</a:t>
            </a:r>
          </a:p>
          <a:p>
            <a:r>
              <a:t>Three: not a safety component of an Annex One product — nothing here goes into a regulated</a:t>
            </a:r>
          </a:p>
          <a:p>
            <a:r>
              <a:t>machine, so Article 6(1) does not apply.</a:t>
            </a:r>
          </a:p>
          <a:p>
            <a:r>
              <a:t>Four: not an Annex Three use case. This is the one that matters. Annex Three, point five(b)</a:t>
            </a:r>
          </a:p>
          <a:p>
            <a:r>
              <a:t>covers creditworthiness, and this system never evaluates it.</a:t>
            </a:r>
          </a:p>
          <a:p>
            <a:r>
              <a:t>Five: the Article 6(3) derogation is therefore not reached. Worth knowing why that matters —</a:t>
            </a:r>
          </a:p>
          <a:p>
            <a:r>
              <a:t>if step four ever failed, anomaly flagging alone would become high-risk, because it profiles,</a:t>
            </a:r>
          </a:p>
          <a:p>
            <a:r>
              <a:t>and the derogation cannot save something that profiles. Triage and reporting stay outside.</a:t>
            </a:r>
          </a:p>
          <a:p>
            <a:r>
              <a:t>That asymmetry is exactly why anomaly flagging is built last and can be switched off without</a:t>
            </a:r>
          </a:p>
          <a:p>
            <a:r>
              <a:t>touching the other two.</a:t>
            </a:r>
          </a:p>
          <a:p>
            <a:r>
              <a:t>Six: Article 50 transparency. No customer-facing surface, but generated drafts are marked</a:t>
            </a:r>
          </a:p>
          <a:p>
            <a:r>
              <a:t>anyway.</a:t>
            </a:r>
          </a:p>
          <a:p>
            <a:r>
              <a:t>Seven: the obligations that apply whatever the tier — Article 4 AI literacy applies today.</a:t>
            </a:r>
          </a:p>
          <a:p/>
          <a:p>
            <a:r>
              <a:t>[If pressed on the label:] What holds it out of the high-risk tier is not a claim, it is a</a:t>
            </a:r>
          </a:p>
          <a:p>
            <a:r>
              <a:t>design property: it proposes, a person decides. Remove that step and it is a new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Protection presses.]</a:t>
            </a:r>
          </a:p>
          <a:p/>
          <a:p>
            <a:r>
              <a:t>Three rows. The identifier never leaves — that part is tested, not assumed. The narrative</a:t>
            </a:r>
          </a:p>
          <a:p>
            <a:r>
              <a:t>does, in full, and the quoted sentence is stored in monitoring.</a:t>
            </a:r>
          </a:p>
          <a:p/>
          <a:p>
            <a:r>
              <a:t>Which is why the transfer work is a gate rather than a task. And the practical answer is</a:t>
            </a:r>
          </a:p>
          <a:p>
            <a:r>
              <a:t>cheap: the model is four thousandths of one per cent of running cost, so we can choose a</a:t>
            </a:r>
          </a:p>
          <a:p>
            <a:r>
              <a:t>provider on data protection instead of on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you'd know it worked.]</a:t>
            </a:r>
          </a:p>
          <a:p/>
          <a:p>
            <a:r>
              <a:t>Five gates. Miss any of the first three and we don't proceed.</a:t>
            </a:r>
          </a:p>
          <a:p/>
          <a:p>
            <a:r>
              <a:t>The acceptance rate has a ceiling as well as a floor, for the reason on slide seven.</a:t>
            </a:r>
          </a:p>
          <a:p/>
          <a:p>
            <a:r>
              <a:t>And note the last row: if anomaly flagging alone fails, we ship the other two. The</a:t>
            </a:r>
          </a:p>
          <a:p>
            <a:r>
              <a:t>architecture allows that, and the compliance work already flags it as the capability</a:t>
            </a:r>
          </a:p>
          <a:p>
            <a:r>
              <a:t>carrying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fraud one works.]</a:t>
            </a:r>
          </a:p>
          <a:p/>
          <a:p>
            <a:r>
              <a:t>The split matters. A deterministic detector decides what's unusual — arithmetic, same answer</a:t>
            </a:r>
          </a:p>
          <a:p>
            <a:r>
              <a:t>every time. The model only explains why, in language an analyst can act on. A language model</a:t>
            </a:r>
          </a:p>
          <a:p>
            <a:r>
              <a:t>can't compute a baseline and its mistakes aren't auditable, so it never chooses what to look</a:t>
            </a:r>
          </a:p>
          <a:p>
            <a:r>
              <a:t>at.</a:t>
            </a:r>
          </a:p>
          <a:p/>
          <a:p>
            <a:r>
              <a:t>It ranks by how far something departs from that account's own normal, never by the amount. A</a:t>
            </a:r>
          </a:p>
          <a:p>
            <a:r>
              <a:t>large but ordinary payment on a wealthy account doesn't outrank a small impossible one on a</a:t>
            </a:r>
          </a:p>
          <a:p>
            <a:r>
              <a:t>modest account. A predicted payout never orders the queue.</a:t>
            </a:r>
          </a:p>
          <a:p/>
          <a:p>
            <a:r>
              <a:t>And the guard earns its place here too. Six of fifty-six case notes quoted a figure that</a:t>
            </a:r>
          </a:p>
          <a:p>
            <a:r>
              <a:t>wasn't in the transaction record. Every one was stopped before an analyst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445A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CONSULTING CAPSTONE  ·  ROUND 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Complaint operations for a mid-size EU bank.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61104"/>
            <a:ext cx="11055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· mid-size EU retail bank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   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 after Round 1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client, same use case. The scope widened.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98064"/>
          <a:ext cx="1105509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48640"/>
                <a:gridCol w="525322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spc="100" kern="0" dirty="0">
                          <a:solidFill>
                            <a:srgbClr val="FFFFFF"/>
                          </a:solidFill>
                        </a:rPr>
                        <a:t>ROUND 1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spc="100" kern="0" dirty="0">
                          <a:solidFill>
                            <a:srgbClr val="1D2A32"/>
                          </a:solidFill>
                        </a:rPr>
                        <a:t>ROUND 2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Three proposed, one built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Three built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A workflow you could watch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An application you can use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AI Act work deferred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Classified, with reasoning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212080"/>
            <a:ext cx="11055096" cy="91440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212080"/>
            <a:ext cx="82296" cy="914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212080"/>
            <a:ext cx="10597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KEEP. No customer-facing chatbot. No credit scoring.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jobs, one shape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volume, low complexity, unstructured text.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350215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980944"/>
            <a:ext cx="30998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Routing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68096" y="3602736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2,426 a year, 64 categories. Two handlers disagree.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4343400" y="2798064"/>
            <a:ext cx="350215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544568" y="2980944"/>
            <a:ext cx="30998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4544568" y="3602736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return, built by hand under deadline.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8119872" y="2798064"/>
            <a:ext cx="3502152" cy="228600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8321040" y="2980944"/>
            <a:ext cx="30998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Fraud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8321040" y="3602736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 unauthorised. The money has already gone.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566928" y="5321808"/>
            <a:ext cx="11055096" cy="91440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2" name="Shape 19"/>
          <p:cNvSpPr/>
          <p:nvPr/>
        </p:nvSpPr>
        <p:spPr>
          <a:xfrm>
            <a:off x="566928" y="5321808"/>
            <a:ext cx="82296" cy="914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0"/>
          <p:cNvSpPr/>
          <p:nvPr/>
        </p:nvSpPr>
        <p:spPr>
          <a:xfrm>
            <a:off x="822960" y="5321808"/>
            <a:ext cx="10597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nobody can see is one nobody can sign off.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decision spine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is the same four steps.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2681478" cy="96012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" y="2798064"/>
            <a:ext cx="257175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input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3358134" y="2798064"/>
            <a:ext cx="2681478" cy="96012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5" name="Text 12"/>
          <p:cNvSpPr/>
          <p:nvPr/>
        </p:nvSpPr>
        <p:spPr>
          <a:xfrm>
            <a:off x="3403854" y="2798064"/>
            <a:ext cx="257175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proposes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6149340" y="2798064"/>
            <a:ext cx="2681478" cy="96012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7" name="Text 14"/>
          <p:cNvSpPr/>
          <p:nvPr/>
        </p:nvSpPr>
        <p:spPr>
          <a:xfrm>
            <a:off x="6195060" y="2798064"/>
            <a:ext cx="257175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check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8940546" y="2798064"/>
            <a:ext cx="2681478" cy="960120"/>
          </a:xfrm>
          <a:prstGeom prst="rightArrow">
            <a:avLst/>
          </a:prstGeom>
          <a:solidFill>
            <a:srgbClr val="2A78D6"/>
          </a:solidFill>
          <a:ln/>
        </p:spPr>
      </p:sp>
      <p:sp>
        <p:nvSpPr>
          <p:cNvPr id="19" name="Text 16"/>
          <p:cNvSpPr/>
          <p:nvPr/>
        </p:nvSpPr>
        <p:spPr>
          <a:xfrm>
            <a:off x="8986266" y="2798064"/>
            <a:ext cx="257175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D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566928" y="4032504"/>
            <a:ext cx="11055096" cy="91440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4032504"/>
            <a:ext cx="82296" cy="914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4032504"/>
            <a:ext cx="10597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evidence changes — a quote, a figure, a value.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66928" y="5221224"/>
            <a:ext cx="11055096" cy="9144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5221224"/>
            <a:ext cx="82296" cy="914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" y="5221224"/>
            <a:ext cx="10597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routes, files or blocks by itself.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proof of concept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steps, left to right. Green means it ran.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pic>
        <p:nvPicPr>
          <p:cNvPr id="12" name="Image 1" descr="/Users/nnanyelugoahukannah/Learning/Ironhack/PROJECT-Capstone-AI-Consulting/n8n/screenshots/n8n-canvas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057" y="2798064"/>
            <a:ext cx="8536838" cy="35570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returns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bespoke build does not pay back at your size.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98064"/>
          <a:ext cx="11055096" cy="914400"/>
        </p:xfrm>
        <a:graphic>
          <a:graphicData uri="http://schemas.openxmlformats.org/drawingml/2006/table">
            <a:tbl>
              <a:tblPr/>
              <a:tblGrid>
                <a:gridCol w="7397496"/>
                <a:gridCol w="3657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</a:rPr>
                        <a:t>ROI AT 36 MONTHS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Bespoke build, as proposed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−31.0%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Productised across five firms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+16.9%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…with oversight in-house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+96.6%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321808"/>
            <a:ext cx="11055096" cy="91440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321808"/>
            <a:ext cx="82296" cy="914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321808"/>
            <a:ext cx="10597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month 69. €18,200 buys a decision, not a deployment.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that could derail this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biggest are not technical.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98064"/>
          <a:ext cx="11055096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8309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spc="100" kern="0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spc="100" kern="0" dirty="0">
                          <a:solidFill>
                            <a:srgbClr val="1D2A32"/>
                          </a:solidFill>
                        </a:rPr>
                        <a:t>MITIGATION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Value assumptions wrong  4×5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The pilot measures it. Stop at €18,200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Handlers rubber-stamp  4×4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Acceptance above 97% is a failure signal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Oversight costs more  3×4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One spine, one review. Instrumented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102352"/>
            <a:ext cx="11055096" cy="91440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102352"/>
            <a:ext cx="82296" cy="914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102352"/>
            <a:ext cx="10597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risks scored in full. These are the top three.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this sits in law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high-risk — and the reason matters more than the label.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539038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798064"/>
            <a:ext cx="5390388" cy="566928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798064"/>
            <a:ext cx="50246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68096" y="3364992"/>
            <a:ext cx="4988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Annex III — never creditworthiness</a:t>
            </a:r>
            <a:endParaRPr lang="en-US" sz="2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50 transparency applies</a:t>
            </a:r>
            <a:endParaRPr lang="en-US" sz="2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4 AI literacy applies today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6231636" y="2798064"/>
            <a:ext cx="539038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798064"/>
            <a:ext cx="5390388" cy="566928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798064"/>
            <a:ext cx="50246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6432804" y="3364992"/>
            <a:ext cx="4988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controller and provider</a:t>
            </a:r>
            <a:endParaRPr lang="en-US" sz="2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 goes to the model in full</a:t>
            </a:r>
            <a:endParaRPr lang="en-US" sz="2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work gates any pilot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566928" y="5321808"/>
            <a:ext cx="11055096" cy="91440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321808"/>
            <a:ext cx="82296" cy="914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321808"/>
            <a:ext cx="10597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proposes, a person decides. That is what holds the tier.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this would go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mode first. Nobody acts on it.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348484" y="3182112"/>
            <a:ext cx="7491984" cy="0"/>
          </a:xfrm>
          <a:prstGeom prst="line">
            <a:avLst/>
          </a:prstGeom>
          <a:noFill/>
          <a:ln w="25400">
            <a:solidFill>
              <a:srgbClr val="C6D8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64436" y="2798064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4436" y="279806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D2A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66928" y="3758184"/>
            <a:ext cx="356311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8368" y="3867912"/>
            <a:ext cx="3380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676656" y="4361688"/>
            <a:ext cx="3343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€5,600 · 4 weeks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710428" y="2798064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0428" y="279806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4312920" y="3758184"/>
            <a:ext cx="356311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404360" y="3867912"/>
            <a:ext cx="3380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4422648" y="4361688"/>
            <a:ext cx="3343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€12,600 · 12 weeks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9456420" y="2798064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56420" y="279806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8058912" y="3758184"/>
            <a:ext cx="356311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150352" y="3867912"/>
            <a:ext cx="33802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2400" dirty="0"/>
          </a:p>
        </p:txBody>
      </p:sp>
      <p:sp>
        <p:nvSpPr>
          <p:cNvPr id="27" name="Text 24"/>
          <p:cNvSpPr/>
          <p:nvPr/>
        </p:nvSpPr>
        <p:spPr>
          <a:xfrm>
            <a:off x="8168640" y="4361688"/>
            <a:ext cx="33436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€14,000 · 10 weeks</a:t>
            </a:r>
            <a:endParaRPr lang="en-US" sz="2400" dirty="0"/>
          </a:p>
        </p:txBody>
      </p:sp>
      <p:sp>
        <p:nvSpPr>
          <p:cNvPr id="28" name="Shape 25"/>
          <p:cNvSpPr/>
          <p:nvPr/>
        </p:nvSpPr>
        <p:spPr>
          <a:xfrm>
            <a:off x="566928" y="5321808"/>
            <a:ext cx="11055096" cy="91440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5321808"/>
            <a:ext cx="82296" cy="914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5321808"/>
            <a:ext cx="10597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Greenlight: accuracy ≥80%, acceptance 75–97%, zero ungrounded.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beginning of the real product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triage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POC only implied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7712050" y="2322576"/>
            <a:ext cx="3672230" cy="3822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C6D8E4"/>
                </a:solidFill>
              </a:rPr>
              <a:t>A queue, already read.</a:t>
            </a:r>
            <a:endParaRPr lang="en-US" sz="24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C6D8E4"/>
                </a:solidFill>
              </a:rPr>
              <a:t>A deadline column.</a:t>
            </a:r>
            <a:endParaRPr lang="en-US" sz="24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C6D8E4"/>
                </a:solidFill>
              </a:rPr>
              <a:t>Every check it ran, by name.</a:t>
            </a:r>
            <a:endParaRPr lang="en-US" sz="24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C6D8E4"/>
                </a:solidFill>
              </a:rPr>
              <a:t>Nothing moves until someone presses a button.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I'm asking for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691640"/>
            <a:ext cx="110550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€18,200 to Phase 1.</a:t>
            </a:r>
            <a:endParaRPr lang="en-US" sz="2800" dirty="0"/>
          </a:p>
          <a:p>
            <a:pPr indent="0" marL="0">
              <a:buNone/>
            </a:pPr>
            <a:r>
              <a:rPr lang="en-US" sz="2400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Nobody acts on a single suggestion.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66928" y="3063240"/>
            <a:ext cx="11055096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It works — three capabilities, every decision checked.</a:t>
            </a:r>
            <a:endParaRPr lang="en-US" sz="24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It is lawful — not high-risk, reasoning written down.</a:t>
            </a:r>
            <a:endParaRPr lang="en-US" sz="2400" dirty="0"/>
          </a:p>
          <a:p>
            <a:pPr marL="152400" indent="-1524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FFFFFF"/>
                </a:solidFill>
              </a:rPr>
              <a:t>It does not yet pay for itself. The pilot settles that.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Why 60.5% is not accuracy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consistent. It disagrees with an untrained label.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98064"/>
          <a:ext cx="11055096" cy="914400"/>
        </p:xfrm>
        <a:graphic>
          <a:graphicData uri="http://schemas.openxmlformats.org/drawingml/2006/table">
            <a:tbl>
              <a:tblPr/>
              <a:tblGrid>
                <a:gridCol w="7397496"/>
                <a:gridCol w="3657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</a:rPr>
                        <a:t>MEASURE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</a:rPr>
                        <a:t>RESULT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Agreement with CFPB labels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60.5%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Self-agreement, same input twice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88.0%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Fabricated quotes caught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4 of 60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321808"/>
            <a:ext cx="11055096" cy="91440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321808"/>
            <a:ext cx="82296" cy="914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321808"/>
            <a:ext cx="10597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creates the expert labels an accuracy claim would need.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The anomaly detector's 100%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finds every planted anomaly. That is not a detection rate.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798064"/>
            <a:ext cx="539038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798064"/>
            <a:ext cx="5390388" cy="566928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798064"/>
            <a:ext cx="50246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68096" y="3364992"/>
            <a:ext cx="4988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— same batch, same result</a:t>
            </a:r>
            <a:endParaRPr lang="en-US" sz="2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patterns, not just the easy one</a:t>
            </a:r>
            <a:endParaRPr lang="en-US" sz="2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 precision on 2,069 transactions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6231636" y="2798064"/>
            <a:ext cx="539038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798064"/>
            <a:ext cx="5390388" cy="566928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798064"/>
            <a:ext cx="50246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NOT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6432804" y="3364992"/>
            <a:ext cx="49880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and generator, same author</a:t>
            </a:r>
            <a:endParaRPr lang="en-US" sz="2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measures self-agreement</a:t>
            </a:r>
            <a:endParaRPr lang="en-US" sz="2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24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pilot on real traffic settles it</a:t>
            </a:r>
            <a:endParaRPr lang="en-US" sz="2400" dirty="0"/>
          </a:p>
        </p:txBody>
      </p:sp>
      <p:sp>
        <p:nvSpPr>
          <p:cNvPr id="20" name="Shape 17"/>
          <p:cNvSpPr/>
          <p:nvPr/>
        </p:nvSpPr>
        <p:spPr>
          <a:xfrm>
            <a:off x="566928" y="5321808"/>
            <a:ext cx="11055096" cy="91440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321808"/>
            <a:ext cx="82296" cy="914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321808"/>
            <a:ext cx="10597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trap as the 60.5%.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AI Act classification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steps. Step 4 is the one that matters.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98064"/>
          <a:ext cx="11055096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8309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spc="100" kern="0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spc="100" kern="0" dirty="0">
                          <a:solidFill>
                            <a:srgbClr val="1D2A32"/>
                          </a:solidFill>
                        </a:rPr>
                        <a:t>FINDING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1 · An AI system?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Yes — Art. 3(1)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2 · Prohibited, Art. 5?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No — one close call, flagged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4 · An Annex III use case?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No — never creditworthiness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6 · Art. 50 transparency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Drafts marked anyway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actually leaves the building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Pseudonymisation protects the reference, not the content.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98064"/>
          <a:ext cx="11055096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40296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</a:rPr>
                        <a:t>WHAT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</a:rPr>
                        <a:t>WHERE IT GOES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The complaint narrative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To the model provider, in full (US)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The quoted sentence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Stored in monitoring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The customer reference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Pseudonymised at the boundary</a:t>
                      </a:r>
                      <a:endParaRPr lang="en-US" sz="24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321808"/>
            <a:ext cx="11055096" cy="91440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321808"/>
            <a:ext cx="82296" cy="914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321808"/>
            <a:ext cx="10597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transfer work is a gate before any pilot on real data.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the pilot has to prove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1078992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10789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2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any of the first three and we do not proceed.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98064"/>
          <a:ext cx="11055096" cy="914400"/>
        </p:xfrm>
        <a:graphic>
          <a:graphicData uri="http://schemas.openxmlformats.org/drawingml/2006/table">
            <a:tbl>
              <a:tblPr/>
              <a:tblGrid>
                <a:gridCol w="7397496"/>
                <a:gridCol w="3657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spc="100" kern="0" dirty="0">
                          <a:solidFill>
                            <a:srgbClr val="FFFFFF"/>
                          </a:solidFill>
                        </a:rPr>
                        <a:t>MEASURE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spc="100" kern="0" dirty="0">
                          <a:solidFill>
                            <a:srgbClr val="1D2A32"/>
                          </a:solidFill>
                        </a:rPr>
                        <a:t>THRESHOLD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Team accuracy vs expert labels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≥ 80%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Acceptance rate, per handler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75 – 97%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Ungrounded output reaching a handler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Zero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Correct abstention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≥ 95%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b="1" dirty="0">
                          <a:solidFill>
                            <a:srgbClr val="24343F"/>
                          </a:solidFill>
                        </a:rPr>
                        <a:t>Anomaly precision on disposition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400" dirty="0">
                          <a:solidFill>
                            <a:srgbClr val="1B2730"/>
                          </a:solidFill>
                        </a:rPr>
                        <a:t>≥ 30%</a:t>
                      </a:r>
                      <a:endParaRPr lang="en-US" sz="2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Anomaly flagging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anomaly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of labour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7712050" y="2322576"/>
            <a:ext cx="3672230" cy="3822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C6D8E4"/>
                </a:solidFill>
              </a:rPr>
              <a:t>A detector decides WHAT is unusual.</a:t>
            </a:r>
            <a:endParaRPr lang="en-US" sz="24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C6D8E4"/>
                </a:solidFill>
              </a:rPr>
              <a:t>The model only explains WHY.</a:t>
            </a:r>
            <a:endParaRPr lang="en-US" sz="24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C6D8E4"/>
                </a:solidFill>
              </a:rPr>
              <a:t>Ranked by that account's own normal — never by amount.</a:t>
            </a:r>
            <a:endParaRPr lang="en-US" sz="24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C6D8E4"/>
                </a:solidFill>
              </a:rPr>
              <a:t>Six of 56 notes stopped for an uncited figure.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2 — Assist</dc:title>
  <dc:subject>PptxGenJS Presentation</dc:subject>
  <dc:creator/>
  <cp:lastModifiedBy/>
  <cp:revision>1</cp:revision>
  <dcterms:created xsi:type="dcterms:W3CDTF">2026-09-03T15:34:32Z</dcterms:created>
  <dcterms:modified xsi:type="dcterms:W3CDTF">2026-09-03T15:34:32Z</dcterms:modified>
</cp:coreProperties>
</file>