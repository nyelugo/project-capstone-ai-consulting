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9543f0e82d42a7" /><Relationship Type="http://schemas.openxmlformats.org/officeDocument/2006/relationships/extended-properties" Target="/docProps/app.xml" Id="R86e12adb1fbf4321" /><Relationship Type="http://schemas.openxmlformats.org/officeDocument/2006/relationships/officeDocument" Target="/ppt/presentation.xml" Id="R078b90b1b63346df" /></Relationships>
</file>

<file path=ppt/presentation.xml><?xml version="1.0" encoding="utf-8"?>
<p:presentation xmlns:p="http://schemas.openxmlformats.org/presentationml/2006/main">
  <p:sldMasterIdLst>
    <p:sldMasterId xmlns:r="http://schemas.openxmlformats.org/officeDocument/2006/relationships" id="2147483648" r:id="Rc787b3f91ae84c65"/>
  </p:sldMasterIdLst>
  <p:notesMasterIdLst>
    <p:notesMasterId xmlns:r="http://schemas.openxmlformats.org/officeDocument/2006/relationships" r:id="R3d331d1a02d04734"/>
  </p:notesMasterIdLst>
  <p:sldIdLst>
    <p:sldId xmlns:r="http://schemas.openxmlformats.org/officeDocument/2006/relationships" id="256" r:id="R02c7171b49884a66"/>
    <p:sldId xmlns:r="http://schemas.openxmlformats.org/officeDocument/2006/relationships" id="257" r:id="Rabd75e8a123942b8"/>
    <p:sldId xmlns:r="http://schemas.openxmlformats.org/officeDocument/2006/relationships" id="258" r:id="R73e0ab36edd44f16"/>
    <p:sldId xmlns:r="http://schemas.openxmlformats.org/officeDocument/2006/relationships" id="259" r:id="Rb88c45f22d35449a"/>
    <p:sldId xmlns:r="http://schemas.openxmlformats.org/officeDocument/2006/relationships" id="260" r:id="Rfa4ddc816b674769"/>
    <p:sldId xmlns:r="http://schemas.openxmlformats.org/officeDocument/2006/relationships" id="261" r:id="R79e21b5645694fab"/>
    <p:sldId xmlns:r="http://schemas.openxmlformats.org/officeDocument/2006/relationships" id="262" r:id="R516202b2ceff499b"/>
    <p:sldId xmlns:r="http://schemas.openxmlformats.org/officeDocument/2006/relationships" id="263" r:id="Rac7e9da781154862"/>
    <p:sldId xmlns:r="http://schemas.openxmlformats.org/officeDocument/2006/relationships" id="264" r:id="Rde202334f6a34d67"/>
    <p:sldId xmlns:r="http://schemas.openxmlformats.org/officeDocument/2006/relationships" id="265" r:id="R8ba01b0aaa7441fd"/>
    <p:sldId xmlns:r="http://schemas.openxmlformats.org/officeDocument/2006/relationships" id="266" r:id="R0043f28eb9bb49d8"/>
    <p:sldId xmlns:r="http://schemas.openxmlformats.org/officeDocument/2006/relationships" id="267" r:id="Rb81f01272ca64714"/>
    <p:sldId xmlns:r="http://schemas.openxmlformats.org/officeDocument/2006/relationships" id="268" r:id="Rfe6ba0e716d944d6"/>
    <p:sldId xmlns:r="http://schemas.openxmlformats.org/officeDocument/2006/relationships" id="269" r:id="R61533bf85a074f80"/>
    <p:sldId xmlns:r="http://schemas.openxmlformats.org/officeDocument/2006/relationships" id="270" r:id="R6c5f775fb1e8496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104b01863d84caa" /><Relationship Type="http://schemas.openxmlformats.org/officeDocument/2006/relationships/slideMaster" Target="/ppt/slideMasters/slideMaster1.xml" Id="Rc787b3f91ae84c65" /><Relationship Type="http://schemas.openxmlformats.org/officeDocument/2006/relationships/notesMaster" Target="/ppt/notesMasters/notesMaster1.xml" Id="R3d331d1a02d04734" /><Relationship Type="http://schemas.openxmlformats.org/officeDocument/2006/relationships/presProps" Target="/ppt/presProps.xml" Id="Rcc6bc2b0cdde408f" /><Relationship Type="http://schemas.openxmlformats.org/officeDocument/2006/relationships/viewProps" Target="/ppt/viewProps.xml" Id="R51cc7436671d4496" /><Relationship Type="http://schemas.openxmlformats.org/officeDocument/2006/relationships/tableStyles" Target="/ppt/tableStyles.xml" Id="Rb28783d3ccfa4755" /><Relationship Type="http://schemas.openxmlformats.org/officeDocument/2006/relationships/slide" Target="/ppt/slides/slide1.xml" Id="R02c7171b49884a66" /><Relationship Type="http://schemas.openxmlformats.org/officeDocument/2006/relationships/slide" Target="/ppt/slides/slide2.xml" Id="Rabd75e8a123942b8" /><Relationship Type="http://schemas.openxmlformats.org/officeDocument/2006/relationships/slide" Target="/ppt/slides/slide3.xml" Id="R73e0ab36edd44f16" /><Relationship Type="http://schemas.openxmlformats.org/officeDocument/2006/relationships/slide" Target="/ppt/slides/slide4.xml" Id="Rb88c45f22d35449a" /><Relationship Type="http://schemas.openxmlformats.org/officeDocument/2006/relationships/slide" Target="/ppt/slides/slide5.xml" Id="Rfa4ddc816b674769" /><Relationship Type="http://schemas.openxmlformats.org/officeDocument/2006/relationships/slide" Target="/ppt/slides/slide6.xml" Id="R79e21b5645694fab" /><Relationship Type="http://schemas.openxmlformats.org/officeDocument/2006/relationships/slide" Target="/ppt/slides/slide7.xml" Id="R516202b2ceff499b" /><Relationship Type="http://schemas.openxmlformats.org/officeDocument/2006/relationships/slide" Target="/ppt/slides/slide8.xml" Id="Rac7e9da781154862" /><Relationship Type="http://schemas.openxmlformats.org/officeDocument/2006/relationships/slide" Target="/ppt/slides/slide9.xml" Id="Rde202334f6a34d67" /><Relationship Type="http://schemas.openxmlformats.org/officeDocument/2006/relationships/slide" Target="/ppt/slides/slide10.xml" Id="R8ba01b0aaa7441fd" /><Relationship Type="http://schemas.openxmlformats.org/officeDocument/2006/relationships/slide" Target="/ppt/slides/slide11.xml" Id="R0043f28eb9bb49d8" /><Relationship Type="http://schemas.openxmlformats.org/officeDocument/2006/relationships/slide" Target="/ppt/slides/slide12.xml" Id="Rb81f01272ca64714" /><Relationship Type="http://schemas.openxmlformats.org/officeDocument/2006/relationships/slide" Target="/ppt/slides/slide13.xml" Id="Rfe6ba0e716d944d6" /><Relationship Type="http://schemas.openxmlformats.org/officeDocument/2006/relationships/slide" Target="/ppt/slides/slide14.xml" Id="R61533bf85a074f80" /><Relationship Type="http://schemas.openxmlformats.org/officeDocument/2006/relationships/slide" Target="/ppt/slides/slide15.xml" Id="R6c5f775fb1e849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5d3e4c472a44f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a93392bb754b7c" /><Relationship Type="http://schemas.openxmlformats.org/officeDocument/2006/relationships/notesMaster" Target="/ppt/notesMasters/notesMaster1.xml" Id="R1b459928f1a844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240b17220a48ca" /><Relationship Type="http://schemas.openxmlformats.org/officeDocument/2006/relationships/notesMaster" Target="/ppt/notesMasters/notesMaster1.xml" Id="Rf2bdf040dcf34c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53551fb3214351" /><Relationship Type="http://schemas.openxmlformats.org/officeDocument/2006/relationships/notesMaster" Target="/ppt/notesMasters/notesMaster1.xml" Id="R0184ff7b705347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f7256c94e9411a" /><Relationship Type="http://schemas.openxmlformats.org/officeDocument/2006/relationships/notesMaster" Target="/ppt/notesMasters/notesMaster1.xml" Id="R6de5676ffb2f42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016bdc9f22a4e45" /><Relationship Type="http://schemas.openxmlformats.org/officeDocument/2006/relationships/notesMaster" Target="/ppt/notesMasters/notesMaster1.xml" Id="R603b5ec543a34c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242e379b8bf4621" /><Relationship Type="http://schemas.openxmlformats.org/officeDocument/2006/relationships/notesMaster" Target="/ppt/notesMasters/notesMaster1.xml" Id="R0170c9a0b86b4e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46770973434e2a" /><Relationship Type="http://schemas.openxmlformats.org/officeDocument/2006/relationships/notesMaster" Target="/ppt/notesMasters/notesMaster1.xml" Id="R0579e1f25f494c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3b6036a161467e" /><Relationship Type="http://schemas.openxmlformats.org/officeDocument/2006/relationships/notesMaster" Target="/ppt/notesMasters/notesMaster1.xml" Id="R9979490d1e9c4fa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a6fcae900741c0" /><Relationship Type="http://schemas.openxmlformats.org/officeDocument/2006/relationships/notesMaster" Target="/ppt/notesMasters/notesMaster1.xml" Id="R23d068d1c7c940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6f4ae43d1c430f" /><Relationship Type="http://schemas.openxmlformats.org/officeDocument/2006/relationships/notesMaster" Target="/ppt/notesMasters/notesMaster1.xml" Id="Rf64c357b402b4d2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cf34a0bd194e93" /><Relationship Type="http://schemas.openxmlformats.org/officeDocument/2006/relationships/notesMaster" Target="/ppt/notesMasters/notesMaster1.xml" Id="R2928bd14808a4de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d62c498719c4005" /><Relationship Type="http://schemas.openxmlformats.org/officeDocument/2006/relationships/notesMaster" Target="/ppt/notesMasters/notesMaster1.xml" Id="R0258f000c8fd409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fff058e0e247da" /><Relationship Type="http://schemas.openxmlformats.org/officeDocument/2006/relationships/notesMaster" Target="/ppt/notesMasters/notesMaster1.xml" Id="R5faef105a75c4d2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bc14c6945d44e65" /><Relationship Type="http://schemas.openxmlformats.org/officeDocument/2006/relationships/notesMaster" Target="/ppt/notesMasters/notesMaster1.xml" Id="Ra500b2a0ec6948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db20d3a243f4a48" /><Relationship Type="http://schemas.openxmlformats.org/officeDocument/2006/relationships/notesMaster" Target="/ppt/notesMasters/notesMaster1.xml" Id="Rb928f8baa016420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xmlns:a="http://schemas.openxmlformats.org/drawingml/2006/main">
            <a:r>
              <a:t/>
            </a:r>
          </a:p>
          <a:p xmlns:a="http://schemas.openxmlformats.org/drawingml/2006/main">
            <a:r>
              <a:t>[Sources]</a:t>
            </a:r>
          </a:p>
          <a:p xmlns:a="http://schemas.openxmlformats.org/drawingml/2006/main">
            <a:r>
              <a:t>- `presentation/round1_pitch.pptx`, slides 1–6</a:t>
            </a:r>
          </a:p>
          <a:p xmlns:a="http://schemas.openxmlformats.org/drawingml/2006/main">
            <a:r>
              <a:t>- `feedback/round1_decision.md`</a:t>
            </a:r>
          </a:p>
          <a:p xmlns:a="http://schemas.openxmlformats.org/drawingml/2006/main">
            <a:r>
              <a:t>- `README.md`, Round 2 deliverables and headline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kept the client, complaint triage and the human-decision boundary. The material change was scope: build all three use cases. Round 2 did that and added a working MVP, ROI analysis and compliance assessment. The decision now is whether to fund a controlled evidence programme, not whether to deploy.</a:t>
            </a:r>
          </a:p>
          <a:p xmlns:a="http://schemas.openxmlformats.org/drawingml/2006/main">
            <a:r>
              <a:t/>
            </a:r>
          </a:p>
          <a:p xmlns:a="http://schemas.openxmlformats.org/drawingml/2006/main">
            <a:r>
              <a:t>[Sources]</a:t>
            </a:r>
          </a:p>
          <a:p xmlns:a="http://schemas.openxmlformats.org/drawingml/2006/main">
            <a:r>
              <a:t>- `feedback/round1_decision.md`</a:t>
            </a:r>
          </a:p>
          <a:p xmlns:a="http://schemas.openxmlformats.org/drawingml/2006/main">
            <a:r>
              <a:t>- `use_case_definition.md`, “How this evolved from Round 1”</a:t>
            </a:r>
          </a:p>
          <a:p xmlns:a="http://schemas.openxmlformats.org/drawingml/2006/main">
            <a:r>
              <a:t>- `presentation/round1_pitch.pptx`, slides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Triage cites complaint language; reporting uses bank-computed figures; anomaly explanations use transaction values. Despite the different jobs, every proposal must cite supporting evidence and a named person decides. That shared accountability model lets one control spine support all three.</a:t>
            </a:r>
          </a:p>
          <a:p xmlns:a="http://schemas.openxmlformats.org/drawingml/2006/main">
            <a:r>
              <a:t/>
            </a:r>
          </a:p>
          <a:p xmlns:a="http://schemas.openxmlformats.org/drawingml/2006/main">
            <a:r>
              <a:t>[Sources]</a:t>
            </a:r>
          </a:p>
          <a:p xmlns:a="http://schemas.openxmlformats.org/drawingml/2006/main">
            <a:r>
              <a:t>- `use_case_definition.md`, proposed solution and system type</a:t>
            </a:r>
          </a:p>
          <a:p xmlns:a="http://schemas.openxmlformats.org/drawingml/2006/main">
            <a:r>
              <a:t>- `mvp/mvp_documentation.md`, capabilities and human-decision boundaries</a:t>
            </a:r>
          </a:p>
          <a:p xmlns:a="http://schemas.openxmlformats.org/drawingml/2006/main">
            <a:r>
              <a:t>- `feedback/round1_decision.md`, shared-spine rationale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xmlns:a="http://schemas.openxmlformats.org/drawingml/2006/main">
            <a:r>
              <a:t/>
            </a:r>
          </a:p>
          <a:p xmlns:a="http://schemas.openxmlformats.org/drawingml/2006/main">
            <a:r>
              <a:t>[Sources]</a:t>
            </a:r>
          </a:p>
          <a:p xmlns:a="http://schemas.openxmlformats.org/drawingml/2006/main">
            <a:r>
              <a:t>- `mvp/mvp_documentation.md`, architecture, six guards and error handling</a:t>
            </a:r>
          </a:p>
          <a:p xmlns:a="http://schemas.openxmlformats.org/drawingml/2006/main">
            <a:r>
              <a:t>- `mvp/spine.py`</a:t>
            </a:r>
          </a:p>
          <a:p xmlns:a="http://schemas.openxmlformats.org/drawingml/2006/main">
            <a:r>
              <a:t>- `mvp/test_spine.py`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xmlns:a="http://schemas.openxmlformats.org/drawingml/2006/main">
            <a:r>
              <a:t/>
            </a:r>
          </a:p>
          <a:p xmlns:a="http://schemas.openxmlformats.org/drawingml/2006/main">
            <a:r>
              <a:t>[Sources]</a:t>
            </a:r>
          </a:p>
          <a:p xmlns:a="http://schemas.openxmlformats.org/drawingml/2006/main">
            <a:r>
              <a:t>- `poc/poc_documentation.md`</a:t>
            </a:r>
          </a:p>
          <a:p xmlns:a="http://schemas.openxmlformats.org/drawingml/2006/main">
            <a:r>
              <a:t>- `poc/poc_workflow.json`</a:t>
            </a:r>
          </a:p>
          <a:p xmlns:a="http://schemas.openxmlformats.org/drawingml/2006/main">
            <a:r>
              <a:t>- `demo/recordings/poc_demo.mp4`</a:t>
            </a:r>
          </a:p>
          <a:p xmlns:a="http://schemas.openxmlformats.org/drawingml/2006/main">
            <a:r>
              <a:t>- `classifier/FINDINGS.md`</a:t>
            </a:r>
          </a:p>
          <a:p xmlns:a="http://schemas.openxmlformats.org/drawingml/2006/main">
            <a:r>
              <a:t>- CFPB Consumer Complaint Database: https://www.consumerfinance.gov/data-research/consumer-complaints/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2,426 complaints a year, bespoke deployment returns minus 31 per cent over 36 months and breaks even in month 69. About 3,800 complaints are needed. Productising the build across five firms produces a positive 36-month return; moving oversight in-house improves it further. The pilot must prove value before deployment and avoid making one firm fund the entire build.  Of the 17,326 euro annual value, 9,918 is cash the firm does not spend: ombudsman case fees avoided at 650 pounds each, and fraud redress avoided by catching it earlier. The remaining 7,408 is displaced time, and displaced time is not a saving unless the hours are actually removed or redeployed. Three minutes on 2,426 complaints is 121 hours a year, which is seven per cent of one person. The model does not bank it. So the case rests on four avoided ombudsman referrals a year, and that is exactly what the shadow pilot is built to measure.</a:t>
            </a:r>
          </a:p>
          <a:p xmlns:a="http://schemas.openxmlformats.org/drawingml/2006/main">
            <a:r>
              <a:t/>
            </a:r>
          </a:p>
          <a:p xmlns:a="http://schemas.openxmlformats.org/drawingml/2006/main">
            <a:r>
              <a:t>[Sources]</a:t>
            </a:r>
          </a:p>
          <a:p xmlns:a="http://schemas.openxmlformats.org/drawingml/2006/main">
            <a:r>
              <a:t>- `roi_risk_assessment.md`, headline, ROI, break-even and sensitivity</a:t>
            </a:r>
          </a:p>
          <a:p xmlns:a="http://schemas.openxmlformats.org/drawingml/2006/main">
            <a:r>
              <a:t>- `cost_estimation/roi_model.json`</a:t>
            </a:r>
          </a:p>
          <a:p xmlns:a="http://schemas.openxmlformats.org/drawingml/2006/main">
            <a:r>
              <a:t>- `strategic_plan.md`, commercialisation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value may not appear in client data. Acceptance above 97 per cent may indicate rubber-stamping. Oversight may exceed three days per quarter and erase the savings. The pilot measures all three risks, and fixed phase exits preserve the option to stop.</a:t>
            </a:r>
          </a:p>
          <a:p xmlns:a="http://schemas.openxmlformats.org/drawingml/2006/main">
            <a:r>
              <a:t/>
            </a:r>
          </a:p>
          <a:p xmlns:a="http://schemas.openxmlformats.org/drawingml/2006/main">
            <a:r>
              <a:t>[Sources]</a:t>
            </a:r>
          </a:p>
          <a:p xmlns:a="http://schemas.openxmlformats.org/drawingml/2006/main">
            <a:r>
              <a:t>- `roi_risk_assessment.md`, risk matrix R1–R3</a:t>
            </a:r>
          </a:p>
          <a:p xmlns:a="http://schemas.openxmlformats.org/drawingml/2006/main">
            <a:r>
              <a:t>- `strategic_plan.md`, Phase 1 KPIs and exit gates</a:t>
            </a:r>
          </a:p>
          <a:p xmlns:a="http://schemas.openxmlformats.org/drawingml/2006/main">
            <a:r>
              <a:t>- `mvp/mvp_documentation.md`, decision logging and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this assist-only design, triage and reporting are not high-risk. Anomaly flagging needs counsel confirmation because it profiles transaction behaviour. AI literacy applies now. The immediate GDPR issue is data transfer: the identifier is pseudonymised, but the full complaint narrative reaches the provider. Real-data work waits for the DPA, transfer assessment and zero-retention controls.</a:t>
            </a:r>
          </a:p>
          <a:p xmlns:a="http://schemas.openxmlformats.org/drawingml/2006/main">
            <a:r>
              <a:t/>
            </a:r>
          </a:p>
          <a:p xmlns:a="http://schemas.openxmlformats.org/drawingml/2006/main">
            <a:r>
              <a:t>[Sources]</a:t>
            </a:r>
          </a:p>
          <a:p xmlns:a="http://schemas.openxmlformats.org/drawingml/2006/main">
            <a:r>
              <a:t>- `compliance/eu_ai_act_compliance.md`, classification conclusion and mandatory requirements</a:t>
            </a:r>
          </a:p>
          <a:p xmlns:a="http://schemas.openxmlformats.org/drawingml/2006/main">
            <a:r>
              <a:t>- `compliance/gdpr_documentation.md`, data flow, DPIA and transfer assessment</a:t>
            </a:r>
          </a:p>
          <a:p xmlns:a="http://schemas.openxmlformats.org/drawingml/2006/main">
            <a:r>
              <a:t>- Regulation (EU) 2024/1689: https://eur-lex.europa.eu/eli/2024/1689/oj</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xmlns:a="http://schemas.openxmlformats.org/drawingml/2006/main">
            <a:r>
              <a:t/>
            </a:r>
          </a:p>
          <a:p xmlns:a="http://schemas.openxmlformats.org/drawingml/2006/main">
            <a:r>
              <a:t>[Sources]</a:t>
            </a:r>
          </a:p>
          <a:p xmlns:a="http://schemas.openxmlformats.org/drawingml/2006/main">
            <a:r>
              <a:t>- `strategic_plan.md`, phase plan, milestones and KPIs</a:t>
            </a:r>
          </a:p>
          <a:p xmlns:a="http://schemas.openxmlformats.org/drawingml/2006/main">
            <a:r>
              <a:t>- `roi_risk_assessment.md`, upfront costs and recommendation</a:t>
            </a:r>
          </a:p>
          <a:p xmlns:a="http://schemas.openxmlformats.org/drawingml/2006/main">
            <a:r>
              <a:t>- `use_case_definition.md`, measurable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presents the team's work as a queue. One record shows the proposal, its evidence, every guard result and the named human decision. No case is routed until a person acts. The record makes the proposal's basis and the person's response reviewable.</a:t>
            </a:r>
          </a:p>
          <a:p xmlns:a="http://schemas.openxmlformats.org/drawingml/2006/main">
            <a:r>
              <a:t/>
            </a:r>
          </a:p>
          <a:p xmlns:a="http://schemas.openxmlformats.org/drawingml/2006/main">
            <a:r>
              <a:t>[Sources]</a:t>
            </a:r>
          </a:p>
          <a:p xmlns:a="http://schemas.openxmlformats.org/drawingml/2006/main">
            <a:r>
              <a:t>- `mvp/mvp_documentation.md`, capabilities, UI, decision log and demo brief</a:t>
            </a:r>
          </a:p>
          <a:p xmlns:a="http://schemas.openxmlformats.org/drawingml/2006/main">
            <a:r>
              <a:t>- `demo/recordings/mvp_demo.mp4`</a:t>
            </a:r>
          </a:p>
          <a:p xmlns:a="http://schemas.openxmlformats.org/drawingml/2006/main">
            <a:r>
              <a:t>- `mvp/app.py`</a:t>
            </a:r>
          </a:p>
          <a:p xmlns:a="http://schemas.openxmlformats.org/drawingml/2006/main">
            <a:r>
              <a:t>- `mvp/queue_store.py`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xmlns:a="http://schemas.openxmlformats.org/drawingml/2006/main">
            <a:r>
              <a:t/>
            </a:r>
          </a:p>
          <a:p xmlns:a="http://schemas.openxmlformats.org/drawingml/2006/main">
            <a:r>
              <a:t>[Sources]</a:t>
            </a:r>
          </a:p>
          <a:p xmlns:a="http://schemas.openxmlformats.org/drawingml/2006/main">
            <a:r>
              <a:t>- `roi_risk_assessment.md`, recommendation and phase costs</a:t>
            </a:r>
          </a:p>
          <a:p xmlns:a="http://schemas.openxmlformats.org/drawingml/2006/main">
            <a:r>
              <a:t>- `strategic_plan.md`, phase exits and deployment gates</a:t>
            </a:r>
          </a:p>
          <a:p xmlns:a="http://schemas.openxmlformats.org/drawingml/2006/main">
            <a:r>
              <a:t>- `compliance/gdpr_documentation.md`, blockers to real-data processing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97.1 per cent precision on synthetic data designed around its thresholds. Phase 0 creates the client benchmark.</a:t>
            </a:r>
          </a:p>
          <a:p xmlns:a="http://schemas.openxmlformats.org/drawingml/2006/main">
            <a:r>
              <a:t/>
            </a:r>
          </a:p>
          <a:p xmlns:a="http://schemas.openxmlformats.org/drawingml/2006/main">
            <a:r>
              <a:t>[Sources]</a:t>
            </a:r>
          </a:p>
          <a:p xmlns:a="http://schemas.openxmlformats.org/drawingml/2006/main">
            <a:r>
              <a:t>- `classifier/FINDINGS.md`</a:t>
            </a:r>
          </a:p>
          <a:p xmlns:a="http://schemas.openxmlformats.org/drawingml/2006/main">
            <a:r>
              <a:t>- `classifier/eval_results_gpt-4o.json`</a:t>
            </a:r>
          </a:p>
          <a:p xmlns:a="http://schemas.openxmlformats.org/drawingml/2006/main">
            <a:r>
              <a:t>- `classifier/eval_results_gpt-4o-mini.json`</a:t>
            </a:r>
          </a:p>
          <a:p xmlns:a="http://schemas.openxmlformats.org/drawingml/2006/main">
            <a:r>
              <a:t>- CFPB Consumer Complaint Database: https://www.consumerfinance.gov/data-research/consumer-complaints/</a:t>
            </a:r>
          </a:p>
          <a:p xmlns:a="http://schemas.openxmlformats.org/drawingml/2006/main">
            <a:r>
              <a:t>- `mvp/synth/make_transactions.py`</a:t>
            </a:r>
          </a:p>
          <a:p xmlns:a="http://schemas.openxmlformats.org/drawingml/2006/main">
            <a:r>
              <a:t>- `mvp/capabilities/anomaly.py`</a:t>
            </a:r>
          </a:p>
          <a:p xmlns:a="http://schemas.openxmlformats.org/drawingml/2006/main">
            <a:r>
              <a:t>- `strategic_plan.md`, Phase 1 KPI G6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xmlns:a="http://schemas.openxmlformats.org/drawingml/2006/main">
            <a:r>
              <a:t/>
            </a:r>
          </a:p>
          <a:p xmlns:a="http://schemas.openxmlformats.org/drawingml/2006/main">
            <a:r>
              <a:t>[Sources]</a:t>
            </a:r>
          </a:p>
          <a:p xmlns:a="http://schemas.openxmlformats.org/drawingml/2006/main">
            <a:r>
              <a:t>- `compliance/eu_ai_act_compliance.md`, classification steps 1–7</a:t>
            </a:r>
          </a:p>
          <a:p xmlns:a="http://schemas.openxmlformats.org/drawingml/2006/main">
            <a:r>
              <a:t>- Regulation (EU) 2024/1689: https://eur-lex.europa.eu/eli/2024/1689/oj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xmlns:a="http://schemas.openxmlformats.org/drawingml/2006/main">
            <a:r>
              <a:t/>
            </a:r>
          </a:p>
          <a:p xmlns:a="http://schemas.openxmlformats.org/drawingml/2006/main">
            <a:r>
              <a:t>[Sources]</a:t>
            </a:r>
          </a:p>
          <a:p xmlns:a="http://schemas.openxmlformats.org/drawingml/2006/main">
            <a:r>
              <a:t>- `compliance/gdpr_documentation.md`, data flow and third-party transfers</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xmlns:a="http://schemas.openxmlformats.org/drawingml/2006/main">
            <a:r>
              <a:t/>
            </a:r>
          </a:p>
          <a:p xmlns:a="http://schemas.openxmlformats.org/drawingml/2006/main">
            <a:r>
              <a:t>[Sources]</a:t>
            </a:r>
          </a:p>
          <a:p xmlns:a="http://schemas.openxmlformats.org/drawingml/2006/main">
            <a:r>
              <a:t>- `strategic_plan.md`, Phase 1 KPIs G1–G7</a:t>
            </a:r>
          </a:p>
          <a:p xmlns:a="http://schemas.openxmlformats.org/drawingml/2006/main">
            <a:r>
              <a:t>- `use_case_definition.md`,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b43bf8da1a4058"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4333bb03fe42d5" /><Relationship Type="http://schemas.openxmlformats.org/officeDocument/2006/relationships/slideLayout" Target="/ppt/slideLayouts/slideLayout1.xml" Id="R2226cf2788844026"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26cf278884402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4b97b67d321438b" /><Relationship Type="http://schemas.openxmlformats.org/officeDocument/2006/relationships/notesSlide" Target="/ppt/notesSlides/notesSlide1.xml" Id="Rf415ac8704bc45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bf7c9347e2d47bf" /><Relationship Type="http://schemas.openxmlformats.org/officeDocument/2006/relationships/notesSlide" Target="/ppt/notesSlides/notesSlide2.xml" Id="Ra268aa50710d49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a16ae4503b948d0" /><Relationship Type="http://schemas.openxmlformats.org/officeDocument/2006/relationships/notesSlide" Target="/ppt/notesSlides/notesSlide3.xml" Id="Ra480e66e741647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82183ad30084087" /><Relationship Type="http://schemas.openxmlformats.org/officeDocument/2006/relationships/notesSlide" Target="/ppt/notesSlides/notesSlide4.xml" Id="Rad676a3fb9894d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4e4c8582bb47ad" /><Relationship Type="http://schemas.openxmlformats.org/officeDocument/2006/relationships/image" Target="/ppt/media/image.png" Id="R60ccecb54d0a4c09" /><Relationship Type="http://schemas.openxmlformats.org/officeDocument/2006/relationships/notesSlide" Target="/ppt/notesSlides/notesSlide5.xml" Id="Re8d7c1fbcb5e49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30eba5ff5b144c5" /><Relationship Type="http://schemas.openxmlformats.org/officeDocument/2006/relationships/notesSlide" Target="/ppt/notesSlides/notesSlide6.xml" Id="Rf9c861be1b944b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cba076b6084a9b" /><Relationship Type="http://schemas.openxmlformats.org/officeDocument/2006/relationships/notesSlide" Target="/ppt/notesSlides/notesSlide7.xml" Id="R74bac3f2d3f1420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948cd72f8e4552" /><Relationship Type="http://schemas.openxmlformats.org/officeDocument/2006/relationships/notesSlide" Target="/ppt/notesSlides/notesSlide8.xml" Id="Ra92b63e90c1047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0cad19f402f4702" /><Relationship Type="http://schemas.openxmlformats.org/officeDocument/2006/relationships/notesSlide" Target="/ppt/notesSlides/notesSlide9.xml" Id="Rfc32445554ef46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87d06b6bafa4321" /><Relationship Type="http://schemas.openxmlformats.org/officeDocument/2006/relationships/image" Target="/ppt/media/image2.png" Id="Re9473402635843d2" /><Relationship Type="http://schemas.openxmlformats.org/officeDocument/2006/relationships/notesSlide" Target="/ppt/notesSlides/notesSlide10.xml" Id="R470fa4abde354a6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543ab2a94404144" /><Relationship Type="http://schemas.openxmlformats.org/officeDocument/2006/relationships/notesSlide" Target="/ppt/notesSlides/notesSlide11.xml" Id="Rf423c7c3c1324e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b0e432270d34b21" /><Relationship Type="http://schemas.openxmlformats.org/officeDocument/2006/relationships/notesSlide" Target="/ppt/notesSlides/notesSlide12.xml" Id="R9872ce5ab13e48d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b7b1c1ac76a4243" /><Relationship Type="http://schemas.openxmlformats.org/officeDocument/2006/relationships/notesSlide" Target="/ppt/notesSlides/notesSlide13.xml" Id="R490147c01a074e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cfd3e0835ee498d" /><Relationship Type="http://schemas.openxmlformats.org/officeDocument/2006/relationships/notesSlide" Target="/ppt/notesSlides/notesSlide14.xml" Id="R2ecf29ec46c9436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1e42392cf424b72" /><Relationship Type="http://schemas.openxmlformats.org/officeDocument/2006/relationships/notesSlide" Target="/ppt/notesSlides/notesSlide15.xml" Id="R24b0389d8b5b4730" /></Relationships>
</file>

<file path=ppt/slides/slide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26A1A2-51FE-4CD7-BDE0-701C76331419}"/>
              </a:ext>
            </a:extLst>
          </p:cNvPr>
          <p:cNvSpPr>
            <a:spLocks xmlns:a="http://schemas.openxmlformats.org/drawingml/2006/main" noGrp="1"/>
          </p:cNvSpPr>
          <p:nvPr/>
        </p:nvSpPr>
        <p:spPr>
          <a:xfrm xmlns:a="http://schemas.openxmlformats.org/drawingml/2006/main">
            <a:off x="822960" y="1874520"/>
            <a:ext cx="1054577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xmlns:a="http://schemas.openxmlformats.org/drawingml/2006/main">
              <a:ext uri="{FF2B5EF4-FFF2-40B4-BE49-F238E27FC236}">
                <a16:creationId xmlns:a16="http://schemas.microsoft.com/office/drawing/2014/main" id="{8B367124-5A72-4B16-B0D0-50D0B1EC89C5}"/>
              </a:ext>
            </a:extLst>
          </p:cNvPr>
          <p:cNvSpPr>
            <a:spLocks xmlns:a="http://schemas.openxmlformats.org/drawingml/2006/main" noGrp="1"/>
          </p:cNvSpPr>
          <p:nvPr/>
        </p:nvSpPr>
        <p:spPr>
          <a:xfrm xmlns:a="http://schemas.openxmlformats.org/drawingml/2006/main">
            <a:off x="822960" y="2331720"/>
            <a:ext cx="1054577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Trebuchet MS"/>
                <a:ea typeface="Trebuchet MS"/>
                <a:cs typeface="Trebuchet MS"/>
              </a:rPr>
              <a:t>Assist</a:t>
            </a:r>
            <a:endParaRPr sz="5400"/>
          </a:p>
        </p:txBody>
      </p:sp>
      <p:sp>
        <p:nvSpPr>
          <p:cNvPr id="4" name="Shape 2">
            <a:extLst xmlns:a="http://schemas.openxmlformats.org/drawingml/2006/main">
              <a:ext uri="{FF2B5EF4-FFF2-40B4-BE49-F238E27FC236}">
                <a16:creationId xmlns:a16="http://schemas.microsoft.com/office/drawing/2014/main" id="{8B819D20-CA3A-4BC6-892E-94D76DC1F128}"/>
              </a:ext>
            </a:extLst>
          </p:cNvPr>
          <p:cNvSpPr>
            <a:spLocks xmlns:a="http://schemas.openxmlformats.org/drawingml/2006/main" noGrp="1"/>
          </p:cNvSpPr>
          <p:nvPr/>
        </p:nvSpPr>
        <p:spPr>
          <a:xfrm xmlns:a="http://schemas.openxmlformats.org/drawingml/2006/main">
            <a:off x="822960" y="345643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5" name="Text 3">
            <a:extLst xmlns:a="http://schemas.openxmlformats.org/drawingml/2006/main">
              <a:ext uri="{FF2B5EF4-FFF2-40B4-BE49-F238E27FC236}">
                <a16:creationId xmlns:a16="http://schemas.microsoft.com/office/drawing/2014/main" id="{CE72A465-54C7-4FC1-98E6-73B5C9CFFC86}"/>
              </a:ext>
            </a:extLst>
          </p:cNvPr>
          <p:cNvSpPr>
            <a:spLocks xmlns:a="http://schemas.openxmlformats.org/drawingml/2006/main" noGrp="1"/>
          </p:cNvSpPr>
          <p:nvPr/>
        </p:nvSpPr>
        <p:spPr>
          <a:xfrm xmlns:a="http://schemas.openxmlformats.org/drawingml/2006/main">
            <a:off x="822960" y="3611880"/>
            <a:ext cx="1054577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a:solidFill>
                  <a:srgbClr val="A8A8A8"/>
                </a:solidFill>
                <a:latin typeface="Calibri"/>
                <a:ea typeface="Calibri"/>
                <a:cs typeface="Calibri"/>
              </a:rPr>
              <a:t>Three capabilities. One controlled decision process.</a:t>
            </a:r>
            <a:endParaRPr sz="2600"/>
          </a:p>
        </p:txBody>
      </p:sp>
      <p:sp>
        <p:nvSpPr>
          <p:cNvPr id="6" name="Text 4">
            <a:extLst xmlns:a="http://schemas.openxmlformats.org/drawingml/2006/main">
              <a:ext uri="{FF2B5EF4-FFF2-40B4-BE49-F238E27FC236}">
                <a16:creationId xmlns:a16="http://schemas.microsoft.com/office/drawing/2014/main" id="{49E77AFF-4B5B-43FE-B46F-30FB9B44453B}"/>
              </a:ext>
            </a:extLst>
          </p:cNvPr>
          <p:cNvSpPr>
            <a:spLocks xmlns:a="http://schemas.openxmlformats.org/drawingml/2006/main" noGrp="1"/>
          </p:cNvSpPr>
          <p:nvPr/>
        </p:nvSpPr>
        <p:spPr>
          <a:xfrm xmlns:a="http://schemas.openxmlformats.org/drawingml/2006/main">
            <a:off x="822960" y="4343400"/>
            <a:ext cx="105457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EDA611-D26E-4CB7-88DC-DB389FE67A7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Round 1 set the direction. Round 2 built the evidence</a:t>
            </a:r>
            <a:endParaRPr sz="3200"/>
          </a:p>
        </p:txBody>
      </p:sp>
      <p:sp>
        <p:nvSpPr>
          <p:cNvPr id="3" name="Shape 1">
            <a:extLst xmlns:a="http://schemas.openxmlformats.org/drawingml/2006/main">
              <a:ext uri="{FF2B5EF4-FFF2-40B4-BE49-F238E27FC236}">
                <a16:creationId xmlns:a16="http://schemas.microsoft.com/office/drawing/2014/main" id="{E914C169-B5E8-4227-A3EA-562A68A99BC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7564ACF-FD64-477E-92F2-0CDEDF006B71}"/>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FDC7151C-1FB7-4D42-A6E7-22A3CA1DD46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6DFD4D4-D3A9-4D77-9633-3A85BB88BD4D}"/>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a:t>
            </a:r>
            <a:endParaRPr sz="900"/>
          </a:p>
        </p:txBody>
      </p:sp>
      <p:sp>
        <p:nvSpPr>
          <p:cNvPr id="7" name="Text 5">
            <a:extLst xmlns:a="http://schemas.openxmlformats.org/drawingml/2006/main">
              <a:ext uri="{FF2B5EF4-FFF2-40B4-BE49-F238E27FC236}">
                <a16:creationId xmlns:a16="http://schemas.microsoft.com/office/drawing/2014/main" id="{06165F0D-74BE-4E5D-B1C5-E41A47C85629}"/>
              </a:ext>
            </a:extLst>
          </p:cNvPr>
          <p:cNvSpPr>
            <a:spLocks xmlns:a="http://schemas.openxmlformats.org/drawingml/2006/main" noGrp="1"/>
          </p:cNvSpPr>
          <p:nvPr/>
        </p:nvSpPr>
        <p:spPr>
          <a:xfrm xmlns:a="http://schemas.openxmlformats.org/drawingml/2006/main">
            <a:off x="822960" y="1773936"/>
            <a:ext cx="5483803"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KEPT</a:t>
            </a:r>
            <a:endParaRPr sz="2400"/>
          </a:p>
        </p:txBody>
      </p:sp>
      <p:sp>
        <p:nvSpPr>
          <p:cNvPr id="8" name="Text 6">
            <a:extLst xmlns:a="http://schemas.openxmlformats.org/drawingml/2006/main">
              <a:ext uri="{FF2B5EF4-FFF2-40B4-BE49-F238E27FC236}">
                <a16:creationId xmlns:a16="http://schemas.microsoft.com/office/drawing/2014/main" id="{4ABC772A-F401-4DF4-8B9D-A4053DAA6A95}"/>
              </a:ext>
            </a:extLst>
          </p:cNvPr>
          <p:cNvSpPr>
            <a:spLocks xmlns:a="http://schemas.openxmlformats.org/drawingml/2006/main" noGrp="1"/>
          </p:cNvSpPr>
          <p:nvPr/>
        </p:nvSpPr>
        <p:spPr>
          <a:xfrm xmlns:a="http://schemas.openxmlformats.org/drawingml/2006/main">
            <a:off x="6306763" y="1773936"/>
            <a:ext cx="506197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CHANGED</a:t>
            </a:r>
            <a:endParaRPr sz="2400"/>
          </a:p>
        </p:txBody>
      </p:sp>
      <p:sp>
        <p:nvSpPr>
          <p:cNvPr id="9" name="Shape 7">
            <a:extLst xmlns:a="http://schemas.openxmlformats.org/drawingml/2006/main">
              <a:ext uri="{FF2B5EF4-FFF2-40B4-BE49-F238E27FC236}">
                <a16:creationId xmlns:a16="http://schemas.microsoft.com/office/drawing/2014/main" id="{E24DB133-334B-4BBC-9214-88862760748B}"/>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4B89049F-BBF3-4977-8382-22D66B9C8E04}"/>
              </a:ext>
            </a:extLst>
          </p:cNvPr>
          <p:cNvSpPr>
            <a:spLocks xmlns:a="http://schemas.openxmlformats.org/drawingml/2006/main" noGrp="1"/>
          </p:cNvSpPr>
          <p:nvPr/>
        </p:nvSpPr>
        <p:spPr>
          <a:xfrm xmlns:a="http://schemas.openxmlformats.org/drawingml/2006/main">
            <a:off x="822960" y="2340864"/>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Mid-size EU financial services firm</a:t>
            </a:r>
            <a:endParaRPr sz="2400"/>
          </a:p>
        </p:txBody>
      </p:sp>
      <p:sp>
        <p:nvSpPr>
          <p:cNvPr id="11" name="Text 9">
            <a:extLst xmlns:a="http://schemas.openxmlformats.org/drawingml/2006/main">
              <a:ext uri="{FF2B5EF4-FFF2-40B4-BE49-F238E27FC236}">
                <a16:creationId xmlns:a16="http://schemas.microsoft.com/office/drawing/2014/main" id="{B7E7F686-3C92-4DD8-BA5E-9A9E5C64297D}"/>
              </a:ext>
            </a:extLst>
          </p:cNvPr>
          <p:cNvSpPr>
            <a:spLocks xmlns:a="http://schemas.openxmlformats.org/drawingml/2006/main" noGrp="1"/>
          </p:cNvSpPr>
          <p:nvPr/>
        </p:nvSpPr>
        <p:spPr>
          <a:xfrm xmlns:a="http://schemas.openxmlformats.org/drawingml/2006/main">
            <a:off x="6306763" y="2340864"/>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One implemented use case became three</a:t>
            </a:r>
            <a:endParaRPr sz="2400"/>
          </a:p>
        </p:txBody>
      </p:sp>
      <p:sp>
        <p:nvSpPr>
          <p:cNvPr id="12" name="Shape 10">
            <a:extLst xmlns:a="http://schemas.openxmlformats.org/drawingml/2006/main">
              <a:ext uri="{FF2B5EF4-FFF2-40B4-BE49-F238E27FC236}">
                <a16:creationId xmlns:a16="http://schemas.microsoft.com/office/drawing/2014/main" id="{0D3E2943-6282-4C2F-AEB3-4B027B0B5304}"/>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31DF4B66-FF6D-40A2-BAEA-D7592AE0CFA1}"/>
              </a:ext>
            </a:extLst>
          </p:cNvPr>
          <p:cNvSpPr>
            <a:spLocks xmlns:a="http://schemas.openxmlformats.org/drawingml/2006/main" noGrp="1"/>
          </p:cNvSpPr>
          <p:nvPr/>
        </p:nvSpPr>
        <p:spPr>
          <a:xfrm xmlns:a="http://schemas.openxmlformats.org/drawingml/2006/main">
            <a:off x="822960" y="3054096"/>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triage remained the lead use case</a:t>
            </a:r>
            <a:endParaRPr sz="2400"/>
          </a:p>
        </p:txBody>
      </p:sp>
      <p:sp>
        <p:nvSpPr>
          <p:cNvPr id="14" name="Text 12">
            <a:extLst xmlns:a="http://schemas.openxmlformats.org/drawingml/2006/main">
              <a:ext uri="{FF2B5EF4-FFF2-40B4-BE49-F238E27FC236}">
                <a16:creationId xmlns:a16="http://schemas.microsoft.com/office/drawing/2014/main" id="{A1F2684E-5580-40F2-B541-88B7951BD6A7}"/>
              </a:ext>
            </a:extLst>
          </p:cNvPr>
          <p:cNvSpPr>
            <a:spLocks xmlns:a="http://schemas.openxmlformats.org/drawingml/2006/main" noGrp="1"/>
          </p:cNvSpPr>
          <p:nvPr/>
        </p:nvSpPr>
        <p:spPr>
          <a:xfrm xmlns:a="http://schemas.openxmlformats.org/drawingml/2006/main">
            <a:off x="6306763" y="3054096"/>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A POC became a working MVP</a:t>
            </a:r>
            <a:endParaRPr sz="2400"/>
          </a:p>
        </p:txBody>
      </p:sp>
      <p:sp>
        <p:nvSpPr>
          <p:cNvPr id="15" name="Shape 13">
            <a:extLst xmlns:a="http://schemas.openxmlformats.org/drawingml/2006/main">
              <a:ext uri="{FF2B5EF4-FFF2-40B4-BE49-F238E27FC236}">
                <a16:creationId xmlns:a16="http://schemas.microsoft.com/office/drawing/2014/main" id="{8EC3E8ED-43E7-4789-BED3-B37399F16957}"/>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2D45C6B-2A1E-4458-9CA3-7101D0090ED7}"/>
              </a:ext>
            </a:extLst>
          </p:cNvPr>
          <p:cNvSpPr>
            <a:spLocks xmlns:a="http://schemas.openxmlformats.org/drawingml/2006/main" noGrp="1"/>
          </p:cNvSpPr>
          <p:nvPr/>
        </p:nvSpPr>
        <p:spPr>
          <a:xfrm xmlns:a="http://schemas.openxmlformats.org/drawingml/2006/main">
            <a:off x="822960" y="3767328"/>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system proposes; a person decides</a:t>
            </a:r>
            <a:endParaRPr sz="2400"/>
          </a:p>
        </p:txBody>
      </p:sp>
      <p:sp>
        <p:nvSpPr>
          <p:cNvPr id="17" name="Text 15">
            <a:extLst xmlns:a="http://schemas.openxmlformats.org/drawingml/2006/main">
              <a:ext uri="{FF2B5EF4-FFF2-40B4-BE49-F238E27FC236}">
                <a16:creationId xmlns:a16="http://schemas.microsoft.com/office/drawing/2014/main" id="{7FEDBFC3-32BB-41F0-939A-015B8CD7ACE7}"/>
              </a:ext>
            </a:extLst>
          </p:cNvPr>
          <p:cNvSpPr>
            <a:spLocks xmlns:a="http://schemas.openxmlformats.org/drawingml/2006/main" noGrp="1"/>
          </p:cNvSpPr>
          <p:nvPr/>
        </p:nvSpPr>
        <p:spPr>
          <a:xfrm xmlns:a="http://schemas.openxmlformats.org/drawingml/2006/main">
            <a:off x="6306763" y="3767328"/>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xmlns:a="http://schemas.openxmlformats.org/drawingml/2006/main">
              <a:ext uri="{FF2B5EF4-FFF2-40B4-BE49-F238E27FC236}">
                <a16:creationId xmlns:a16="http://schemas.microsoft.com/office/drawing/2014/main" id="{3E5D7CDA-83EC-4754-869F-893D64C4B3C6}"/>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Decision now: a staged evidence programme — not deployment.</a:t>
            </a:r>
            <a:endParaRPr sz="2600"/>
          </a:p>
        </p:txBody>
      </p:sp>
    </p:spTree>
    <p:extLst>
      <p:ext uri="{BB962C8B-B14F-4D97-AF65-F5344CB8AC3E}">
        <p14:creationId xmlns:p14="http://schemas.microsoft.com/office/powerpoint/2010/main" val="59009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2FC32D-E036-467F-B19E-BF02AB1E4F2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jobs share one accountability problem</a:t>
            </a:r>
            <a:endParaRPr sz="3200"/>
          </a:p>
        </p:txBody>
      </p:sp>
      <p:sp>
        <p:nvSpPr>
          <p:cNvPr id="3" name="Shape 1">
            <a:extLst xmlns:a="http://schemas.openxmlformats.org/drawingml/2006/main">
              <a:ext uri="{FF2B5EF4-FFF2-40B4-BE49-F238E27FC236}">
                <a16:creationId xmlns:a16="http://schemas.microsoft.com/office/drawing/2014/main" id="{EA5D26C9-35C3-4E27-B697-DB2FCAEC31F5}"/>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07B9865-9685-4281-8D96-F27778F38C6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1E0F598-85BC-4B56-AF6A-7B423ED9F626}"/>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C71E9106-3560-4804-973B-ED42B9754B58}"/>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2</a:t>
            </a:r>
            <a:endParaRPr sz="900"/>
          </a:p>
        </p:txBody>
      </p:sp>
      <p:sp>
        <p:nvSpPr>
          <p:cNvPr id="7" name="Text 5">
            <a:extLst xmlns:a="http://schemas.openxmlformats.org/drawingml/2006/main">
              <a:ext uri="{FF2B5EF4-FFF2-40B4-BE49-F238E27FC236}">
                <a16:creationId xmlns:a16="http://schemas.microsoft.com/office/drawing/2014/main" id="{1A1DF7CA-835A-47C9-8A2B-B4ED2253A5A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Complaint triage</a:t>
            </a:r>
            <a:endParaRPr sz="2600"/>
          </a:p>
        </p:txBody>
      </p:sp>
      <p:sp>
        <p:nvSpPr>
          <p:cNvPr id="8" name="Text 6">
            <a:extLst xmlns:a="http://schemas.openxmlformats.org/drawingml/2006/main">
              <a:ext uri="{FF2B5EF4-FFF2-40B4-BE49-F238E27FC236}">
                <a16:creationId xmlns:a16="http://schemas.microsoft.com/office/drawing/2014/main" id="{34F7BB88-CC92-474A-A01B-22BF8C7756D6}"/>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Routing queue · complaint evidence · handler decides</a:t>
            </a:r>
            <a:endParaRPr sz="2400"/>
          </a:p>
        </p:txBody>
      </p:sp>
      <p:sp>
        <p:nvSpPr>
          <p:cNvPr id="9" name="Text 7">
            <a:extLst xmlns:a="http://schemas.openxmlformats.org/drawingml/2006/main">
              <a:ext uri="{FF2B5EF4-FFF2-40B4-BE49-F238E27FC236}">
                <a16:creationId xmlns:a16="http://schemas.microsoft.com/office/drawing/2014/main" id="{C5628F7F-5E4A-4F9E-9A1E-C41A0277876B}"/>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Reporting assistance</a:t>
            </a:r>
            <a:endParaRPr sz="2600"/>
          </a:p>
        </p:txBody>
      </p:sp>
      <p:sp>
        <p:nvSpPr>
          <p:cNvPr id="10" name="Text 8">
            <a:extLst xmlns:a="http://schemas.openxmlformats.org/drawingml/2006/main">
              <a:ext uri="{FF2B5EF4-FFF2-40B4-BE49-F238E27FC236}">
                <a16:creationId xmlns:a16="http://schemas.microsoft.com/office/drawing/2014/main" id="{287CBE1E-E11E-40DC-9535-301FA6068745}"/>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Report narrative · computed figures · named employee approves</a:t>
            </a:r>
            <a:endParaRPr sz="2400"/>
          </a:p>
        </p:txBody>
      </p:sp>
      <p:sp>
        <p:nvSpPr>
          <p:cNvPr id="11" name="Text 9">
            <a:extLst xmlns:a="http://schemas.openxmlformats.org/drawingml/2006/main">
              <a:ext uri="{FF2B5EF4-FFF2-40B4-BE49-F238E27FC236}">
                <a16:creationId xmlns:a16="http://schemas.microsoft.com/office/drawing/2014/main" id="{CEC41A38-197D-4910-B2AB-9889B71FFEA4}"/>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Anomaly flagging</a:t>
            </a:r>
            <a:endParaRPr sz="2600"/>
          </a:p>
        </p:txBody>
      </p:sp>
      <p:sp>
        <p:nvSpPr>
          <p:cNvPr id="12" name="Text 10">
            <a:extLst xmlns:a="http://schemas.openxmlformats.org/drawingml/2006/main">
              <a:ext uri="{FF2B5EF4-FFF2-40B4-BE49-F238E27FC236}">
                <a16:creationId xmlns:a16="http://schemas.microsoft.com/office/drawing/2014/main" id="{3646140C-B592-42B9-90D3-8F89B73346C6}"/>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Flag explanation · transaction values · analyst decides</a:t>
            </a:r>
            <a:endParaRPr sz="2400"/>
          </a:p>
        </p:txBody>
      </p:sp>
      <p:sp>
        <p:nvSpPr>
          <p:cNvPr id="13" name="Text 11">
            <a:extLst xmlns:a="http://schemas.openxmlformats.org/drawingml/2006/main">
              <a:ext uri="{FF2B5EF4-FFF2-40B4-BE49-F238E27FC236}">
                <a16:creationId xmlns:a16="http://schemas.microsoft.com/office/drawing/2014/main" id="{CE8562EB-42A2-4695-9E22-6C0759E60260}"/>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task changes. The accountability problem does not.</a:t>
            </a:r>
            <a:endParaRPr sz="2600"/>
          </a:p>
        </p:txBody>
      </p:sp>
    </p:spTree>
    <p:extLst>
      <p:ext uri="{BB962C8B-B14F-4D97-AF65-F5344CB8AC3E}">
        <p14:creationId xmlns:p14="http://schemas.microsoft.com/office/powerpoint/2010/main" val="20371200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34CB8D-79DE-4B74-BF68-B62BDA02D1A5}"/>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xmlns:a="http://schemas.openxmlformats.org/drawingml/2006/main">
              <a:ext uri="{FF2B5EF4-FFF2-40B4-BE49-F238E27FC236}">
                <a16:creationId xmlns:a16="http://schemas.microsoft.com/office/drawing/2014/main" id="{554D6246-44B2-49A4-90CB-6EE6427B085E}"/>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BC0A988B-5CEF-4737-B178-507D33B4590F}"/>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33F065A9-9F36-4D0B-91AD-B595DCB46BB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9DA4E89-49D7-4BD5-AD7A-3CFFE72AB40F}"/>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3</a:t>
            </a:r>
            <a:endParaRPr sz="900"/>
          </a:p>
        </p:txBody>
      </p:sp>
      <p:sp>
        <p:nvSpPr>
          <p:cNvPr id="7" name="Text 5">
            <a:extLst xmlns:a="http://schemas.openxmlformats.org/drawingml/2006/main">
              <a:ext uri="{FF2B5EF4-FFF2-40B4-BE49-F238E27FC236}">
                <a16:creationId xmlns:a16="http://schemas.microsoft.com/office/drawing/2014/main" id="{98F61D32-0D88-4008-BEB4-707556032EDB}"/>
              </a:ext>
            </a:extLst>
          </p:cNvPr>
          <p:cNvSpPr>
            <a:spLocks xmlns:a="http://schemas.openxmlformats.org/drawingml/2006/main" noGrp="1"/>
          </p:cNvSpPr>
          <p:nvPr/>
        </p:nvSpPr>
        <p:spPr>
          <a:xfrm xmlns:a="http://schemas.openxmlformats.org/drawingml/2006/main">
            <a:off x="822960" y="1773936"/>
            <a:ext cx="1054577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A1A1A"/>
                </a:solidFill>
                <a:latin typeface="Calibri"/>
                <a:ea typeface="Calibri"/>
                <a:cs typeface="Calibri"/>
              </a:rPr>
              <a:t>Validate input  →  Model proposes  →  Guards verify  →  Human decides</a:t>
            </a:r>
            <a:endParaRPr sz="2400"/>
          </a:p>
        </p:txBody>
      </p:sp>
      <p:sp>
        <p:nvSpPr>
          <p:cNvPr id="8" name="Text 6">
            <a:extLst xmlns:a="http://schemas.openxmlformats.org/drawingml/2006/main">
              <a:ext uri="{FF2B5EF4-FFF2-40B4-BE49-F238E27FC236}">
                <a16:creationId xmlns:a16="http://schemas.microsoft.com/office/drawing/2014/main" id="{113D4632-CCC3-4899-BF0B-F006EC94F331}"/>
              </a:ext>
            </a:extLst>
          </p:cNvPr>
          <p:cNvSpPr>
            <a:spLocks xmlns:a="http://schemas.openxmlformats.org/drawingml/2006/main" noGrp="1"/>
          </p:cNvSpPr>
          <p:nvPr/>
        </p:nvSpPr>
        <p:spPr>
          <a:xfrm xmlns:a="http://schemas.openxmlformats.org/drawingml/2006/main">
            <a:off x="822960" y="2907792"/>
            <a:ext cx="10545775" cy="8961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In scope? Confident enough to propose? Every quote, figure or value present in the evidence?</a:t>
            </a:r>
            <a:endParaRPr sz="2400"/>
          </a:p>
        </p:txBody>
      </p:sp>
      <p:sp>
        <p:nvSpPr>
          <p:cNvPr id="9" name="Text 7">
            <a:extLst xmlns:a="http://schemas.openxmlformats.org/drawingml/2006/main">
              <a:ext uri="{FF2B5EF4-FFF2-40B4-BE49-F238E27FC236}">
                <a16:creationId xmlns:a16="http://schemas.microsoft.com/office/drawing/2014/main" id="{9018D886-755D-4E7F-8207-A5295CA04F02}"/>
              </a:ext>
            </a:extLst>
          </p:cNvPr>
          <p:cNvSpPr>
            <a:spLocks xmlns:a="http://schemas.openxmlformats.org/drawingml/2006/main" noGrp="1"/>
          </p:cNvSpPr>
          <p:nvPr/>
        </p:nvSpPr>
        <p:spPr>
          <a:xfrm xmlns:a="http://schemas.openxmlformats.org/drawingml/2006/main">
            <a:off x="822960" y="41879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system never routes, files or blocks anything by itself.</a:t>
            </a:r>
            <a:endParaRPr sz="2600"/>
          </a:p>
        </p:txBody>
      </p:sp>
    </p:spTree>
    <p:extLst>
      <p:ext uri="{BB962C8B-B14F-4D97-AF65-F5344CB8AC3E}">
        <p14:creationId xmlns:p14="http://schemas.microsoft.com/office/powerpoint/2010/main" val="13220383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A28D43-32B7-4C19-B734-D3A6F1E2F6B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xmlns:a="http://schemas.openxmlformats.org/drawingml/2006/main">
              <a:ext uri="{FF2B5EF4-FFF2-40B4-BE49-F238E27FC236}">
                <a16:creationId xmlns:a16="http://schemas.microsoft.com/office/drawing/2014/main" id="{C43CF5C8-89B6-43F6-AF3F-9E4920F0015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33529F4-9A82-4A8D-8FA5-8DABE5CA27A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A2942C5E-0ADF-4D08-A40A-E228D34A4710}"/>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2A3DB2A2-CF25-4557-9B0C-54687E4FA0D1}"/>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4</a:t>
            </a:r>
            <a:endParaRPr sz="900"/>
          </a:p>
        </p:txBody>
      </p:sp>
      <p:sp>
        <p:nvSpPr>
          <p:cNvPr id="7" name="Text 5">
            <a:extLst xmlns:a="http://schemas.openxmlformats.org/drawingml/2006/main">
              <a:ext uri="{FF2B5EF4-FFF2-40B4-BE49-F238E27FC236}">
                <a16:creationId xmlns:a16="http://schemas.microsoft.com/office/drawing/2014/main" id="{10F72280-FEB7-4077-9BCE-B00740543F64}"/>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Proves: the workflow can propose, cite evidence and stop safely.</a:t>
            </a:r>
            <a:endParaRPr sz="2600"/>
          </a:p>
          <a:p xmlns:a="http://schemas.openxmlformats.org/drawingml/2006/main">
            <a:pPr marL="0" indent="0">
              <a:buNone/>
            </a:pPr>
            <a:r>
              <a:rPr sz="2600">
                <a:solidFill>
                  <a:srgbClr val="1A1A1A"/>
                </a:solidFill>
                <a:latin typeface="Calibri"/>
                <a:ea typeface="Calibri"/>
                <a:cs typeface="Calibri"/>
              </a:rPr>
              <a:t>Does not prove: client performance or value.</a:t>
            </a:r>
            <a:endParaRPr sz="26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60ccecb54d0a4c09"/>
          <a:stretch xmlns:a="http://schemas.openxmlformats.org/drawingml/2006/main">
            <a:fillRect l="0" t="0" r="0" b="0"/>
          </a:stretch>
        </p:blipFill>
        <p:spPr>
          <a:xfrm xmlns:a="http://schemas.openxmlformats.org/drawingml/2006/main">
            <a:off x="1750619" y="2523744"/>
            <a:ext cx="8690458" cy="3621024"/>
          </a:xfrm>
          <a:prstGeom xmlns:a="http://schemas.openxmlformats.org/drawingml/2006/main" prst="rect">
            <a:avLst/>
          </a:prstGeom>
        </p:spPr>
      </p:pic>
    </p:spTree>
    <p:extLst>
      <p:ext uri="{BB962C8B-B14F-4D97-AF65-F5344CB8AC3E}">
        <p14:creationId xmlns:p14="http://schemas.microsoft.com/office/powerpoint/2010/main" val="12713210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448E3-6A25-437D-A56B-7B353879B3D0}"/>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xmlns:a="http://schemas.openxmlformats.org/drawingml/2006/main">
              <a:ext uri="{FF2B5EF4-FFF2-40B4-BE49-F238E27FC236}">
                <a16:creationId xmlns:a16="http://schemas.microsoft.com/office/drawing/2014/main" id="{EE382AC9-C458-4448-A028-F7B0B6B2FAC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501AF663-098B-4908-968B-95F5B4657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F2D69B-0177-45A2-8C12-991E90DE47D1}"/>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64B11649-53EB-4BEC-85F8-E6C2A082E2E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5</a:t>
            </a:r>
            <a:endParaRPr sz="900"/>
          </a:p>
        </p:txBody>
      </p:sp>
      <p:sp>
        <p:nvSpPr>
          <p:cNvPr id="7" name="Text 5">
            <a:extLst xmlns:a="http://schemas.openxmlformats.org/drawingml/2006/main">
              <a:ext uri="{FF2B5EF4-FFF2-40B4-BE49-F238E27FC236}">
                <a16:creationId xmlns:a16="http://schemas.microsoft.com/office/drawing/2014/main" id="{D2A18EE2-A32A-450F-B7C4-43229A318274}"/>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2400"/>
          </a:p>
        </p:txBody>
      </p:sp>
      <p:sp>
        <p:nvSpPr>
          <p:cNvPr id="8" name="Text 6">
            <a:extLst xmlns:a="http://schemas.openxmlformats.org/drawingml/2006/main">
              <a:ext uri="{FF2B5EF4-FFF2-40B4-BE49-F238E27FC236}">
                <a16:creationId xmlns:a16="http://schemas.microsoft.com/office/drawing/2014/main" id="{A8FD200E-F12A-46BE-93F4-CE4AA98F851F}"/>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36-MONTH ROI</a:t>
            </a:r>
            <a:endParaRPr sz="2400"/>
          </a:p>
        </p:txBody>
      </p:sp>
      <p:sp>
        <p:nvSpPr>
          <p:cNvPr id="9" name="Shape 7">
            <a:extLst xmlns:a="http://schemas.openxmlformats.org/drawingml/2006/main">
              <a:ext uri="{FF2B5EF4-FFF2-40B4-BE49-F238E27FC236}">
                <a16:creationId xmlns:a16="http://schemas.microsoft.com/office/drawing/2014/main" id="{FD68561A-C904-488E-8E56-97E3E3242655}"/>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B90C5254-85DB-4E27-AB9B-23BC2C6694DD}"/>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Bespoke build · consultant oversight</a:t>
            </a:r>
            <a:endParaRPr sz="2400"/>
          </a:p>
        </p:txBody>
      </p:sp>
      <p:sp>
        <p:nvSpPr>
          <p:cNvPr id="11" name="Text 9">
            <a:extLst xmlns:a="http://schemas.openxmlformats.org/drawingml/2006/main">
              <a:ext uri="{FF2B5EF4-FFF2-40B4-BE49-F238E27FC236}">
                <a16:creationId xmlns:a16="http://schemas.microsoft.com/office/drawing/2014/main" id="{6B90C47C-24F6-4C4B-BC7D-5C561395C68E}"/>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−31.0%</a:t>
            </a:r>
            <a:endParaRPr sz="2400"/>
          </a:p>
        </p:txBody>
      </p:sp>
      <p:sp>
        <p:nvSpPr>
          <p:cNvPr id="12" name="Shape 10">
            <a:extLst xmlns:a="http://schemas.openxmlformats.org/drawingml/2006/main">
              <a:ext uri="{FF2B5EF4-FFF2-40B4-BE49-F238E27FC236}">
                <a16:creationId xmlns:a16="http://schemas.microsoft.com/office/drawing/2014/main" id="{A6D95D2A-7880-4259-927B-FBAE6B103E0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23E153E-2C02-40B3-9A38-1B1EB3F2F263}"/>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across five firms</a:t>
            </a:r>
            <a:endParaRPr sz="2400"/>
          </a:p>
        </p:txBody>
      </p:sp>
      <p:sp>
        <p:nvSpPr>
          <p:cNvPr id="14" name="Text 12">
            <a:extLst xmlns:a="http://schemas.openxmlformats.org/drawingml/2006/main">
              <a:ext uri="{FF2B5EF4-FFF2-40B4-BE49-F238E27FC236}">
                <a16:creationId xmlns:a16="http://schemas.microsoft.com/office/drawing/2014/main" id="{F2B7E80B-E4B9-49B6-9B8F-91FEA9C3CD95}"/>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+16.9%</a:t>
            </a:r>
            <a:endParaRPr sz="2400"/>
          </a:p>
        </p:txBody>
      </p:sp>
      <p:sp>
        <p:nvSpPr>
          <p:cNvPr id="15" name="Shape 13">
            <a:extLst xmlns:a="http://schemas.openxmlformats.org/drawingml/2006/main">
              <a:ext uri="{FF2B5EF4-FFF2-40B4-BE49-F238E27FC236}">
                <a16:creationId xmlns:a16="http://schemas.microsoft.com/office/drawing/2014/main" id="{53EB53A7-E320-435A-ADC2-FA9CB0283D3D}"/>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68D789EC-727C-41DE-B802-79CF85117834}"/>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 oversight in-house</a:t>
            </a:r>
            <a:endParaRPr sz="2400"/>
          </a:p>
        </p:txBody>
      </p:sp>
      <p:sp>
        <p:nvSpPr>
          <p:cNvPr id="17" name="Text 15">
            <a:extLst xmlns:a="http://schemas.openxmlformats.org/drawingml/2006/main">
              <a:ext uri="{FF2B5EF4-FFF2-40B4-BE49-F238E27FC236}">
                <a16:creationId xmlns:a16="http://schemas.microsoft.com/office/drawing/2014/main" id="{54E3E406-7F37-4FD0-8525-409866F41113}"/>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+96.6%</a:t>
            </a:r>
            <a:endParaRPr sz="2400"/>
          </a:p>
        </p:txBody>
      </p:sp>
      <p:sp>
        <p:nvSpPr>
          <p:cNvPr id="18" name="Text 16">
            <a:extLst xmlns:a="http://schemas.openxmlformats.org/drawingml/2006/main">
              <a:ext uri="{FF2B5EF4-FFF2-40B4-BE49-F238E27FC236}">
                <a16:creationId xmlns:a16="http://schemas.microsoft.com/office/drawing/2014/main" id="{ED24CD4C-9A82-4463-9BCD-BB4D966F4283}"/>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At 2,426 complaints a year, bespoke deployment breaks even in month 69. Approximately 3,800 are needed.</a:t>
            </a:r>
            <a:endParaRPr sz="2600"/>
          </a:p>
        </p:txBody>
      </p:sp>
      <p:sp>
        <p:nvSpPr>
          <p:cNvPr id="19" name="Text 17">
            <a:extLst xmlns:a="http://schemas.openxmlformats.org/drawingml/2006/main">
              <a:ext uri="{FF2B5EF4-FFF2-40B4-BE49-F238E27FC236}">
                <a16:creationId xmlns:a16="http://schemas.microsoft.com/office/drawing/2014/main" id="{ED24CD4C-9A82-4463-9BCD-BB4D966F4284}"/>
              </a:ext>
            </a:extLst>
          </p:cNvPr>
          <p:cNvSpPr>
            <a:spLocks xmlns:a="http://schemas.openxmlformats.org/drawingml/2006/main" noGrp="1"/>
          </p:cNvSpPr>
          <p:nvPr/>
        </p:nvSpPr>
        <p:spPr>
          <a:xfrm xmlns:a="http://schemas.openxmlformats.org/drawingml/2006/main">
            <a:off x="822960" y="58064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€9,918 of €17,326 is cash — ombudsman fees and fraud losses, not saved time.</a:t>
            </a:r>
            <a:endParaRPr sz="2400"/>
          </a:p>
        </p:txBody>
      </p:sp>
    </p:spTree>
    <p:extLst>
      <p:ext uri="{BB962C8B-B14F-4D97-AF65-F5344CB8AC3E}">
        <p14:creationId xmlns:p14="http://schemas.microsoft.com/office/powerpoint/2010/main" val="2960184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A92469-DF26-465E-AFC2-660C24768F2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xmlns:a="http://schemas.openxmlformats.org/drawingml/2006/main">
              <a:ext uri="{FF2B5EF4-FFF2-40B4-BE49-F238E27FC236}">
                <a16:creationId xmlns:a16="http://schemas.microsoft.com/office/drawing/2014/main" id="{5EB15278-A8A7-4A83-8739-79F3608EBE0A}"/>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1DC6D1FB-83CB-4EB1-B1E8-91F5BD6AF11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C1C7628B-63B9-4871-AFC6-FBC6F1031E8C}"/>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E31CB3C-6E5D-46A0-903A-FE524E9E44D0}"/>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6</a:t>
            </a:r>
            <a:endParaRPr sz="900"/>
          </a:p>
        </p:txBody>
      </p:sp>
      <p:sp>
        <p:nvSpPr>
          <p:cNvPr id="7" name="Text 5">
            <a:extLst xmlns:a="http://schemas.openxmlformats.org/drawingml/2006/main">
              <a:ext uri="{FF2B5EF4-FFF2-40B4-BE49-F238E27FC236}">
                <a16:creationId xmlns:a16="http://schemas.microsoft.com/office/drawing/2014/main" id="{AC773AE0-99DC-4CCC-949D-EB1D44646FF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Value assumptions fail on real data   4×5</a:t>
            </a:r>
            <a:endParaRPr sz="2600"/>
          </a:p>
        </p:txBody>
      </p:sp>
      <p:sp>
        <p:nvSpPr>
          <p:cNvPr id="8" name="Text 6">
            <a:extLst xmlns:a="http://schemas.openxmlformats.org/drawingml/2006/main">
              <a:ext uri="{FF2B5EF4-FFF2-40B4-BE49-F238E27FC236}">
                <a16:creationId xmlns:a16="http://schemas.microsoft.com/office/drawing/2014/main" id="{8268CC89-A0B9-47E9-8B0A-043DD32B9B68}"/>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before committing to deployment. Fixed phase exits preserve the right to stop.</a:t>
            </a:r>
            <a:endParaRPr sz="2400"/>
          </a:p>
        </p:txBody>
      </p:sp>
      <p:sp>
        <p:nvSpPr>
          <p:cNvPr id="9" name="Text 7">
            <a:extLst xmlns:a="http://schemas.openxmlformats.org/drawingml/2006/main">
              <a:ext uri="{FF2B5EF4-FFF2-40B4-BE49-F238E27FC236}">
                <a16:creationId xmlns:a16="http://schemas.microsoft.com/office/drawing/2014/main" id="{D2FE464A-D188-470D-82FB-F9BE9CDE16C5}"/>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Handlers rubber-stamp proposals   4×4</a:t>
            </a:r>
            <a:endParaRPr sz="2600"/>
          </a:p>
        </p:txBody>
      </p:sp>
      <p:sp>
        <p:nvSpPr>
          <p:cNvPr id="10" name="Text 8">
            <a:extLst xmlns:a="http://schemas.openxmlformats.org/drawingml/2006/main">
              <a:ext uri="{FF2B5EF4-FFF2-40B4-BE49-F238E27FC236}">
                <a16:creationId xmlns:a16="http://schemas.microsoft.com/office/drawing/2014/main" id="{09CD94B9-D13A-49E3-B76A-A01A32956C38}"/>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Acceptance above 97% is a failure signal, measured per handler.</a:t>
            </a:r>
            <a:endParaRPr sz="2400"/>
          </a:p>
        </p:txBody>
      </p:sp>
      <p:sp>
        <p:nvSpPr>
          <p:cNvPr id="11" name="Text 9">
            <a:extLst xmlns:a="http://schemas.openxmlformats.org/drawingml/2006/main">
              <a:ext uri="{FF2B5EF4-FFF2-40B4-BE49-F238E27FC236}">
                <a16:creationId xmlns:a16="http://schemas.microsoft.com/office/drawing/2014/main" id="{6D9EA6E0-65D8-49FE-B5BE-E961C035737F}"/>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Oversight costs more than it saves   3×4</a:t>
            </a:r>
            <a:endParaRPr sz="2600"/>
          </a:p>
        </p:txBody>
      </p:sp>
      <p:sp>
        <p:nvSpPr>
          <p:cNvPr id="12" name="Text 10">
            <a:extLst xmlns:a="http://schemas.openxmlformats.org/drawingml/2006/main">
              <a:ext uri="{FF2B5EF4-FFF2-40B4-BE49-F238E27FC236}">
                <a16:creationId xmlns:a16="http://schemas.microsoft.com/office/drawing/2014/main" id="{E6129510-3755-46A4-9705-BB6EA9A086DD}"/>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effort during the shadow pilot from day one.</a:t>
            </a:r>
            <a:endParaRPr sz="2400"/>
          </a:p>
        </p:txBody>
      </p:sp>
    </p:spTree>
    <p:extLst>
      <p:ext uri="{BB962C8B-B14F-4D97-AF65-F5344CB8AC3E}">
        <p14:creationId xmlns:p14="http://schemas.microsoft.com/office/powerpoint/2010/main" val="77303728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9A16E5-808D-4E13-B1CF-A404528F0FB3}"/>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xmlns:a="http://schemas.openxmlformats.org/drawingml/2006/main">
              <a:ext uri="{FF2B5EF4-FFF2-40B4-BE49-F238E27FC236}">
                <a16:creationId xmlns:a16="http://schemas.microsoft.com/office/drawing/2014/main" id="{D4AA5190-0081-45AF-A5A7-B8AA87E6FEF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37C74313-CEAA-4828-848C-8D225AB2EF3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7D17FAC-FB51-4B2D-BAE5-D6A5826C96DD}"/>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3662326A-B1E7-4B72-AB1F-C370F161523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7</a:t>
            </a:r>
            <a:endParaRPr sz="900"/>
          </a:p>
        </p:txBody>
      </p:sp>
      <p:sp>
        <p:nvSpPr>
          <p:cNvPr id="7" name="Text 5">
            <a:extLst xmlns:a="http://schemas.openxmlformats.org/drawingml/2006/main">
              <a:ext uri="{FF2B5EF4-FFF2-40B4-BE49-F238E27FC236}">
                <a16:creationId xmlns:a16="http://schemas.microsoft.com/office/drawing/2014/main" id="{4B353CFD-797F-4173-A01B-F42835B33D2B}"/>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AI Act: Triage and reporting are not high-risk.</a:t>
            </a:r>
            <a:endParaRPr sz="2400"/>
          </a:p>
        </p:txBody>
      </p:sp>
      <p:sp>
        <p:nvSpPr>
          <p:cNvPr id="8" name="Text 6">
            <a:extLst xmlns:a="http://schemas.openxmlformats.org/drawingml/2006/main">
              <a:ext uri="{FF2B5EF4-FFF2-40B4-BE49-F238E27FC236}">
                <a16:creationId xmlns:a16="http://schemas.microsoft.com/office/drawing/2014/main" id="{9386379E-B987-4D52-B558-9892A45CF496}"/>
              </a:ext>
            </a:extLst>
          </p:cNvPr>
          <p:cNvSpPr>
            <a:spLocks xmlns:a="http://schemas.openxmlformats.org/drawingml/2006/main" noGrp="1"/>
          </p:cNvSpPr>
          <p:nvPr/>
        </p:nvSpPr>
        <p:spPr>
          <a:xfrm xmlns:a="http://schemas.openxmlformats.org/drawingml/2006/main">
            <a:off x="822960" y="2487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flagging requires counsel confirmation. AI literacy applies now.</a:t>
            </a:r>
            <a:endParaRPr sz="2400"/>
          </a:p>
        </p:txBody>
      </p:sp>
      <p:sp>
        <p:nvSpPr>
          <p:cNvPr id="10" name="Text 8">
            <a:extLst xmlns:a="http://schemas.openxmlformats.org/drawingml/2006/main">
              <a:ext uri="{FF2B5EF4-FFF2-40B4-BE49-F238E27FC236}">
                <a16:creationId xmlns:a16="http://schemas.microsoft.com/office/drawing/2014/main" id="{D4F74A11-44A8-436D-B84C-7A6AFBC1AEF1}"/>
              </a:ext>
            </a:extLst>
          </p:cNvPr>
          <p:cNvSpPr>
            <a:spLocks xmlns:a="http://schemas.openxmlformats.org/drawingml/2006/main" noGrp="1"/>
          </p:cNvSpPr>
          <p:nvPr/>
        </p:nvSpPr>
        <p:spPr>
          <a:xfrm xmlns:a="http://schemas.openxmlformats.org/drawingml/2006/main">
            <a:off x="822960" y="391363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GDPR: The full complaint narrative reaches the provider.</a:t>
            </a:r>
            <a:endParaRPr sz="2400"/>
          </a:p>
        </p:txBody>
      </p:sp>
      <p:sp>
        <p:nvSpPr>
          <p:cNvPr id="11" name="Text 9">
            <a:extLst xmlns:a="http://schemas.openxmlformats.org/drawingml/2006/main">
              <a:ext uri="{FF2B5EF4-FFF2-40B4-BE49-F238E27FC236}">
                <a16:creationId xmlns:a16="http://schemas.microsoft.com/office/drawing/2014/main" id="{CEF271E3-966B-4EBC-BFBC-4BEAEF6F86AF}"/>
              </a:ext>
            </a:extLst>
          </p:cNvPr>
          <p:cNvSpPr>
            <a:spLocks xmlns:a="http://schemas.openxmlformats.org/drawingml/2006/main" noGrp="1"/>
          </p:cNvSpPr>
          <p:nvPr/>
        </p:nvSpPr>
        <p:spPr>
          <a:xfrm xmlns:a="http://schemas.openxmlformats.org/drawingml/2006/main">
            <a:off x="822960" y="4773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Close the DPA, transfer assessment and zero-retention controls before using real data.</a:t>
            </a:r>
            <a:endParaRPr sz="2600"/>
          </a:p>
        </p:txBody>
      </p:sp>
    </p:spTree>
    <p:extLst>
      <p:ext uri="{BB962C8B-B14F-4D97-AF65-F5344CB8AC3E}">
        <p14:creationId xmlns:p14="http://schemas.microsoft.com/office/powerpoint/2010/main" val="15047684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C23C2F-5DD1-4357-AA70-587A7DE6374B}"/>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xmlns:a="http://schemas.openxmlformats.org/drawingml/2006/main">
              <a:ext uri="{FF2B5EF4-FFF2-40B4-BE49-F238E27FC236}">
                <a16:creationId xmlns:a16="http://schemas.microsoft.com/office/drawing/2014/main" id="{3F6C2007-D7BE-46D2-9445-C55D9392A44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891083A5-37F5-4952-BBAE-2A7B32228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A435F72-37F5-4464-B655-82F9C7FDFF94}"/>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A8FB78A4-8745-434B-AAA7-838895409356}"/>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8</a:t>
            </a:r>
            <a:endParaRPr sz="900"/>
          </a:p>
        </p:txBody>
      </p:sp>
      <p:sp>
        <p:nvSpPr>
          <p:cNvPr id="7" name="Text 5">
            <a:extLst xmlns:a="http://schemas.openxmlformats.org/drawingml/2006/main">
              <a:ext uri="{FF2B5EF4-FFF2-40B4-BE49-F238E27FC236}">
                <a16:creationId xmlns:a16="http://schemas.microsoft.com/office/drawing/2014/main" id="{66ADF4B7-39F1-45F5-A0ED-3C53C700F12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PHASE · WHAT IT BUYS</a:t>
            </a:r>
            <a:endParaRPr sz="2400"/>
          </a:p>
        </p:txBody>
      </p:sp>
      <p:sp>
        <p:nvSpPr>
          <p:cNvPr id="8" name="Text 6">
            <a:extLst xmlns:a="http://schemas.openxmlformats.org/drawingml/2006/main">
              <a:ext uri="{FF2B5EF4-FFF2-40B4-BE49-F238E27FC236}">
                <a16:creationId xmlns:a16="http://schemas.microsoft.com/office/drawing/2014/main" id="{9917ED35-A1CF-4979-8734-A2E7619ADBA5}"/>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FEE · EXIT</a:t>
            </a:r>
            <a:endParaRPr sz="2400"/>
          </a:p>
        </p:txBody>
      </p:sp>
      <p:sp>
        <p:nvSpPr>
          <p:cNvPr id="9" name="Shape 7">
            <a:extLst xmlns:a="http://schemas.openxmlformats.org/drawingml/2006/main">
              <a:ext uri="{FF2B5EF4-FFF2-40B4-BE49-F238E27FC236}">
                <a16:creationId xmlns:a16="http://schemas.microsoft.com/office/drawing/2014/main" id="{C3025A76-167A-4DF6-8E7F-A19E7E59DA63}"/>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11753659-222F-4C71-8118-70BF22934537}"/>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0 · Ground truth, baselines, legal closure</a:t>
            </a:r>
            <a:endParaRPr sz="2400"/>
          </a:p>
        </p:txBody>
      </p:sp>
      <p:sp>
        <p:nvSpPr>
          <p:cNvPr id="11" name="Text 9">
            <a:extLst xmlns:a="http://schemas.openxmlformats.org/drawingml/2006/main">
              <a:ext uri="{FF2B5EF4-FFF2-40B4-BE49-F238E27FC236}">
                <a16:creationId xmlns:a16="http://schemas.microsoft.com/office/drawing/2014/main" id="{81253715-BDEB-4913-B940-E7CF247B6507}"/>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€5,600 · go/no-go on pilot</a:t>
            </a:r>
            <a:endParaRPr sz="2400"/>
          </a:p>
        </p:txBody>
      </p:sp>
      <p:sp>
        <p:nvSpPr>
          <p:cNvPr id="12" name="Shape 10">
            <a:extLst xmlns:a="http://schemas.openxmlformats.org/drawingml/2006/main">
              <a:ext uri="{FF2B5EF4-FFF2-40B4-BE49-F238E27FC236}">
                <a16:creationId xmlns:a16="http://schemas.microsoft.com/office/drawing/2014/main" id="{730D92FD-A2AE-49E1-9A09-9F9781456F2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926EECE5-3C0D-4D64-95E6-34B2BA0793E1}"/>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Configuration + 60-day shadow run</a:t>
            </a:r>
            <a:endParaRPr sz="2400"/>
          </a:p>
        </p:txBody>
      </p:sp>
      <p:sp>
        <p:nvSpPr>
          <p:cNvPr id="14" name="Text 12">
            <a:extLst xmlns:a="http://schemas.openxmlformats.org/drawingml/2006/main">
              <a:ext uri="{FF2B5EF4-FFF2-40B4-BE49-F238E27FC236}">
                <a16:creationId xmlns:a16="http://schemas.microsoft.com/office/drawing/2014/main" id="{598228BD-E4A1-466E-B72C-BAD12A29F0D6}"/>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€12,600 · go/no-go on deployment</a:t>
            </a:r>
            <a:endParaRPr sz="2400"/>
          </a:p>
        </p:txBody>
      </p:sp>
      <p:sp>
        <p:nvSpPr>
          <p:cNvPr id="15" name="Shape 13">
            <a:extLst xmlns:a="http://schemas.openxmlformats.org/drawingml/2006/main">
              <a:ext uri="{FF2B5EF4-FFF2-40B4-BE49-F238E27FC236}">
                <a16:creationId xmlns:a16="http://schemas.microsoft.com/office/drawing/2014/main" id="{35286158-A485-4199-A972-A7BEF4434C4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C5609FB-D36B-491E-A331-FBBEA9127F41}"/>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Integration, training and handover</a:t>
            </a:r>
            <a:endParaRPr sz="2400"/>
          </a:p>
        </p:txBody>
      </p:sp>
      <p:sp>
        <p:nvSpPr>
          <p:cNvPr id="17" name="Text 15">
            <a:extLst xmlns:a="http://schemas.openxmlformats.org/drawingml/2006/main">
              <a:ext uri="{FF2B5EF4-FFF2-40B4-BE49-F238E27FC236}">
                <a16:creationId xmlns:a16="http://schemas.microsoft.com/office/drawing/2014/main" id="{0364A474-D0DB-40F4-96D9-F098C96FE46C}"/>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€14,000 · only if gates pass</a:t>
            </a:r>
            <a:endParaRPr sz="2400"/>
          </a:p>
        </p:txBody>
      </p:sp>
      <p:sp>
        <p:nvSpPr>
          <p:cNvPr id="18" name="Text 16">
            <a:extLst xmlns:a="http://schemas.openxmlformats.org/drawingml/2006/main">
              <a:ext uri="{FF2B5EF4-FFF2-40B4-BE49-F238E27FC236}">
                <a16:creationId xmlns:a16="http://schemas.microsoft.com/office/drawing/2014/main" id="{9FE2B717-5068-4870-9CBA-3151C865FE72}"/>
              </a:ext>
            </a:extLst>
          </p:cNvPr>
          <p:cNvSpPr>
            <a:spLocks xmlns:a="http://schemas.openxmlformats.org/drawingml/2006/main" noGrp="1"/>
          </p:cNvSpPr>
          <p:nvPr/>
        </p:nvSpPr>
        <p:spPr>
          <a:xfrm xmlns:a="http://schemas.openxmlformats.org/drawingml/2006/main">
            <a:off x="822960" y="4809744"/>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€18,200 reaches the deployment decision. Nobody acts on a suggestion in shadow.</a:t>
            </a:r>
            <a:endParaRPr sz="2400"/>
          </a:p>
        </p:txBody>
      </p:sp>
      <p:sp>
        <p:nvSpPr>
          <p:cNvPr id="19" name="Text 17">
            <a:extLst xmlns:a="http://schemas.openxmlformats.org/drawingml/2006/main">
              <a:ext uri="{FF2B5EF4-FFF2-40B4-BE49-F238E27FC236}">
                <a16:creationId xmlns:a16="http://schemas.microsoft.com/office/drawing/2014/main" id="{2B05168D-C2C7-40C4-8D32-DD4EA667F053}"/>
              </a:ext>
            </a:extLst>
          </p:cNvPr>
          <p:cNvSpPr>
            <a:spLocks xmlns:a="http://schemas.openxmlformats.org/drawingml/2006/main" noGrp="1"/>
          </p:cNvSpPr>
          <p:nvPr/>
        </p:nvSpPr>
        <p:spPr>
          <a:xfrm xmlns:a="http://schemas.openxmlformats.org/drawingml/2006/main">
            <a:off x="822960" y="55595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Hard gates: ≥80% accuracy · 75–97% acceptance · zero ungrounded outputs.</a:t>
            </a:r>
            <a:endParaRPr sz="2400"/>
          </a:p>
        </p:txBody>
      </p:sp>
    </p:spTree>
    <p:extLst>
      <p:ext uri="{BB962C8B-B14F-4D97-AF65-F5344CB8AC3E}">
        <p14:creationId xmlns:p14="http://schemas.microsoft.com/office/powerpoint/2010/main" val="39138169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8563F3-AA93-4360-A229-BE6CC75D800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xmlns:a="http://schemas.openxmlformats.org/drawingml/2006/main">
              <a:ext uri="{FF2B5EF4-FFF2-40B4-BE49-F238E27FC236}">
                <a16:creationId xmlns:a16="http://schemas.microsoft.com/office/drawing/2014/main" id="{64B79335-1158-4015-89BD-D52A1020F85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283EF32-1CED-4A83-9177-95F4E178BB6A}"/>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321AA6-144B-485E-A342-12869C04B26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87A61F7A-A481-43D7-AB54-290F77813C44}"/>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9</a:t>
            </a:r>
            <a:endParaRPr sz="900"/>
          </a:p>
        </p:txBody>
      </p:sp>
      <p:sp>
        <p:nvSpPr>
          <p:cNvPr id="7" name="Text 5">
            <a:extLst xmlns:a="http://schemas.openxmlformats.org/drawingml/2006/main">
              <a:ext uri="{FF2B5EF4-FFF2-40B4-BE49-F238E27FC236}">
                <a16:creationId xmlns:a16="http://schemas.microsoft.com/office/drawing/2014/main" id="{842C3A54-294F-4FBD-9DBE-78508C4AEDC0}"/>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One record connects the proposal, its evidence, every check and the human decision.</a:t>
            </a:r>
            <a:endParaRPr sz="24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e9473402635843d2"/>
          <a:stretch xmlns:a="http://schemas.openxmlformats.org/drawingml/2006/main">
            <a:fillRect l="0" t="0" r="0" b="0"/>
          </a:stretch>
        </p:blipFill>
        <p:spPr>
          <a:xfrm xmlns:a="http://schemas.openxmlformats.org/drawingml/2006/main">
            <a:off x="3184398" y="2505456"/>
            <a:ext cx="5822899" cy="3639312"/>
          </a:xfrm>
          <a:prstGeom xmlns:a="http://schemas.openxmlformats.org/drawingml/2006/main" prst="rect">
            <a:avLst/>
          </a:prstGeom>
        </p:spPr>
      </p:pic>
    </p:spTree>
    <p:extLst>
      <p:ext uri="{BB962C8B-B14F-4D97-AF65-F5344CB8AC3E}">
        <p14:creationId xmlns:p14="http://schemas.microsoft.com/office/powerpoint/2010/main" val="1805889097"/>
      </p:ext>
    </p:extLst>
  </p:cSld>
</p:sld>
</file>

<file path=ppt/slides/slide1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082A7A-D470-4541-9653-8504AF17D79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xmlns:a="http://schemas.openxmlformats.org/drawingml/2006/main">
              <a:ext uri="{FF2B5EF4-FFF2-40B4-BE49-F238E27FC236}">
                <a16:creationId xmlns:a16="http://schemas.microsoft.com/office/drawing/2014/main" id="{A295E4E7-16BB-4672-AD37-EE192B3004B9}"/>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Text 2">
            <a:extLst xmlns:a="http://schemas.openxmlformats.org/drawingml/2006/main">
              <a:ext uri="{FF2B5EF4-FFF2-40B4-BE49-F238E27FC236}">
                <a16:creationId xmlns:a16="http://schemas.microsoft.com/office/drawing/2014/main" id="{DE2DC152-AFDB-4320-BC33-AAC8560120B4}"/>
              </a:ext>
            </a:extLst>
          </p:cNvPr>
          <p:cNvSpPr>
            <a:spLocks xmlns:a="http://schemas.openxmlformats.org/drawingml/2006/main" noGrp="1"/>
          </p:cNvSpPr>
          <p:nvPr/>
        </p:nvSpPr>
        <p:spPr>
          <a:xfrm xmlns:a="http://schemas.openxmlformats.org/drawingml/2006/main">
            <a:off x="822960" y="1874520"/>
            <a:ext cx="1054577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Approve Phases 0 and 1 up to €18,200.</a:t>
            </a:r>
            <a:endParaRPr sz="3000"/>
          </a:p>
        </p:txBody>
      </p:sp>
      <p:sp>
        <p:nvSpPr>
          <p:cNvPr id="5" name="Text 3">
            <a:extLst xmlns:a="http://schemas.openxmlformats.org/drawingml/2006/main">
              <a:ext uri="{FF2B5EF4-FFF2-40B4-BE49-F238E27FC236}">
                <a16:creationId xmlns:a16="http://schemas.microsoft.com/office/drawing/2014/main" id="{9B48E321-1EA7-48E3-98FB-227D8FC87C61}"/>
              </a:ext>
            </a:extLst>
          </p:cNvPr>
          <p:cNvSpPr>
            <a:spLocks xmlns:a="http://schemas.openxmlformats.org/drawingml/2006/main" noGrp="1"/>
          </p:cNvSpPr>
          <p:nvPr/>
        </p:nvSpPr>
        <p:spPr>
          <a:xfrm xmlns:a="http://schemas.openxmlformats.org/drawingml/2006/main">
            <a:off x="822960" y="2880360"/>
            <a:ext cx="10545775"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50000"/>
              </a:lnSpc>
              <a:buNone/>
            </a:pPr>
            <a:r>
              <a:rPr sz="2600">
                <a:solidFill>
                  <a:srgbClr val="A8A8A8"/>
                </a:solidFill>
                <a:latin typeface="Calibri"/>
                <a:ea typeface="Calibri"/>
                <a:cs typeface="Calibri"/>
              </a:rPr>
              <a:t>Close the legal and data-transfer gates before real-data processing.</a:t>
            </a:r>
            <a:endParaRPr sz="2600"/>
          </a:p>
          <a:p xmlns:a="http://schemas.openxmlformats.org/drawingml/2006/main">
            <a:pPr marL="0" indent="0">
              <a:lnSpc>
                <a:spcPct val="150000"/>
              </a:lnSpc>
              <a:buNone/>
            </a:pPr>
            <a:r>
              <a:rPr sz="2600">
                <a:solidFill>
                  <a:srgbClr val="A8A8A8"/>
                </a:solidFill>
                <a:latin typeface="Calibri"/>
                <a:ea typeface="Calibri"/>
                <a:cs typeface="Calibri"/>
              </a:rPr>
              <a:t>Retain fixed phase exits and the stated pilot thresholds.</a:t>
            </a:r>
            <a:endParaRPr sz="2600"/>
          </a:p>
          <a:p xmlns:a="http://schemas.openxmlformats.org/drawingml/2006/main">
            <a:pPr marL="0" indent="0">
              <a:lnSpc>
                <a:spcPct val="150000"/>
              </a:lnSpc>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xmlns:a="http://schemas.openxmlformats.org/drawingml/2006/main">
              <a:ext uri="{FF2B5EF4-FFF2-40B4-BE49-F238E27FC236}">
                <a16:creationId xmlns:a16="http://schemas.microsoft.com/office/drawing/2014/main" id="{87E9177B-F80B-46DB-835F-EEA7C866D85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7" name="Text 5">
            <a:extLst xmlns:a="http://schemas.openxmlformats.org/drawingml/2006/main">
              <a:ext uri="{FF2B5EF4-FFF2-40B4-BE49-F238E27FC236}">
                <a16:creationId xmlns:a16="http://schemas.microsoft.com/office/drawing/2014/main" id="{6A9318B9-E498-469E-B475-33D03E08846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8" name="Text 6">
            <a:extLst xmlns:a="http://schemas.openxmlformats.org/drawingml/2006/main">
              <a:ext uri="{FF2B5EF4-FFF2-40B4-BE49-F238E27FC236}">
                <a16:creationId xmlns:a16="http://schemas.microsoft.com/office/drawing/2014/main" id="{1B3D8D35-8CA0-4666-ABB0-450C52E9D0E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10</a:t>
            </a:r>
            <a:endParaRPr sz="900"/>
          </a:p>
        </p:txBody>
      </p:sp>
    </p:spTree>
    <p:extLst>
      <p:ext uri="{BB962C8B-B14F-4D97-AF65-F5344CB8AC3E}">
        <p14:creationId xmlns:p14="http://schemas.microsoft.com/office/powerpoint/2010/main" val="74324880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422AB6-69AB-4E2D-A86A-F00D8B7FB6D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xmlns:a="http://schemas.openxmlformats.org/drawingml/2006/main">
              <a:ext uri="{FF2B5EF4-FFF2-40B4-BE49-F238E27FC236}">
                <a16:creationId xmlns:a16="http://schemas.microsoft.com/office/drawing/2014/main" id="{C6752D99-6392-427D-BD31-4522D9E17AC3}"/>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8909DCB-12F8-4F1C-8906-A536B0DEB644}"/>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47A30F48-AD83-4DC0-9256-7FD2FD48A98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D5E9AACA-7F44-468B-84BD-58BBB4CA8B4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11</a:t>
            </a:r>
            <a:endParaRPr sz="900"/>
          </a:p>
        </p:txBody>
      </p:sp>
      <p:sp>
        <p:nvSpPr>
          <p:cNvPr id="7" name="Text 5">
            <a:extLst xmlns:a="http://schemas.openxmlformats.org/drawingml/2006/main">
              <a:ext uri="{FF2B5EF4-FFF2-40B4-BE49-F238E27FC236}">
                <a16:creationId xmlns:a16="http://schemas.microsoft.com/office/drawing/2014/main" id="{D04DB212-D7C1-40FB-BAA0-42A391891DD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CAA9D526-2D34-4925-94E6-4BF2F62F0C24}"/>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RESULT</a:t>
            </a:r>
            <a:endParaRPr sz="2400"/>
          </a:p>
        </p:txBody>
      </p:sp>
      <p:sp>
        <p:nvSpPr>
          <p:cNvPr id="9" name="Shape 7">
            <a:extLst xmlns:a="http://schemas.openxmlformats.org/drawingml/2006/main">
              <a:ext uri="{FF2B5EF4-FFF2-40B4-BE49-F238E27FC236}">
                <a16:creationId xmlns:a16="http://schemas.microsoft.com/office/drawing/2014/main" id="{FEDC68E5-AC3A-4C6D-8082-8F6AC44C8802}"/>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9D62BC10-5949-40EC-9751-7931C8CBA186}"/>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Complainant labels · gpt-4o-mini (deployed) / gpt-4o</a:t>
            </a:r>
            <a:endParaRPr sz="2400"/>
          </a:p>
        </p:txBody>
      </p:sp>
      <p:sp>
        <p:nvSpPr>
          <p:cNvPr id="11" name="Text 9">
            <a:extLst xmlns:a="http://schemas.openxmlformats.org/drawingml/2006/main">
              <a:ext uri="{FF2B5EF4-FFF2-40B4-BE49-F238E27FC236}">
                <a16:creationId xmlns:a16="http://schemas.microsoft.com/office/drawing/2014/main" id="{6D73736A-612D-46BC-9C3E-A018D495686B}"/>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56.8% / 60.5%</a:t>
            </a:r>
            <a:endParaRPr sz="2400"/>
          </a:p>
        </p:txBody>
      </p:sp>
      <p:sp>
        <p:nvSpPr>
          <p:cNvPr id="12" name="Shape 10">
            <a:extLst xmlns:a="http://schemas.openxmlformats.org/drawingml/2006/main">
              <a:ext uri="{FF2B5EF4-FFF2-40B4-BE49-F238E27FC236}">
                <a16:creationId xmlns:a16="http://schemas.microsoft.com/office/drawing/2014/main" id="{82FE88FC-EF42-4265-BF12-1BF806FC8DFA}"/>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B2D7215-A526-4FCA-8EC4-2DDE373820D6}"/>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xmlns:a="http://schemas.openxmlformats.org/drawingml/2006/main">
              <a:ext uri="{FF2B5EF4-FFF2-40B4-BE49-F238E27FC236}">
                <a16:creationId xmlns:a16="http://schemas.microsoft.com/office/drawing/2014/main" id="{63022B1F-9273-4916-A6AC-2A198E97A232}"/>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88.0%</a:t>
            </a:r>
            <a:endParaRPr sz="2400"/>
          </a:p>
        </p:txBody>
      </p:sp>
      <p:sp>
        <p:nvSpPr>
          <p:cNvPr id="15" name="Shape 13">
            <a:extLst xmlns:a="http://schemas.openxmlformats.org/drawingml/2006/main">
              <a:ext uri="{FF2B5EF4-FFF2-40B4-BE49-F238E27FC236}">
                <a16:creationId xmlns:a16="http://schemas.microsoft.com/office/drawing/2014/main" id="{153FC865-0651-4EB3-B28C-2D953EA83B8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28F90436-1D1C-4058-A535-6469D1026AA8}"/>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Synthetic anomaly precision</a:t>
            </a:r>
            <a:endParaRPr sz="2400"/>
          </a:p>
        </p:txBody>
      </p:sp>
      <p:sp>
        <p:nvSpPr>
          <p:cNvPr id="17" name="Text 15">
            <a:extLst xmlns:a="http://schemas.openxmlformats.org/drawingml/2006/main">
              <a:ext uri="{FF2B5EF4-FFF2-40B4-BE49-F238E27FC236}">
                <a16:creationId xmlns:a16="http://schemas.microsoft.com/office/drawing/2014/main" id="{D7C139B0-6FE4-4B7A-95F5-5572E5C7F64A}"/>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97.9%</a:t>
            </a:r>
            <a:endParaRPr sz="2400"/>
          </a:p>
        </p:txBody>
      </p:sp>
      <p:sp>
        <p:nvSpPr>
          <p:cNvPr id="18" name="Shape 16">
            <a:extLst xmlns:a="http://schemas.openxmlformats.org/drawingml/2006/main">
              <a:ext uri="{FF2B5EF4-FFF2-40B4-BE49-F238E27FC236}">
                <a16:creationId xmlns:a16="http://schemas.microsoft.com/office/drawing/2014/main" id="{D4943C01-22A6-4B70-BFBA-789AE3CDCC22}"/>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C174BB8A-BC1C-4206-AAD8-D7BCBCD824FD}"/>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xmlns:a="http://schemas.openxmlformats.org/drawingml/2006/main">
              <a:ext uri="{FF2B5EF4-FFF2-40B4-BE49-F238E27FC236}">
                <a16:creationId xmlns:a16="http://schemas.microsoft.com/office/drawing/2014/main" id="{82FC1976-FC10-4E9A-9AB2-79DCE8DDF4B2}"/>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Not measured</a:t>
            </a:r>
            <a:endParaRPr sz="2400"/>
          </a:p>
        </p:txBody>
      </p:sp>
      <p:sp>
        <p:nvSpPr>
          <p:cNvPr id="21" name="Text 19">
            <a:extLst xmlns:a="http://schemas.openxmlformats.org/drawingml/2006/main">
              <a:ext uri="{FF2B5EF4-FFF2-40B4-BE49-F238E27FC236}">
                <a16:creationId xmlns:a16="http://schemas.microsoft.com/office/drawing/2014/main" id="{158B7E2B-223D-481E-87FB-25C12AB2DDC3}"/>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Phase 0 creates expert labels; the shadow pilot tests real-world usefulness.</a:t>
            </a:r>
            <a:endParaRPr sz="2400"/>
          </a:p>
        </p:txBody>
      </p:sp>
    </p:spTree>
    <p:extLst>
      <p:ext uri="{BB962C8B-B14F-4D97-AF65-F5344CB8AC3E}">
        <p14:creationId xmlns:p14="http://schemas.microsoft.com/office/powerpoint/2010/main" val="157444982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17690-454C-40A8-A7CC-C86880C7FDB2}"/>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xmlns:a="http://schemas.openxmlformats.org/drawingml/2006/main">
              <a:ext uri="{FF2B5EF4-FFF2-40B4-BE49-F238E27FC236}">
                <a16:creationId xmlns:a16="http://schemas.microsoft.com/office/drawing/2014/main" id="{2483294B-C978-4325-BB89-2725619D695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D3556923-0666-4F02-A5C7-37AD396D59EC}"/>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7FA4FA30-72B8-44D5-8C21-F12D304E85D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F3DB20CF-909D-41D2-8B36-A2CB4570CC32}"/>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12</a:t>
            </a:r>
            <a:endParaRPr sz="900"/>
          </a:p>
        </p:txBody>
      </p:sp>
      <p:sp>
        <p:nvSpPr>
          <p:cNvPr id="7" name="Text 5">
            <a:extLst xmlns:a="http://schemas.openxmlformats.org/drawingml/2006/main">
              <a:ext uri="{FF2B5EF4-FFF2-40B4-BE49-F238E27FC236}">
                <a16:creationId xmlns:a16="http://schemas.microsoft.com/office/drawing/2014/main" id="{BD40C905-8690-4398-9DE7-6847CC63BA6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STEP</a:t>
            </a:r>
            <a:endParaRPr sz="2400"/>
          </a:p>
        </p:txBody>
      </p:sp>
      <p:sp>
        <p:nvSpPr>
          <p:cNvPr id="8" name="Text 6">
            <a:extLst xmlns:a="http://schemas.openxmlformats.org/drawingml/2006/main">
              <a:ext uri="{FF2B5EF4-FFF2-40B4-BE49-F238E27FC236}">
                <a16:creationId xmlns:a16="http://schemas.microsoft.com/office/drawing/2014/main" id="{53800C3A-F707-497F-8CE4-ECCE421B5F1A}"/>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FINDING</a:t>
            </a:r>
            <a:endParaRPr sz="2400"/>
          </a:p>
        </p:txBody>
      </p:sp>
      <p:sp>
        <p:nvSpPr>
          <p:cNvPr id="9" name="Shape 7">
            <a:extLst xmlns:a="http://schemas.openxmlformats.org/drawingml/2006/main">
              <a:ext uri="{FF2B5EF4-FFF2-40B4-BE49-F238E27FC236}">
                <a16:creationId xmlns:a16="http://schemas.microsoft.com/office/drawing/2014/main" id="{6577D523-FC5A-4690-9F3B-56BA1F4120A6}"/>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8B12870D-F924-468E-9412-C611C2EB2550}"/>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AI system under Art. 3(1)</a:t>
            </a:r>
            <a:endParaRPr sz="2400"/>
          </a:p>
        </p:txBody>
      </p:sp>
      <p:sp>
        <p:nvSpPr>
          <p:cNvPr id="11" name="Text 9">
            <a:extLst xmlns:a="http://schemas.openxmlformats.org/drawingml/2006/main">
              <a:ext uri="{FF2B5EF4-FFF2-40B4-BE49-F238E27FC236}">
                <a16:creationId xmlns:a16="http://schemas.microsoft.com/office/drawing/2014/main" id="{EFA8E50E-D4C6-4B11-941E-6A5661A1188D}"/>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a:t>
            </a:r>
            <a:endParaRPr sz="2400"/>
          </a:p>
        </p:txBody>
      </p:sp>
      <p:sp>
        <p:nvSpPr>
          <p:cNvPr id="12" name="Shape 10">
            <a:extLst xmlns:a="http://schemas.openxmlformats.org/drawingml/2006/main">
              <a:ext uri="{FF2B5EF4-FFF2-40B4-BE49-F238E27FC236}">
                <a16:creationId xmlns:a16="http://schemas.microsoft.com/office/drawing/2014/main" id="{3136BD7E-CC79-401A-B4CF-2E96416B3A61}"/>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4B5E5B96-66E1-4CEE-8892-886EEF0DA313}"/>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Prohibited practice under Art. 5</a:t>
            </a:r>
            <a:endParaRPr sz="2400"/>
          </a:p>
        </p:txBody>
      </p:sp>
      <p:sp>
        <p:nvSpPr>
          <p:cNvPr id="14" name="Text 12">
            <a:extLst xmlns:a="http://schemas.openxmlformats.org/drawingml/2006/main">
              <a:ext uri="{FF2B5EF4-FFF2-40B4-BE49-F238E27FC236}">
                <a16:creationId xmlns:a16="http://schemas.microsoft.com/office/drawing/2014/main" id="{56050B06-AD53-4265-AE63-5B52C9DB213E}"/>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None identified</a:t>
            </a:r>
            <a:endParaRPr sz="2400"/>
          </a:p>
        </p:txBody>
      </p:sp>
      <p:sp>
        <p:nvSpPr>
          <p:cNvPr id="15" name="Shape 13">
            <a:extLst xmlns:a="http://schemas.openxmlformats.org/drawingml/2006/main">
              <a:ext uri="{FF2B5EF4-FFF2-40B4-BE49-F238E27FC236}">
                <a16:creationId xmlns:a16="http://schemas.microsoft.com/office/drawing/2014/main" id="{A8720165-05BB-4C9F-BFDB-EB5C33D39BEE}"/>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87E0FB0C-36A9-46DF-A617-3553209DDF3B}"/>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4 · Annex III high-risk use</a:t>
            </a:r>
            <a:endParaRPr sz="2400"/>
          </a:p>
        </p:txBody>
      </p:sp>
      <p:sp>
        <p:nvSpPr>
          <p:cNvPr id="17" name="Text 15">
            <a:extLst xmlns:a="http://schemas.openxmlformats.org/drawingml/2006/main">
              <a:ext uri="{FF2B5EF4-FFF2-40B4-BE49-F238E27FC236}">
                <a16:creationId xmlns:a16="http://schemas.microsoft.com/office/drawing/2014/main" id="{EDFB7362-E7EB-4DBF-B6A7-86709998E259}"/>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UC-1/3: no · UC-2: counsel</a:t>
            </a:r>
            <a:endParaRPr sz="2400"/>
          </a:p>
        </p:txBody>
      </p:sp>
      <p:sp>
        <p:nvSpPr>
          <p:cNvPr id="18" name="Shape 16">
            <a:extLst xmlns:a="http://schemas.openxmlformats.org/drawingml/2006/main">
              <a:ext uri="{FF2B5EF4-FFF2-40B4-BE49-F238E27FC236}">
                <a16:creationId xmlns:a16="http://schemas.microsoft.com/office/drawing/2014/main" id="{8BD2B58A-5CC4-4C6C-9671-7EE017732800}"/>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E28757EC-F8A7-454D-8B7C-F64237A77F74}"/>
              </a:ext>
            </a:extLst>
          </p:cNvPr>
          <p:cNvSpPr>
            <a:spLocks xmlns:a="http://schemas.openxmlformats.org/drawingml/2006/main" noGrp="1"/>
          </p:cNvSpPr>
          <p:nvPr/>
        </p:nvSpPr>
        <p:spPr>
          <a:xfrm xmlns:a="http://schemas.openxmlformats.org/drawingml/2006/main">
            <a:off x="822960" y="4480560"/>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Articles 50 and 4</a:t>
            </a:r>
            <a:endParaRPr sz="2400"/>
          </a:p>
        </p:txBody>
      </p:sp>
      <p:sp>
        <p:nvSpPr>
          <p:cNvPr id="20" name="Text 18">
            <a:extLst xmlns:a="http://schemas.openxmlformats.org/drawingml/2006/main">
              <a:ext uri="{FF2B5EF4-FFF2-40B4-BE49-F238E27FC236}">
                <a16:creationId xmlns:a16="http://schemas.microsoft.com/office/drawing/2014/main" id="{478F1A60-0315-49B4-95F2-DDCCB89E53F7}"/>
              </a:ext>
            </a:extLst>
          </p:cNvPr>
          <p:cNvSpPr>
            <a:spLocks xmlns:a="http://schemas.openxmlformats.org/drawingml/2006/main" noGrp="1"/>
          </p:cNvSpPr>
          <p:nvPr/>
        </p:nvSpPr>
        <p:spPr>
          <a:xfrm xmlns:a="http://schemas.openxmlformats.org/drawingml/2006/main">
            <a:off x="7150425" y="4480560"/>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Marking + AI literacy</a:t>
            </a:r>
            <a:endParaRPr sz="2400"/>
          </a:p>
        </p:txBody>
      </p:sp>
      <p:sp>
        <p:nvSpPr>
          <p:cNvPr id="21" name="Text 19">
            <a:extLst xmlns:a="http://schemas.openxmlformats.org/drawingml/2006/main">
              <a:ext uri="{FF2B5EF4-FFF2-40B4-BE49-F238E27FC236}">
                <a16:creationId xmlns:a16="http://schemas.microsoft.com/office/drawing/2014/main" id="{5029C092-4B67-4349-8ED4-300417E741F3}"/>
              </a:ext>
            </a:extLst>
          </p:cNvPr>
          <p:cNvSpPr>
            <a:spLocks xmlns:a="http://schemas.openxmlformats.org/drawingml/2006/main" noGrp="1"/>
          </p:cNvSpPr>
          <p:nvPr/>
        </p:nvSpPr>
        <p:spPr>
          <a:xfrm xmlns:a="http://schemas.openxmlformats.org/drawingml/2006/main">
            <a:off x="822960" y="550468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intended use and human decision boundary drive the classification.</a:t>
            </a:r>
            <a:endParaRPr sz="2400"/>
          </a:p>
        </p:txBody>
      </p:sp>
    </p:spTree>
    <p:extLst>
      <p:ext uri="{BB962C8B-B14F-4D97-AF65-F5344CB8AC3E}">
        <p14:creationId xmlns:p14="http://schemas.microsoft.com/office/powerpoint/2010/main" val="73773309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4DA4A5-8BDD-46DA-AD5B-46A0CB21AC1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xmlns:a="http://schemas.openxmlformats.org/drawingml/2006/main">
              <a:ext uri="{FF2B5EF4-FFF2-40B4-BE49-F238E27FC236}">
                <a16:creationId xmlns:a16="http://schemas.microsoft.com/office/drawing/2014/main" id="{5EFC6F71-B1C4-4D05-9B22-A6BEC993081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E70DB046-4075-45D7-8926-9EF4DA517DC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68598553-5967-4109-BB6D-04E9B65C604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19972238-66CB-4169-ABBF-E2D4C1B67F7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13</a:t>
            </a:r>
            <a:endParaRPr sz="900"/>
          </a:p>
        </p:txBody>
      </p:sp>
      <p:sp>
        <p:nvSpPr>
          <p:cNvPr id="7" name="Text 5">
            <a:extLst xmlns:a="http://schemas.openxmlformats.org/drawingml/2006/main">
              <a:ext uri="{FF2B5EF4-FFF2-40B4-BE49-F238E27FC236}">
                <a16:creationId xmlns:a16="http://schemas.microsoft.com/office/drawing/2014/main" id="{702931D2-077F-44C2-A027-BD3C26440E99}"/>
              </a:ext>
            </a:extLst>
          </p:cNvPr>
          <p:cNvSpPr>
            <a:spLocks xmlns:a="http://schemas.openxmlformats.org/drawingml/2006/main" noGrp="1"/>
          </p:cNvSpPr>
          <p:nvPr/>
        </p:nvSpPr>
        <p:spPr>
          <a:xfrm xmlns:a="http://schemas.openxmlformats.org/drawingml/2006/main">
            <a:off x="822960" y="1773936"/>
            <a:ext cx="464014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WHAT</a:t>
            </a:r>
            <a:endParaRPr sz="2400"/>
          </a:p>
        </p:txBody>
      </p:sp>
      <p:sp>
        <p:nvSpPr>
          <p:cNvPr id="8" name="Text 6">
            <a:extLst xmlns:a="http://schemas.openxmlformats.org/drawingml/2006/main">
              <a:ext uri="{FF2B5EF4-FFF2-40B4-BE49-F238E27FC236}">
                <a16:creationId xmlns:a16="http://schemas.microsoft.com/office/drawing/2014/main" id="{93E6417C-1648-4119-8679-D68D6F5C86E4}"/>
              </a:ext>
            </a:extLst>
          </p:cNvPr>
          <p:cNvSpPr>
            <a:spLocks xmlns:a="http://schemas.openxmlformats.org/drawingml/2006/main" noGrp="1"/>
          </p:cNvSpPr>
          <p:nvPr/>
        </p:nvSpPr>
        <p:spPr>
          <a:xfrm xmlns:a="http://schemas.openxmlformats.org/drawingml/2006/main">
            <a:off x="5463101" y="1773936"/>
            <a:ext cx="590563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WHERE IT GOES</a:t>
            </a:r>
            <a:endParaRPr sz="2400"/>
          </a:p>
        </p:txBody>
      </p:sp>
      <p:sp>
        <p:nvSpPr>
          <p:cNvPr id="9" name="Shape 7">
            <a:extLst xmlns:a="http://schemas.openxmlformats.org/drawingml/2006/main">
              <a:ext uri="{FF2B5EF4-FFF2-40B4-BE49-F238E27FC236}">
                <a16:creationId xmlns:a16="http://schemas.microsoft.com/office/drawing/2014/main" id="{7AB3A231-77EE-416C-8CDF-5C2D5B0E8300}"/>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CB85DE6D-24CE-46FC-8437-2818B9A24421}"/>
              </a:ext>
            </a:extLst>
          </p:cNvPr>
          <p:cNvSpPr>
            <a:spLocks xmlns:a="http://schemas.openxmlformats.org/drawingml/2006/main" noGrp="1"/>
          </p:cNvSpPr>
          <p:nvPr/>
        </p:nvSpPr>
        <p:spPr>
          <a:xfrm xmlns:a="http://schemas.openxmlformats.org/drawingml/2006/main">
            <a:off x="822960" y="2340864"/>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identifier</a:t>
            </a:r>
            <a:endParaRPr sz="2400"/>
          </a:p>
        </p:txBody>
      </p:sp>
      <p:sp>
        <p:nvSpPr>
          <p:cNvPr id="11" name="Text 9">
            <a:extLst xmlns:a="http://schemas.openxmlformats.org/drawingml/2006/main">
              <a:ext uri="{FF2B5EF4-FFF2-40B4-BE49-F238E27FC236}">
                <a16:creationId xmlns:a16="http://schemas.microsoft.com/office/drawing/2014/main" id="{7CDDE7B8-12FD-4DB6-AF13-C2664BCA166F}"/>
              </a:ext>
            </a:extLst>
          </p:cNvPr>
          <p:cNvSpPr>
            <a:spLocks xmlns:a="http://schemas.openxmlformats.org/drawingml/2006/main" noGrp="1"/>
          </p:cNvSpPr>
          <p:nvPr/>
        </p:nvSpPr>
        <p:spPr>
          <a:xfrm xmlns:a="http://schemas.openxmlformats.org/drawingml/2006/main">
            <a:off x="5463101" y="2340864"/>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 · replaced before the model call</a:t>
            </a:r>
            <a:endParaRPr sz="2400"/>
          </a:p>
        </p:txBody>
      </p:sp>
      <p:sp>
        <p:nvSpPr>
          <p:cNvPr id="12" name="Shape 10">
            <a:extLst xmlns:a="http://schemas.openxmlformats.org/drawingml/2006/main">
              <a:ext uri="{FF2B5EF4-FFF2-40B4-BE49-F238E27FC236}">
                <a16:creationId xmlns:a16="http://schemas.microsoft.com/office/drawing/2014/main" id="{34C38A68-C907-4951-A0CC-C8C55675235E}"/>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7E61DC08-BCC5-4289-9CB2-B6270239A64D}"/>
              </a:ext>
            </a:extLst>
          </p:cNvPr>
          <p:cNvSpPr>
            <a:spLocks xmlns:a="http://schemas.openxmlformats.org/drawingml/2006/main" noGrp="1"/>
          </p:cNvSpPr>
          <p:nvPr/>
        </p:nvSpPr>
        <p:spPr>
          <a:xfrm xmlns:a="http://schemas.openxmlformats.org/drawingml/2006/main">
            <a:off x="822960" y="3054096"/>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narrative</a:t>
            </a:r>
            <a:endParaRPr sz="2400"/>
          </a:p>
        </p:txBody>
      </p:sp>
      <p:sp>
        <p:nvSpPr>
          <p:cNvPr id="14" name="Text 12">
            <a:extLst xmlns:a="http://schemas.openxmlformats.org/drawingml/2006/main">
              <a:ext uri="{FF2B5EF4-FFF2-40B4-BE49-F238E27FC236}">
                <a16:creationId xmlns:a16="http://schemas.microsoft.com/office/drawing/2014/main" id="{BF1416F2-DBBF-4683-B428-CD255AF58024}"/>
              </a:ext>
            </a:extLst>
          </p:cNvPr>
          <p:cNvSpPr>
            <a:spLocks xmlns:a="http://schemas.openxmlformats.org/drawingml/2006/main" noGrp="1"/>
          </p:cNvSpPr>
          <p:nvPr/>
        </p:nvSpPr>
        <p:spPr>
          <a:xfrm xmlns:a="http://schemas.openxmlformats.org/drawingml/2006/main">
            <a:off x="5463101" y="3054096"/>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 · sent to the provider in full</a:t>
            </a:r>
            <a:endParaRPr sz="2400"/>
          </a:p>
        </p:txBody>
      </p:sp>
      <p:sp>
        <p:nvSpPr>
          <p:cNvPr id="15" name="Shape 13">
            <a:extLst xmlns:a="http://schemas.openxmlformats.org/drawingml/2006/main">
              <a:ext uri="{FF2B5EF4-FFF2-40B4-BE49-F238E27FC236}">
                <a16:creationId xmlns:a16="http://schemas.microsoft.com/office/drawing/2014/main" id="{7CDAC841-3869-42E9-988D-53136F3F2A19}"/>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00872AE0-0305-4A6A-B142-502C768A7FEB}"/>
              </a:ext>
            </a:extLst>
          </p:cNvPr>
          <p:cNvSpPr>
            <a:spLocks xmlns:a="http://schemas.openxmlformats.org/drawingml/2006/main" noGrp="1"/>
          </p:cNvSpPr>
          <p:nvPr/>
        </p:nvSpPr>
        <p:spPr>
          <a:xfrm xmlns:a="http://schemas.openxmlformats.org/drawingml/2006/main">
            <a:off x="822960" y="3767328"/>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Evidence + pseudonymous reference</a:t>
            </a:r>
            <a:endParaRPr sz="2400"/>
          </a:p>
        </p:txBody>
      </p:sp>
      <p:sp>
        <p:nvSpPr>
          <p:cNvPr id="17" name="Text 15">
            <a:extLst xmlns:a="http://schemas.openxmlformats.org/drawingml/2006/main">
              <a:ext uri="{FF2B5EF4-FFF2-40B4-BE49-F238E27FC236}">
                <a16:creationId xmlns:a16="http://schemas.microsoft.com/office/drawing/2014/main" id="{A0B897EC-9AD3-49F8-9EE6-2B3143C245EC}"/>
              </a:ext>
            </a:extLst>
          </p:cNvPr>
          <p:cNvSpPr>
            <a:spLocks xmlns:a="http://schemas.openxmlformats.org/drawingml/2006/main" noGrp="1"/>
          </p:cNvSpPr>
          <p:nvPr/>
        </p:nvSpPr>
        <p:spPr>
          <a:xfrm xmlns:a="http://schemas.openxmlformats.org/drawingml/2006/main">
            <a:off x="5463101" y="3767328"/>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Stored in monitoring</a:t>
            </a:r>
            <a:endParaRPr sz="2400"/>
          </a:p>
        </p:txBody>
      </p:sp>
      <p:sp>
        <p:nvSpPr>
          <p:cNvPr id="18" name="Text 16">
            <a:extLst xmlns:a="http://schemas.openxmlformats.org/drawingml/2006/main">
              <a:ext uri="{FF2B5EF4-FFF2-40B4-BE49-F238E27FC236}">
                <a16:creationId xmlns:a16="http://schemas.microsoft.com/office/drawing/2014/main" id="{B041204B-8134-499D-9CCF-DCDAB38615CA}"/>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Tree>
    <p:extLst>
      <p:ext uri="{BB962C8B-B14F-4D97-AF65-F5344CB8AC3E}">
        <p14:creationId xmlns:p14="http://schemas.microsoft.com/office/powerpoint/2010/main" val="1276197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95A86-D9CB-4681-8168-2FBC311755D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xmlns:a="http://schemas.openxmlformats.org/drawingml/2006/main">
              <a:ext uri="{FF2B5EF4-FFF2-40B4-BE49-F238E27FC236}">
                <a16:creationId xmlns:a16="http://schemas.microsoft.com/office/drawing/2014/main" id="{E298F8BE-1544-42A8-9CDD-CE89373E0F8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84C2600-AB7B-4E60-984F-47BCA9619AF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AB0B1E9-AC5C-41A6-BBB6-7DB173FDB90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45E83587-0FEB-4372-90ED-6B63804E1BF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14</a:t>
            </a:r>
            <a:endParaRPr sz="900"/>
          </a:p>
        </p:txBody>
      </p:sp>
      <p:sp>
        <p:nvSpPr>
          <p:cNvPr id="7" name="Text 5">
            <a:extLst xmlns:a="http://schemas.openxmlformats.org/drawingml/2006/main">
              <a:ext uri="{FF2B5EF4-FFF2-40B4-BE49-F238E27FC236}">
                <a16:creationId xmlns:a16="http://schemas.microsoft.com/office/drawing/2014/main" id="{C46CFE0B-2F79-46E9-ABBE-3A85BA1D175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816038B4-BCCA-4085-8C97-5AD3DAD52E3E}"/>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THRESHOLD</a:t>
            </a:r>
            <a:endParaRPr sz="2400"/>
          </a:p>
        </p:txBody>
      </p:sp>
      <p:sp>
        <p:nvSpPr>
          <p:cNvPr id="9" name="Shape 7">
            <a:extLst xmlns:a="http://schemas.openxmlformats.org/drawingml/2006/main">
              <a:ext uri="{FF2B5EF4-FFF2-40B4-BE49-F238E27FC236}">
                <a16:creationId xmlns:a16="http://schemas.microsoft.com/office/drawing/2014/main" id="{294D4110-F5D1-46C8-BC24-C818094B397C}"/>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AC66237D-461D-47FF-BDFD-10678F62C6B2}"/>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against expert labels</a:t>
            </a:r>
            <a:endParaRPr sz="2400"/>
          </a:p>
          <a:p xmlns:a="http://schemas.openxmlformats.org/drawingml/2006/main">
            <a:pPr marL="0" indent="0">
              <a:buNone/>
            </a:pPr>
            <a:r>
              <a:rPr sz="2400">
                <a:solidFill>
                  <a:srgbClr val="1A1A1A"/>
                </a:solidFill>
                <a:latin typeface="Calibri"/>
                <a:ea typeface="Calibri"/>
                <a:cs typeface="Calibri"/>
              </a:rPr>
              <a:t>Triage-time reduction</a:t>
            </a:r>
            <a:endParaRPr sz="2400"/>
          </a:p>
        </p:txBody>
      </p:sp>
      <p:sp>
        <p:nvSpPr>
          <p:cNvPr id="11" name="Text 9">
            <a:extLst xmlns:a="http://schemas.openxmlformats.org/drawingml/2006/main">
              <a:ext uri="{FF2B5EF4-FFF2-40B4-BE49-F238E27FC236}">
                <a16:creationId xmlns:a16="http://schemas.microsoft.com/office/drawing/2014/main" id="{AC2F076D-3E0A-42DB-A584-3392657E82BF}"/>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≥80%</a:t>
            </a:r>
            <a:endParaRPr sz="2400"/>
          </a:p>
          <a:p xmlns:a="http://schemas.openxmlformats.org/drawingml/2006/main">
            <a:pPr marL="0" indent="0" algn="r">
              <a:buNone/>
            </a:pPr>
            <a:r>
              <a:rPr sz="2400" b="1">
                <a:solidFill>
                  <a:srgbClr val="1A1A1A"/>
                </a:solidFill>
                <a:latin typeface="Calibri"/>
                <a:ea typeface="Calibri"/>
                <a:cs typeface="Calibri"/>
              </a:rPr>
              <a:t>≥40%</a:t>
            </a:r>
            <a:endParaRPr sz="2400"/>
          </a:p>
        </p:txBody>
      </p:sp>
      <p:sp>
        <p:nvSpPr>
          <p:cNvPr id="12" name="Shape 10">
            <a:extLst xmlns:a="http://schemas.openxmlformats.org/drawingml/2006/main">
              <a:ext uri="{FF2B5EF4-FFF2-40B4-BE49-F238E27FC236}">
                <a16:creationId xmlns:a16="http://schemas.microsoft.com/office/drawing/2014/main" id="{63B9D409-8C59-4EE8-9F81-477501B698BB}"/>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6A4BCD7-91BA-4791-B5D0-99EC1646AE1F}"/>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Handler acceptance</a:t>
            </a:r>
            <a:endParaRPr sz="2400"/>
          </a:p>
          <a:p xmlns:a="http://schemas.openxmlformats.org/drawingml/2006/main">
            <a:pPr marL="0" indent="0">
              <a:buNone/>
            </a:pPr>
            <a:r>
              <a:rPr sz="2400">
                <a:solidFill>
                  <a:srgbClr val="1A1A1A"/>
                </a:solidFill>
                <a:latin typeface="Calibri"/>
                <a:ea typeface="Calibri"/>
                <a:cs typeface="Calibri"/>
              </a:rPr>
              <a:t>Oversight effort</a:t>
            </a:r>
            <a:endParaRPr sz="2400"/>
          </a:p>
        </p:txBody>
      </p:sp>
      <p:sp>
        <p:nvSpPr>
          <p:cNvPr id="14" name="Text 12">
            <a:extLst xmlns:a="http://schemas.openxmlformats.org/drawingml/2006/main">
              <a:ext uri="{FF2B5EF4-FFF2-40B4-BE49-F238E27FC236}">
                <a16:creationId xmlns:a16="http://schemas.microsoft.com/office/drawing/2014/main" id="{ADA3679A-3796-41F1-A32F-3186C0C58C1F}"/>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75–97%</a:t>
            </a:r>
            <a:endParaRPr sz="2400"/>
          </a:p>
          <a:p xmlns:a="http://schemas.openxmlformats.org/drawingml/2006/main">
            <a:pPr marL="0" indent="0" algn="r">
              <a:buNone/>
            </a:pPr>
            <a:r>
              <a:rPr sz="2400" b="1">
                <a:solidFill>
                  <a:srgbClr val="1A1A1A"/>
                </a:solidFill>
                <a:latin typeface="Calibri"/>
                <a:ea typeface="Calibri"/>
                <a:cs typeface="Calibri"/>
              </a:rPr>
              <a:t>≤3 days / quarter</a:t>
            </a:r>
            <a:endParaRPr sz="2400"/>
          </a:p>
        </p:txBody>
      </p:sp>
      <p:sp>
        <p:nvSpPr>
          <p:cNvPr id="15" name="Shape 13">
            <a:extLst xmlns:a="http://schemas.openxmlformats.org/drawingml/2006/main">
              <a:ext uri="{FF2B5EF4-FFF2-40B4-BE49-F238E27FC236}">
                <a16:creationId xmlns:a16="http://schemas.microsoft.com/office/drawing/2014/main" id="{E5C7F522-0E9E-48A9-92E0-5ECDC641418F}"/>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D8B0011A-E7AE-4D6B-92D7-53FA1420693C}"/>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xmlns:a="http://schemas.openxmlformats.org/drawingml/2006/main">
              <a:ext uri="{FF2B5EF4-FFF2-40B4-BE49-F238E27FC236}">
                <a16:creationId xmlns:a16="http://schemas.microsoft.com/office/drawing/2014/main" id="{68C15AD1-588F-49EB-B88D-F93A12CD6AB1}"/>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Zero</a:t>
            </a:r>
            <a:endParaRPr sz="2400"/>
          </a:p>
        </p:txBody>
      </p:sp>
      <p:sp>
        <p:nvSpPr>
          <p:cNvPr id="18" name="Shape 16">
            <a:extLst xmlns:a="http://schemas.openxmlformats.org/drawingml/2006/main">
              <a:ext uri="{FF2B5EF4-FFF2-40B4-BE49-F238E27FC236}">
                <a16:creationId xmlns:a16="http://schemas.microsoft.com/office/drawing/2014/main" id="{ED688328-C004-46B0-846A-B0C99200FA78}"/>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16AD003C-3489-43C2-973E-366E09485037}"/>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Correct abstention</a:t>
            </a:r>
            <a:endParaRPr sz="2400"/>
          </a:p>
        </p:txBody>
      </p:sp>
      <p:sp>
        <p:nvSpPr>
          <p:cNvPr id="20" name="Text 18">
            <a:extLst xmlns:a="http://schemas.openxmlformats.org/drawingml/2006/main">
              <a:ext uri="{FF2B5EF4-FFF2-40B4-BE49-F238E27FC236}">
                <a16:creationId xmlns:a16="http://schemas.microsoft.com/office/drawing/2014/main" id="{6F4DB6FB-5B57-4BBB-A958-01B7AB305FC7}"/>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≥95%</a:t>
            </a:r>
            <a:endParaRPr sz="2400"/>
          </a:p>
        </p:txBody>
      </p:sp>
      <p:sp>
        <p:nvSpPr>
          <p:cNvPr id="21" name="Shape 19">
            <a:extLst xmlns:a="http://schemas.openxmlformats.org/drawingml/2006/main">
              <a:ext uri="{FF2B5EF4-FFF2-40B4-BE49-F238E27FC236}">
                <a16:creationId xmlns:a16="http://schemas.microsoft.com/office/drawing/2014/main" id="{E2D1DD29-EC2D-41AA-AC2A-88923BFDFD50}"/>
              </a:ext>
            </a:extLst>
          </p:cNvPr>
          <p:cNvSpPr>
            <a:spLocks xmlns:a="http://schemas.openxmlformats.org/drawingml/2006/main" noGrp="1"/>
          </p:cNvSpPr>
          <p:nvPr/>
        </p:nvSpPr>
        <p:spPr>
          <a:xfrm xmlns:a="http://schemas.openxmlformats.org/drawingml/2006/main">
            <a:off x="822960" y="5193792"/>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22" name="Text 20">
            <a:extLst xmlns:a="http://schemas.openxmlformats.org/drawingml/2006/main">
              <a:ext uri="{FF2B5EF4-FFF2-40B4-BE49-F238E27FC236}">
                <a16:creationId xmlns:a16="http://schemas.microsoft.com/office/drawing/2014/main" id="{26863846-805A-4D8E-9CC5-D56AA2B8C9DD}"/>
              </a:ext>
            </a:extLst>
          </p:cNvPr>
          <p:cNvSpPr>
            <a:spLocks xmlns:a="http://schemas.openxmlformats.org/drawingml/2006/main" noGrp="1"/>
          </p:cNvSpPr>
          <p:nvPr/>
        </p:nvSpPr>
        <p:spPr>
          <a:xfrm xmlns:a="http://schemas.openxmlformats.org/drawingml/2006/main">
            <a:off x="822960" y="5193792"/>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precision on disposition</a:t>
            </a:r>
            <a:endParaRPr sz="2400"/>
          </a:p>
        </p:txBody>
      </p:sp>
      <p:sp>
        <p:nvSpPr>
          <p:cNvPr id="23" name="Text 21">
            <a:extLst xmlns:a="http://schemas.openxmlformats.org/drawingml/2006/main">
              <a:ext uri="{FF2B5EF4-FFF2-40B4-BE49-F238E27FC236}">
                <a16:creationId xmlns:a16="http://schemas.microsoft.com/office/drawing/2014/main" id="{C69919A8-61E5-4E11-8520-C4E8E98EA53C}"/>
              </a:ext>
            </a:extLst>
          </p:cNvPr>
          <p:cNvSpPr>
            <a:spLocks xmlns:a="http://schemas.openxmlformats.org/drawingml/2006/main" noGrp="1"/>
          </p:cNvSpPr>
          <p:nvPr/>
        </p:nvSpPr>
        <p:spPr>
          <a:xfrm xmlns:a="http://schemas.openxmlformats.org/drawingml/2006/main">
            <a:off x="7783172" y="5193792"/>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≥30%</a:t>
            </a:r>
            <a:endParaRPr sz="2400"/>
          </a:p>
        </p:txBody>
      </p:sp>
    </p:spTree>
    <p:extLst>
      <p:ext uri="{BB962C8B-B14F-4D97-AF65-F5344CB8AC3E}">
        <p14:creationId xmlns:p14="http://schemas.microsoft.com/office/powerpoint/2010/main" val="20587450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2026-09-03T18:35:01.9470000Z</dcterms:created>
  <dcterms:modified xsi:type="dcterms:W3CDTF">2026-09-03T18:35:01.9470000Z</dcterms:modified>
</coreProperties>
</file>