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Three capabilities, all running. One decision you can watch end to end. And the business</a:t>
            </a:r>
          </a:p>
          <a:p>
            <a:r>
              <a:t>case as it actually came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Direction is unchanged: same sector, same firm, same lead use case.</a:t>
            </a:r>
          </a:p>
          <a:p/>
          <a:p>
            <a:r>
              <a:t>Scope widened. Round 1 proposed three use cases and built one; all three are built now. And</a:t>
            </a:r>
          </a:p>
          <a:p>
            <a:r>
              <a:t>two things got harder rather than easier — a real ROI number in place of a cost estimate,</a:t>
            </a:r>
          </a:p>
          <a:p>
            <a:r>
              <a:t>and the AI Act work Round 1 deliberately refused to guess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by the time you</a:t>
            </a:r>
          </a:p>
          <a:p>
            <a:r>
              <a:t>hear about it, the money has gone.</a:t>
            </a:r>
          </a:p>
          <a:p/>
          <a:p>
            <a:r>
              <a:t>[Land this:] High volume, low complexity, unstructured text. The shape a firm your size can</a:t>
            </a:r>
          </a:p>
          <a:p>
            <a:r>
              <a:t>neither automate with rules nor afford to staff properly.</a:t>
            </a:r>
          </a:p>
          <a:p/>
          <a:p>
            <a:r>
              <a:t>What stops this being solved isn't technical. It is that nobody can see what such a system</a:t>
            </a:r>
          </a:p>
          <a:p>
            <a:r>
              <a:t>does — and a decision you cannot see is one you cannot sign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feature,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Only the evidence changes — a sentence from the</a:t>
            </a:r>
          </a:p>
          <a:p>
            <a:r>
              <a:t>complaint, a figure we computed, or the transaction's own 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 proposed Disputes and fraud, and quoted</a:t>
            </a:r>
          </a:p>
          <a:p>
            <a:r>
              <a:t>the customer's own sentence as the reason. Not a summary — her words. Then it stopped and</a:t>
            </a:r>
          </a:p>
          <a:p>
            <a:r>
              <a:t>waited for a person.</a:t>
            </a:r>
          </a:p>
          <a:p/>
          <a:p>
            <a:r>
              <a:t>[If time, edit the complaint and re-run.] When it isn't sure it doesn't fail. It says which</a:t>
            </a:r>
          </a:p>
          <a:p>
            <a:r>
              <a:t>check stopped it, in words a handler can act on.</a:t>
            </a:r>
          </a:p>
          <a:p/>
          <a:p>
            <a:r>
              <a:t>[Three things to say before you move on.]</a:t>
            </a:r>
          </a:p>
          <a:p/>
          <a:p>
            <a:r>
              <a:t>Tools: n8n, because your team can read it as boxes and arrows — a Python script would have</a:t>
            </a:r>
          </a:p>
          <a:p>
            <a:r>
              <a:t>been quicker to write and impossible to show you.</a:t>
            </a:r>
          </a:p>
          <a:p/>
          <a:p>
            <a:r>
              <a:t>What it does not prove is accuracy. It agrees with the public dataset's labels sixty per</a:t>
            </a:r>
          </a:p>
          <a:p>
            <a:r>
              <a:t>cent of the time, and those labels were picked by the complainant from a dropdown. That is</a:t>
            </a:r>
          </a:p>
          <a:p>
            <a:r>
              <a:t>agreement, not accuracy.</a:t>
            </a:r>
          </a:p>
          <a:p/>
          <a:p>
            <a:r>
              <a:t>In production the trigger is your case system rather than a button, rejected inputs get</a:t>
            </a:r>
          </a:p>
          <a:p>
            <a:r>
              <a:t>traced too, and delivery is confirmed back — today it records the decision, not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Built as a one-off for a firm this size, it does not pay back. Minus thirty-one per cent</a:t>
            </a:r>
          </a:p>
          <a:p>
            <a:r>
              <a:t>over three years, break-even in month sixty-nine.</a:t>
            </a:r>
          </a:p>
          <a:p/>
          <a:p>
            <a:r>
              <a:t>That number could have been positive — start the benefits on day one, or trim the oversight</a:t>
            </a:r>
          </a:p>
          <a:p>
            <a:r>
              <a:t>line. Both would have been wrong, and both would have surfaced in the pilot.</a:t>
            </a:r>
          </a:p>
          <a:p/>
          <a:p>
            <a:r>
              <a:t>The capability is fine; the commercial shape is wrong. A bespoke build needs about three</a:t>
            </a:r>
          </a:p>
          <a:p>
            <a:r>
              <a:t>thousand eight hundred complaints a year to pay for itself, and this firm has two and a</a:t>
            </a:r>
          </a:p>
          <a:p>
            <a:r>
              <a:t>half thousand — a third too small. That is a fact about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Not Annex Three, because it never evaluates creditworthiness — the trap everyone expects to</a:t>
            </a:r>
          </a:p>
          <a:p>
            <a:r>
              <a:t>catch a bank, and why credit scoring is excluded by design. Article Four, AI literacy,</a:t>
            </a:r>
          </a:p>
          <a:p>
            <a:r>
              <a:t>applies today whatever the tier, which is why training is funded rather than assumed.</a:t>
            </a:r>
          </a:p>
          <a:p/>
          <a:p>
            <a:r>
              <a:t>Two questions are left for counsel, both on anomaly flagging, both cheaper to answer before</a:t>
            </a:r>
          </a:p>
          <a:p>
            <a:r>
              <a:t>it is built.</a:t>
            </a:r>
          </a:p>
          <a:p/>
          <a:p>
            <a:r>
              <a:t>On the right, the part worth stating plainly. We pseudonymise the reference — but the</a:t>
            </a:r>
          </a:p>
          <a:p>
            <a:r>
              <a:t>complaint narrative goes to the model in full. Anyone who says "it's fine, the data is</a:t>
            </a:r>
          </a:p>
          <a:p>
            <a:r>
              <a:t>pseudonymised" has not read the system. So the transfer work is a gate before any pilot on</a:t>
            </a:r>
          </a:p>
          <a:p>
            <a:r>
              <a:t>real customer data.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 not yet pay for itself at this size.</a:t>
            </a:r>
          </a:p>
          <a:p/>
          <a:p>
            <a:r>
              <a:t>[Beat.] The pilot is what settles the third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reasoning.]</a:t>
            </a:r>
          </a:p>
          <a:p/>
          <a:p>
            <a:r>
              <a:t>Six steps. Step four is the one that matters: it's not an Annex Three use, because it never</a:t>
            </a:r>
          </a:p>
          <a:p>
            <a:r>
              <a:t>evaluates creditworthiness.</a:t>
            </a:r>
          </a:p>
          <a:p/>
          <a:p>
            <a:r>
              <a:t>Step five is the interesting one. If step four ever fails, anomaly flagging alone becomes</a:t>
            </a:r>
          </a:p>
          <a:p>
            <a:r>
              <a:t>high-risk — because it profiles, and the derogation can't save something that profiles.</a:t>
            </a:r>
          </a:p>
          <a:p>
            <a:r>
              <a:t>Triage and reporting stay outside. That asymmetry is exactly why anomaly flagging is built</a:t>
            </a:r>
          </a:p>
          <a:p>
            <a:r>
              <a:t>last and can be switched off without touching the other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 ·  ROUND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operations for a mid-size EU bank.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decisions proposed. Every one confirmed by a person.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 EU retail bank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 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industry, same client, same lead use case. The scope widened from one use case to three.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48640"/>
                <a:gridCol w="525322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FFFF"/>
                          </a:solidFill>
                        </a:rPr>
                        <a:t>ROUND 1 — THE PITCH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1D2A32"/>
                          </a:solidFill>
                        </a:rPr>
                        <a:t>ROUND 2 — WHAT I BUILT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Three use cases proposed, one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Three proposed, three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A workflow you could watch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A working application you can use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Cost estimate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ROI, break-even and a commercial model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"AI Act work deferred to Round 2"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Classification, reasoning, conformity summary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6460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6460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6460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refusals stand: no customer-facing chatbot, no credit scoring.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 — the work a mid-size firm can neither automate with rules nor afford to staff.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Routing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year. 64 categories. Two handlers reading the same complaint pick different ones.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65176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QUARTER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 is assembled by hand, under time pressure, by the people least able to spare it.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of complaints are unauthorised transactions. By the time one arrives, the money has gone.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blocker isn't technical.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nobody can see is a decision nobody can sign off.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spine, three capabilities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is the same four steps. Only the evidence changes.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input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 the evidence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868680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83864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325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 proposes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Grounded in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Complaint triage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routing queue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verbatim quote from the complaint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Reporting assistance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Report prose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Figures this system computed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flagging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An analyst case note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transaction's own values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5559552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2" name="Shape 18"/>
          <p:cNvSpPr/>
          <p:nvPr/>
        </p:nvSpPr>
        <p:spPr>
          <a:xfrm>
            <a:off x="566928" y="5559552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19"/>
          <p:cNvSpPr/>
          <p:nvPr/>
        </p:nvSpPr>
        <p:spPr>
          <a:xfrm>
            <a:off x="822960" y="5559552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batch, three capabilities, three kinds of fabrication caught: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invented quotes · 6 invented values · 1 uncomputed figure.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 It proposed a team, quoted your customer, and stopped.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pic>
        <p:nvPicPr>
          <p:cNvPr id="12" name="Image 1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904" y="2395728"/>
            <a:ext cx="9629144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returns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build does not pay back for a firm your size. −31% over 36 months, break-even in month 69.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36-month ROI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would have to change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−31.0%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As proposed — bespoke build, consultant-run oversight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−9.4%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Your team owns the quarterly review after handover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+16.9%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build is paid for once and shared across five firms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+96.6%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Both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18464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18464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18464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buys a decision, not a deployment.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capability works. The commercial shape is what has to change.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biggest are not technical. They are about how it is deployed and measured.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51560"/>
                <a:gridCol w="6473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L × 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we do about it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The value assumptions are wrong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pilot measures those two numbers. Fixed fee per phase — you can stop at €18,200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Handlers stop reading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Acceptance above 97% is a failure condition, not a success. Measured per handler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Oversight costs more than it saves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3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One spine, so one review covers all three. Instrumented from day one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486400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486400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486400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 These are the top three.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 under the AI Act — and the reason matters more than the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Annex III. It never touches creditworthiness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4 AI literacy applies today, whatever the tier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for your counsel, both on anomaly flagging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goes to the model in full — pseudonyms protect the reference, not the content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holds it out of the high-risk tier is a design property: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 first: it proposes alongside your team, nobody acts on it, and we measure the gap.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€5,600 · 4 weeks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handlers label 300 complaints. That ground truth is worth buying even if you never build this.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€12,600 · 12 weeks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running in shadow for 60 days. Zero operational risk. Ends in a go / no-go.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€14,000 · 10 weeks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accuracy ≥80%, acceptance 75–97%, and zero ungrounded outputs reached a handler.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6928" y="513892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513892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513892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Commercially: a licensed product implemented by consulting — not SaaS, not a bespoke build.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POC only implied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queue, already read. Nobody types a complaint into a box it already arrived in.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deadline column — the question your regulator actually asks.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Every check it ran, by name, and the one it failed.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Nothing happens until someone presses a button — and the press is recorded beside the proposal.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920240"/>
            <a:ext cx="110550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60-day shadow pilot on your own complaints.
</a:t>
            </a:r>
            <a:endParaRPr lang="en-US" sz="2400" dirty="0"/>
          </a:p>
          <a:p>
            <a:pPr indent="0" marL="0">
              <a:buNone/>
            </a:pPr>
            <a:r>
              <a:rPr lang="en-US" sz="200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to Phase 1. Nobody acts on a single suggestion.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 and traced.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 and two questions named for your counsel.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8FB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size. The pilot is what settles that.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Why 60.5% is not accuracy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consistent. It disagrees with an untrained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6336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means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Agreement with CFPB labels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Those labels were picked by the complainant from a dropdown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Self-agreement, same input twice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88.0%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It is consistent — so a cleverer model is not the fix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Fabricated quotes caught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of 60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Confidently invented. Every one stopped by the guard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5546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5546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5546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creates the expert labels that would make an accuracy claim possible.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The anomaly detector's 100%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100% of planted anomalies. Do not report that as a detection rate.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same batch, same candidates, every time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four patterns, not just the easy one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precision on 2,069 transactions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ACCURACY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and the data generator were written by the same author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measures whether the code agrees with itself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 Only a pilot on real traffic settles it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12064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12064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travels with the figure in the code, so it cannot be lifted onto a slide alone.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AI Act classification, step by step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 one that matters is step 4.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173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FINDING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1 · Is it an AI system?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Yes, all three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2 · Prohibited under Art. 5?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— one close call on anomaly flagging, flagged for counsel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3 · Annex I safety component?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4 · An Annex III use case?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No. Never evaluates creditworthiness — Annex III(5)(b) does not bite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5 · Art. 6(3) derogation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Not reached. If step 4 fails, anomaly flagging alone becomes high-risk — it profiles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6 · Art. 50 transparency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customer-facing surface. Generated drafts marked anyway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actually leaves the building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reference. It does not protect the content.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291840"/>
                <a:gridCol w="3410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Identifier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Narrative content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Sent to the model provider (US)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In full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Stored in monitoring (EU)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In the decision log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745736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74573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74573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transfer work — DPA, transfer impact assessment, zero retention — is a gate before any pilot on real data, not a Phase 2 discovery.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the pilot has to prove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any of the first three and we do not proceed.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GATE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THRESHOLD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Team-level accuracy vs expert labels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80%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 acceptance rate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75% AND ≤ 97%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Ungrounded outputs reaching a handler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Zero. Absolute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Correct abstention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95%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precision on analyst disposition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30% — if this alone fails, ship the other two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Anomaly flagging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of labour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deterministic detector decides WHAT is unusual.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The model only explains WHY, in language an analyst can act on.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Ranked by departure from that account's own normal — never by the amount.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Six of 56 case notes were stopped for citing a figure that was not in the record.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2 — Assist</dc:title>
  <dc:subject>PptxGenJS Presentation</dc:subject>
  <dc:creator/>
  <cp:lastModifiedBy/>
  <cp:revision>1</cp:revision>
  <dcterms:created xsi:type="dcterms:W3CDTF">2026-09-03T12:34:57Z</dcterms:created>
  <dcterms:modified xsi:type="dcterms:W3CDTF">2026-09-03T12:34:57Z</dcterms:modified>
</cp:coreProperties>
</file>