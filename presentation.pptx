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[Beat. Don't read the slide.]</a:t>
            </a:r>
          </a:p>
          <a:p>
            <a:r>
              <a:t>[Whole deck: you are in the room with Chleo's team. Speak to them as "you". Step out only at</a:t>
            </a:r>
          </a:p>
          <a:p>
            <a:r>
              <a:t>the very end if the staff want the assessor view.]</a:t>
            </a:r>
          </a:p>
          <a:p/>
          <a:p>
            <a:r>
              <a:t>Three capabilities, all running. One decision you can watch end to end. And the business</a:t>
            </a:r>
          </a:p>
          <a:p>
            <a:r>
              <a:t>case as it actually came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[30 seconds. Don't linger.]</a:t>
            </a:r>
          </a:p>
          <a:p/>
          <a:p>
            <a:r>
              <a:t>Direction is unchanged: same sector, same firm, same lead use case.</a:t>
            </a:r>
          </a:p>
          <a:p/>
          <a:p>
            <a:r>
              <a:t>Scope widened. Round 1 proposed three use cases and built one; all three are built now. And</a:t>
            </a:r>
          </a:p>
          <a:p>
            <a:r>
              <a:t>two things got harder rather than easier — a real ROI number in place of a cost estimate,</a:t>
            </a:r>
          </a:p>
          <a:p>
            <a:r>
              <a:t>and the AI Act work Round 1 deliberately refused to guess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jobs your people do, and they're the same job wearing three coats.</a:t>
            </a:r>
          </a:p>
          <a:p/>
          <a:p>
            <a:r>
              <a:t>Routing: two and a half thousand complaints a year, sixty-four categories. Two of your</a:t>
            </a:r>
          </a:p>
          <a:p>
            <a:r>
              <a:t>handlers read the same complaint and pick different categories — not because either is</a:t>
            </a:r>
          </a:p>
          <a:p>
            <a:r>
              <a:t>wrong, but because neighbouring categories describe the same event.</a:t>
            </a:r>
          </a:p>
          <a:p/>
          <a:p>
            <a:r>
              <a:t>Reporting: the regulatory return gets built by hand, under deadline, by the people who can</a:t>
            </a:r>
          </a:p>
          <a:p>
            <a:r>
              <a:t>least afford the day.</a:t>
            </a:r>
          </a:p>
          <a:p/>
          <a:p>
            <a:r>
              <a:t>And fraud. Seven per cent of your complaints are unauthorised transactions — by the time you</a:t>
            </a:r>
          </a:p>
          <a:p>
            <a:r>
              <a:t>hear about it, the money has gone.</a:t>
            </a:r>
          </a:p>
          <a:p/>
          <a:p>
            <a:r>
              <a:t>[Land this:] High volume, low complexity, unstructured text. The shape a firm your size can</a:t>
            </a:r>
          </a:p>
          <a:p>
            <a:r>
              <a:t>neither automate with rules nor afford to staff properly.</a:t>
            </a:r>
          </a:p>
          <a:p/>
          <a:p>
            <a:r>
              <a:t>What stops this being solved isn't technical. It is that nobody can see what such a system</a:t>
            </a:r>
          </a:p>
          <a:p>
            <a:r>
              <a:t>does — and a decision you cannot see is one you cannot sign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here's the answer to that.</a:t>
            </a:r>
          </a:p>
          <a:p/>
          <a:p>
            <a:r>
              <a:t>Four steps. It validates what comes in. The model proposes something. Guards check the</a:t>
            </a:r>
          </a:p>
          <a:p>
            <a:r>
              <a:t>proposal is actually grounded in evidence that exists. And then a person decides.</a:t>
            </a:r>
          </a:p>
          <a:p/>
          <a:p>
            <a:r>
              <a:t>[Point at the last arrow.] That step is not a feature, it is the whole design. There is no</a:t>
            </a:r>
          </a:p>
          <a:p>
            <a:r>
              <a:t>setting where this routes, files or blocks anything by itself.</a:t>
            </a:r>
          </a:p>
          <a:p/>
          <a:p>
            <a:r>
              <a:t>Every capability is those same four steps. Only the evidence changes — a sentence from the</a:t>
            </a:r>
          </a:p>
          <a:p>
            <a:r>
              <a:t>complaint, a figure we computed, or the transaction's own values.</a:t>
            </a:r>
          </a:p>
          <a:p/>
          <a:p>
            <a:r>
              <a:t>[Land this:] Which is why building all three cost 1.3 times building one — not three times.</a:t>
            </a:r>
          </a:p>
          <a:p/>
          <a:p>
            <a:r>
              <a:t>[Point at the strip.] And the checks earn it. On one batch this week it caught a fabrication</a:t>
            </a:r>
          </a:p>
          <a:p>
            <a:r>
              <a:t>in all three: two quotes that weren't in the complaint, six values that weren't in the</a:t>
            </a:r>
          </a:p>
          <a:p>
            <a:r>
              <a:t>transaction, one figure we never computed.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window. This slide is your fallback if it's cold.]</a:t>
            </a:r>
          </a:p>
          <a:p/>
          <a:p>
            <a:r>
              <a:t>Nine steps, left to right. That's the entire system — you can read it without me.</a:t>
            </a:r>
          </a:p>
          <a:p/>
          <a:p>
            <a:r>
              <a:t>[Run it.] Green ticks mean each step executed. It proposed Disputes and fraud, and quoted</a:t>
            </a:r>
          </a:p>
          <a:p>
            <a:r>
              <a:t>the customer's own sentence as the reason. Not a summary — her words. Then it stopped and</a:t>
            </a:r>
          </a:p>
          <a:p>
            <a:r>
              <a:t>waited for a person.</a:t>
            </a:r>
          </a:p>
          <a:p/>
          <a:p>
            <a:r>
              <a:t>[If time, edit the complaint and re-run.] When it isn't sure it doesn't fail. It says which</a:t>
            </a:r>
          </a:p>
          <a:p>
            <a:r>
              <a:t>check stopped it, in words a handler can act on.</a:t>
            </a:r>
          </a:p>
          <a:p/>
          <a:p>
            <a:r>
              <a:t>[Three things to say before you move on.]</a:t>
            </a:r>
          </a:p>
          <a:p/>
          <a:p>
            <a:r>
              <a:t>Tools: n8n, because your team can read it as boxes and arrows — a Python script would have</a:t>
            </a:r>
          </a:p>
          <a:p>
            <a:r>
              <a:t>been quicker to write and impossible to show you.</a:t>
            </a:r>
          </a:p>
          <a:p/>
          <a:p>
            <a:r>
              <a:t>What it does not prove is accuracy. It agrees with the public dataset's labels sixty per</a:t>
            </a:r>
          </a:p>
          <a:p>
            <a:r>
              <a:t>cent of the time, and those labels were picked by the complainant from a dropdown. That is</a:t>
            </a:r>
          </a:p>
          <a:p>
            <a:r>
              <a:t>agreement, not accuracy.</a:t>
            </a:r>
          </a:p>
          <a:p/>
          <a:p>
            <a:r>
              <a:t>In production the trigger is your case system rather than a button, rejected inputs get</a:t>
            </a:r>
          </a:p>
          <a:p>
            <a:r>
              <a:t>traced too, and delivery is confirmed back — today it records the decision, not the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[Slow down. Do not apologise for this slide.]</a:t>
            </a:r>
          </a:p>
          <a:p/>
          <a:p>
            <a:r>
              <a:t>Built as a one-off for a firm this size, it does not pay back. Minus thirty-one per cent</a:t>
            </a:r>
          </a:p>
          <a:p>
            <a:r>
              <a:t>over three years, break-even in month sixty-nine.</a:t>
            </a:r>
          </a:p>
          <a:p/>
          <a:p>
            <a:r>
              <a:t>That number could have been positive — start the benefits on day one, or trim the oversight</a:t>
            </a:r>
          </a:p>
          <a:p>
            <a:r>
              <a:t>line. Both would have been wrong, and both would have surfaced in the pilot.</a:t>
            </a:r>
          </a:p>
          <a:p/>
          <a:p>
            <a:r>
              <a:t>The capability is fine; the commercial shape is wrong. A bespoke build needs about three</a:t>
            </a:r>
          </a:p>
          <a:p>
            <a:r>
              <a:t>thousand eight hundred complaints a year to pay for itself, and this firm has two and a</a:t>
            </a:r>
          </a:p>
          <a:p>
            <a:r>
              <a:t>half thousand — a third too small. That is a fact about size, not about the technology.</a:t>
            </a:r>
          </a:p>
          <a:p/>
          <a:p>
            <a:r>
              <a:t>[Point at the bottom two rows.] Move the oversight in-house after handover and it's minus</a:t>
            </a:r>
          </a:p>
          <a:p>
            <a:r>
              <a:t>nine. Share the build across five firms your size and it turns positive. Do both and it's</a:t>
            </a:r>
          </a:p>
          <a:p>
            <a:r>
              <a:t>plus ninety-six. The system is identical in every row. The only thing changing is who pays</a:t>
            </a:r>
          </a:p>
          <a:p>
            <a:r>
              <a:t>for the build.</a:t>
            </a:r>
          </a:p>
          <a:p/>
          <a:p>
            <a:r>
              <a:t>[Land this:] So I'm not asking you to fund a deployment. Eighteen thousand two hundred buys</a:t>
            </a:r>
          </a:p>
          <a:p>
            <a:r>
              <a:t>you a decision, on your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the full matrix — twelve risks are scored in the pack. Three you should care about.</a:t>
            </a:r>
          </a:p>
          <a:p/>
          <a:p>
            <a:r>
              <a:t>The first is that I'm wrong about the value. Likelihood four, impact five, and I've priced</a:t>
            </a:r>
          </a:p>
          <a:p>
            <a:r>
              <a:t>it rather than argued it away: fixed fee per phase means you can stop at eighteen thousand.</a:t>
            </a:r>
          </a:p>
          <a:p/>
          <a:p>
            <a:r>
              <a:t>The second is the one nobody sells you. Your handlers stop reading and just click accept.</a:t>
            </a:r>
          </a:p>
          <a:p>
            <a:r>
              <a:t>[Beat.] So I measure acceptance per handler, and anything above ninety-seven per cent is a</a:t>
            </a:r>
          </a:p>
          <a:p>
            <a:r>
              <a:t>failure condition — not a success. That's the one number in here a vendor would never offer</a:t>
            </a:r>
          </a:p>
          <a:p>
            <a:r>
              <a:t>you.</a:t>
            </a:r>
          </a:p>
          <a:p/>
          <a:p>
            <a:r>
              <a:t>Third: oversight costing more than it saves. One shared design means one review covers all</a:t>
            </a:r>
          </a:p>
          <a:p>
            <a:r>
              <a:t>three, and it's instrumented from day one so you'll know the real cost by the end of the</a:t>
            </a:r>
          </a:p>
          <a:p>
            <a:r>
              <a:t>pilot rather than in year two.</a:t>
            </a:r>
          </a:p>
          <a:p/>
          <a:p>
            <a:r>
              <a:t>[Land this:] The two biggest risks aren't technical. They're about how you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[This is your Compliance Officer's slide. Slow down.]</a:t>
            </a:r>
          </a:p>
          <a:p/>
          <a:p>
            <a:r>
              <a:t>Not high-risk under the AI Act. But the reason matters more than the label, so here it is.</a:t>
            </a:r>
          </a:p>
          <a:p/>
          <a:p>
            <a:r>
              <a:t>Not Annex Three, because it never evaluates creditworthiness — the trap everyone expects to</a:t>
            </a:r>
          </a:p>
          <a:p>
            <a:r>
              <a:t>catch a bank, and why credit scoring is excluded by design. Article Four, AI literacy,</a:t>
            </a:r>
          </a:p>
          <a:p>
            <a:r>
              <a:t>applies today whatever the tier, which is why training is funded rather than assumed.</a:t>
            </a:r>
          </a:p>
          <a:p/>
          <a:p>
            <a:r>
              <a:t>Two questions are left for counsel, both on anomaly flagging, both cheaper to answer before</a:t>
            </a:r>
          </a:p>
          <a:p>
            <a:r>
              <a:t>it is built.</a:t>
            </a:r>
          </a:p>
          <a:p/>
          <a:p>
            <a:r>
              <a:t>On the right, the part worth stating plainly. We pseudonymise the reference — but the</a:t>
            </a:r>
          </a:p>
          <a:p>
            <a:r>
              <a:t>complaint narrative goes to the model in full. Anyone who says "it's fine, the data is</a:t>
            </a:r>
          </a:p>
          <a:p>
            <a:r>
              <a:t>pseudonymised" has not read the system. So the transfer work is a gate before any pilot on</a:t>
            </a:r>
          </a:p>
          <a:p>
            <a:r>
              <a:t>real customer data.</a:t>
            </a:r>
          </a:p>
          <a:p/>
          <a:p>
            <a:r>
              <a:t>[Land this:] What keeps this out of the high-risk tier isn't a clever argument. It's a design</a:t>
            </a:r>
          </a:p>
          <a:p>
            <a:r>
              <a:t>property: it proposes, a person decides. Take that away and the classification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phases, and the first one is the odd one.</a:t>
            </a:r>
          </a:p>
          <a:p/>
          <a:p>
            <a:r>
              <a:t>Phase zero buys two of your handlers labelling three hundred complaints, before any AI</a:t>
            </a:r>
          </a:p>
          <a:p>
            <a:r>
              <a:t>touches anything. That's the ground truth that doesn't exist today. And it's worth buying</a:t>
            </a:r>
          </a:p>
          <a:p>
            <a:r>
              <a:t>even if you never build this — because if two of your trained people only agree seventy per</a:t>
            </a:r>
          </a:p>
          <a:p>
            <a:r>
              <a:t>cent of the time, no software will do better, and your problem is the taxonomy, not the</a:t>
            </a:r>
          </a:p>
          <a:p>
            <a:r>
              <a:t>technology. That's a finding worth five thousand six hundred on its own.</a:t>
            </a:r>
          </a:p>
          <a:p/>
          <a:p>
            <a:r>
              <a:t>Phase one is sixty days of shadow running. It proposes alongside your team, nobody acts on</a:t>
            </a:r>
          </a:p>
          <a:p>
            <a:r>
              <a:t>it, nothing changes for a customer. And we measure the gap between what it said and what</a:t>
            </a:r>
          </a:p>
          <a:p>
            <a:r>
              <a:t>your handler did.</a:t>
            </a:r>
          </a:p>
          <a:p/>
          <a:p>
            <a:r>
              <a:t>Phase two only happens if it clears three gates: eighty per cent accuracy against your own</a:t>
            </a:r>
          </a:p>
          <a:p>
            <a:r>
              <a:t>labels, handler acceptance between seventy-five and ninety-seven, and zero ungrounded</a:t>
            </a:r>
          </a:p>
          <a:p>
            <a:r>
              <a:t>outputs reaching a person. That last one is absolute.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app. Backup recording if it's cold.]</a:t>
            </a:r>
          </a:p>
          <a:p/>
          <a:p>
            <a:r>
              <a:t>The workflow showed you it was possible. This is the product.</a:t>
            </a:r>
          </a:p>
          <a:p/>
          <a:p>
            <a:r>
              <a:t>[Point at the list.] It's a queue — read overnight. Nobody types a complaint into a box it</a:t>
            </a:r>
          </a:p>
          <a:p>
            <a:r>
              <a:t>already arrived in.</a:t>
            </a:r>
          </a:p>
          <a:p/>
          <a:p>
            <a:r>
              <a:t>[Point at the deadline column.] And that's the column your regulator asks about. Your own</a:t>
            </a:r>
          </a:p>
          <a:p>
            <a:r>
              <a:t>book had three hundred and thirty-five that missed a deadline; this one sorts by it.</a:t>
            </a:r>
          </a:p>
          <a:p/>
          <a:p>
            <a:r>
              <a:t>[Open a row.] Every check it ran, by name, and the one it failed. Not a confidence score —</a:t>
            </a:r>
          </a:p>
          <a:p>
            <a:r>
              <a:t>a list.</a:t>
            </a:r>
          </a:p>
          <a:p/>
          <a:p>
            <a:r>
              <a:t>[Point at the buttons.] Nothing has happened yet. Someone has to press that, and the press</a:t>
            </a:r>
          </a:p>
          <a:p>
            <a:r>
              <a:t>is recorded next to what the system proposed. A proposal with nobody's decision beside it</a:t>
            </a:r>
          </a:p>
          <a:p>
            <a:r>
              <a:t>isn't a decision, it's a suggestion nobody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[Stop pitching.]</a:t>
            </a:r>
          </a:p>
          <a:p/>
          <a:p>
            <a:r>
              <a:t>A sixty-day shadow pilot on your own complaints. Eighteen thousand two hundred. Nobody acts</a:t>
            </a:r>
          </a:p>
          <a:p>
            <a:r>
              <a:t>on a single suggestion.</a:t>
            </a:r>
          </a:p>
          <a:p/>
          <a:p>
            <a:r>
              <a:t>It works, it's lawful, and it does not yet pay for itself at this size.</a:t>
            </a:r>
          </a:p>
          <a:p/>
          <a:p>
            <a:r>
              <a:t>[Beat.] The pilot is what settles the third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[Divider. Don't present.]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challenged on accuracy.]</a:t>
            </a:r>
          </a:p>
          <a:p/>
          <a:p>
            <a:r>
              <a:t>Ask it the same complaint twice and it answers the same way nine times in ten. So it's</a:t>
            </a:r>
          </a:p>
          <a:p>
            <a:r>
              <a:t>consistent — it just disagrees with the official label. And that label was picked by the</a:t>
            </a:r>
          </a:p>
          <a:p>
            <a:r>
              <a:t>customer filing the complaint, from a dropdown, with no training.</a:t>
            </a:r>
          </a:p>
          <a:p/>
          <a:p>
            <a:r>
              <a:t>The fix isn't a cleverer model. It's better labels. That's exactly what Phase 0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someone quotes the 100% back at you approvingly.]</a:t>
            </a:r>
          </a:p>
          <a:p/>
          <a:p>
            <a:r>
              <a:t>Don't let me get away with that number. I wrote the detector's thresholds and I wrote the</a:t>
            </a:r>
          </a:p>
          <a:p>
            <a:r>
              <a:t>generator that planted the anomalies. So it measures whether my code agrees with itself.</a:t>
            </a:r>
          </a:p>
          <a:p/>
          <a:p>
            <a:r>
              <a:t>It's the same trap as the sixty per cent, and I've bound the caveat to the figure in the</a:t>
            </a:r>
          </a:p>
          <a:p>
            <a:r>
              <a:t>code so it can't be lifted onto a slide on its own. Only a pilot on real traffic settles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Legal wants the reasoning. The slide shows four steps; these are all seven.]</a:t>
            </a:r>
          </a:p>
          <a:p/>
          <a:p>
            <a:r>
              <a:t>Seven steps in the assessment. The slide shows the four that decide the outcome.</a:t>
            </a:r>
          </a:p>
          <a:p/>
          <a:p>
            <a:r>
              <a:t>One: it is an AI system under Article 3(1) — inference from input to output.</a:t>
            </a:r>
          </a:p>
          <a:p>
            <a:r>
              <a:t>Two: not a prohibited practice under Article 5. One close call on anomaly flagging, and it</a:t>
            </a:r>
          </a:p>
          <a:p>
            <a:r>
              <a:t>is flagged for your counsel rather than waved through.</a:t>
            </a:r>
          </a:p>
          <a:p>
            <a:r>
              <a:t>Three: not a safety component of an Annex One product — nothing here goes into a regulated</a:t>
            </a:r>
          </a:p>
          <a:p>
            <a:r>
              <a:t>machine, so Article 6(1) does not apply.</a:t>
            </a:r>
          </a:p>
          <a:p>
            <a:r>
              <a:t>Four: not an Annex Three use case. This is the one that matters. Annex Three, point five(b)</a:t>
            </a:r>
          </a:p>
          <a:p>
            <a:r>
              <a:t>covers creditworthiness, and this system never evaluates it.</a:t>
            </a:r>
          </a:p>
          <a:p>
            <a:r>
              <a:t>Five: the Article 6(3) derogation is therefore not reached. Worth knowing why that matters —</a:t>
            </a:r>
          </a:p>
          <a:p>
            <a:r>
              <a:t>if step four ever failed, anomaly flagging alone would become high-risk, because it profiles,</a:t>
            </a:r>
          </a:p>
          <a:p>
            <a:r>
              <a:t>and the derogation cannot save something that profiles. Triage and reporting stay outside.</a:t>
            </a:r>
          </a:p>
          <a:p>
            <a:r>
              <a:t>That asymmetry is exactly why anomaly flagging is built last and can be switched off without</a:t>
            </a:r>
          </a:p>
          <a:p>
            <a:r>
              <a:t>touching the other two.</a:t>
            </a:r>
          </a:p>
          <a:p>
            <a:r>
              <a:t>Six: Article 50 transparency. No customer-facing surface, but generated drafts are marked</a:t>
            </a:r>
          </a:p>
          <a:p>
            <a:r>
              <a:t>anyway.</a:t>
            </a:r>
          </a:p>
          <a:p>
            <a:r>
              <a:t>Seven: the obligations that apply whatever the tier — Article 4 AI literacy applies today.</a:t>
            </a:r>
          </a:p>
          <a:p/>
          <a:p>
            <a:r>
              <a:t>[If pressed on the label:] What holds it out of the high-risk tier is not a claim, it is a</a:t>
            </a:r>
          </a:p>
          <a:p>
            <a:r>
              <a:t>design property: it proposes, a person decides. Remove that step and it is a new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Data Protection presses.]</a:t>
            </a:r>
          </a:p>
          <a:p/>
          <a:p>
            <a:r>
              <a:t>Three rows. The identifier never leaves — that part is tested, not assumed. The narrative</a:t>
            </a:r>
          </a:p>
          <a:p>
            <a:r>
              <a:t>does, in full, and the quoted sentence is stored in monitoring.</a:t>
            </a:r>
          </a:p>
          <a:p/>
          <a:p>
            <a:r>
              <a:t>Which is why the transfer work is a gate rather than a task. And the practical answer is</a:t>
            </a:r>
          </a:p>
          <a:p>
            <a:r>
              <a:t>cheap: the model is four thousandths of one per cent of running cost, so we can choose a</a:t>
            </a:r>
          </a:p>
          <a:p>
            <a:r>
              <a:t>provider on data protection instead of on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you'd know it worked.]</a:t>
            </a:r>
          </a:p>
          <a:p/>
          <a:p>
            <a:r>
              <a:t>Five gates. Miss any of the first three and we don't proceed.</a:t>
            </a:r>
          </a:p>
          <a:p/>
          <a:p>
            <a:r>
              <a:t>The acceptance rate has a ceiling as well as a floor, for the reason on slide seven.</a:t>
            </a:r>
          </a:p>
          <a:p/>
          <a:p>
            <a:r>
              <a:t>And note the last row: if anomaly flagging alone fails, we ship the other two. The</a:t>
            </a:r>
          </a:p>
          <a:p>
            <a:r>
              <a:t>architecture allows that, and the compliance work already flags it as the capability</a:t>
            </a:r>
          </a:p>
          <a:p>
            <a:r>
              <a:t>carrying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the fraud one works.]</a:t>
            </a:r>
          </a:p>
          <a:p/>
          <a:p>
            <a:r>
              <a:t>The split matters. A deterministic detector decides what's unusual — arithmetic, same answer</a:t>
            </a:r>
          </a:p>
          <a:p>
            <a:r>
              <a:t>every time. The model only explains why, in language an analyst can act on. A language model</a:t>
            </a:r>
          </a:p>
          <a:p>
            <a:r>
              <a:t>can't compute a baseline and its mistakes aren't auditable, so it never chooses what to look</a:t>
            </a:r>
          </a:p>
          <a:p>
            <a:r>
              <a:t>at.</a:t>
            </a:r>
          </a:p>
          <a:p/>
          <a:p>
            <a:r>
              <a:t>It ranks by how far something departs from that account's own normal, never by the amount. A</a:t>
            </a:r>
          </a:p>
          <a:p>
            <a:r>
              <a:t>large but ordinary payment on a wealthy account doesn't outrank a small impossible one on a</a:t>
            </a:r>
          </a:p>
          <a:p>
            <a:r>
              <a:t>modest account. A predicted payout never orders the queue.</a:t>
            </a:r>
          </a:p>
          <a:p/>
          <a:p>
            <a:r>
              <a:t>And the guard earns its place here too. Six of fifty-six case notes quoted a figure that</a:t>
            </a:r>
          </a:p>
          <a:p>
            <a:r>
              <a:t>wasn't in the transaction record. Every one was stopped before an analyst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3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CONSULTING CAPSTONE  ·  ROUND 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822960" y="345643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61188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operations for a mid-size EU bank.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· mid-size EU retail bank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     Reporting assistance      Anomaly flagging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changed after Round 1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54838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306763" y="1773936"/>
            <a:ext cx="50619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548380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use cases proposed, one built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306763" y="2340864"/>
            <a:ext cx="50619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built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548380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workflow you could watch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06763" y="3054096"/>
            <a:ext cx="50619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you can use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548380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work deferred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306763" y="3767328"/>
            <a:ext cx="50619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Classified, with the reasoning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8646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KEEP. No customer-facing chatbot. No credit scoring.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jobs, one shape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2,426 complaints a year, 64 categories. Two handlers pick differently.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0358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3511296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return, assembled by hand, under deadline.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429768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4773168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7.4% are unauthorised transactions. The money has already gone.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557784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volume, low complexity, unstructured text.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decision spine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input</a:t>
            </a:r>
            <a:pPr indent="0" marL="0">
              <a:buNone/>
            </a:pPr>
            <a:r>
              <a:rPr lang="en-US" sz="2400" b="1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proposes</a:t>
            </a:r>
            <a:pPr indent="0" marL="0">
              <a:buNone/>
            </a:pPr>
            <a:r>
              <a:rPr lang="en-US" sz="2400" b="1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check</a:t>
            </a:r>
            <a:pPr indent="0" marL="0">
              <a:buNone/>
            </a:pPr>
            <a:r>
              <a:rPr lang="en-US" sz="2400" b="1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decides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907792"/>
            <a:ext cx="1054577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evidence changes — a verbatim quote, a figure we computed, or the transaction's own values.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4187952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routes, files or blocks by itself.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proof of concept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steps, left to right. Green means it ran.</a:t>
            </a:r>
            <a:endParaRPr lang="en-US" sz="2600" dirty="0"/>
          </a:p>
        </p:txBody>
      </p:sp>
      <p:pic>
        <p:nvPicPr>
          <p:cNvPr id="8" name="Image 0" descr="/Users/nnanyelugoahukannah/Learning/Ironhack/PROJECT-Capstone-AI-Consulting/n8n/screenshots/n8n-canvas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0619" y="2523744"/>
            <a:ext cx="8690458" cy="36210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returns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9602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83172" y="1773936"/>
            <a:ext cx="35855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AT 36 MONTHS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Bespoke build, as proposed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783172" y="2340864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−31.0%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Productised across five firms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783172" y="3054096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+16.9%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…with oversight in-house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783172" y="3767328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+96.6%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8646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month 69. €18,200 buys a decision, not a deployment.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that could derail this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assumptions are wrong   4×5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measures exactly that. Fixed fee — you can stop at €18,200.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0358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Handlers rubber-stamp the proposal   4×4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3511296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above 97% is a failure signal, measured per handler.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429768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 costs more than it saves   3×4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4773168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spine, so one review covers all three. Instrumented from day one.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552297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risks scored in full — regulatory, technical, ethical, operational.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this sits in law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high-risk. Not an Annex III use case — it never touches creditworthiness.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48716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controller, and also the provider.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20040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narrative reaches the model in full — pseudonyms protect the reference, not the content.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22960" y="3913632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work is a gate before any pilot on real data.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477316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proposes, a person decides. That is what holds the tier.</a:t>
            </a:r>
            <a:endParaRPr lang="en-US" sz="2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this would go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32746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150425" y="1773936"/>
            <a:ext cx="42183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· DURATION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Discovery, expert labelling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150425" y="2340864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€5,600 · 4 weeks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Pilot, 60-day shadow run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50425" y="3054096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€12,600 · 12 weeks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Full deployment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150425" y="3767328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€14,000 · 10 weeks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809744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only if accuracy ≥80%, acceptance 75–97%, zero ungrounded outputs.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beginning of the real product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already read. Every check by name. Nothing moves until someone presses a button.</a:t>
            </a:r>
            <a:endParaRPr lang="en-US" sz="2400" dirty="0"/>
          </a:p>
        </p:txBody>
      </p:sp>
      <p:pic>
        <p:nvPicPr>
          <p:cNvPr id="8" name="Image 0" descr="/Users/nnanyelugoahukannah/Learning/Ironhack/PROJECT-Capstone-AI-Consulting/mvp/screenshots/mvp-triage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4398" y="2505456"/>
            <a:ext cx="5822899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I'm asking for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87452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€18,200 to Phase 1. Nobody acts on a single suggestion.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105457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6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— three capabilities running, every decision checked.</a:t>
            </a:r>
            <a:endParaRPr lang="en-US" sz="2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6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lawful — not high-risk, with the reasoning written down.</a:t>
            </a:r>
            <a:endParaRPr lang="en-US" sz="2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6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yet pay for itself at your size. The pilot settles that.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60.5% is not accuracy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9602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83172" y="1773936"/>
            <a:ext cx="35855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with CFPB labels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783172" y="2340864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60.5%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Self-agreement, same input twice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783172" y="3054096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88.0%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quotes caught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783172" y="3767328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8646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labels were picked by the complainant, not by an expert.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anomaly detector's 100%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legitimately shows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Deterministic. All four patterns. 97.1% precision on 2,069 transactions.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0358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show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3511296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and data generator share an author — it measures self-agreement.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431596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trap as the 60.5%. Only a pilot on real traffic settles it.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Act classification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32746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150425" y="1773936"/>
            <a:ext cx="42183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An AI system?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150425" y="2340864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Art. 3(1)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Prohibited under Art. 5?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50425" y="3054096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one close call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An Annex III use case?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150425" y="3767328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22960" y="448056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Art. 50 transparency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150425" y="4480560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marked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22960" y="550468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steps in full. Step 4 is the one that decides it.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actually leaves the building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464014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63101" y="1773936"/>
            <a:ext cx="59056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GOES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464014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narrative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63101" y="2340864"/>
            <a:ext cx="59056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model provider, in full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464014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quoted sentence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63101" y="3054096"/>
            <a:ext cx="59056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monitoring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464014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reference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463101" y="3767328"/>
            <a:ext cx="59056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Pseudonymised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8646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Pseudonymisation protects the reference, not the content.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pilot has to prove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9602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83172" y="1773936"/>
            <a:ext cx="35855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accuracy vs expert labels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783172" y="2340864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80%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rate, per handler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783172" y="3054096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– 97%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Ungrounded output reaching a handler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783172" y="3767328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22960" y="448056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abstention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783172" y="4480560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95%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22960" y="5193792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193792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precision on disposition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783172" y="5193792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30%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Anomaly flagging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detector decides what is unusual. The model only explains why.</a:t>
            </a:r>
            <a:endParaRPr lang="en-US" sz="2400" dirty="0"/>
          </a:p>
        </p:txBody>
      </p:sp>
      <p:pic>
        <p:nvPicPr>
          <p:cNvPr id="8" name="Image 0" descr="/Users/nnanyelugoahukannah/Learning/Ironhack/PROJECT-Capstone-AI-Consulting/mvp/screenshots/mvp-anomaly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4398" y="2505456"/>
            <a:ext cx="5822899" cy="36393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2026-09-03T15:55:12Z</dcterms:created>
  <dcterms:modified xsi:type="dcterms:W3CDTF">2026-09-03T15:55:12Z</dcterms:modified>
</cp:coreProperties>
</file>