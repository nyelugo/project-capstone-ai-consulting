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78b90b1b63346df" Type="http://schemas.openxmlformats.org/officeDocument/2006/relationships/officeDocument" Target="ppt/presentation.xml"/><Relationship Id="R86e12adb1fbf4321" Type="http://schemas.openxmlformats.org/officeDocument/2006/relationships/extended-properties" Target="docProps/app.xml"/><Relationship Id="Rd29543f0e82d42a7"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ns0="http://schemas.openxmlformats.org/officeDocument/2006/relationships" id="271" ns0:id="rId22"/>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43f28eb9bb49d8" Type="http://schemas.openxmlformats.org/officeDocument/2006/relationships/slide" Target="slides/slide12.xml"/><Relationship Id="R02c7171b49884a66" Type="http://schemas.openxmlformats.org/officeDocument/2006/relationships/slide" Target="slides/slide1.xml"/><Relationship Id="R3d331d1a02d04734" Type="http://schemas.openxmlformats.org/officeDocument/2006/relationships/notesMaster" Target="notesMasters/notesMaster1.xml"/><Relationship Id="R4104b01863d84caa" Type="http://schemas.openxmlformats.org/officeDocument/2006/relationships/theme" Target="theme/theme1.xml"/><Relationship Id="R516202b2ceff499b" Type="http://schemas.openxmlformats.org/officeDocument/2006/relationships/slide" Target="slides/slide8.xml"/><Relationship Id="R51cc7436671d4496" Type="http://schemas.openxmlformats.org/officeDocument/2006/relationships/viewProps" Target="viewProps.xml"/><Relationship Id="R61533bf85a074f80" Type="http://schemas.openxmlformats.org/officeDocument/2006/relationships/slide" Target="slides/slide15.xml"/><Relationship Id="R6c5f775fb1e8496e" Type="http://schemas.openxmlformats.org/officeDocument/2006/relationships/slide" Target="slides/slide16.xml"/><Relationship Id="R73e0ab36edd44f16" Type="http://schemas.openxmlformats.org/officeDocument/2006/relationships/slide" Target="slides/slide3.xml"/><Relationship Id="R79e21b5645694fab" Type="http://schemas.openxmlformats.org/officeDocument/2006/relationships/slide" Target="slides/slide7.xml"/><Relationship Id="R8ba01b0aaa7441fd" Type="http://schemas.openxmlformats.org/officeDocument/2006/relationships/slide" Target="slides/slide11.xml"/><Relationship Id="Rabd75e8a123942b8" Type="http://schemas.openxmlformats.org/officeDocument/2006/relationships/slide" Target="slides/slide2.xml"/><Relationship Id="Rac7e9da781154862" Type="http://schemas.openxmlformats.org/officeDocument/2006/relationships/slide" Target="slides/slide9.xml"/><Relationship Id="Rb28783d3ccfa4755" Type="http://schemas.openxmlformats.org/officeDocument/2006/relationships/tableStyles" Target="tableStyles.xml"/><Relationship Id="Rb81f01272ca64714" Type="http://schemas.openxmlformats.org/officeDocument/2006/relationships/slide" Target="slides/slide13.xml"/><Relationship Id="Rb88c45f22d35449a" Type="http://schemas.openxmlformats.org/officeDocument/2006/relationships/slide" Target="slides/slide4.xml"/><Relationship Id="Rc787b3f91ae84c65" Type="http://schemas.openxmlformats.org/officeDocument/2006/relationships/slideMaster" Target="slideMasters/slideMaster1.xml"/><Relationship Id="Rcc6bc2b0cdde408f" Type="http://schemas.openxmlformats.org/officeDocument/2006/relationships/presProps" Target="presProps.xml"/><Relationship Id="Rde202334f6a34d67" Type="http://schemas.openxmlformats.org/officeDocument/2006/relationships/slide" Target="slides/slide10.xml"/><Relationship Id="Rfa4ddc816b674769" Type="http://schemas.openxmlformats.org/officeDocument/2006/relationships/slide" Target="slides/slide6.xml"/><Relationship Id="Rfe6ba0e716d944d6" Type="http://schemas.openxmlformats.org/officeDocument/2006/relationships/slide" Target="slides/slide14.xml"/><Relationship Id="rId2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605d3e4c472a44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b459928f1a84442" Type="http://schemas.openxmlformats.org/officeDocument/2006/relationships/notesMaster" Target="../notesMasters/notesMaster1.xml"/><Relationship Id="Rf6a93392bb754b7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9240b17220a48ca" Type="http://schemas.openxmlformats.org/officeDocument/2006/relationships/slide" Target="../slides/slide2.xml"/><Relationship Id="Rf2bdf040dcf34c2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184ff7b705347c1" Type="http://schemas.openxmlformats.org/officeDocument/2006/relationships/notesMaster" Target="../notesMasters/notesMaster1.xml"/><Relationship Id="R8753551fb321435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de5676ffb2f422d" Type="http://schemas.openxmlformats.org/officeDocument/2006/relationships/notesMaster" Target="../notesMasters/notesMaster1.xml"/><Relationship Id="R78f7256c94e9411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3b5ec543a34c7f" Type="http://schemas.openxmlformats.org/officeDocument/2006/relationships/notesMaster" Target="../notesMasters/notesMaster1.xml"/><Relationship Id="R7016bdc9f22a4e45"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0170c9a0b86b4ec3" Type="http://schemas.openxmlformats.org/officeDocument/2006/relationships/notesMaster" Target="../notesMasters/notesMaster1.xml"/><Relationship Id="Rc242e379b8bf462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0579e1f25f494c69" Type="http://schemas.openxmlformats.org/officeDocument/2006/relationships/notesMaster" Target="../notesMasters/notesMaster1.xml"/><Relationship Id="R2c46770973434e2a"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9979490d1e9c4fa7" Type="http://schemas.openxmlformats.org/officeDocument/2006/relationships/notesMaster" Target="../notesMasters/notesMaster1.xml"/><Relationship Id="Rd43b6036a161467e"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23d068d1c7c9406b" Type="http://schemas.openxmlformats.org/officeDocument/2006/relationships/notesMaster" Target="../notesMasters/notesMaster1.xml"/><Relationship Id="R39a6fcae900741c0"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606f4ae43d1c430f" Type="http://schemas.openxmlformats.org/officeDocument/2006/relationships/slide" Target="../slides/slide11.xml"/><Relationship Id="Rf64c357b402b4d2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928bd14808a4dea" Type="http://schemas.openxmlformats.org/officeDocument/2006/relationships/notesMaster" Target="../notesMasters/notesMaster1.xml"/><Relationship Id="Rabcf34a0bd194e93"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0258f000c8fd409d" Type="http://schemas.openxmlformats.org/officeDocument/2006/relationships/notesMaster" Target="../notesMasters/notesMaster1.xml"/><Relationship Id="Red62c498719c4005"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5faef105a75c4d23" Type="http://schemas.openxmlformats.org/officeDocument/2006/relationships/notesMaster" Target="../notesMasters/notesMaster1.xml"/><Relationship Id="R74fff058e0e247da"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9bc14c6945d44e65" Type="http://schemas.openxmlformats.org/officeDocument/2006/relationships/slide" Target="../slides/slide15.xml"/><Relationship Id="Ra500b2a0ec69486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db20d3a243f4a48" Type="http://schemas.openxmlformats.org/officeDocument/2006/relationships/slide" Target="../slides/slide16.xml"/><Relationship Id="Rb928f8baa016420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31 per cent over 36 months and breaks even in month 69. About 3,800 complaints are needed. Productising the build across five firms produces a positive 36-month return; moving oversight in-house improves it further. The pilot must prove value before deployment and avoid making one firm fund the entire build.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97.1 per cent precision on synthetic data designed around its thresholds.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one row at a time. Three jobs, three different reasons they are hard today, and three different ways a proposal gets made — the AI only chooses in triage. For anomalies rules pick the case and the AI explains it; for reporting the figures are computed and the AI writes them up. Two of the three proposals are not the AI's call at all.</a:t>
            </a:r>
          </a:p>
          <a:p/>
          <a:p>
            <a:r>
              <a:t>The third column is where it stops being a demo. Each capability has to prove its answer against something the system already holds: the customer's own sentence, the transaction record, the computed sheet. Same six checks, same order — only the proof differs.</a:t>
            </a:r>
          </a:p>
          <a:p/>
          <a:p>
            <a:r>
              <a:t>Then one person, for all three, and their decision is stored beside the proposal. That pairing is what makes agreement and override rates measurable later.</a:t>
            </a:r>
          </a:p>
          <a:p/>
          <a:p>
            <a:r>
              <a:t>[If asked which six checks] In scope, the model replied, the reply is readable, what it named exists, confident enough, evidence really there. It stops at the first failure, so a refusal always names exactly one reason.</a:t>
            </a:r>
          </a:p>
          <a:p/>
          <a:p>
            <a:r>
              <a:t>[Sources]</a:t>
            </a:r>
          </a:p>
          <a:p>
            <a:r>
              <a:t>- `mvp/spine.py`, the six stages and twelve reason codes</a:t>
            </a:r>
          </a:p>
          <a:p>
            <a:r>
              <a:t>- `mvp/capabilities/`, what each capability submits as evidence</a:t>
            </a:r>
          </a:p>
          <a:p>
            <a:r>
              <a:t>- `use_case_definition.md`, the three problems named in column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a9b43bf8da1a4058"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226cf2788844026" Type="http://schemas.openxmlformats.org/officeDocument/2006/relationships/slideLayout" Target="../slideLayouts/slideLayout1.xml"/><Relationship Id="R494333bb03fe42d5"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4b97b67d321438b" Type="http://schemas.openxmlformats.org/officeDocument/2006/relationships/slideLayout" Target="../slideLayouts/slideLayout1.xml"/><Relationship Id="Rf415ac8704bc455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268aa50710d4915" Type="http://schemas.openxmlformats.org/officeDocument/2006/relationships/notesSlide" Target="../notesSlides/notesSlide2.xml"/><Relationship Id="Rdbf7c9347e2d47b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9a16ae4503b948d0" Type="http://schemas.openxmlformats.org/officeDocument/2006/relationships/slideLayout" Target="../slideLayouts/slideLayout1.xml"/><Relationship Id="Ra480e66e7416474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82183ad30084087" Type="http://schemas.openxmlformats.org/officeDocument/2006/relationships/slideLayout" Target="../slideLayouts/slideLayout1.xml"/><Relationship Id="Rad676a3fb9894d5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5e4e4c8582bb47ad" Type="http://schemas.openxmlformats.org/officeDocument/2006/relationships/slideLayout" Target="../slideLayouts/slideLayout1.xml"/><Relationship Id="R60ccecb54d0a4c09" Type="http://schemas.openxmlformats.org/officeDocument/2006/relationships/image" Target="../media/image.png"/><Relationship Id="Re8d7c1fbcb5e49df"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d30eba5ff5b144c5" Type="http://schemas.openxmlformats.org/officeDocument/2006/relationships/slideLayout" Target="../slideLayouts/slideLayout1.xml"/><Relationship Id="Rf9c861be1b944b6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17cba076b6084a9b" Type="http://schemas.openxmlformats.org/officeDocument/2006/relationships/slideLayout" Target="../slideLayouts/slideLayout1.xml"/><Relationship Id="R74bac3f2d3f14200"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81948cd72f8e4552" Type="http://schemas.openxmlformats.org/officeDocument/2006/relationships/slideLayout" Target="../slideLayouts/slideLayout1.xml"/><Relationship Id="Ra92b63e90c1047e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a0cad19f402f4702" Type="http://schemas.openxmlformats.org/officeDocument/2006/relationships/slideLayout" Target="../slideLayouts/slideLayout1.xml"/><Relationship Id="Rfc32445554ef4609"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470fa4abde354a64" Type="http://schemas.openxmlformats.org/officeDocument/2006/relationships/notesSlide" Target="../notesSlides/notesSlide10.xml"/><Relationship Id="R587d06b6bafa4321" Type="http://schemas.openxmlformats.org/officeDocument/2006/relationships/slideLayout" Target="../slideLayouts/slideLayout1.xml"/><Relationship Id="Re9473402635843d2" Type="http://schemas.openxmlformats.org/officeDocument/2006/relationships/image" Target="../media/image2.png"/></Relationships>
</file>

<file path=ppt/slides/_rels/slide12.xml.rels><?xml version='1.0' encoding='UTF-8' standalone='yes'?>
<Relationships xmlns="http://schemas.openxmlformats.org/package/2006/relationships"><Relationship Id="R0543ab2a94404144" Type="http://schemas.openxmlformats.org/officeDocument/2006/relationships/slideLayout" Target="../slideLayouts/slideLayout1.xml"/><Relationship Id="Rf423c7c3c1324ee0"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9872ce5ab13e48d4" Type="http://schemas.openxmlformats.org/officeDocument/2006/relationships/notesSlide" Target="../notesSlides/notesSlide12.xml"/><Relationship Id="Rab0e432270d34b2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b7b1c1ac76a4243" Type="http://schemas.openxmlformats.org/officeDocument/2006/relationships/slideLayout" Target="../slideLayouts/slideLayout1.xml"/><Relationship Id="R490147c01a074e3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1cfd3e0835ee498d" Type="http://schemas.openxmlformats.org/officeDocument/2006/relationships/slideLayout" Target="../slideLayouts/slideLayout1.xml"/><Relationship Id="R2ecf29ec46c9436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24b0389d8b5b4730" Type="http://schemas.openxmlformats.org/officeDocument/2006/relationships/notesSlide" Target="../notesSlides/notesSlide15.xml"/><Relationship Id="R31e42392cf424b7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pine_band.png"/>
          <p:cNvPicPr>
            <a:picLocks noChangeAspect="1"/>
          </p:cNvPicPr>
          <p:nvPr/>
        </p:nvPicPr>
        <p:blipFill>
          <a:blip r:embed="rId2"/>
          <a:stretch>
            <a:fillRect/>
          </a:stretch>
        </p:blipFill>
        <p:spPr>
          <a:xfrm>
            <a:off x="0" y="0"/>
            <a:ext cx="12191695" cy="6355080"/>
          </a:xfrm>
          <a:prstGeom prst="rect">
            <a:avLst/>
          </a:prstGeom>
        </p:spPr>
      </p:pic>
      <p:sp>
        <p:nvSpPr>
          <p:cNvPr id="4" name="Shape 2">
            <a:extLst>
              <a:ext uri="{FF2B5EF4-FFF2-40B4-BE49-F238E27FC236}">
                <a16:creationId xmlns:a16="http://schemas.microsoft.com/office/drawing/2014/main" id="{233529F4-9A82-4A8D-8FA5-8DABE5CA27A9}"/>
              </a:ext>
            </a:extLst>
          </p:cNvPr>
          <p:cNvSpPr>
            <a:spLocks noGrp="1"/>
          </p:cNvSpPr>
          <p:nvPr/>
        </p:nvSpPr>
        <p:spPr>
          <a:xfrm>
            <a:off x="822960" y="6355080"/>
            <a:ext cx="10545775" cy="0"/>
          </a:xfrm>
          <a:prstGeom prst="line">
            <a:avLst/>
          </a:prstGeom>
          <a:noFill/>
          <a:ln w="12700">
            <a:solidFill>
              <a:srgbClr val="E0E0E0"/>
            </a:solidFill>
            <a:prstDash val="solid"/>
          </a:ln>
        </p:spPr>
      </p:sp>
      <p:sp>
        <p:nvSpPr>
          <p:cNvPr id="5" name="Text 3">
            <a:extLst>
              <a:ext uri="{FF2B5EF4-FFF2-40B4-BE49-F238E27FC236}">
                <a16:creationId xmlns:a16="http://schemas.microsoft.com/office/drawing/2014/main" id="{A2942C5E-0ADF-4D08-A40A-E228D34A4710}"/>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2A3DB2A2-CF25-4557-9B0C-54687E4FA0D1}"/>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sz="900">
                <a:solidFill>
                  <a:srgbClr val="6B6B6B"/>
                </a:solidFill>
                <a:latin typeface="Calibri"/>
                <a:ea typeface="Calibri"/>
                <a:cs typeface="Calibri"/>
              </a:rPr>
              <a:t>4</a:t>
            </a:r>
            <a:endParaRPr sz="900"/>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oversight</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−31.0%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+16.9%</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in-house</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+96.6%</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69. Approximately 3,800 are needed.</a:t>
            </a:r>
            <a:endParaRPr sz="2600"/>
          </a:p>
        </p:txBody>
      </p:sp>
      <p:sp>
        <p:nvSpPr>
          <p:cNvPr id="19" name="Text 17">
            <a:extLst xmlns:a="http://schemas.openxmlformats.org/drawingml/2006/main">
              <a:ext uri="{FF2B5EF4-FFF2-40B4-BE49-F238E27FC236}">
                <a16:creationId xmlns:a16="http://schemas.microsoft.com/office/drawing/2014/main" id="{ED24CD4C-9A82-4463-9BCD-BB4D966F4284}"/>
              </a:ext>
            </a:extLst>
          </p:cNvPr>
          <p:cNvSpPr>
            <a:spLocks xmlns:a="http://schemas.openxmlformats.org/drawingml/2006/main" noGrp="1"/>
          </p:cNvSpPr>
          <p:nvPr/>
        </p:nvSpPr>
        <p:spPr>
          <a:xfrm xmlns:a="http://schemas.openxmlformats.org/drawingml/2006/main">
            <a:off x="822960" y="58064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€9,918 of €17,326 is cash — ombudsman fees and fraud losses, not saved time.</a:t>
            </a:r>
            <a:endParaRPr sz="2400"/>
          </a:p>
        </p:txBody>
      </p:sp>
    </p:spTree>
    <p:extLst>
      <p:ext uri="{BB962C8B-B14F-4D97-AF65-F5344CB8AC3E}">
        <p14:creationId xmlns:p14="http://schemas.microsoft.com/office/powerpoint/2010/main" val="2960184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2.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Tree>
    <p:extLst>
      <p:ext uri="{BB962C8B-B14F-4D97-AF65-F5344CB8AC3E}">
        <p14:creationId xmlns:p14="http://schemas.microsoft.com/office/powerpoint/2010/main" val="7432488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97.9%</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15</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