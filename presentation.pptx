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[Beat. Don't read the slide.]</a:t>
            </a:r>
          </a:p>
          <a:p>
            <a:r>
              <a:t>[Whole deck: you are in the room with Chleo's team. Speak to them as "you". Step out only at</a:t>
            </a:r>
          </a:p>
          <a:p>
            <a:r>
              <a:t>the very end if the staff want the assessor view.]</a:t>
            </a:r>
          </a:p>
          <a:p/>
          <a:p>
            <a:r>
              <a:t>Last time we met, I pitched you one thing. You told me to build all three. So that's what</a:t>
            </a:r>
          </a:p>
          <a:p>
            <a:r>
              <a:t>you're going to see — three capabilities, all running, and one number I'd rather tell you</a:t>
            </a:r>
          </a:p>
          <a:p>
            <a:r>
              <a:t>myself than let you find later.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[30 seconds. Don't linger.]</a:t>
            </a:r>
          </a:p>
          <a:p/>
          <a:p>
            <a:r>
              <a:t>Nothing changed direction. Same sector, same firm, same lead use case — because nothing you</a:t>
            </a:r>
          </a:p>
          <a:p>
            <a:r>
              <a:t>said challenged them.</a:t>
            </a:r>
          </a:p>
          <a:p/>
          <a:p>
            <a:r>
              <a:t>What changed is scope. You asked for all three, and all three are built. And two things got</a:t>
            </a:r>
          </a:p>
          <a:p>
            <a:r>
              <a:t>harder rather than easier: I now have a real ROI number instead of a cost estimate, and I've</a:t>
            </a:r>
          </a:p>
          <a:p>
            <a:r>
              <a:t>done the AI Act work I deliberately refused to guess at last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jobs your people do, and they're the same job wearing three coats.</a:t>
            </a:r>
          </a:p>
          <a:p/>
          <a:p>
            <a:r>
              <a:t>Routing: two and a half thousand complaints a year, sixty-four categories. Two of your</a:t>
            </a:r>
          </a:p>
          <a:p>
            <a:r>
              <a:t>handlers read the same complaint and pick different categories — not because either is</a:t>
            </a:r>
          </a:p>
          <a:p>
            <a:r>
              <a:t>wrong, but because neighbouring categories describe the same event.</a:t>
            </a:r>
          </a:p>
          <a:p/>
          <a:p>
            <a:r>
              <a:t>Reporting: the regulatory return gets built by hand, under deadline, by the people who can</a:t>
            </a:r>
          </a:p>
          <a:p>
            <a:r>
              <a:t>least afford the day.</a:t>
            </a:r>
          </a:p>
          <a:p/>
          <a:p>
            <a:r>
              <a:t>And fraud. Seven per cent of your complaints are unauthorised transactions — which means by</a:t>
            </a:r>
          </a:p>
          <a:p>
            <a:r>
              <a:t>the time you hear about it, the money has already gone.</a:t>
            </a:r>
          </a:p>
          <a:p/>
          <a:p>
            <a:r>
              <a:t>[Land this:] High volume, low complexity, unstructured text. That's the shape a firm your</a:t>
            </a:r>
          </a:p>
          <a:p>
            <a:r>
              <a:t>size can neither automate with rules nor afford to staff properly.</a:t>
            </a:r>
          </a:p>
          <a:p/>
          <a:p>
            <a:r>
              <a:t>But the reason you haven't solved it isn't technical. It's that you told me you don't trust</a:t>
            </a:r>
          </a:p>
          <a:p>
            <a:r>
              <a:t>AI, because you can't see what it does.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 here's the answer to that.</a:t>
            </a:r>
          </a:p>
          <a:p/>
          <a:p>
            <a:r>
              <a:t>Four steps. It validates what comes in. The model proposes something. Guards check the</a:t>
            </a:r>
          </a:p>
          <a:p>
            <a:r>
              <a:t>proposal is actually grounded in evidence that exists. And then a person decides.</a:t>
            </a:r>
          </a:p>
          <a:p/>
          <a:p>
            <a:r>
              <a:t>[Point at the last arrow.] That step is not a feature. It is the whole design. There is no</a:t>
            </a:r>
          </a:p>
          <a:p>
            <a:r>
              <a:t>setting where this routes, files or blocks anything by itself.</a:t>
            </a:r>
          </a:p>
          <a:p/>
          <a:p>
            <a:r>
              <a:t>Every capability is those same four steps. The only thing that changes is what counts as</a:t>
            </a:r>
          </a:p>
          <a:p>
            <a:r>
              <a:t>evidence — a sentence from the complaint, a figure we computed, or the transaction's own</a:t>
            </a:r>
          </a:p>
          <a:p>
            <a:r>
              <a:t>values.</a:t>
            </a:r>
          </a:p>
          <a:p/>
          <a:p>
            <a:r>
              <a:t>[Land this:] Which is why adding the second and third use cases cost me a prompt and a</a:t>
            </a:r>
          </a:p>
          <a:p>
            <a:r>
              <a:t>check, not a new system. Building all three cost 1.3 times building one — not three times.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[Switch to the live n8n window. This slide is your fallback if it's cold.]</a:t>
            </a:r>
          </a:p>
          <a:p/>
          <a:p>
            <a:r>
              <a:t>Nine steps, left to right. That's the entire system — you can read it without me.</a:t>
            </a:r>
          </a:p>
          <a:p/>
          <a:p>
            <a:r>
              <a:t>[Run it.] Green ticks mean each step executed. It's proposed Disputes and fraud. And look</a:t>
            </a:r>
          </a:p>
          <a:p>
            <a:r>
              <a:t>at why — it quoted your customer's own sentence back at you. Not a summary. Her words.</a:t>
            </a:r>
          </a:p>
          <a:p/>
          <a:p>
            <a:r>
              <a:t>Then it stopped and waited for a person.</a:t>
            </a:r>
          </a:p>
          <a:p/>
          <a:p>
            <a:r>
              <a:t>[If time, edit the complaint and re-run.] Watch what happens when it isn't sure. It doesn't</a:t>
            </a:r>
          </a:p>
          <a:p>
            <a:r>
              <a:t>fail. It says which check stopped it, in words your handler can act on.</a:t>
            </a:r>
          </a:p>
          <a:p/>
          <a:p>
            <a:r>
              <a:t>What this does not prove is accuracy. It agrees with the public dataset's labels sixty per</a:t>
            </a:r>
          </a:p>
          <a:p>
            <a:r>
              <a:t>cent of the time — and those labels were picked by the customer filing the complaint, from</a:t>
            </a:r>
          </a:p>
          <a:p>
            <a:r>
              <a:t>a dropdown, untrained. That's agreement, not accuracy. There is no accuracy number for this</a:t>
            </a:r>
          </a:p>
          <a:p>
            <a:r>
              <a:t>system yet, and I'll come back to what it costs to get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[Slow down. Do not apologise for this slide.]</a:t>
            </a:r>
          </a:p>
          <a:p/>
          <a:p>
            <a:r>
              <a:t>If I build this for you as a one-off, it does not pay back. Minus thirty-one per cent over</a:t>
            </a:r>
          </a:p>
          <a:p>
            <a:r>
              <a:t>three years. Break-even lands in month sixty-nine.</a:t>
            </a:r>
          </a:p>
          <a:p/>
          <a:p>
            <a:r>
              <a:t>I could have made that number positive. I'd have had to start the benefits on day one, or</a:t>
            </a:r>
          </a:p>
          <a:p>
            <a:r>
              <a:t>quietly cut the oversight cost. Both would have been lies, and you'd have found them.</a:t>
            </a:r>
          </a:p>
          <a:p/>
          <a:p>
            <a:r>
              <a:t>Here's what's actually going on. The capability is fine. The commercial shape is wrong. You</a:t>
            </a:r>
          </a:p>
          <a:p>
            <a:r>
              <a:t>need about three thousand eight hundred complaints a year for a bespoke build to pay for</a:t>
            </a:r>
          </a:p>
          <a:p>
            <a:r>
              <a:t>itself, and you have two and a half thousand. You are a third too small — which is a fact</a:t>
            </a:r>
          </a:p>
          <a:p>
            <a:r>
              <a:t>about your size, not about the technology.</a:t>
            </a:r>
          </a:p>
          <a:p/>
          <a:p>
            <a:r>
              <a:t>[Point at the bottom two rows.] Move the oversight in-house after handover and it's minus</a:t>
            </a:r>
          </a:p>
          <a:p>
            <a:r>
              <a:t>nine. Share the build across five firms your size and it turns positive. Do both and it's</a:t>
            </a:r>
          </a:p>
          <a:p>
            <a:r>
              <a:t>plus ninety-six. The system is identical in every row. The only thing changing is who pays</a:t>
            </a:r>
          </a:p>
          <a:p>
            <a:r>
              <a:t>for the build.</a:t>
            </a:r>
          </a:p>
          <a:p/>
          <a:p>
            <a:r>
              <a:t>[Land this:] So I'm not asking you to fund a deployment. Eighteen thousand two hundred buys</a:t>
            </a:r>
          </a:p>
          <a:p>
            <a:r>
              <a:t>you a decision, on your own data.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Not the full matrix — twelve risks are scored in the pack. Three you should care about.</a:t>
            </a:r>
          </a:p>
          <a:p/>
          <a:p>
            <a:r>
              <a:t>The first is that I'm wrong about the value. Likelihood four, impact five, and I've priced</a:t>
            </a:r>
          </a:p>
          <a:p>
            <a:r>
              <a:t>it rather than argued it away: fixed fee per phase means you can stop at eighteen thousand.</a:t>
            </a:r>
          </a:p>
          <a:p/>
          <a:p>
            <a:r>
              <a:t>The second is the one nobody sells you. Your handlers stop reading and just click accept.</a:t>
            </a:r>
          </a:p>
          <a:p>
            <a:r>
              <a:t>[Beat.] So I measure acceptance per handler, and anything above ninety-seven per cent is a</a:t>
            </a:r>
          </a:p>
          <a:p>
            <a:r>
              <a:t>failure condition — not a success. That's the one number in here a vendor would never offer</a:t>
            </a:r>
          </a:p>
          <a:p>
            <a:r>
              <a:t>you.</a:t>
            </a:r>
          </a:p>
          <a:p/>
          <a:p>
            <a:r>
              <a:t>Third: oversight costing more than it saves. One shared design means one review covers all</a:t>
            </a:r>
          </a:p>
          <a:p>
            <a:r>
              <a:t>three, and it's instrumented from day one so you'll know the real cost by the end of the</a:t>
            </a:r>
          </a:p>
          <a:p>
            <a:r>
              <a:t>pilot rather than in year two.</a:t>
            </a:r>
          </a:p>
          <a:p/>
          <a:p>
            <a:r>
              <a:t>[Land this:] The two biggest risks aren't technical. They're about how you run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[This is your Compliance Officer's slide. Slow down.]</a:t>
            </a:r>
          </a:p>
          <a:p/>
          <a:p>
            <a:r>
              <a:t>Not high-risk under the AI Act. But the reason matters more than the label, so here it is.</a:t>
            </a:r>
          </a:p>
          <a:p/>
          <a:p>
            <a:r>
              <a:t>It's not Annex Three, because it never evaluates anyone's creditworthiness — that's the trap</a:t>
            </a:r>
          </a:p>
          <a:p>
            <a:r>
              <a:t>everyone expects to catch a bank, and it's why credit scoring is something I refuse to</a:t>
            </a:r>
          </a:p>
          <a:p>
            <a:r>
              <a:t>build. And Article Four, AI literacy, applies to you today whatever the tier, which is why</a:t>
            </a:r>
          </a:p>
          <a:p>
            <a:r>
              <a:t>training is funded rather than assumed.</a:t>
            </a:r>
          </a:p>
          <a:p/>
          <a:p>
            <a:r>
              <a:t>I've left two questions for your counsel, both about anomaly flagging, and both worth</a:t>
            </a:r>
          </a:p>
          <a:p>
            <a:r>
              <a:t>answering before it's built rather than after.</a:t>
            </a:r>
          </a:p>
          <a:p/>
          <a:p>
            <a:r>
              <a:t>On the right, the thing I'd rather you heard from me. We pseudonymise the reference — but</a:t>
            </a:r>
          </a:p>
          <a:p>
            <a:r>
              <a:t>the complaint narrative goes to the model in full. Anyone who tells you "it's fine, the data</a:t>
            </a:r>
          </a:p>
          <a:p>
            <a:r>
              <a:t>is pseudonymised" hasn't read the system. So the transfer work is a gate before any pilot on</a:t>
            </a:r>
          </a:p>
          <a:p>
            <a:r>
              <a:t>real customer data, not something we discover later.</a:t>
            </a:r>
          </a:p>
          <a:p/>
          <a:p>
            <a:r>
              <a:t>[Land this:] What keeps this out of the high-risk tier isn't a clever argument. It's a design</a:t>
            </a:r>
          </a:p>
          <a:p>
            <a:r>
              <a:t>property: it proposes, a person decides. Take that away and the classification changes.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Three phases, and the first one is the odd one.</a:t>
            </a:r>
          </a:p>
          <a:p/>
          <a:p>
            <a:r>
              <a:t>Phase zero buys two of your handlers labelling three hundred complaints, before any AI</a:t>
            </a:r>
          </a:p>
          <a:p>
            <a:r>
              <a:t>touches anything. That's the ground truth that doesn't exist today. And it's worth buying</a:t>
            </a:r>
          </a:p>
          <a:p>
            <a:r>
              <a:t>even if you never build this — because if two of your trained people only agree seventy per</a:t>
            </a:r>
          </a:p>
          <a:p>
            <a:r>
              <a:t>cent of the time, no software will do better, and your problem is the taxonomy, not the</a:t>
            </a:r>
          </a:p>
          <a:p>
            <a:r>
              <a:t>technology. That's a finding worth five thousand six hundred on its own.</a:t>
            </a:r>
          </a:p>
          <a:p/>
          <a:p>
            <a:r>
              <a:t>Phase one is sixty days of shadow running. It proposes alongside your team, nobody acts on</a:t>
            </a:r>
          </a:p>
          <a:p>
            <a:r>
              <a:t>it, nothing changes for a customer. And we measure the gap between what it said and what</a:t>
            </a:r>
          </a:p>
          <a:p>
            <a:r>
              <a:t>your handler did.</a:t>
            </a:r>
          </a:p>
          <a:p/>
          <a:p>
            <a:r>
              <a:t>Phase two only happens if it clears three gates: eighty per cent accuracy against your own</a:t>
            </a:r>
          </a:p>
          <a:p>
            <a:r>
              <a:t>labels, handler acceptance between seventy-five and ninety-seven, and zero ungrounded</a:t>
            </a:r>
          </a:p>
          <a:p>
            <a:r>
              <a:t>outputs reaching a person. That last one is absolute.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[Switch to the live app. Backup recording if it's cold.]</a:t>
            </a:r>
          </a:p>
          <a:p/>
          <a:p>
            <a:r>
              <a:t>The workflow showed you it was possible. This is the product.</a:t>
            </a:r>
          </a:p>
          <a:p/>
          <a:p>
            <a:r>
              <a:t>[Point at the checks column.] Every check it ran, by name, and the one it failed. That's</a:t>
            </a:r>
          </a:p>
          <a:p>
            <a:r>
              <a:t>your answer to "I can't see what it does" — not a confidence score, a list.</a:t>
            </a:r>
          </a:p>
          <a:p/>
          <a:p>
            <a:r>
              <a:t>[Point at the button.] And nothing has happened yet. It's proposed. Someone has to press</a:t>
            </a:r>
          </a:p>
          <a:p>
            <a:r>
              <a:t>that.</a:t>
            </a:r>
          </a:p>
          <a:p/>
          <a:p>
            <a:r>
              <a:t>[Click it, then open the log.] Now look — what it proposed sits next to what your handler</a:t>
            </a:r>
          </a:p>
          <a:p>
            <a:r>
              <a:t>actually did. That pairing is the audit record. A proposal with nobody's decision beside it</a:t>
            </a:r>
          </a:p>
          <a:p>
            <a:r>
              <a:t>isn't a decision, it's a suggestion nobody owns.</a:t>
            </a:r>
          </a:p>
          <a:p/>
          <a:p>
            <a:r>
              <a:t>Same screen runs all three. And twenty-seven checks pass with no network at all, so I can</a:t>
            </a:r>
          </a:p>
          <a:p>
            <a:r>
              <a:t>prove the safety logic works without spending a penny.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[Stop pitching.]</a:t>
            </a:r>
          </a:p>
          <a:p/>
          <a:p>
            <a:r>
              <a:t>A sixty-day shadow pilot on your own complaints. Eighteen thousand two hundred. Nobody acts</a:t>
            </a:r>
          </a:p>
          <a:p>
            <a:r>
              <a:t>on a single suggestion.</a:t>
            </a:r>
          </a:p>
          <a:p/>
          <a:p>
            <a:r>
              <a:t>It works, it's lawful, and it doesn't yet pay for itself at your size.</a:t>
            </a:r>
          </a:p>
          <a:p/>
          <a:p>
            <a:r>
              <a:t>[Beat.] I'd rather you heard that third one from me now than found it in month three.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[Divider. Don't present.]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challenged on accuracy.]</a:t>
            </a:r>
          </a:p>
          <a:p/>
          <a:p>
            <a:r>
              <a:t>Ask it the same complaint twice and it answers the same way nine times in ten. So it's</a:t>
            </a:r>
          </a:p>
          <a:p>
            <a:r>
              <a:t>consistent — it just disagrees with the official label. And that label was picked by the</a:t>
            </a:r>
          </a:p>
          <a:p>
            <a:r>
              <a:t>customer filing the complaint, from a dropdown, with no training.</a:t>
            </a:r>
          </a:p>
          <a:p/>
          <a:p>
            <a:r>
              <a:t>The fix isn't a cleverer model. It's better labels. That's exactly what Phase 0 buys.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someone quotes the 100% back at you approvingly.]</a:t>
            </a:r>
          </a:p>
          <a:p/>
          <a:p>
            <a:r>
              <a:t>Don't let me get away with that number. I wrote the detector's thresholds and I wrote the</a:t>
            </a:r>
          </a:p>
          <a:p>
            <a:r>
              <a:t>generator that planted the anomalies. So it measures whether my code agrees with itself.</a:t>
            </a:r>
          </a:p>
          <a:p/>
          <a:p>
            <a:r>
              <a:t>It's the same trap as the sixty per cent, and I've bound the caveat to the figure in the</a:t>
            </a:r>
          </a:p>
          <a:p>
            <a:r>
              <a:t>code so it can't be lifted onto a slide on its own. Only a pilot on real traffic settles 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Legal wants the reasoning.]</a:t>
            </a:r>
          </a:p>
          <a:p/>
          <a:p>
            <a:r>
              <a:t>Six steps. Step four is the one that matters: it's not an Annex Three use, because it never</a:t>
            </a:r>
          </a:p>
          <a:p>
            <a:r>
              <a:t>evaluates creditworthiness.</a:t>
            </a:r>
          </a:p>
          <a:p/>
          <a:p>
            <a:r>
              <a:t>Step five is the interesting one. If step four ever fails, anomaly flagging alone becomes</a:t>
            </a:r>
          </a:p>
          <a:p>
            <a:r>
              <a:t>high-risk — because it profiles, and the derogation can't save something that profiles.</a:t>
            </a:r>
          </a:p>
          <a:p>
            <a:r>
              <a:t>Triage and reporting stay outside. That asymmetry is exactly why anomaly flagging is built</a:t>
            </a:r>
          </a:p>
          <a:p>
            <a:r>
              <a:t>last and can be switched off without touching the other two.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Data Protection presses.]</a:t>
            </a:r>
          </a:p>
          <a:p/>
          <a:p>
            <a:r>
              <a:t>Three rows. The identifier never leaves — that part is tested, not assumed. The narrative</a:t>
            </a:r>
          </a:p>
          <a:p>
            <a:r>
              <a:t>does, in full, and the quoted sentence is stored in monitoring.</a:t>
            </a:r>
          </a:p>
          <a:p/>
          <a:p>
            <a:r>
              <a:t>Which is why the transfer work is a gate rather than a task. And the practical answer is</a:t>
            </a:r>
          </a:p>
          <a:p>
            <a:r>
              <a:t>cheap: the model is four thousandths of one per cent of running cost, so we can choose a</a:t>
            </a:r>
          </a:p>
          <a:p>
            <a:r>
              <a:t>provider on data protection instead of on price.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asked how you'd know it worked.]</a:t>
            </a:r>
          </a:p>
          <a:p/>
          <a:p>
            <a:r>
              <a:t>Five gates. Miss any of the first three and we don't proceed.</a:t>
            </a:r>
          </a:p>
          <a:p/>
          <a:p>
            <a:r>
              <a:t>The acceptance rate has a ceiling as well as a floor, for the reason on slide seven.</a:t>
            </a:r>
          </a:p>
          <a:p/>
          <a:p>
            <a:r>
              <a:t>And note the last row: if anomaly flagging alone fails, we ship the other two. The</a:t>
            </a:r>
          </a:p>
          <a:p>
            <a:r>
              <a:t>architecture allows that, and the compliance work already flags it as the capability</a:t>
            </a:r>
          </a:p>
          <a:p>
            <a:r>
              <a:t>carrying the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[If asked how the fraud one works.]</a:t>
            </a:r>
          </a:p>
          <a:p/>
          <a:p>
            <a:r>
              <a:t>The split matters. A deterministic detector decides what's unusual — arithmetic, same answer</a:t>
            </a:r>
          </a:p>
          <a:p>
            <a:r>
              <a:t>every time. The model only explains why, in language an analyst can act on. A language model</a:t>
            </a:r>
          </a:p>
          <a:p>
            <a:r>
              <a:t>can't compute a baseline and its mistakes aren't auditable, so it never chooses what to look</a:t>
            </a:r>
          </a:p>
          <a:p>
            <a:r>
              <a:t>at.</a:t>
            </a:r>
          </a:p>
          <a:p/>
          <a:p>
            <a:r>
              <a:t>And it ranks by how far something departs from that account's own normal, never by the</a:t>
            </a:r>
          </a:p>
          <a:p>
            <a:r>
              <a:t>amount. A large-but-ordinary payment on a wealthy account doesn't outrank a small impossible</a:t>
            </a:r>
          </a:p>
          <a:p>
            <a:r>
              <a:t>one on a modest account. A predicted payout never orders the queue.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D2A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 rot="2700000">
            <a:off x="9902952" y="-1005840"/>
            <a:ext cx="2011680" cy="2011680"/>
          </a:xfrm>
          <a:prstGeom prst="rect">
            <a:avLst/>
          </a:prstGeom>
          <a:ln w="12700">
            <a:solidFill>
              <a:srgbClr val="445A6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 rot="2700000">
            <a:off x="10451592" y="-457200"/>
            <a:ext cx="914400" cy="914400"/>
          </a:xfrm>
          <a:prstGeom prst="rect">
            <a:avLst/>
          </a:prstGeom>
          <a:solidFill>
            <a:srgbClr val="2A78D6">
              <a:alpha val="22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66928" y="1874520"/>
            <a:ext cx="110550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VALEON LIMITED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566928" y="2286000"/>
            <a:ext cx="1105509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Assist</a:t>
            </a:r>
            <a:endParaRPr lang="en-US" sz="4800" dirty="0"/>
          </a:p>
        </p:txBody>
      </p:sp>
      <p:sp>
        <p:nvSpPr>
          <p:cNvPr id="6" name="Text 4"/>
          <p:cNvSpPr/>
          <p:nvPr/>
        </p:nvSpPr>
        <p:spPr>
          <a:xfrm>
            <a:off x="566928" y="3310128"/>
            <a:ext cx="110550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i="1" dirty="0">
                <a:solidFill>
                  <a:srgbClr val="C6D8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Complaint operations for a mid-size EU bank.</a:t>
            </a:r>
            <a:endParaRPr lang="en-US" sz="1900" dirty="0"/>
          </a:p>
          <a:p>
            <a:pPr indent="0" marL="0">
              <a:buNone/>
            </a:pPr>
            <a:r>
              <a:rPr lang="en-US" sz="1900" i="1" dirty="0">
                <a:solidFill>
                  <a:srgbClr val="C6D8E4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decisions proposed. Every one confirmed by a person.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66928" y="4114800"/>
            <a:ext cx="2743200" cy="0"/>
          </a:xfrm>
          <a:prstGeom prst="line">
            <a:avLst/>
          </a:prstGeom>
          <a:noFill/>
          <a:ln w="19050">
            <a:solidFill>
              <a:srgbClr val="2A78D6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66928" y="4297680"/>
            <a:ext cx="110550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Ugo Ahukannah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Consulting Capstone — Round 2</a:t>
            </a:r>
            <a:endParaRPr lang="en-US" sz="1200" dirty="0"/>
          </a:p>
          <a:p>
            <a:pPr indent="0" marL="0">
              <a:buNone/>
            </a:pPr>
            <a:r>
              <a:rPr lang="en-US" sz="110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Financial services · mid-size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66928" y="6355080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Complaint triage    </a:t>
            </a:r>
            <a:pPr indent="0" marL="0">
              <a:buNone/>
            </a:pPr>
            <a:r>
              <a:rPr lang="en-US" sz="90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assistance    </a:t>
            </a:r>
            <a:pPr indent="0" marL="0">
              <a:buNone/>
            </a:pPr>
            <a:r>
              <a:rPr lang="en-US" sz="90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flagging    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changed after Round 1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industry, same client, same lead use case. You told me to build all three — so I did.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8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5253228"/>
                <a:gridCol w="548640"/>
                <a:gridCol w="5253228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spc="100" kern="0" dirty="0">
                          <a:solidFill>
                            <a:srgbClr val="FFFFFF"/>
                          </a:solidFill>
                        </a:rPr>
                        <a:t>ROUND 1 — THE PITCH</a:t>
                      </a:r>
                      <a:endParaRPr lang="en-US" sz="11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spc="100" kern="0" dirty="0">
                          <a:solidFill>
                            <a:srgbClr val="1D2A32"/>
                          </a:solidFill>
                        </a:rPr>
                        <a:t>ROUND 2 — WHAT I BUILT</a:t>
                      </a:r>
                      <a:endParaRPr lang="en-US" sz="115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78D6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B2730"/>
                          </a:solidFill>
                        </a:rPr>
                        <a:t>Three use cases proposed, one built</a:t>
                      </a:r>
                      <a:endParaRPr lang="en-US" sz="108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A78D6"/>
                          </a:solidFill>
                        </a:rPr>
                        <a:t>→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b="1" dirty="0">
                          <a:solidFill>
                            <a:srgbClr val="24343F"/>
                          </a:solidFill>
                        </a:rPr>
                        <a:t>Three proposed, three built</a:t>
                      </a:r>
                      <a:endParaRPr lang="en-US" sz="108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B2730"/>
                          </a:solidFill>
                        </a:rPr>
                        <a:t>A workflow you could watch</a:t>
                      </a:r>
                      <a:endParaRPr lang="en-US" sz="108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A78D6"/>
                          </a:solidFill>
                        </a:rPr>
                        <a:t>→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b="1" dirty="0">
                          <a:solidFill>
                            <a:srgbClr val="24343F"/>
                          </a:solidFill>
                        </a:rPr>
                        <a:t>A working application you can use</a:t>
                      </a:r>
                      <a:endParaRPr lang="en-US" sz="108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B2730"/>
                          </a:solidFill>
                        </a:rPr>
                        <a:t>Cost estimate</a:t>
                      </a:r>
                      <a:endParaRPr lang="en-US" sz="108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A78D6"/>
                          </a:solidFill>
                        </a:rPr>
                        <a:t>→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b="1" dirty="0">
                          <a:solidFill>
                            <a:srgbClr val="24343F"/>
                          </a:solidFill>
                        </a:rPr>
                        <a:t>ROI, break-even and a commercial model</a:t>
                      </a:r>
                      <a:endParaRPr lang="en-US" sz="108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dirty="0">
                          <a:solidFill>
                            <a:srgbClr val="1B2730"/>
                          </a:solidFill>
                        </a:rPr>
                        <a:t>"AI Act work deferred to Round 2"</a:t>
                      </a:r>
                      <a:endParaRPr lang="en-US" sz="108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2A78D6"/>
                          </a:solidFill>
                        </a:rPr>
                        <a:t>→</a:t>
                      </a:r>
                      <a:endParaRPr lang="en-US" sz="14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80" b="1" dirty="0">
                          <a:solidFill>
                            <a:srgbClr val="24343F"/>
                          </a:solidFill>
                        </a:rPr>
                        <a:t>Classification, reasoning, conformity summary</a:t>
                      </a:r>
                      <a:endParaRPr lang="en-US" sz="108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66928" y="4864608"/>
            <a:ext cx="11055096" cy="64008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928" y="4864608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1"/>
          <p:cNvSpPr/>
          <p:nvPr/>
        </p:nvSpPr>
        <p:spPr>
          <a:xfrm>
            <a:off x="822960" y="4864608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Decision: KEEP. </a:t>
            </a:r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challenged the sector or the honesty position, so nothing changed direction.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Three jobs, one shape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volume, low complexity, unstructured text — the work a mid-size firm can neither automate with rules nor afford to staff.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66928" y="2395728"/>
            <a:ext cx="3502152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768096" y="2578608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4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DAY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768096" y="2852928"/>
            <a:ext cx="30998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Routing</a:t>
            </a:r>
            <a:endParaRPr lang="en-US" sz="2100" dirty="0"/>
          </a:p>
        </p:txBody>
      </p:sp>
      <p:sp>
        <p:nvSpPr>
          <p:cNvPr id="15" name="Text 12"/>
          <p:cNvSpPr/>
          <p:nvPr/>
        </p:nvSpPr>
        <p:spPr>
          <a:xfrm>
            <a:off x="768096" y="3474720"/>
            <a:ext cx="30998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2,426 complaints a year. 64 categories. Two handlers reading the same complaint pick different ones.</a:t>
            </a:r>
            <a:endParaRPr lang="en-US" sz="1600" dirty="0"/>
          </a:p>
        </p:txBody>
      </p:sp>
      <p:sp>
        <p:nvSpPr>
          <p:cNvPr id="16" name="Shape 13"/>
          <p:cNvSpPr/>
          <p:nvPr/>
        </p:nvSpPr>
        <p:spPr>
          <a:xfrm>
            <a:off x="4343400" y="2395728"/>
            <a:ext cx="3502152" cy="2651760"/>
          </a:xfrm>
          <a:prstGeom prst="rect">
            <a:avLst/>
          </a:prstGeom>
          <a:solidFill>
            <a:srgbClr val="24343F"/>
          </a:solidFill>
          <a:ln/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7" name="Text 14"/>
          <p:cNvSpPr/>
          <p:nvPr/>
        </p:nvSpPr>
        <p:spPr>
          <a:xfrm>
            <a:off x="4544568" y="2578608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QUARTER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4544568" y="2852928"/>
            <a:ext cx="30998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Reporting</a:t>
            </a:r>
            <a:endParaRPr lang="en-US" sz="2100" dirty="0"/>
          </a:p>
        </p:txBody>
      </p:sp>
      <p:sp>
        <p:nvSpPr>
          <p:cNvPr id="19" name="Text 16"/>
          <p:cNvSpPr/>
          <p:nvPr/>
        </p:nvSpPr>
        <p:spPr>
          <a:xfrm>
            <a:off x="4544568" y="3474720"/>
            <a:ext cx="30998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regulatory return is assembled by hand, under time pressure, by the people least able to spare it.</a:t>
            </a:r>
            <a:endParaRPr lang="en-US" sz="1600" dirty="0"/>
          </a:p>
        </p:txBody>
      </p:sp>
      <p:sp>
        <p:nvSpPr>
          <p:cNvPr id="20" name="Shape 17"/>
          <p:cNvSpPr/>
          <p:nvPr/>
        </p:nvSpPr>
        <p:spPr>
          <a:xfrm>
            <a:off x="8119872" y="2395728"/>
            <a:ext cx="3502152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8321040" y="2578608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50" kern="0" dirty="0">
                <a:solidFill>
                  <a:srgbClr val="445A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 LATE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8321040" y="2852928"/>
            <a:ext cx="30998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1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Fraud</a:t>
            </a:r>
            <a:endParaRPr lang="en-US" sz="2100" dirty="0"/>
          </a:p>
        </p:txBody>
      </p:sp>
      <p:sp>
        <p:nvSpPr>
          <p:cNvPr id="23" name="Text 20"/>
          <p:cNvSpPr/>
          <p:nvPr/>
        </p:nvSpPr>
        <p:spPr>
          <a:xfrm>
            <a:off x="8321040" y="3474720"/>
            <a:ext cx="3099816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7.4% of complaints are unauthorised transactions. By the time one arrives, the money has gone.</a:t>
            </a:r>
            <a:endParaRPr lang="en-US" sz="1600" dirty="0"/>
          </a:p>
        </p:txBody>
      </p:sp>
      <p:sp>
        <p:nvSpPr>
          <p:cNvPr id="24" name="Shape 21"/>
          <p:cNvSpPr/>
          <p:nvPr/>
        </p:nvSpPr>
        <p:spPr>
          <a:xfrm>
            <a:off x="566928" y="5303520"/>
            <a:ext cx="11055096" cy="64008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25" name="Shape 22"/>
          <p:cNvSpPr/>
          <p:nvPr/>
        </p:nvSpPr>
        <p:spPr>
          <a:xfrm>
            <a:off x="566928" y="5303520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6" name="Text 23"/>
          <p:cNvSpPr/>
          <p:nvPr/>
        </p:nvSpPr>
        <p:spPr>
          <a:xfrm>
            <a:off x="822960" y="5303520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blocker isn't technical. </a:t>
            </a:r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told me you don't trust AI because you can't see what it does.</a:t>
            </a:r>
            <a:endParaRPr lang="en-US" sz="1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One decision spine, three capabilities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capability is the same four steps. Only the evidence changes.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66928" y="2395728"/>
            <a:ext cx="2681478" cy="868680"/>
          </a:xfrm>
          <a:prstGeom prst="rightArrow">
            <a:avLst/>
          </a:prstGeom>
          <a:solidFill>
            <a:srgbClr val="24343F"/>
          </a:solidFill>
          <a:ln/>
        </p:spPr>
      </p:sp>
      <p:sp>
        <p:nvSpPr>
          <p:cNvPr id="13" name="Text 10"/>
          <p:cNvSpPr/>
          <p:nvPr/>
        </p:nvSpPr>
        <p:spPr>
          <a:xfrm>
            <a:off x="612648" y="2395728"/>
            <a:ext cx="257175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 the input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3358134" y="2395728"/>
            <a:ext cx="2681478" cy="868680"/>
          </a:xfrm>
          <a:prstGeom prst="rightArrow">
            <a:avLst/>
          </a:prstGeom>
          <a:solidFill>
            <a:srgbClr val="24343F"/>
          </a:solidFill>
          <a:ln/>
        </p:spPr>
      </p:sp>
      <p:sp>
        <p:nvSpPr>
          <p:cNvPr id="15" name="Text 12"/>
          <p:cNvSpPr/>
          <p:nvPr/>
        </p:nvSpPr>
        <p:spPr>
          <a:xfrm>
            <a:off x="3403854" y="2395728"/>
            <a:ext cx="257175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proposes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6149340" y="2395728"/>
            <a:ext cx="2681478" cy="868680"/>
          </a:xfrm>
          <a:prstGeom prst="rightArrow">
            <a:avLst/>
          </a:prstGeom>
          <a:solidFill>
            <a:srgbClr val="24343F"/>
          </a:solidFill>
          <a:ln/>
        </p:spPr>
      </p:sp>
      <p:sp>
        <p:nvSpPr>
          <p:cNvPr id="17" name="Text 14"/>
          <p:cNvSpPr/>
          <p:nvPr/>
        </p:nvSpPr>
        <p:spPr>
          <a:xfrm>
            <a:off x="6195060" y="2395728"/>
            <a:ext cx="257175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Guards check the evidence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8940546" y="2395728"/>
            <a:ext cx="2681478" cy="868680"/>
          </a:xfrm>
          <a:prstGeom prst="rightArrow">
            <a:avLst/>
          </a:prstGeom>
          <a:solidFill>
            <a:srgbClr val="2A78D6"/>
          </a:solidFill>
          <a:ln/>
        </p:spPr>
      </p:sp>
      <p:sp>
        <p:nvSpPr>
          <p:cNvPr id="19" name="Text 16"/>
          <p:cNvSpPr/>
          <p:nvPr/>
        </p:nvSpPr>
        <p:spPr>
          <a:xfrm>
            <a:off x="8986266" y="2395728"/>
            <a:ext cx="257175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D2A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PERSON DECIDES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483864"/>
          <a:ext cx="11055096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3657600"/>
                <a:gridCol w="432511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Capability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It proposes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Grounded in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Complaint triage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A routing queue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A verbatim quote from the complaint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Reporting assistance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Report prose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Figures this system computed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Anomaly flagging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An analyst case note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The transaction's own values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1" name="Shape 17"/>
          <p:cNvSpPr/>
          <p:nvPr/>
        </p:nvSpPr>
        <p:spPr>
          <a:xfrm>
            <a:off x="566928" y="5559552"/>
            <a:ext cx="11055096" cy="566928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22" name="Shape 18"/>
          <p:cNvSpPr/>
          <p:nvPr/>
        </p:nvSpPr>
        <p:spPr>
          <a:xfrm>
            <a:off x="566928" y="5559552"/>
            <a:ext cx="82296" cy="5669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3" name="Text 19"/>
          <p:cNvSpPr/>
          <p:nvPr/>
        </p:nvSpPr>
        <p:spPr>
          <a:xfrm>
            <a:off x="822960" y="5559552"/>
            <a:ext cx="10597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capability costs a prompt and a check — not a new system.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proof of concept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Nine steps, left to right. Green means it ran. It proposed a team, quoted your customer, and stopped.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850" dirty="0"/>
          </a:p>
        </p:txBody>
      </p:sp>
      <p:pic>
        <p:nvPicPr>
          <p:cNvPr id="12" name="Image 1" descr="/Users/nnanyelugoahukannah/Learning/Ironhack/PROJECT-Capstone-AI-Consulting/n8n/screenshots/n8n-canvas-sli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5689" y="2395728"/>
            <a:ext cx="9197575" cy="3959352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number I'd rather you heard from me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bespoke build does not pay back for a firm your size. −31% over 36 months, break-even in month 69.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8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825703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36-month ROI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What would have to change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−31.0%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As proposed — I build it for you, I run the oversight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−9.4%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Your team owns the quarterly review after handover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+16.9%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The build is paid for once and shared across five firms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+96.6%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Both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66928" y="5184648"/>
            <a:ext cx="11055096" cy="64008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928" y="5184648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1"/>
          <p:cNvSpPr/>
          <p:nvPr/>
        </p:nvSpPr>
        <p:spPr>
          <a:xfrm>
            <a:off x="822960" y="5184648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€18,200 buys a decision, not a deployment. </a:t>
            </a:r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capability works. The commercial shape is what has to change.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three that could derail this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two biggest are not technical. They are about how it is deployed and measured.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8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1051560"/>
                <a:gridCol w="647395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Risk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L × I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What we do about it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The value assumptions are wrong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4 × 5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The pilot measures those two numbers. Fixed fee per phase — you can stop at €18,200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Handlers stop reading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4 × 4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Acceptance above 97% is a failure condition, not a success. Measured per handler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8412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Oversight costs more than it saves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3 × 4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One spine, so one review covers all three. Instrumented from day one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66928" y="5486400"/>
            <a:ext cx="11055096" cy="566928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928" y="5486400"/>
            <a:ext cx="82296" cy="566928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1"/>
          <p:cNvSpPr/>
          <p:nvPr/>
        </p:nvSpPr>
        <p:spPr>
          <a:xfrm>
            <a:off x="822960" y="5486400"/>
            <a:ext cx="105978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Twelve risks scored in full — regulatory, technical, ethical, operational. These are the top three.</a:t>
            </a:r>
            <a:endParaRPr lang="en-US" sz="1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Where this sits in law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high-risk under the AI Act — and the reason matters more than the label.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66928" y="2395728"/>
            <a:ext cx="5390388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66928" y="2395728"/>
            <a:ext cx="5390388" cy="457200"/>
          </a:xfrm>
          <a:prstGeom prst="rect">
            <a:avLst/>
          </a:prstGeom>
          <a:solidFill>
            <a:srgbClr val="24343F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2395728"/>
            <a:ext cx="50246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AI ACT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68096" y="2962656"/>
            <a:ext cx="498805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Annex III. It never touches creditworthiness</a:t>
            </a:r>
            <a:endParaRPr lang="en-US" sz="17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Article 4 AI literacy applies today, whatever the tier</a:t>
            </a:r>
            <a:endParaRPr lang="en-US" sz="17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questions for your counsel, both on anomaly flagging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231636" y="2395728"/>
            <a:ext cx="5390388" cy="265176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31636" y="2395728"/>
            <a:ext cx="5390388" cy="457200"/>
          </a:xfrm>
          <a:prstGeom prst="rect">
            <a:avLst/>
          </a:prstGeom>
          <a:solidFill>
            <a:srgbClr val="445A69"/>
          </a:solidFill>
          <a:ln/>
        </p:spPr>
      </p:sp>
      <p:sp>
        <p:nvSpPr>
          <p:cNvPr id="18" name="Text 15"/>
          <p:cNvSpPr/>
          <p:nvPr/>
        </p:nvSpPr>
        <p:spPr>
          <a:xfrm>
            <a:off x="6432804" y="2395728"/>
            <a:ext cx="50246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432804" y="2962656"/>
            <a:ext cx="498805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are the controller, and also the provider</a:t>
            </a:r>
            <a:endParaRPr lang="en-US" sz="17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narrative goes to the model in full — pseudonyms protect the reference, not the content</a:t>
            </a:r>
            <a:endParaRPr lang="en-US" sz="17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Transfer work is a gate before any pilot on real data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66928" y="5303520"/>
            <a:ext cx="11055096" cy="64008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21" name="Shape 18"/>
          <p:cNvSpPr/>
          <p:nvPr/>
        </p:nvSpPr>
        <p:spPr>
          <a:xfrm>
            <a:off x="566928" y="5303520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19"/>
          <p:cNvSpPr/>
          <p:nvPr/>
        </p:nvSpPr>
        <p:spPr>
          <a:xfrm>
            <a:off x="822960" y="5303520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holds it out of the high-risk tier is a design property: </a:t>
            </a:r>
            <a:pPr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proposes, a person decides.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How this would go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 mode first: it proposes alongside your team, nobody acts on it, and we measure the gap.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2348484" y="2779776"/>
            <a:ext cx="7491984" cy="0"/>
          </a:xfrm>
          <a:prstGeom prst="line">
            <a:avLst/>
          </a:prstGeom>
          <a:noFill/>
          <a:ln w="25400">
            <a:solidFill>
              <a:srgbClr val="C6D8E4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1964436" y="2395728"/>
            <a:ext cx="768096" cy="768096"/>
          </a:xfrm>
          <a:prstGeom prst="ellipse">
            <a:avLst/>
          </a:prstGeom>
          <a:solidFill>
            <a:srgbClr val="2A78D6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964436" y="2395728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2A32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0</a:t>
            </a:r>
            <a:endParaRPr lang="en-US" sz="2200" dirty="0"/>
          </a:p>
        </p:txBody>
      </p:sp>
      <p:sp>
        <p:nvSpPr>
          <p:cNvPr id="15" name="Shape 12"/>
          <p:cNvSpPr/>
          <p:nvPr/>
        </p:nvSpPr>
        <p:spPr>
          <a:xfrm>
            <a:off x="566928" y="3355848"/>
            <a:ext cx="356311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658368" y="3465576"/>
            <a:ext cx="3380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Discovery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€5,600 · 4 weeks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676656" y="3959352"/>
            <a:ext cx="3343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of your handlers label 300 complaints. That ground truth is worth buying even if you never build this.</a:t>
            </a:r>
            <a:endParaRPr lang="en-US" sz="1400" dirty="0"/>
          </a:p>
        </p:txBody>
      </p:sp>
      <p:sp>
        <p:nvSpPr>
          <p:cNvPr id="18" name="Shape 15"/>
          <p:cNvSpPr/>
          <p:nvPr/>
        </p:nvSpPr>
        <p:spPr>
          <a:xfrm>
            <a:off x="5710428" y="2395728"/>
            <a:ext cx="768096" cy="768096"/>
          </a:xfrm>
          <a:prstGeom prst="ellipse">
            <a:avLst/>
          </a:prstGeom>
          <a:solidFill>
            <a:srgbClr val="24343F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5710428" y="2395728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200" dirty="0"/>
          </a:p>
        </p:txBody>
      </p:sp>
      <p:sp>
        <p:nvSpPr>
          <p:cNvPr id="20" name="Shape 17"/>
          <p:cNvSpPr/>
          <p:nvPr/>
        </p:nvSpPr>
        <p:spPr>
          <a:xfrm>
            <a:off x="4312920" y="3355848"/>
            <a:ext cx="356311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4404360" y="3465576"/>
            <a:ext cx="3380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Pilot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€12,600 · 12 weeks</a:t>
            </a:r>
            <a:endParaRPr lang="en-US" sz="1700" dirty="0"/>
          </a:p>
        </p:txBody>
      </p:sp>
      <p:sp>
        <p:nvSpPr>
          <p:cNvPr id="22" name="Text 19"/>
          <p:cNvSpPr/>
          <p:nvPr/>
        </p:nvSpPr>
        <p:spPr>
          <a:xfrm>
            <a:off x="4422648" y="3959352"/>
            <a:ext cx="3343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running in shadow for 60 days. Zero operational risk. Ends in a go / no-go.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>
            <a:off x="9456420" y="2395728"/>
            <a:ext cx="768096" cy="768096"/>
          </a:xfrm>
          <a:prstGeom prst="ellipse">
            <a:avLst/>
          </a:prstGeom>
          <a:solidFill>
            <a:srgbClr val="24343F"/>
          </a:solidFill>
          <a:ln w="31750">
            <a:solidFill>
              <a:srgbClr val="FFFFF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456420" y="2395728"/>
            <a:ext cx="768096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200" dirty="0"/>
          </a:p>
        </p:txBody>
      </p:sp>
      <p:sp>
        <p:nvSpPr>
          <p:cNvPr id="25" name="Shape 22"/>
          <p:cNvSpPr/>
          <p:nvPr/>
        </p:nvSpPr>
        <p:spPr>
          <a:xfrm>
            <a:off x="8058912" y="3355848"/>
            <a:ext cx="356311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26" name="Text 23"/>
          <p:cNvSpPr/>
          <p:nvPr/>
        </p:nvSpPr>
        <p:spPr>
          <a:xfrm>
            <a:off x="8150352" y="3465576"/>
            <a:ext cx="33802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Deploy</a:t>
            </a:r>
            <a:endParaRPr lang="en-US" sz="1700" dirty="0"/>
          </a:p>
          <a:p>
            <a:pPr algn="ctr"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€14,000 · 10 weeks</a:t>
            </a:r>
            <a:endParaRPr lang="en-US" sz="1700" dirty="0"/>
          </a:p>
        </p:txBody>
      </p:sp>
      <p:sp>
        <p:nvSpPr>
          <p:cNvPr id="27" name="Text 24"/>
          <p:cNvSpPr/>
          <p:nvPr/>
        </p:nvSpPr>
        <p:spPr>
          <a:xfrm>
            <a:off x="8168640" y="3959352"/>
            <a:ext cx="3343656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if accuracy ≥80%, acceptance 75–97%, and zero ungrounded outputs reached a handler.</a:t>
            </a:r>
            <a:endParaRPr lang="en-US" sz="1400" dirty="0"/>
          </a:p>
        </p:txBody>
      </p:sp>
      <p:sp>
        <p:nvSpPr>
          <p:cNvPr id="28" name="Shape 25"/>
          <p:cNvSpPr/>
          <p:nvPr/>
        </p:nvSpPr>
        <p:spPr>
          <a:xfrm>
            <a:off x="566928" y="5138928"/>
            <a:ext cx="11055096" cy="64008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29" name="Shape 26"/>
          <p:cNvSpPr/>
          <p:nvPr/>
        </p:nvSpPr>
        <p:spPr>
          <a:xfrm>
            <a:off x="566928" y="5138928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30" name="Text 27"/>
          <p:cNvSpPr/>
          <p:nvPr/>
        </p:nvSpPr>
        <p:spPr>
          <a:xfrm>
            <a:off x="822960" y="5138928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Commercially: a licensed product implemented by consulting — not SaaS, not a bespoke build.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The beginning of the real product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850" dirty="0"/>
          </a:p>
        </p:txBody>
      </p:sp>
      <p:pic>
        <p:nvPicPr>
          <p:cNvPr id="9" name="Image 1" descr="/Users/nnanyelugoahukannah/Learning/Ironhack/PROJECT-Capstone-AI-Consulting/mvp/screenshots/mvp-triage-sli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81328"/>
            <a:ext cx="6633058" cy="487375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474306" y="1481328"/>
            <a:ext cx="4147718" cy="4873752"/>
          </a:xfrm>
          <a:prstGeom prst="rect">
            <a:avLst/>
          </a:prstGeom>
          <a:solidFill>
            <a:srgbClr val="24343F"/>
          </a:solidFill>
          <a:ln/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712050" y="1682496"/>
            <a:ext cx="36905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the POC only implied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712050" y="2194560"/>
            <a:ext cx="3672230" cy="3959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6D8E4"/>
                </a:solidFill>
              </a:rPr>
              <a:t>Every check it ran, by name — and the one it failed.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6D8E4"/>
                </a:solidFill>
              </a:rPr>
              <a:t>The button. Nothing happens until a person presses it.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6D8E4"/>
                </a:solidFill>
              </a:rPr>
              <a:t>What it proposed sits beside what your handler actually did. That pairing is the audit record.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6D8E4"/>
                </a:solidFill>
              </a:rPr>
              <a:t>Same screen runs all three. 27 checks pass with no network at all.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D2A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What I'm asking for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566928" y="1920240"/>
            <a:ext cx="11055096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60-day shadow pilot on your own complaints.
</a:t>
            </a:r>
            <a:endParaRPr lang="en-US" sz="2400" dirty="0"/>
          </a:p>
          <a:p>
            <a:pPr indent="0" marL="0">
              <a:buNone/>
            </a:pPr>
            <a:r>
              <a:rPr lang="en-US" sz="2000" dirty="0">
                <a:solidFill>
                  <a:srgbClr val="C6D8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€18,200 to Phase 1. Nobody acts on a single suggestion.
</a:t>
            </a:r>
            <a:endParaRPr lang="en-US" sz="24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works — three capabilities running, every decision checked and traced.
</a:t>
            </a:r>
            <a:endParaRPr lang="en-US" sz="2400" dirty="0"/>
          </a:p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is lawful — not high-risk, with the reasoning written down and two questions named for your counsel.
</a:t>
            </a:r>
            <a:endParaRPr lang="en-US" sz="2400" dirty="0"/>
          </a:p>
          <a:p>
            <a:pPr indent="0" marL="0">
              <a:buNone/>
            </a:pPr>
            <a:r>
              <a:rPr lang="en-US" sz="1800" dirty="0">
                <a:solidFill>
                  <a:srgbClr val="8FBFF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does not yet pay for itself at your size — and I would rather you heard that from me now than found it in month three.</a:t>
            </a:r>
            <a:endParaRPr lang="en-US" sz="24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D2A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</a:t>
            </a:r>
            <a:endParaRPr lang="en-US" sz="30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· Why 60.5% is not accuracy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model is consistent. It disagrees with an untrained label.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8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737360"/>
                <a:gridCol w="633679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Measure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Value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What it means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Agreement with CFPB labels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60.5%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Those labels were picked by the complainant from a dropdown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Self-agreement, same input twice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88.0%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It is consistent — so a cleverer model is not the fix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Fabricated quotes caught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4 of 60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Confidently invented. Every one stopped by the guard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66928" y="4855464"/>
            <a:ext cx="11055096" cy="64008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928" y="4855464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1"/>
          <p:cNvSpPr/>
          <p:nvPr/>
        </p:nvSpPr>
        <p:spPr>
          <a:xfrm>
            <a:off x="822960" y="4855464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24343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 creates the expert labels that would make an accuracy claim possible.</a:t>
            </a:r>
            <a:endParaRPr lang="en-US" sz="17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· The anomaly detector's 100%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finds 100% of planted anomalies. Do not report that as a detection rate.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850" dirty="0"/>
          </a:p>
        </p:txBody>
      </p:sp>
      <p:sp>
        <p:nvSpPr>
          <p:cNvPr id="12" name="Shape 9"/>
          <p:cNvSpPr/>
          <p:nvPr/>
        </p:nvSpPr>
        <p:spPr>
          <a:xfrm>
            <a:off x="566928" y="2395728"/>
            <a:ext cx="5390388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566928" y="2395728"/>
            <a:ext cx="5390388" cy="457200"/>
          </a:xfrm>
          <a:prstGeom prst="rect">
            <a:avLst/>
          </a:prstGeom>
          <a:solidFill>
            <a:srgbClr val="24343F"/>
          </a:solidFill>
          <a:ln/>
        </p:spPr>
      </p:sp>
      <p:sp>
        <p:nvSpPr>
          <p:cNvPr id="14" name="Text 11"/>
          <p:cNvSpPr/>
          <p:nvPr/>
        </p:nvSpPr>
        <p:spPr>
          <a:xfrm>
            <a:off x="768096" y="2395728"/>
            <a:ext cx="50246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LEGITIMATELY SHOWS</a:t>
            </a:r>
            <a:endParaRPr lang="en-US" sz="1300" dirty="0"/>
          </a:p>
        </p:txBody>
      </p:sp>
      <p:sp>
        <p:nvSpPr>
          <p:cNvPr id="15" name="Text 12"/>
          <p:cNvSpPr/>
          <p:nvPr/>
        </p:nvSpPr>
        <p:spPr>
          <a:xfrm>
            <a:off x="768096" y="2962656"/>
            <a:ext cx="49880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Deterministic — same batch, same candidates, every time</a:t>
            </a:r>
            <a:endParaRPr lang="en-US" sz="17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all four patterns, not just the easy one</a:t>
            </a:r>
            <a:endParaRPr lang="en-US" sz="17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97.1% precision on 2,069 transactions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6231636" y="2395728"/>
            <a:ext cx="5390388" cy="2468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3EA"/>
            </a:solidFill>
            <a:prstDash val="solid"/>
          </a:ln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6231636" y="2395728"/>
            <a:ext cx="5390388" cy="457200"/>
          </a:xfrm>
          <a:prstGeom prst="rect">
            <a:avLst/>
          </a:prstGeom>
          <a:solidFill>
            <a:srgbClr val="445A69"/>
          </a:solidFill>
          <a:ln/>
        </p:spPr>
      </p:sp>
      <p:sp>
        <p:nvSpPr>
          <p:cNvPr id="18" name="Text 15"/>
          <p:cNvSpPr/>
          <p:nvPr/>
        </p:nvSpPr>
        <p:spPr>
          <a:xfrm>
            <a:off x="6432804" y="2395728"/>
            <a:ext cx="50246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IT IS NOT ACCURACY</a:t>
            </a:r>
            <a:endParaRPr lang="en-US" sz="1300" dirty="0"/>
          </a:p>
        </p:txBody>
      </p:sp>
      <p:sp>
        <p:nvSpPr>
          <p:cNvPr id="19" name="Text 16"/>
          <p:cNvSpPr/>
          <p:nvPr/>
        </p:nvSpPr>
        <p:spPr>
          <a:xfrm>
            <a:off x="6432804" y="2962656"/>
            <a:ext cx="4988052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thresholds and the data generator were written by the same author</a:t>
            </a:r>
            <a:endParaRPr lang="en-US" sz="17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it measures whether the code agrees with itself</a:t>
            </a:r>
            <a:endParaRPr lang="en-US" sz="17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7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trap as the 60.5%. Only a pilot on real traffic settles it</a:t>
            </a:r>
            <a:endParaRPr lang="en-US" sz="1700" dirty="0"/>
          </a:p>
        </p:txBody>
      </p:sp>
      <p:sp>
        <p:nvSpPr>
          <p:cNvPr id="20" name="Shape 17"/>
          <p:cNvSpPr/>
          <p:nvPr/>
        </p:nvSpPr>
        <p:spPr>
          <a:xfrm>
            <a:off x="566928" y="5120640"/>
            <a:ext cx="11055096" cy="64008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21" name="Shape 18"/>
          <p:cNvSpPr/>
          <p:nvPr/>
        </p:nvSpPr>
        <p:spPr>
          <a:xfrm>
            <a:off x="566928" y="5120640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22" name="Text 19"/>
          <p:cNvSpPr/>
          <p:nvPr/>
        </p:nvSpPr>
        <p:spPr>
          <a:xfrm>
            <a:off x="822960" y="5120640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caveat travels with the figure in the code, so it cannot be lifted onto a slide alone.</a:t>
            </a:r>
            <a:endParaRPr lang="en-US" sz="17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· AI Act classification, step by step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steps. The one that matters is step 4.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8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703173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spc="100" kern="0" dirty="0">
                          <a:solidFill>
                            <a:srgbClr val="FFFFFF"/>
                          </a:solidFill>
                        </a:rPr>
                        <a:t>STEP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spc="100" kern="0" dirty="0">
                          <a:solidFill>
                            <a:srgbClr val="1D2A32"/>
                          </a:solidFill>
                        </a:rPr>
                        <a:t>FINDING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78D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1 · Is it an AI system?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Yes, all three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2 · Prohibited under Art. 5?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No — one close call on anomaly flagging, flagged for counsel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3 · Annex I safety component?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No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4 · An Annex III use case?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No. Never evaluates creditworthiness — Annex III(5)(b) does not bite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5 · Art. 6(3) derogation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Not reached. If step 4 fails, anomaly flagging alone becomes high-risk — it profiles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6 · Art. 50 transparency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No customer-facing surface. Generated drafts marked anyway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· What actually leaves the building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Pseudonymisation protects the reference. It does not protect the content.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8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3291840"/>
                <a:gridCol w="3410712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Identifier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</a:rPr>
                        <a:t>Narrative content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Sent to the model provider (US)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Never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In full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Stored in monitoring (EU)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Never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The quoted sentence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In the decision log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Never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The quoted sentence</a:t>
                      </a:r>
                      <a:endParaRPr lang="en-US" sz="1500" dirty="0"/>
                    </a:p>
                  </a:txBody>
                  <a:tcPr marL="76200" marR="76200" marT="38100" marB="381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Shape 9"/>
          <p:cNvSpPr/>
          <p:nvPr/>
        </p:nvSpPr>
        <p:spPr>
          <a:xfrm>
            <a:off x="566928" y="4745736"/>
            <a:ext cx="11055096" cy="640080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14" name="Shape 10"/>
          <p:cNvSpPr/>
          <p:nvPr/>
        </p:nvSpPr>
        <p:spPr>
          <a:xfrm>
            <a:off x="566928" y="4745736"/>
            <a:ext cx="82296" cy="640080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15" name="Text 11"/>
          <p:cNvSpPr/>
          <p:nvPr/>
        </p:nvSpPr>
        <p:spPr>
          <a:xfrm>
            <a:off x="822960" y="4745736"/>
            <a:ext cx="1059789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transfer work — DPA, transfer impact assessment, zero retention — is a gate before any pilot on real data, not a Phase 2 discovery.</a:t>
            </a:r>
            <a:endParaRPr lang="en-US" sz="17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· What the pilot has to prove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481328"/>
            <a:ext cx="11055096" cy="676656"/>
          </a:xfrm>
          <a:prstGeom prst="rect">
            <a:avLst/>
          </a:prstGeom>
          <a:solidFill>
            <a:srgbClr val="EFF5F9"/>
          </a:solidFill>
          <a:ln/>
        </p:spPr>
      </p:sp>
      <p:sp>
        <p:nvSpPr>
          <p:cNvPr id="7" name="Shape 4"/>
          <p:cNvSpPr/>
          <p:nvPr/>
        </p:nvSpPr>
        <p:spPr>
          <a:xfrm>
            <a:off x="566928" y="1481328"/>
            <a:ext cx="82296" cy="676656"/>
          </a:xfrm>
          <a:prstGeom prst="rect">
            <a:avLst/>
          </a:prstGeom>
          <a:solidFill>
            <a:srgbClr val="2A78D6"/>
          </a:solidFill>
          <a:ln/>
        </p:spPr>
      </p:sp>
      <p:sp>
        <p:nvSpPr>
          <p:cNvPr id="8" name="Text 5"/>
          <p:cNvSpPr/>
          <p:nvPr/>
        </p:nvSpPr>
        <p:spPr>
          <a:xfrm>
            <a:off x="822960" y="1481328"/>
            <a:ext cx="10597896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   </a:t>
            </a:r>
            <a:pPr indent="0" marL="0">
              <a:buNone/>
            </a:pPr>
            <a:r>
              <a:rPr lang="en-US" sz="1300" dirty="0">
                <a:solidFill>
                  <a:srgbClr val="1B27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 any of the first three and we do not proceed.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8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395728"/>
          <a:ext cx="11055096" cy="914400"/>
        </p:xfrm>
        <a:graphic>
          <a:graphicData uri="http://schemas.openxmlformats.org/drawingml/2006/table">
            <a:tbl>
              <a:tblPr/>
              <a:tblGrid>
                <a:gridCol w="5120640"/>
                <a:gridCol w="5934456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spc="100" kern="0" dirty="0">
                          <a:solidFill>
                            <a:srgbClr val="FFFFFF"/>
                          </a:solidFill>
                        </a:rPr>
                        <a:t>GATE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5A6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spc="100" kern="0" dirty="0">
                          <a:solidFill>
                            <a:srgbClr val="1D2A32"/>
                          </a:solidFill>
                        </a:rPr>
                        <a:t>THRESHOLD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A78D6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Team-level accuracy vs expert labels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≥ 80%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Handler acceptance rate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≥ 75% AND ≤ 97%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Ungrounded outputs reaching a handler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Zero. Absolute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Correct abstention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≥ 95%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5F9"/>
                    </a:solidFill>
                  </a:tcPr>
                </a:tc>
              </a:tr>
              <a:tr h="3383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24343F"/>
                          </a:solidFill>
                        </a:rPr>
                        <a:t>Anomaly precision on analyst disposition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B2730"/>
                          </a:solidFill>
                        </a:rPr>
                        <a:t>≥ 30% — if this alone fails, ship the other two</a:t>
                      </a:r>
                      <a:endParaRPr lang="en-US" sz="1500" dirty="0"/>
                    </a:p>
                  </a:txBody>
                  <a:tcPr marL="101600" marR="101600" marT="25400" marB="25400" anchor="ctr">
                    <a:lnL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9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310896"/>
            <a:ext cx="1105509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CAPSTONE ROUND 2  ·  ASSIST</a:t>
            </a:r>
            <a:endParaRPr lang="en-US" sz="1050" dirty="0"/>
          </a:p>
        </p:txBody>
      </p:sp>
      <p:sp>
        <p:nvSpPr>
          <p:cNvPr id="3" name="Shape 1"/>
          <p:cNvSpPr/>
          <p:nvPr/>
        </p:nvSpPr>
        <p:spPr>
          <a:xfrm>
            <a:off x="566928" y="658368"/>
            <a:ext cx="566928" cy="566928"/>
          </a:xfrm>
          <a:prstGeom prst="ellipse">
            <a:avLst/>
          </a:prstGeom>
          <a:solidFill>
            <a:srgbClr val="24343F"/>
          </a:solidFill>
          <a:ln/>
        </p:spPr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8660" y="800100"/>
            <a:ext cx="283464" cy="28346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316736" y="621792"/>
            <a:ext cx="103052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4343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Backup · Anomaly flagging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6437376"/>
            <a:ext cx="11055096" cy="0"/>
          </a:xfrm>
          <a:prstGeom prst="line">
            <a:avLst/>
          </a:prstGeom>
          <a:noFill/>
          <a:ln w="12700">
            <a:solidFill>
              <a:srgbClr val="D9E3EA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66928" y="647395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endParaRPr lang="en-US" sz="850" dirty="0"/>
          </a:p>
        </p:txBody>
      </p:sp>
      <p:sp>
        <p:nvSpPr>
          <p:cNvPr id="8" name="Text 5"/>
          <p:cNvSpPr/>
          <p:nvPr/>
        </p:nvSpPr>
        <p:spPr>
          <a:xfrm>
            <a:off x="10524744" y="6473952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6B7C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850" dirty="0"/>
          </a:p>
        </p:txBody>
      </p:sp>
      <p:pic>
        <p:nvPicPr>
          <p:cNvPr id="9" name="Image 1" descr="/Users/nnanyelugoahukannah/Learning/Ironhack/PROJECT-Capstone-AI-Consulting/mvp/screenshots/mvp-anomaly-slid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481328"/>
            <a:ext cx="6633058" cy="4873752"/>
          </a:xfrm>
          <a:prstGeom prst="rect">
            <a:avLst/>
          </a:prstGeom>
        </p:spPr>
      </p:pic>
      <p:sp>
        <p:nvSpPr>
          <p:cNvPr id="10" name="Shape 6"/>
          <p:cNvSpPr/>
          <p:nvPr/>
        </p:nvSpPr>
        <p:spPr>
          <a:xfrm>
            <a:off x="7474306" y="1481328"/>
            <a:ext cx="4147718" cy="4873752"/>
          </a:xfrm>
          <a:prstGeom prst="rect">
            <a:avLst/>
          </a:prstGeom>
          <a:solidFill>
            <a:srgbClr val="24343F"/>
          </a:solidFill>
          <a:ln/>
          <a:effectLst>
            <a:outerShdw sx="100000" sy="100000" kx="0" ky="0" algn="bl" rotWithShape="0" blurRad="88900" dist="38100" dir="8100000">
              <a:srgbClr val="1C2440">
                <a:alpha val="13000"/>
              </a:srgbClr>
            </a:outerShdw>
          </a:effectLst>
        </p:spPr>
      </p:sp>
      <p:sp>
        <p:nvSpPr>
          <p:cNvPr id="11" name="Text 7"/>
          <p:cNvSpPr/>
          <p:nvPr/>
        </p:nvSpPr>
        <p:spPr>
          <a:xfrm>
            <a:off x="7712050" y="1682496"/>
            <a:ext cx="369051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 </a:t>
            </a:r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division of labour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712050" y="2194560"/>
            <a:ext cx="3672230" cy="395935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6D8E4"/>
                </a:solidFill>
              </a:rPr>
              <a:t>A deterministic detector decides WHAT is unusual.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6D8E4"/>
                </a:solidFill>
              </a:rPr>
              <a:t>The model only explains WHY, in language an analyst can act on.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6D8E4"/>
                </a:solidFill>
              </a:rPr>
              <a:t>Ranked by how far it departs from that account's own normal — never by the amount.</a:t>
            </a:r>
            <a:endParaRPr lang="en-US" sz="1500" dirty="0"/>
          </a:p>
          <a:p>
            <a:pPr marL="152400" indent="-1524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C6D8E4"/>
                </a:solidFill>
              </a:rPr>
              <a:t>A predicted payout never orders the queue.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Capstone Round 2 — Assist</dc:title>
  <dc:subject>PptxGenJS Presentation</dc:subject>
  <dc:creator/>
  <cp:lastModifiedBy/>
  <cp:revision>1</cp:revision>
  <dcterms:created xsi:type="dcterms:W3CDTF">2026-08-31T13:57:28Z</dcterms:created>
  <dcterms:modified xsi:type="dcterms:W3CDTF">2026-08-31T13:57:28Z</dcterms:modified>
</cp:coreProperties>
</file>