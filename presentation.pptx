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78b90b1b63346df" Type="http://schemas.openxmlformats.org/officeDocument/2006/relationships/officeDocument" Target="ppt/presentation.xml"/><Relationship Id="R86e12adb1fbf4321" Type="http://schemas.openxmlformats.org/officeDocument/2006/relationships/extended-properties" Target="docProps/app.xml"/><Relationship Id="Rd29543f0e82d42a7"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c787b3f91ae84c65"/>
  </p:sldMasterIdLst>
  <p:notesMasterIdLst>
    <p:notesMasterId xmlns:r="http://schemas.openxmlformats.org/officeDocument/2006/relationships" r:id="R3d331d1a02d04734"/>
  </p:notesMasterIdLst>
  <p:sldIdLst>
    <p:sldId xmlns:r="http://schemas.openxmlformats.org/officeDocument/2006/relationships" id="256" r:id="R02c7171b49884a66"/>
    <p:sldId xmlns:r="http://schemas.openxmlformats.org/officeDocument/2006/relationships" id="257" r:id="Rabd75e8a123942b8"/>
    <p:sldId xmlns:r="http://schemas.openxmlformats.org/officeDocument/2006/relationships" id="258" r:id="R73e0ab36edd44f16"/>
    <p:sldId xmlns:r="http://schemas.openxmlformats.org/officeDocument/2006/relationships" id="259" r:id="Rb88c45f22d35449a"/>
    <p:sldId xmlns:ns0="http://schemas.openxmlformats.org/officeDocument/2006/relationships" id="271" ns0:id="rId22"/>
    <p:sldId xmlns:r="http://schemas.openxmlformats.org/officeDocument/2006/relationships" id="260" r:id="Rfa4ddc816b674769"/>
    <p:sldId xmlns:r="http://schemas.openxmlformats.org/officeDocument/2006/relationships" id="261" r:id="R79e21b5645694fab"/>
    <p:sldId xmlns:r="http://schemas.openxmlformats.org/officeDocument/2006/relationships" id="262" r:id="R516202b2ceff499b"/>
    <p:sldId xmlns:r="http://schemas.openxmlformats.org/officeDocument/2006/relationships" id="263" r:id="Rac7e9da781154862"/>
    <p:sldId xmlns:r="http://schemas.openxmlformats.org/officeDocument/2006/relationships" id="264" r:id="Rde202334f6a34d67"/>
    <p:sldId xmlns:r="http://schemas.openxmlformats.org/officeDocument/2006/relationships" id="265" r:id="R8ba01b0aaa7441fd"/>
    <p:sldId xmlns:r="http://schemas.openxmlformats.org/officeDocument/2006/relationships" id="266" r:id="R0043f28eb9bb49d8"/>
    <p:sldId xmlns:r="http://schemas.openxmlformats.org/officeDocument/2006/relationships" id="267" r:id="Rb81f01272ca64714"/>
    <p:sldId xmlns:r="http://schemas.openxmlformats.org/officeDocument/2006/relationships" id="268" r:id="Rfe6ba0e716d944d6"/>
    <p:sldId xmlns:r="http://schemas.openxmlformats.org/officeDocument/2006/relationships" id="269" r:id="R61533bf85a074f80"/>
    <p:sldId xmlns:r="http://schemas.openxmlformats.org/officeDocument/2006/relationships" id="270" r:id="R6c5f775fb1e8496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043f28eb9bb49d8" Type="http://schemas.openxmlformats.org/officeDocument/2006/relationships/slide" Target="slides/slide12.xml"/><Relationship Id="R02c7171b49884a66" Type="http://schemas.openxmlformats.org/officeDocument/2006/relationships/slide" Target="slides/slide1.xml"/><Relationship Id="R3d331d1a02d04734" Type="http://schemas.openxmlformats.org/officeDocument/2006/relationships/notesMaster" Target="notesMasters/notesMaster1.xml"/><Relationship Id="R4104b01863d84caa" Type="http://schemas.openxmlformats.org/officeDocument/2006/relationships/theme" Target="theme/theme1.xml"/><Relationship Id="R516202b2ceff499b" Type="http://schemas.openxmlformats.org/officeDocument/2006/relationships/slide" Target="slides/slide8.xml"/><Relationship Id="R51cc7436671d4496" Type="http://schemas.openxmlformats.org/officeDocument/2006/relationships/viewProps" Target="viewProps.xml"/><Relationship Id="R61533bf85a074f80" Type="http://schemas.openxmlformats.org/officeDocument/2006/relationships/slide" Target="slides/slide15.xml"/><Relationship Id="R6c5f775fb1e8496e" Type="http://schemas.openxmlformats.org/officeDocument/2006/relationships/slide" Target="slides/slide16.xml"/><Relationship Id="R73e0ab36edd44f16" Type="http://schemas.openxmlformats.org/officeDocument/2006/relationships/slide" Target="slides/slide3.xml"/><Relationship Id="R79e21b5645694fab" Type="http://schemas.openxmlformats.org/officeDocument/2006/relationships/slide" Target="slides/slide7.xml"/><Relationship Id="R8ba01b0aaa7441fd" Type="http://schemas.openxmlformats.org/officeDocument/2006/relationships/slide" Target="slides/slide11.xml"/><Relationship Id="Rabd75e8a123942b8" Type="http://schemas.openxmlformats.org/officeDocument/2006/relationships/slide" Target="slides/slide2.xml"/><Relationship Id="Rac7e9da781154862" Type="http://schemas.openxmlformats.org/officeDocument/2006/relationships/slide" Target="slides/slide9.xml"/><Relationship Id="Rb28783d3ccfa4755" Type="http://schemas.openxmlformats.org/officeDocument/2006/relationships/tableStyles" Target="tableStyles.xml"/><Relationship Id="Rb81f01272ca64714" Type="http://schemas.openxmlformats.org/officeDocument/2006/relationships/slide" Target="slides/slide13.xml"/><Relationship Id="Rb88c45f22d35449a" Type="http://schemas.openxmlformats.org/officeDocument/2006/relationships/slide" Target="slides/slide4.xml"/><Relationship Id="Rc787b3f91ae84c65" Type="http://schemas.openxmlformats.org/officeDocument/2006/relationships/slideMaster" Target="slideMasters/slideMaster1.xml"/><Relationship Id="Rcc6bc2b0cdde408f" Type="http://schemas.openxmlformats.org/officeDocument/2006/relationships/presProps" Target="presProps.xml"/><Relationship Id="Rde202334f6a34d67" Type="http://schemas.openxmlformats.org/officeDocument/2006/relationships/slide" Target="slides/slide10.xml"/><Relationship Id="Rfa4ddc816b674769" Type="http://schemas.openxmlformats.org/officeDocument/2006/relationships/slide" Target="slides/slide6.xml"/><Relationship Id="Rfe6ba0e716d944d6" Type="http://schemas.openxmlformats.org/officeDocument/2006/relationships/slide" Target="slides/slide14.xml"/><Relationship Id="rId2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605d3e4c472a44f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b459928f1a84442" Type="http://schemas.openxmlformats.org/officeDocument/2006/relationships/notesMaster" Target="../notesMasters/notesMaster1.xml"/><Relationship Id="Rf6a93392bb754b7c"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09240b17220a48ca" Type="http://schemas.openxmlformats.org/officeDocument/2006/relationships/slide" Target="../slides/slide2.xml"/><Relationship Id="Rf2bdf040dcf34c2e"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0184ff7b705347c1" Type="http://schemas.openxmlformats.org/officeDocument/2006/relationships/notesMaster" Target="../notesMasters/notesMaster1.xml"/><Relationship Id="R8753551fb321435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6de5676ffb2f422d" Type="http://schemas.openxmlformats.org/officeDocument/2006/relationships/notesMaster" Target="../notesMasters/notesMaster1.xml"/><Relationship Id="R78f7256c94e9411a"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03b5ec543a34c7f" Type="http://schemas.openxmlformats.org/officeDocument/2006/relationships/notesMaster" Target="../notesMasters/notesMaster1.xml"/><Relationship Id="R7016bdc9f22a4e45"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0170c9a0b86b4ec3" Type="http://schemas.openxmlformats.org/officeDocument/2006/relationships/notesMaster" Target="../notesMasters/notesMaster1.xml"/><Relationship Id="Rc242e379b8bf462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0579e1f25f494c69" Type="http://schemas.openxmlformats.org/officeDocument/2006/relationships/notesMaster" Target="../notesMasters/notesMaster1.xml"/><Relationship Id="R2c46770973434e2a"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9979490d1e9c4fa7" Type="http://schemas.openxmlformats.org/officeDocument/2006/relationships/notesMaster" Target="../notesMasters/notesMaster1.xml"/><Relationship Id="Rd43b6036a161467e"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23d068d1c7c9406b" Type="http://schemas.openxmlformats.org/officeDocument/2006/relationships/notesMaster" Target="../notesMasters/notesMaster1.xml"/><Relationship Id="R39a6fcae900741c0"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606f4ae43d1c430f" Type="http://schemas.openxmlformats.org/officeDocument/2006/relationships/slide" Target="../slides/slide11.xml"/><Relationship Id="Rf64c357b402b4d23"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2928bd14808a4dea" Type="http://schemas.openxmlformats.org/officeDocument/2006/relationships/notesMaster" Target="../notesMasters/notesMaster1.xml"/><Relationship Id="Rabcf34a0bd194e93"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0258f000c8fd409d" Type="http://schemas.openxmlformats.org/officeDocument/2006/relationships/notesMaster" Target="../notesMasters/notesMaster1.xml"/><Relationship Id="Red62c498719c4005"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5faef105a75c4d23" Type="http://schemas.openxmlformats.org/officeDocument/2006/relationships/notesMaster" Target="../notesMasters/notesMaster1.xml"/><Relationship Id="R74fff058e0e247da"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9bc14c6945d44e65" Type="http://schemas.openxmlformats.org/officeDocument/2006/relationships/slide" Target="../slides/slide15.xml"/><Relationship Id="Ra500b2a0ec694865"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0db20d3a243f4a48" Type="http://schemas.openxmlformats.org/officeDocument/2006/relationships/slide" Target="../slides/slide16.xml"/><Relationship Id="Rb928f8baa0164209"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established that an inspectable, assist-only system was worth developing. Round 2 implemented all three use cases, built the MVP, and tested the economics and compliance constraints. The control mechanism works, but performance on the client's data and the value of a bespoke deployment are not yet proven.</a:t>
            </a:r>
          </a:p>
          <a:p xmlns:a="http://schemas.openxmlformats.org/drawingml/2006/main">
            <a:r>
              <a:t/>
            </a:r>
          </a:p>
          <a:p xmlns:a="http://schemas.openxmlformats.org/drawingml/2006/main">
            <a:r>
              <a:t>[Sources]</a:t>
            </a:r>
          </a:p>
          <a:p xmlns:a="http://schemas.openxmlformats.org/drawingml/2006/main">
            <a:r>
              <a:t>- `presentation/round1_pitch.pptx`, slides 1–6</a:t>
            </a:r>
          </a:p>
          <a:p xmlns:a="http://schemas.openxmlformats.org/drawingml/2006/main">
            <a:r>
              <a:t>- `feedback/round1_decision.md`</a:t>
            </a:r>
          </a:p>
          <a:p xmlns:a="http://schemas.openxmlformats.org/drawingml/2006/main">
            <a:r>
              <a:t>- `README.md`, Round 2 deliverables and headline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kept the client, complaint triage and the human-decision boundary. The material change was scope: build all three use cases. Round 2 did that and added a working MVP, ROI analysis and compliance assessment. The decision now is whether to fund a controlled evidence programme, not whether to deploy.</a:t>
            </a:r>
          </a:p>
          <a:p xmlns:a="http://schemas.openxmlformats.org/drawingml/2006/main">
            <a:r>
              <a:t/>
            </a:r>
          </a:p>
          <a:p xmlns:a="http://schemas.openxmlformats.org/drawingml/2006/main">
            <a:r>
              <a:t>[Sources]</a:t>
            </a:r>
          </a:p>
          <a:p xmlns:a="http://schemas.openxmlformats.org/drawingml/2006/main">
            <a:r>
              <a:t>- `feedback/round1_decision.md`</a:t>
            </a:r>
          </a:p>
          <a:p xmlns:a="http://schemas.openxmlformats.org/drawingml/2006/main">
            <a:r>
              <a:t>- `use_case_definition.md`, “How this evolved from Round 1”</a:t>
            </a:r>
          </a:p>
          <a:p xmlns:a="http://schemas.openxmlformats.org/drawingml/2006/main">
            <a:r>
              <a:t>- `presentation/round1_pitch.pptx`, slides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Triage cites complaint language; reporting uses bank-computed figures; anomaly explanations use transaction values. Despite the different jobs, every proposal must cite supporting evidence and a named person decides. That shared accountability model lets one control spine support all three.</a:t>
            </a:r>
          </a:p>
          <a:p xmlns:a="http://schemas.openxmlformats.org/drawingml/2006/main">
            <a:r>
              <a:t/>
            </a:r>
          </a:p>
          <a:p xmlns:a="http://schemas.openxmlformats.org/drawingml/2006/main">
            <a:r>
              <a:t>[Sources]</a:t>
            </a:r>
          </a:p>
          <a:p xmlns:a="http://schemas.openxmlformats.org/drawingml/2006/main">
            <a:r>
              <a:t>- `use_case_definition.md`, proposed solution and system type</a:t>
            </a:r>
          </a:p>
          <a:p xmlns:a="http://schemas.openxmlformats.org/drawingml/2006/main">
            <a:r>
              <a:t>- `mvp/mvp_documentation.md`, capabilities and human-decision boundaries</a:t>
            </a:r>
          </a:p>
          <a:p xmlns:a="http://schemas.openxmlformats.org/drawingml/2006/main">
            <a:r>
              <a:t>- `feedback/round1_decision.md`, shared-spine rationale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request follows the same sequence. The input is validated. The model may propose. Deterministic guards test scope, confidence and grounding. A person then decides what happens next. The system never routes a case, files a report or blocks a transaction. The POC tests this sequence end to end.</a:t>
            </a:r>
          </a:p>
          <a:p xmlns:a="http://schemas.openxmlformats.org/drawingml/2006/main">
            <a:r>
              <a:t/>
            </a:r>
          </a:p>
          <a:p xmlns:a="http://schemas.openxmlformats.org/drawingml/2006/main">
            <a:r>
              <a:t>[Sources]</a:t>
            </a:r>
          </a:p>
          <a:p xmlns:a="http://schemas.openxmlformats.org/drawingml/2006/main">
            <a:r>
              <a:t>- `mvp/mvp_documentation.md`, architecture, six guards and error handling</a:t>
            </a:r>
          </a:p>
          <a:p xmlns:a="http://schemas.openxmlformats.org/drawingml/2006/main">
            <a:r>
              <a:t>- `mvp/spine.py`</a:t>
            </a:r>
          </a:p>
          <a:p xmlns:a="http://schemas.openxmlformats.org/drawingml/2006/main">
            <a:r>
              <a:t>- `mvp/test_spine.py`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POC proposes a routing team and quotes the complaint as evidence. Low confidence or missing evidence stops the workflow and records the reason. It never routes the case. This proves the mechanism can propose, cite and abstain safely. It does not prove performance or value on client data; those require expert-labelled client cases.</a:t>
            </a:r>
          </a:p>
          <a:p xmlns:a="http://schemas.openxmlformats.org/drawingml/2006/main">
            <a:r>
              <a:t/>
            </a:r>
          </a:p>
          <a:p xmlns:a="http://schemas.openxmlformats.org/drawingml/2006/main">
            <a:r>
              <a:t>[Sources]</a:t>
            </a:r>
          </a:p>
          <a:p xmlns:a="http://schemas.openxmlformats.org/drawingml/2006/main">
            <a:r>
              <a:t>- `poc/poc_documentation.md`</a:t>
            </a:r>
          </a:p>
          <a:p xmlns:a="http://schemas.openxmlformats.org/drawingml/2006/main">
            <a:r>
              <a:t>- `poc/poc_workflow.json`</a:t>
            </a:r>
          </a:p>
          <a:p xmlns:a="http://schemas.openxmlformats.org/drawingml/2006/main">
            <a:r>
              <a:t>- `demo/recordings/poc_demo.mp4`</a:t>
            </a:r>
          </a:p>
          <a:p xmlns:a="http://schemas.openxmlformats.org/drawingml/2006/main">
            <a:r>
              <a:t>- `classifier/FINDINGS.md`</a:t>
            </a:r>
          </a:p>
          <a:p xmlns:a="http://schemas.openxmlformats.org/drawingml/2006/main">
            <a:r>
              <a:t>- CFPB Consumer Complaint Database: https://www.consumerfinance.gov/data-research/consumer-complaints/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2,426 complaints a year, bespoke deployment returns minus 18 per cent over 36 months and breaks even in month 46. About 3,100 complaints are needed. That already assumes the consultant hands oversight to a named internal owner after year one — charging the consultant rate for all three years would read minus 31, and would be pricing an engagement nobody is offering. Productising the build across five firms produces a positive return; absorbing the oversight into an existing remit improves it further. The pilot must prove value before deployment and avoid making one firm fund the entire build.  Of the 17,326 euro annual value, 9,918 is cash the firm does not spend: ombudsman case fees avoided at 650 pounds each, and fraud redress avoided by catching it earlier. The remaining 7,408 is displaced time, and displaced time is not a saving unless the hours are actually removed or redeployed. Three minutes on 2,426 complaints is 121 hours a year, which is seven per cent of one person. The model does not bank it. So the case rests on four avoided ombudsman referrals a year, and that is exactly what the shadow pilot is built to measure.</a:t>
            </a:r>
          </a:p>
          <a:p xmlns:a="http://schemas.openxmlformats.org/drawingml/2006/main">
            <a:r>
              <a:t/>
            </a:r>
          </a:p>
          <a:p xmlns:a="http://schemas.openxmlformats.org/drawingml/2006/main">
            <a:r>
              <a:t>[Sources]</a:t>
            </a:r>
          </a:p>
          <a:p xmlns:a="http://schemas.openxmlformats.org/drawingml/2006/main">
            <a:r>
              <a:t>- `roi_risk_assessment.md`, headline, ROI, break-even and sensitivity</a:t>
            </a:r>
          </a:p>
          <a:p xmlns:a="http://schemas.openxmlformats.org/drawingml/2006/main">
            <a:r>
              <a:t>- `cost_estimation/roi_model.json`</a:t>
            </a:r>
          </a:p>
          <a:p xmlns:a="http://schemas.openxmlformats.org/drawingml/2006/main">
            <a:r>
              <a:t>- `strategic_plan.md`, commercialisation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value may not appear in client data. Acceptance above 97 per cent may indicate rubber-stamping. Oversight may exceed three days per quarter and erase the savings. The pilot measures all three risks, and fixed phase exits preserve the option to stop.</a:t>
            </a:r>
          </a:p>
          <a:p xmlns:a="http://schemas.openxmlformats.org/drawingml/2006/main">
            <a:r>
              <a:t/>
            </a:r>
          </a:p>
          <a:p xmlns:a="http://schemas.openxmlformats.org/drawingml/2006/main">
            <a:r>
              <a:t>[Sources]</a:t>
            </a:r>
          </a:p>
          <a:p xmlns:a="http://schemas.openxmlformats.org/drawingml/2006/main">
            <a:r>
              <a:t>- `roi_risk_assessment.md`, risk matrix R1–R3</a:t>
            </a:r>
          </a:p>
          <a:p xmlns:a="http://schemas.openxmlformats.org/drawingml/2006/main">
            <a:r>
              <a:t>- `strategic_plan.md`, Phase 1 KPIs and exit gates</a:t>
            </a:r>
          </a:p>
          <a:p xmlns:a="http://schemas.openxmlformats.org/drawingml/2006/main">
            <a:r>
              <a:t>- `mvp/mvp_documentation.md`, decision logging and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 this assist-only design, triage and reporting are not high-risk. Anomaly flagging needs counsel confirmation because it profiles transaction behaviour. AI literacy applies now. The immediate GDPR issue is data transfer: the identifier is pseudonymised, but the full complaint narrative reaches the provider. Real-data work waits for the DPA, transfer assessment and zero-retention controls.</a:t>
            </a:r>
          </a:p>
          <a:p xmlns:a="http://schemas.openxmlformats.org/drawingml/2006/main">
            <a:r>
              <a:t/>
            </a:r>
          </a:p>
          <a:p xmlns:a="http://schemas.openxmlformats.org/drawingml/2006/main">
            <a:r>
              <a:t>[Sources]</a:t>
            </a:r>
          </a:p>
          <a:p xmlns:a="http://schemas.openxmlformats.org/drawingml/2006/main">
            <a:r>
              <a:t>- `compliance/eu_ai_act_compliance.md`, classification conclusion and mandatory requirements</a:t>
            </a:r>
          </a:p>
          <a:p xmlns:a="http://schemas.openxmlformats.org/drawingml/2006/main">
            <a:r>
              <a:t>- `compliance/gdpr_documentation.md`, data flow, DPIA and transfer assessment</a:t>
            </a:r>
          </a:p>
          <a:p xmlns:a="http://schemas.openxmlformats.org/drawingml/2006/main">
            <a:r>
              <a:t>- Regulation (EU) 2024/1689: https://eur-lex.europa.eu/eli/2024/1689/oj</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0 spends €5,600 to create expert labels, measure baselines and close the legal and data-transfer gates. Phase 1 adds €12,600 to configure the three capabilities and run a 60-day shadow pilot; staff continue the current process and do not act on AI suggestions. €18,200 therefore buys the evidence and a deployment decision. Phase 2 receives no funding unless every gate passes.</a:t>
            </a:r>
          </a:p>
          <a:p xmlns:a="http://schemas.openxmlformats.org/drawingml/2006/main">
            <a:r>
              <a:t/>
            </a:r>
          </a:p>
          <a:p xmlns:a="http://schemas.openxmlformats.org/drawingml/2006/main">
            <a:r>
              <a:t>[Sources]</a:t>
            </a:r>
          </a:p>
          <a:p xmlns:a="http://schemas.openxmlformats.org/drawingml/2006/main">
            <a:r>
              <a:t>- `strategic_plan.md`, phase plan, milestones and KPIs</a:t>
            </a:r>
          </a:p>
          <a:p xmlns:a="http://schemas.openxmlformats.org/drawingml/2006/main">
            <a:r>
              <a:t>- `roi_risk_assessment.md`, upfront costs and recommendation</a:t>
            </a:r>
          </a:p>
          <a:p xmlns:a="http://schemas.openxmlformats.org/drawingml/2006/main">
            <a:r>
              <a:t>- `use_case_definition.md`, measurable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MVP presents the team's work as a queue. One record shows the proposal, its evidence, every guard result and the named human decision. No case is routed until a person acts. The record makes the proposal's basis and the person's response reviewable.</a:t>
            </a:r>
          </a:p>
          <a:p xmlns:a="http://schemas.openxmlformats.org/drawingml/2006/main">
            <a:r>
              <a:t/>
            </a:r>
          </a:p>
          <a:p xmlns:a="http://schemas.openxmlformats.org/drawingml/2006/main">
            <a:r>
              <a:t>[Sources]</a:t>
            </a:r>
          </a:p>
          <a:p xmlns:a="http://schemas.openxmlformats.org/drawingml/2006/main">
            <a:r>
              <a:t>- `mvp/mvp_documentation.md`, capabilities, UI, decision log and demo brief</a:t>
            </a:r>
          </a:p>
          <a:p xmlns:a="http://schemas.openxmlformats.org/drawingml/2006/main">
            <a:r>
              <a:t>- `demo/recordings/mvp_demo.mp4`</a:t>
            </a:r>
          </a:p>
          <a:p xmlns:a="http://schemas.openxmlformats.org/drawingml/2006/main">
            <a:r>
              <a:t>- `mvp/app.py`</a:t>
            </a:r>
          </a:p>
          <a:p xmlns:a="http://schemas.openxmlformats.org/drawingml/2006/main">
            <a:r>
              <a:t>- `mvp/queue_store.py`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recommendation is to approve Phases 0 and 1, capped at €18,200. Before real-data processing, close the legal and transfer gates. Keep the stated performance thresholds and phase exits. Do not fund the €14,000 deployment phase unless client data proves the performance case and the commercial structure proves the economics.</a:t>
            </a:r>
          </a:p>
          <a:p xmlns:a="http://schemas.openxmlformats.org/drawingml/2006/main">
            <a:r>
              <a:t/>
            </a:r>
          </a:p>
          <a:p xmlns:a="http://schemas.openxmlformats.org/drawingml/2006/main">
            <a:r>
              <a:t>[Sources]</a:t>
            </a:r>
          </a:p>
          <a:p xmlns:a="http://schemas.openxmlformats.org/drawingml/2006/main">
            <a:r>
              <a:t>- `roi_risk_assessment.md`, recommendation and phase costs</a:t>
            </a:r>
          </a:p>
          <a:p xmlns:a="http://schemas.openxmlformats.org/drawingml/2006/main">
            <a:r>
              <a:t>- `strategic_plan.md`, phase exits and deployment gates</a:t>
            </a:r>
          </a:p>
          <a:p xmlns:a="http://schemas.openxmlformats.org/drawingml/2006/main">
            <a:r>
              <a:t>- `compliance/gdpr_documentation.md`, blockers to real-data processing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figures are diagnostic, not client performance. The 60.5 per cent is agreement with complainant-selected CFPB labels, not expert accuracy. The model agreed with itself on 88.0 per cent of repeated inputs, showing that the disagreement is systematic rather than random; it does not identify the cause. The anomaly detector reached 97.9 per cent precision on synthetic data designed around its thresholds, and 98.9 per cent recall — it now misses one pattern in twenty on threshold structuring, which appeared only once the fixture grew from forty accounts to two hundred. Phase 0 creates the client benchmark.</a:t>
            </a:r>
          </a:p>
          <a:p xmlns:a="http://schemas.openxmlformats.org/drawingml/2006/main">
            <a:r>
              <a:t/>
            </a:r>
          </a:p>
          <a:p xmlns:a="http://schemas.openxmlformats.org/drawingml/2006/main">
            <a:r>
              <a:t>[Sources]</a:t>
            </a:r>
          </a:p>
          <a:p xmlns:a="http://schemas.openxmlformats.org/drawingml/2006/main">
            <a:r>
              <a:t>- `classifier/FINDINGS.md`</a:t>
            </a:r>
          </a:p>
          <a:p xmlns:a="http://schemas.openxmlformats.org/drawingml/2006/main">
            <a:r>
              <a:t>- `classifier/eval_results_gpt-4o.json`</a:t>
            </a:r>
          </a:p>
          <a:p xmlns:a="http://schemas.openxmlformats.org/drawingml/2006/main">
            <a:r>
              <a:t>- `classifier/eval_results_gpt-4o-mini.json`</a:t>
            </a:r>
          </a:p>
          <a:p xmlns:a="http://schemas.openxmlformats.org/drawingml/2006/main">
            <a:r>
              <a:t>- CFPB Consumer Complaint Database: https://www.consumerfinance.gov/data-research/consumer-complaints/</a:t>
            </a:r>
          </a:p>
          <a:p xmlns:a="http://schemas.openxmlformats.org/drawingml/2006/main">
            <a:r>
              <a:t>- `mvp/synth/make_transactions.py`</a:t>
            </a:r>
          </a:p>
          <a:p xmlns:a="http://schemas.openxmlformats.org/drawingml/2006/main">
            <a:r>
              <a:t>- `mvp/capabilities/anomaly.py`</a:t>
            </a:r>
          </a:p>
          <a:p xmlns:a="http://schemas.openxmlformats.org/drawingml/2006/main">
            <a:r>
              <a:t>- `strategic_plan.md`, Phase 1 KPI G6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UC-1 is complaint triage; UC-2 is anomaly flagging; UC-3 is reporting assistance. UC-1 and UC-3 do not match the Annex III high-risk uses under this assist-only design. UC-2 remains open because it profiles transaction behaviour. Counsel must confirm whether the fraud-detection reasoning applies. If counsel concludes that it does not, UC-2 becomes high-risk and can be disabled without affecting the other two.</a:t>
            </a:r>
          </a:p>
          <a:p xmlns:a="http://schemas.openxmlformats.org/drawingml/2006/main">
            <a:r>
              <a:t/>
            </a:r>
          </a:p>
          <a:p xmlns:a="http://schemas.openxmlformats.org/drawingml/2006/main">
            <a:r>
              <a:t>[Sources]</a:t>
            </a:r>
          </a:p>
          <a:p xmlns:a="http://schemas.openxmlformats.org/drawingml/2006/main">
            <a:r>
              <a:t>- `compliance/eu_ai_act_compliance.md`, classification steps 1–7</a:t>
            </a:r>
          </a:p>
          <a:p xmlns:a="http://schemas.openxmlformats.org/drawingml/2006/main">
            <a:r>
              <a:t>- Regulation (EU) 2024/1689: https://eur-lex.europa.eu/eli/2024/1689/oj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complaint identifier is replaced before the model call, but the full narrative still reaches the provider and quoted evidence is stored in monitoring. Pseudonymisation therefore protects the reference, not the content. The data remains personal data. The DPA, transfer assessment and zero-retention configuration are the real-data gates.</a:t>
            </a:r>
          </a:p>
          <a:p xmlns:a="http://schemas.openxmlformats.org/drawingml/2006/main">
            <a:r>
              <a:t/>
            </a:r>
          </a:p>
          <a:p xmlns:a="http://schemas.openxmlformats.org/drawingml/2006/main">
            <a:r>
              <a:t>[Sources]</a:t>
            </a:r>
          </a:p>
          <a:p xmlns:a="http://schemas.openxmlformats.org/drawingml/2006/main">
            <a:r>
              <a:t>- `compliance/gdpr_documentation.md`, data flow and third-party transfers</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hard gates are at least 80 per cent accuracy against expert labels, 75 to 97 per cent handler acceptance and zero ungrounded outputs reaching a handler. The remaining thresholds test time saved, oversight, abstention and anomaly usefulness. Because the capabilities are separable, UC-2 can fail without blocking UC-1 and UC-3.</a:t>
            </a:r>
          </a:p>
          <a:p xmlns:a="http://schemas.openxmlformats.org/drawingml/2006/main">
            <a:r>
              <a:t/>
            </a:r>
          </a:p>
          <a:p xmlns:a="http://schemas.openxmlformats.org/drawingml/2006/main">
            <a:r>
              <a:t>[Sources]</a:t>
            </a:r>
          </a:p>
          <a:p xmlns:a="http://schemas.openxmlformats.org/drawingml/2006/main">
            <a:r>
              <a:t>- `strategic_plan.md`, Phase 1 KPIs G1–G7</a:t>
            </a:r>
          </a:p>
          <a:p xmlns:a="http://schemas.openxmlformats.org/drawingml/2006/main">
            <a:r>
              <a:t>- `use_case_definition.md`,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one row at a time. Three jobs, three different reasons they are hard today, and three different ways a proposal gets made — the AI only chooses in triage. For anomalies rules pick the case and the AI explains it; for reporting the figures are computed and the AI writes them up. Two of the three proposals are not the AI's call at all.</a:t>
            </a:r>
          </a:p>
          <a:p/>
          <a:p>
            <a:r>
              <a:t>The third column is where it stops being a demo. Each capability has to prove its answer against something the system already holds: the customer's own sentence, the transaction record, the computed sheet. Same six checks, same order — only the proof differs.</a:t>
            </a:r>
          </a:p>
          <a:p/>
          <a:p>
            <a:r>
              <a:t>Then one person, for all three, and their decision is stored beside the proposal. That pairing is what makes agreement and override rates measurable later.</a:t>
            </a:r>
          </a:p>
          <a:p/>
          <a:p>
            <a:r>
              <a:t>[If asked which six checks] In scope, the model replied, the reply is readable, what it named exists, confident enough, evidence really there. It stops at the first failure, so a refusal always names exactly one reason.</a:t>
            </a:r>
          </a:p>
          <a:p/>
          <a:p>
            <a:r>
              <a:t>[Sources]</a:t>
            </a:r>
          </a:p>
          <a:p>
            <a:r>
              <a:t>- `mvp/spine.py`, the six stages and twelve reason codes</a:t>
            </a:r>
          </a:p>
          <a:p>
            <a:r>
              <a:t>- `mvp/capabilities/`, what each capability submits as evidence</a:t>
            </a:r>
          </a:p>
          <a:p>
            <a:r>
              <a:t>- `use_case_definition.md`, the three problems named in column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a9b43bf8da1a4058"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226cf2788844026" Type="http://schemas.openxmlformats.org/officeDocument/2006/relationships/slideLayout" Target="../slideLayouts/slideLayout1.xml"/><Relationship Id="R494333bb03fe42d5"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26cf2788844026"/>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4b97b67d321438b" Type="http://schemas.openxmlformats.org/officeDocument/2006/relationships/slideLayout" Target="../slideLayouts/slideLayout1.xml"/><Relationship Id="Rf415ac8704bc455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a268aa50710d4915" Type="http://schemas.openxmlformats.org/officeDocument/2006/relationships/notesSlide" Target="../notesSlides/notesSlide2.xml"/><Relationship Id="Rdbf7c9347e2d47bf"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9a16ae4503b948d0" Type="http://schemas.openxmlformats.org/officeDocument/2006/relationships/slideLayout" Target="../slideLayouts/slideLayout1.xml"/><Relationship Id="Ra480e66e7416474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282183ad30084087" Type="http://schemas.openxmlformats.org/officeDocument/2006/relationships/slideLayout" Target="../slideLayouts/slideLayout1.xml"/><Relationship Id="Rad676a3fb9894d5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6.xml.rels><?xml version='1.0' encoding='UTF-8' standalone='yes'?>
<Relationships xmlns="http://schemas.openxmlformats.org/package/2006/relationships"><Relationship Id="R5e4e4c8582bb47ad" Type="http://schemas.openxmlformats.org/officeDocument/2006/relationships/slideLayout" Target="../slideLayouts/slideLayout1.xml"/><Relationship Id="R60ccecb54d0a4c09" Type="http://schemas.openxmlformats.org/officeDocument/2006/relationships/image" Target="../media/image.png"/><Relationship Id="Re8d7c1fbcb5e49df"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d30eba5ff5b144c5" Type="http://schemas.openxmlformats.org/officeDocument/2006/relationships/slideLayout" Target="../slideLayouts/slideLayout1.xml"/><Relationship Id="Rf9c861be1b944b6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17cba076b6084a9b" Type="http://schemas.openxmlformats.org/officeDocument/2006/relationships/slideLayout" Target="../slideLayouts/slideLayout1.xml"/><Relationship Id="R74bac3f2d3f14200"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81948cd72f8e4552" Type="http://schemas.openxmlformats.org/officeDocument/2006/relationships/slideLayout" Target="../slideLayouts/slideLayout1.xml"/><Relationship Id="Ra92b63e90c1047e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a0cad19f402f4702" Type="http://schemas.openxmlformats.org/officeDocument/2006/relationships/slideLayout" Target="../slideLayouts/slideLayout1.xml"/><Relationship Id="Rfc32445554ef4609"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470fa4abde354a64" Type="http://schemas.openxmlformats.org/officeDocument/2006/relationships/notesSlide" Target="../notesSlides/notesSlide10.xml"/><Relationship Id="R587d06b6bafa4321" Type="http://schemas.openxmlformats.org/officeDocument/2006/relationships/slideLayout" Target="../slideLayouts/slideLayout1.xml"/><Relationship Id="Re9473402635843d2" Type="http://schemas.openxmlformats.org/officeDocument/2006/relationships/image" Target="../media/image2.png"/></Relationships>
</file>

<file path=ppt/slides/_rels/slide12.xml.rels><?xml version='1.0' encoding='UTF-8' standalone='yes'?>
<Relationships xmlns="http://schemas.openxmlformats.org/package/2006/relationships"><Relationship Id="R0543ab2a94404144" Type="http://schemas.openxmlformats.org/officeDocument/2006/relationships/slideLayout" Target="../slideLayouts/slideLayout1.xml"/><Relationship Id="Rf423c7c3c1324ee0"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9872ce5ab13e48d4" Type="http://schemas.openxmlformats.org/officeDocument/2006/relationships/notesSlide" Target="../notesSlides/notesSlide12.xml"/><Relationship Id="Rab0e432270d34b2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1b7b1c1ac76a4243" Type="http://schemas.openxmlformats.org/officeDocument/2006/relationships/slideLayout" Target="../slideLayouts/slideLayout1.xml"/><Relationship Id="R490147c01a074e3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1cfd3e0835ee498d" Type="http://schemas.openxmlformats.org/officeDocument/2006/relationships/slideLayout" Target="../slideLayouts/slideLayout1.xml"/><Relationship Id="R2ecf29ec46c9436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24b0389d8b5b4730" Type="http://schemas.openxmlformats.org/officeDocument/2006/relationships/notesSlide" Target="../notesSlides/notesSlide15.xml"/><Relationship Id="R31e42392cf424b72"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D26A1A2-51FE-4CD7-BDE0-701C76331419}"/>
              </a:ext>
            </a:extLst>
          </p:cNvPr>
          <p:cNvSpPr>
            <a:spLocks xmlns:a="http://schemas.openxmlformats.org/drawingml/2006/main" noGrp="1"/>
          </p:cNvSpPr>
          <p:nvPr/>
        </p:nvSpPr>
        <p:spPr>
          <a:xfrm xmlns:a="http://schemas.openxmlformats.org/drawingml/2006/main">
            <a:off x="822960" y="1874520"/>
            <a:ext cx="1054577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300">
                <a:solidFill>
                  <a:srgbClr val="B0341F"/>
                </a:solidFill>
                <a:latin typeface="Calibri"/>
                <a:ea typeface="Calibri"/>
                <a:cs typeface="Calibri"/>
              </a:rPr>
              <a:t>AI CONSULTING CAPSTONE  ·  ROUND 2</a:t>
            </a:r>
            <a:endParaRPr sz="2400"/>
          </a:p>
        </p:txBody>
      </p:sp>
      <p:sp>
        <p:nvSpPr>
          <p:cNvPr id="3" name="Text 1">
            <a:extLst xmlns:a="http://schemas.openxmlformats.org/drawingml/2006/main">
              <a:ext uri="{FF2B5EF4-FFF2-40B4-BE49-F238E27FC236}">
                <a16:creationId xmlns:a16="http://schemas.microsoft.com/office/drawing/2014/main" id="{8B367124-5A72-4B16-B0D0-50D0B1EC89C5}"/>
              </a:ext>
            </a:extLst>
          </p:cNvPr>
          <p:cNvSpPr>
            <a:spLocks xmlns:a="http://schemas.openxmlformats.org/drawingml/2006/main" noGrp="1"/>
          </p:cNvSpPr>
          <p:nvPr/>
        </p:nvSpPr>
        <p:spPr>
          <a:xfrm xmlns:a="http://schemas.openxmlformats.org/drawingml/2006/main">
            <a:off x="822960" y="2331720"/>
            <a:ext cx="10545775"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400" b="1">
                <a:solidFill>
                  <a:srgbClr val="FFFFFF"/>
                </a:solidFill>
                <a:latin typeface="Trebuchet MS"/>
                <a:ea typeface="Trebuchet MS"/>
                <a:cs typeface="Trebuchet MS"/>
              </a:rPr>
              <a:t>Assist</a:t>
            </a:r>
            <a:endParaRPr sz="5400"/>
          </a:p>
        </p:txBody>
      </p:sp>
      <p:sp>
        <p:nvSpPr>
          <p:cNvPr id="4" name="Shape 2">
            <a:extLst xmlns:a="http://schemas.openxmlformats.org/drawingml/2006/main">
              <a:ext uri="{FF2B5EF4-FFF2-40B4-BE49-F238E27FC236}">
                <a16:creationId xmlns:a16="http://schemas.microsoft.com/office/drawing/2014/main" id="{8B819D20-CA3A-4BC6-892E-94D76DC1F128}"/>
              </a:ext>
            </a:extLst>
          </p:cNvPr>
          <p:cNvSpPr>
            <a:spLocks xmlns:a="http://schemas.openxmlformats.org/drawingml/2006/main" noGrp="1"/>
          </p:cNvSpPr>
          <p:nvPr/>
        </p:nvSpPr>
        <p:spPr>
          <a:xfrm xmlns:a="http://schemas.openxmlformats.org/drawingml/2006/main">
            <a:off x="822960" y="345643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5" name="Text 3">
            <a:extLst xmlns:a="http://schemas.openxmlformats.org/drawingml/2006/main">
              <a:ext uri="{FF2B5EF4-FFF2-40B4-BE49-F238E27FC236}">
                <a16:creationId xmlns:a16="http://schemas.microsoft.com/office/drawing/2014/main" id="{CE72A465-54C7-4FC1-98E6-73B5C9CFFC86}"/>
              </a:ext>
            </a:extLst>
          </p:cNvPr>
          <p:cNvSpPr>
            <a:spLocks xmlns:a="http://schemas.openxmlformats.org/drawingml/2006/main" noGrp="1"/>
          </p:cNvSpPr>
          <p:nvPr/>
        </p:nvSpPr>
        <p:spPr>
          <a:xfrm xmlns:a="http://schemas.openxmlformats.org/drawingml/2006/main">
            <a:off x="822960" y="3611880"/>
            <a:ext cx="1054577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a:solidFill>
                  <a:srgbClr val="A8A8A8"/>
                </a:solidFill>
                <a:latin typeface="Calibri"/>
                <a:ea typeface="Calibri"/>
                <a:cs typeface="Calibri"/>
              </a:rPr>
              <a:t>Three capabilities. One controlled decision process.</a:t>
            </a:r>
            <a:endParaRPr sz="2600"/>
          </a:p>
        </p:txBody>
      </p:sp>
      <p:sp>
        <p:nvSpPr>
          <p:cNvPr id="6" name="Text 4">
            <a:extLst xmlns:a="http://schemas.openxmlformats.org/drawingml/2006/main">
              <a:ext uri="{FF2B5EF4-FFF2-40B4-BE49-F238E27FC236}">
                <a16:creationId xmlns:a16="http://schemas.microsoft.com/office/drawing/2014/main" id="{49E77AFF-4B5B-43FE-B46F-30FB9B44453B}"/>
              </a:ext>
            </a:extLst>
          </p:cNvPr>
          <p:cNvSpPr>
            <a:spLocks xmlns:a="http://schemas.openxmlformats.org/drawingml/2006/main" noGrp="1"/>
          </p:cNvSpPr>
          <p:nvPr/>
        </p:nvSpPr>
        <p:spPr>
          <a:xfrm xmlns:a="http://schemas.openxmlformats.org/drawingml/2006/main">
            <a:off x="822960" y="4343400"/>
            <a:ext cx="105457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FFFFFF"/>
                </a:solidFill>
                <a:latin typeface="Calibri"/>
                <a:ea typeface="Calibri"/>
                <a:cs typeface="Calibri"/>
              </a:rPr>
              <a:t>What works, what does not yet pay, and how to decide with evidence.</a:t>
            </a:r>
            <a:endParaRPr sz="2400"/>
          </a:p>
        </p:txBody>
      </p:sp>
    </p:spTree>
    <p:extLst>
      <p:ext uri="{BB962C8B-B14F-4D97-AF65-F5344CB8AC3E}">
        <p14:creationId xmlns:p14="http://schemas.microsoft.com/office/powerpoint/2010/main" val="211797080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6EDA611-D26E-4CB7-88DC-DB389FE67A7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Round 1 set the direction. Round 2 built the evidence</a:t>
            </a:r>
            <a:endParaRPr sz="3200"/>
          </a:p>
        </p:txBody>
      </p:sp>
      <p:sp>
        <p:nvSpPr>
          <p:cNvPr id="3" name="Shape 1">
            <a:extLst xmlns:a="http://schemas.openxmlformats.org/drawingml/2006/main">
              <a:ext uri="{FF2B5EF4-FFF2-40B4-BE49-F238E27FC236}">
                <a16:creationId xmlns:a16="http://schemas.microsoft.com/office/drawing/2014/main" id="{E914C169-B5E8-4227-A3EA-562A68A99BC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7564ACF-FD64-477E-92F2-0CDEDF006B71}"/>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FDC7151C-1FB7-4D42-A6E7-22A3CA1DD46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6DFD4D4-D3A9-4D77-9633-3A85BB88BD4D}"/>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a:t>
            </a:r>
            <a:endParaRPr sz="900"/>
          </a:p>
        </p:txBody>
      </p:sp>
      <p:sp>
        <p:nvSpPr>
          <p:cNvPr id="7" name="Text 5">
            <a:extLst xmlns:a="http://schemas.openxmlformats.org/drawingml/2006/main">
              <a:ext uri="{FF2B5EF4-FFF2-40B4-BE49-F238E27FC236}">
                <a16:creationId xmlns:a16="http://schemas.microsoft.com/office/drawing/2014/main" id="{06165F0D-74BE-4E5D-B1C5-E41A47C85629}"/>
              </a:ext>
            </a:extLst>
          </p:cNvPr>
          <p:cNvSpPr>
            <a:spLocks xmlns:a="http://schemas.openxmlformats.org/drawingml/2006/main" noGrp="1"/>
          </p:cNvSpPr>
          <p:nvPr/>
        </p:nvSpPr>
        <p:spPr>
          <a:xfrm xmlns:a="http://schemas.openxmlformats.org/drawingml/2006/main">
            <a:off x="822960" y="1773936"/>
            <a:ext cx="5483803"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KEPT</a:t>
            </a:r>
            <a:endParaRPr sz="2400"/>
          </a:p>
        </p:txBody>
      </p:sp>
      <p:sp>
        <p:nvSpPr>
          <p:cNvPr id="8" name="Text 6">
            <a:extLst xmlns:a="http://schemas.openxmlformats.org/drawingml/2006/main">
              <a:ext uri="{FF2B5EF4-FFF2-40B4-BE49-F238E27FC236}">
                <a16:creationId xmlns:a16="http://schemas.microsoft.com/office/drawing/2014/main" id="{4ABC772A-F401-4DF4-8B9D-A4053DAA6A95}"/>
              </a:ext>
            </a:extLst>
          </p:cNvPr>
          <p:cNvSpPr>
            <a:spLocks xmlns:a="http://schemas.openxmlformats.org/drawingml/2006/main" noGrp="1"/>
          </p:cNvSpPr>
          <p:nvPr/>
        </p:nvSpPr>
        <p:spPr>
          <a:xfrm xmlns:a="http://schemas.openxmlformats.org/drawingml/2006/main">
            <a:off x="6306763" y="1773936"/>
            <a:ext cx="506197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CHANGED</a:t>
            </a:r>
            <a:endParaRPr sz="2400"/>
          </a:p>
        </p:txBody>
      </p:sp>
      <p:sp>
        <p:nvSpPr>
          <p:cNvPr id="9" name="Shape 7">
            <a:extLst xmlns:a="http://schemas.openxmlformats.org/drawingml/2006/main">
              <a:ext uri="{FF2B5EF4-FFF2-40B4-BE49-F238E27FC236}">
                <a16:creationId xmlns:a16="http://schemas.microsoft.com/office/drawing/2014/main" id="{E24DB133-334B-4BBC-9214-88862760748B}"/>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4B89049F-BBF3-4977-8382-22D66B9C8E04}"/>
              </a:ext>
            </a:extLst>
          </p:cNvPr>
          <p:cNvSpPr>
            <a:spLocks xmlns:a="http://schemas.openxmlformats.org/drawingml/2006/main" noGrp="1"/>
          </p:cNvSpPr>
          <p:nvPr/>
        </p:nvSpPr>
        <p:spPr>
          <a:xfrm xmlns:a="http://schemas.openxmlformats.org/drawingml/2006/main">
            <a:off x="822960" y="2340864"/>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Mid-size EU financial services firm</a:t>
            </a:r>
            <a:endParaRPr sz="2400"/>
          </a:p>
        </p:txBody>
      </p:sp>
      <p:sp>
        <p:nvSpPr>
          <p:cNvPr id="11" name="Text 9">
            <a:extLst xmlns:a="http://schemas.openxmlformats.org/drawingml/2006/main">
              <a:ext uri="{FF2B5EF4-FFF2-40B4-BE49-F238E27FC236}">
                <a16:creationId xmlns:a16="http://schemas.microsoft.com/office/drawing/2014/main" id="{B7E7F686-3C92-4DD8-BA5E-9A9E5C64297D}"/>
              </a:ext>
            </a:extLst>
          </p:cNvPr>
          <p:cNvSpPr>
            <a:spLocks xmlns:a="http://schemas.openxmlformats.org/drawingml/2006/main" noGrp="1"/>
          </p:cNvSpPr>
          <p:nvPr/>
        </p:nvSpPr>
        <p:spPr>
          <a:xfrm xmlns:a="http://schemas.openxmlformats.org/drawingml/2006/main">
            <a:off x="6306763" y="2340864"/>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One implemented use case became three</a:t>
            </a:r>
            <a:endParaRPr sz="2400"/>
          </a:p>
        </p:txBody>
      </p:sp>
      <p:sp>
        <p:nvSpPr>
          <p:cNvPr id="12" name="Shape 10">
            <a:extLst xmlns:a="http://schemas.openxmlformats.org/drawingml/2006/main">
              <a:ext uri="{FF2B5EF4-FFF2-40B4-BE49-F238E27FC236}">
                <a16:creationId xmlns:a16="http://schemas.microsoft.com/office/drawing/2014/main" id="{0D3E2943-6282-4C2F-AEB3-4B027B0B5304}"/>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31DF4B66-FF6D-40A2-BAEA-D7592AE0CFA1}"/>
              </a:ext>
            </a:extLst>
          </p:cNvPr>
          <p:cNvSpPr>
            <a:spLocks xmlns:a="http://schemas.openxmlformats.org/drawingml/2006/main" noGrp="1"/>
          </p:cNvSpPr>
          <p:nvPr/>
        </p:nvSpPr>
        <p:spPr>
          <a:xfrm xmlns:a="http://schemas.openxmlformats.org/drawingml/2006/main">
            <a:off x="822960" y="3054096"/>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triage remained the lead use case</a:t>
            </a:r>
            <a:endParaRPr sz="2400"/>
          </a:p>
        </p:txBody>
      </p:sp>
      <p:sp>
        <p:nvSpPr>
          <p:cNvPr id="14" name="Text 12">
            <a:extLst xmlns:a="http://schemas.openxmlformats.org/drawingml/2006/main">
              <a:ext uri="{FF2B5EF4-FFF2-40B4-BE49-F238E27FC236}">
                <a16:creationId xmlns:a16="http://schemas.microsoft.com/office/drawing/2014/main" id="{A1F2684E-5580-40F2-B541-88B7951BD6A7}"/>
              </a:ext>
            </a:extLst>
          </p:cNvPr>
          <p:cNvSpPr>
            <a:spLocks xmlns:a="http://schemas.openxmlformats.org/drawingml/2006/main" noGrp="1"/>
          </p:cNvSpPr>
          <p:nvPr/>
        </p:nvSpPr>
        <p:spPr>
          <a:xfrm xmlns:a="http://schemas.openxmlformats.org/drawingml/2006/main">
            <a:off x="6306763" y="3054096"/>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A POC became a working MVP</a:t>
            </a:r>
            <a:endParaRPr sz="2400"/>
          </a:p>
        </p:txBody>
      </p:sp>
      <p:sp>
        <p:nvSpPr>
          <p:cNvPr id="15" name="Shape 13">
            <a:extLst xmlns:a="http://schemas.openxmlformats.org/drawingml/2006/main">
              <a:ext uri="{FF2B5EF4-FFF2-40B4-BE49-F238E27FC236}">
                <a16:creationId xmlns:a16="http://schemas.microsoft.com/office/drawing/2014/main" id="{8EC3E8ED-43E7-4789-BED3-B37399F16957}"/>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2D45C6B-2A1E-4458-9CA3-7101D0090ED7}"/>
              </a:ext>
            </a:extLst>
          </p:cNvPr>
          <p:cNvSpPr>
            <a:spLocks xmlns:a="http://schemas.openxmlformats.org/drawingml/2006/main" noGrp="1"/>
          </p:cNvSpPr>
          <p:nvPr/>
        </p:nvSpPr>
        <p:spPr>
          <a:xfrm xmlns:a="http://schemas.openxmlformats.org/drawingml/2006/main">
            <a:off x="822960" y="3767328"/>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system proposes; a person decides</a:t>
            </a:r>
            <a:endParaRPr sz="2400"/>
          </a:p>
        </p:txBody>
      </p:sp>
      <p:sp>
        <p:nvSpPr>
          <p:cNvPr id="17" name="Text 15">
            <a:extLst xmlns:a="http://schemas.openxmlformats.org/drawingml/2006/main">
              <a:ext uri="{FF2B5EF4-FFF2-40B4-BE49-F238E27FC236}">
                <a16:creationId xmlns:a16="http://schemas.microsoft.com/office/drawing/2014/main" id="{7FEDBFC3-32BB-41F0-939A-015B8CD7ACE7}"/>
              </a:ext>
            </a:extLst>
          </p:cNvPr>
          <p:cNvSpPr>
            <a:spLocks xmlns:a="http://schemas.openxmlformats.org/drawingml/2006/main" noGrp="1"/>
          </p:cNvSpPr>
          <p:nvPr/>
        </p:nvSpPr>
        <p:spPr>
          <a:xfrm xmlns:a="http://schemas.openxmlformats.org/drawingml/2006/main">
            <a:off x="6306763" y="3767328"/>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Cost estimates became ROI, risk and compliance assessments</a:t>
            </a:r>
            <a:endParaRPr sz="2400"/>
          </a:p>
        </p:txBody>
      </p:sp>
      <p:sp>
        <p:nvSpPr>
          <p:cNvPr id="18" name="Text 16">
            <a:extLst xmlns:a="http://schemas.openxmlformats.org/drawingml/2006/main">
              <a:ext uri="{FF2B5EF4-FFF2-40B4-BE49-F238E27FC236}">
                <a16:creationId xmlns:a16="http://schemas.microsoft.com/office/drawing/2014/main" id="{3E5D7CDA-83EC-4754-869F-893D64C4B3C6}"/>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Decision now: a staged evidence programme — not deployment.</a:t>
            </a:r>
            <a:endParaRPr sz="2600"/>
          </a:p>
        </p:txBody>
      </p:sp>
    </p:spTree>
    <p:extLst>
      <p:ext uri="{BB962C8B-B14F-4D97-AF65-F5344CB8AC3E}">
        <p14:creationId xmlns:p14="http://schemas.microsoft.com/office/powerpoint/2010/main" val="590094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32FC32D-E036-467F-B19E-BF02AB1E4F2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jobs share one accountability problem</a:t>
            </a:r>
            <a:endParaRPr sz="3200"/>
          </a:p>
        </p:txBody>
      </p:sp>
      <p:sp>
        <p:nvSpPr>
          <p:cNvPr id="3" name="Shape 1">
            <a:extLst xmlns:a="http://schemas.openxmlformats.org/drawingml/2006/main">
              <a:ext uri="{FF2B5EF4-FFF2-40B4-BE49-F238E27FC236}">
                <a16:creationId xmlns:a16="http://schemas.microsoft.com/office/drawing/2014/main" id="{EA5D26C9-35C3-4E27-B697-DB2FCAEC31F5}"/>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07B9865-9685-4281-8D96-F27778F38C6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1E0F598-85BC-4B56-AF6A-7B423ED9F626}"/>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C71E9106-3560-4804-973B-ED42B9754B58}"/>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2</a:t>
            </a:r>
            <a:endParaRPr sz="900"/>
          </a:p>
        </p:txBody>
      </p:sp>
      <p:sp>
        <p:nvSpPr>
          <p:cNvPr id="7" name="Text 5">
            <a:extLst xmlns:a="http://schemas.openxmlformats.org/drawingml/2006/main">
              <a:ext uri="{FF2B5EF4-FFF2-40B4-BE49-F238E27FC236}">
                <a16:creationId xmlns:a16="http://schemas.microsoft.com/office/drawing/2014/main" id="{1A1DF7CA-835A-47C9-8A2B-B4ED2253A5A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Complaint triage</a:t>
            </a:r>
            <a:endParaRPr sz="2600"/>
          </a:p>
        </p:txBody>
      </p:sp>
      <p:sp>
        <p:nvSpPr>
          <p:cNvPr id="8" name="Text 6">
            <a:extLst xmlns:a="http://schemas.openxmlformats.org/drawingml/2006/main">
              <a:ext uri="{FF2B5EF4-FFF2-40B4-BE49-F238E27FC236}">
                <a16:creationId xmlns:a16="http://schemas.microsoft.com/office/drawing/2014/main" id="{34F7BB88-CC92-474A-A01B-22BF8C7756D6}"/>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Routing queue · complaint evidence · handler decides</a:t>
            </a:r>
            <a:endParaRPr sz="2400"/>
          </a:p>
        </p:txBody>
      </p:sp>
      <p:sp>
        <p:nvSpPr>
          <p:cNvPr id="9" name="Text 7">
            <a:extLst xmlns:a="http://schemas.openxmlformats.org/drawingml/2006/main">
              <a:ext uri="{FF2B5EF4-FFF2-40B4-BE49-F238E27FC236}">
                <a16:creationId xmlns:a16="http://schemas.microsoft.com/office/drawing/2014/main" id="{C5628F7F-5E4A-4F9E-9A1E-C41A0277876B}"/>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Reporting assistance</a:t>
            </a:r>
            <a:endParaRPr sz="2600"/>
          </a:p>
        </p:txBody>
      </p:sp>
      <p:sp>
        <p:nvSpPr>
          <p:cNvPr id="10" name="Text 8">
            <a:extLst xmlns:a="http://schemas.openxmlformats.org/drawingml/2006/main">
              <a:ext uri="{FF2B5EF4-FFF2-40B4-BE49-F238E27FC236}">
                <a16:creationId xmlns:a16="http://schemas.microsoft.com/office/drawing/2014/main" id="{287CBE1E-E11E-40DC-9535-301FA6068745}"/>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Report narrative · computed figures · named employee approves</a:t>
            </a:r>
            <a:endParaRPr sz="2400"/>
          </a:p>
        </p:txBody>
      </p:sp>
      <p:sp>
        <p:nvSpPr>
          <p:cNvPr id="11" name="Text 9">
            <a:extLst xmlns:a="http://schemas.openxmlformats.org/drawingml/2006/main">
              <a:ext uri="{FF2B5EF4-FFF2-40B4-BE49-F238E27FC236}">
                <a16:creationId xmlns:a16="http://schemas.microsoft.com/office/drawing/2014/main" id="{CEC41A38-197D-4910-B2AB-9889B71FFEA4}"/>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Anomaly flagging</a:t>
            </a:r>
            <a:endParaRPr sz="2600"/>
          </a:p>
        </p:txBody>
      </p:sp>
      <p:sp>
        <p:nvSpPr>
          <p:cNvPr id="12" name="Text 10">
            <a:extLst xmlns:a="http://schemas.openxmlformats.org/drawingml/2006/main">
              <a:ext uri="{FF2B5EF4-FFF2-40B4-BE49-F238E27FC236}">
                <a16:creationId xmlns:a16="http://schemas.microsoft.com/office/drawing/2014/main" id="{3646140C-B592-42B9-90D3-8F89B73346C6}"/>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Flag explanation · transaction values · analyst decides</a:t>
            </a:r>
            <a:endParaRPr sz="2400"/>
          </a:p>
        </p:txBody>
      </p:sp>
      <p:sp>
        <p:nvSpPr>
          <p:cNvPr id="13" name="Text 11">
            <a:extLst xmlns:a="http://schemas.openxmlformats.org/drawingml/2006/main">
              <a:ext uri="{FF2B5EF4-FFF2-40B4-BE49-F238E27FC236}">
                <a16:creationId xmlns:a16="http://schemas.microsoft.com/office/drawing/2014/main" id="{CE8562EB-42A2-4695-9E22-6C0759E60260}"/>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task changes. The accountability problem does not.</a:t>
            </a:r>
            <a:endParaRPr sz="2600"/>
          </a:p>
        </p:txBody>
      </p:sp>
    </p:spTree>
    <p:extLst>
      <p:ext uri="{BB962C8B-B14F-4D97-AF65-F5344CB8AC3E}">
        <p14:creationId xmlns:p14="http://schemas.microsoft.com/office/powerpoint/2010/main" val="20371200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434CB8D-79DE-4B74-BF68-B62BDA02D1A5}"/>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One decision spine controls all three</a:t>
            </a:r>
            <a:endParaRPr sz="3200"/>
          </a:p>
        </p:txBody>
      </p:sp>
      <p:sp>
        <p:nvSpPr>
          <p:cNvPr id="3" name="Shape 1">
            <a:extLst xmlns:a="http://schemas.openxmlformats.org/drawingml/2006/main">
              <a:ext uri="{FF2B5EF4-FFF2-40B4-BE49-F238E27FC236}">
                <a16:creationId xmlns:a16="http://schemas.microsoft.com/office/drawing/2014/main" id="{554D6246-44B2-49A4-90CB-6EE6427B085E}"/>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BC0A988B-5CEF-4737-B178-507D33B4590F}"/>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33F065A9-9F36-4D0B-91AD-B595DCB46BB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9DA4E89-49D7-4BD5-AD7A-3CFFE72AB40F}"/>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3</a:t>
            </a:r>
            <a:endParaRPr sz="900"/>
          </a:p>
        </p:txBody>
      </p:sp>
      <p:sp>
        <p:nvSpPr>
          <p:cNvPr id="7" name="Text 5">
            <a:extLst xmlns:a="http://schemas.openxmlformats.org/drawingml/2006/main">
              <a:ext uri="{FF2B5EF4-FFF2-40B4-BE49-F238E27FC236}">
                <a16:creationId xmlns:a16="http://schemas.microsoft.com/office/drawing/2014/main" id="{98F61D32-0D88-4008-BEB4-707556032EDB}"/>
              </a:ext>
            </a:extLst>
          </p:cNvPr>
          <p:cNvSpPr>
            <a:spLocks xmlns:a="http://schemas.openxmlformats.org/drawingml/2006/main" noGrp="1"/>
          </p:cNvSpPr>
          <p:nvPr/>
        </p:nvSpPr>
        <p:spPr>
          <a:xfrm xmlns:a="http://schemas.openxmlformats.org/drawingml/2006/main">
            <a:off x="822960" y="1773936"/>
            <a:ext cx="1054577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1A1A1A"/>
                </a:solidFill>
                <a:latin typeface="Calibri"/>
                <a:ea typeface="Calibri"/>
                <a:cs typeface="Calibri"/>
              </a:rPr>
              <a:t>Validate input  →  Model proposes  →  Guards verify  →  Human decides</a:t>
            </a:r>
            <a:endParaRPr sz="2400"/>
          </a:p>
        </p:txBody>
      </p:sp>
      <p:sp>
        <p:nvSpPr>
          <p:cNvPr id="8" name="Text 6">
            <a:extLst xmlns:a="http://schemas.openxmlformats.org/drawingml/2006/main">
              <a:ext uri="{FF2B5EF4-FFF2-40B4-BE49-F238E27FC236}">
                <a16:creationId xmlns:a16="http://schemas.microsoft.com/office/drawing/2014/main" id="{113D4632-CCC3-4899-BF0B-F006EC94F331}"/>
              </a:ext>
            </a:extLst>
          </p:cNvPr>
          <p:cNvSpPr>
            <a:spLocks xmlns:a="http://schemas.openxmlformats.org/drawingml/2006/main" noGrp="1"/>
          </p:cNvSpPr>
          <p:nvPr/>
        </p:nvSpPr>
        <p:spPr>
          <a:xfrm xmlns:a="http://schemas.openxmlformats.org/drawingml/2006/main">
            <a:off x="822960" y="2907792"/>
            <a:ext cx="10545775" cy="8961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In scope? Confident enough to propose? Every quote, figure or value present in the evidence?</a:t>
            </a:r>
            <a:endParaRPr sz="2400"/>
          </a:p>
        </p:txBody>
      </p:sp>
      <p:sp>
        <p:nvSpPr>
          <p:cNvPr id="9" name="Text 7">
            <a:extLst xmlns:a="http://schemas.openxmlformats.org/drawingml/2006/main">
              <a:ext uri="{FF2B5EF4-FFF2-40B4-BE49-F238E27FC236}">
                <a16:creationId xmlns:a16="http://schemas.microsoft.com/office/drawing/2014/main" id="{9018D886-755D-4E7F-8207-A5295CA04F02}"/>
              </a:ext>
            </a:extLst>
          </p:cNvPr>
          <p:cNvSpPr>
            <a:spLocks xmlns:a="http://schemas.openxmlformats.org/drawingml/2006/main" noGrp="1"/>
          </p:cNvSpPr>
          <p:nvPr/>
        </p:nvSpPr>
        <p:spPr>
          <a:xfrm xmlns:a="http://schemas.openxmlformats.org/drawingml/2006/main">
            <a:off x="822960" y="41879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system never routes, files or blocks anything by itself.</a:t>
            </a:r>
            <a:endParaRPr sz="2600"/>
          </a:p>
        </p:txBody>
      </p:sp>
    </p:spTree>
    <p:extLst>
      <p:ext uri="{BB962C8B-B14F-4D97-AF65-F5344CB8AC3E}">
        <p14:creationId xmlns:p14="http://schemas.microsoft.com/office/powerpoint/2010/main" val="1322038375"/>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he system proposes. A person decides. — three use cases, what makes each proposal, what each must prove, and the person who decides."/>
          <p:cNvPicPr>
            <a:picLocks noChangeAspect="1"/>
          </p:cNvPicPr>
          <p:nvPr/>
        </p:nvPicPr>
        <p:blipFill>
          <a:blip r:embed="rId2"/>
          <a:stretch>
            <a:fillRect/>
          </a:stretch>
        </p:blipFill>
        <p:spPr>
          <a:xfrm>
            <a:off x="0" y="0"/>
            <a:ext cx="12191695" cy="6355080"/>
          </a:xfrm>
          <a:prstGeom prst="rect">
            <a:avLst/>
          </a:prstGeom>
        </p:spPr>
      </p:pic>
      <p:sp>
        <p:nvSpPr>
          <p:cNvPr id="4" name="Shape 2">
            <a:extLst>
              <a:ext uri="{FF2B5EF4-FFF2-40B4-BE49-F238E27FC236}">
                <a16:creationId xmlns:a16="http://schemas.microsoft.com/office/drawing/2014/main" id="{233529F4-9A82-4A8D-8FA5-8DABE5CA27A9}"/>
              </a:ext>
            </a:extLst>
          </p:cNvPr>
          <p:cNvSpPr>
            <a:spLocks noGrp="1"/>
          </p:cNvSpPr>
          <p:nvPr/>
        </p:nvSpPr>
        <p:spPr>
          <a:xfrm>
            <a:off x="822960" y="6355080"/>
            <a:ext cx="10545775" cy="0"/>
          </a:xfrm>
          <a:prstGeom prst="line">
            <a:avLst/>
          </a:prstGeom>
          <a:noFill/>
          <a:ln w="12700">
            <a:solidFill>
              <a:srgbClr val="E0E0E0"/>
            </a:solidFill>
            <a:prstDash val="solid"/>
          </a:ln>
        </p:spPr>
      </p:sp>
      <p:sp>
        <p:nvSpPr>
          <p:cNvPr id="5" name="Text 3">
            <a:extLst>
              <a:ext uri="{FF2B5EF4-FFF2-40B4-BE49-F238E27FC236}">
                <a16:creationId xmlns:a16="http://schemas.microsoft.com/office/drawing/2014/main" id="{A2942C5E-0ADF-4D08-A40A-E228D34A4710}"/>
              </a:ext>
            </a:extLst>
          </p:cNvPr>
          <p:cNvSpPr>
            <a:spLocks noGrp="1"/>
          </p:cNvSpPr>
          <p:nvPr/>
        </p:nvSpPr>
        <p:spPr>
          <a:xfrm>
            <a:off x="822960" y="6400800"/>
            <a:ext cx="5486400" cy="274320"/>
          </a:xfrm>
          <a:prstGeom prst="rect">
            <a:avLst/>
          </a:prstGeom>
          <a:noFill/>
        </p:spPr>
        <p:txBody>
          <a:bodyPr wrap="square" lIns="0" tIns="0" rIns="0" bIns="0" anchor="ctr"/>
          <a:lstStyle/>
          <a:p>
            <a:pPr marL="0" indent="0">
              <a:buNone/>
            </a:pPr>
            <a:r>
              <a:rPr sz="900">
                <a:solidFill>
                  <a:srgbClr val="6B6B6B"/>
                </a:solidFill>
                <a:latin typeface="Calibri"/>
                <a:ea typeface="Calibri"/>
                <a:cs typeface="Calibri"/>
              </a:rPr>
              <a:t>Capstone Round 2  ·  Assist</a:t>
            </a:r>
            <a:endParaRPr sz="900"/>
          </a:p>
        </p:txBody>
      </p:sp>
      <p:sp>
        <p:nvSpPr>
          <p:cNvPr id="6" name="Text 4">
            <a:extLst>
              <a:ext uri="{FF2B5EF4-FFF2-40B4-BE49-F238E27FC236}">
                <a16:creationId xmlns:a16="http://schemas.microsoft.com/office/drawing/2014/main" id="{2A3DB2A2-CF25-4557-9B0C-54687E4FA0D1}"/>
              </a:ext>
            </a:extLst>
          </p:cNvPr>
          <p:cNvSpPr>
            <a:spLocks noGrp="1"/>
          </p:cNvSpPr>
          <p:nvPr/>
        </p:nvSpPr>
        <p:spPr>
          <a:xfrm>
            <a:off x="10454335" y="6400800"/>
            <a:ext cx="914400" cy="274320"/>
          </a:xfrm>
          <a:prstGeom prst="rect">
            <a:avLst/>
          </a:prstGeom>
          <a:noFill/>
        </p:spPr>
        <p:txBody>
          <a:bodyPr wrap="square" lIns="0" tIns="0" rIns="0" bIns="0" anchor="ctr"/>
          <a:lstStyle/>
          <a:p>
            <a:pPr marL="0" indent="0" algn="r">
              <a:buNone/>
            </a:pPr>
            <a:r>
              <a:rPr sz="900">
                <a:solidFill>
                  <a:srgbClr val="6B6B6B"/>
                </a:solidFill>
                <a:latin typeface="Calibri"/>
                <a:ea typeface="Calibri"/>
                <a:cs typeface="Calibri"/>
              </a:rPr>
              <a:t>4</a:t>
            </a:r>
            <a:endParaRPr sz="900"/>
          </a:p>
        </p:txBody>
      </p:sp>
    </p:spTree>
  </p:cSld>
  <p:clrMapOvr>
    <a:masterClrMapping/>
  </p:clrMapOvr>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8A28D43-32B7-4C19-B734-D3A6F1E2F6B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proves the mechanism — not accuracy</a:t>
            </a:r>
            <a:endParaRPr sz="3200"/>
          </a:p>
        </p:txBody>
      </p:sp>
      <p:sp>
        <p:nvSpPr>
          <p:cNvPr id="3" name="Shape 1">
            <a:extLst xmlns:a="http://schemas.openxmlformats.org/drawingml/2006/main">
              <a:ext uri="{FF2B5EF4-FFF2-40B4-BE49-F238E27FC236}">
                <a16:creationId xmlns:a16="http://schemas.microsoft.com/office/drawing/2014/main" id="{C43CF5C8-89B6-43F6-AF3F-9E4920F0015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33529F4-9A82-4A8D-8FA5-8DABE5CA27A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A2942C5E-0ADF-4D08-A40A-E228D34A4710}"/>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2A3DB2A2-CF25-4557-9B0C-54687E4FA0D1}"/>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5</a:t>
            </a:r>
            <a:endParaRPr sz="900"/>
          </a:p>
        </p:txBody>
      </p:sp>
      <p:sp>
        <p:nvSpPr>
          <p:cNvPr id="7" name="Text 5">
            <a:extLst xmlns:a="http://schemas.openxmlformats.org/drawingml/2006/main">
              <a:ext uri="{FF2B5EF4-FFF2-40B4-BE49-F238E27FC236}">
                <a16:creationId xmlns:a16="http://schemas.microsoft.com/office/drawing/2014/main" id="{10F72280-FEB7-4077-9BCE-B00740543F64}"/>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Proves: the workflow can propose, cite evidence and stop safely.</a:t>
            </a:r>
            <a:endParaRPr sz="2600"/>
          </a:p>
          <a:p xmlns:a="http://schemas.openxmlformats.org/drawingml/2006/main">
            <a:pPr marL="0" indent="0">
              <a:buNone/>
            </a:pPr>
            <a:r>
              <a:rPr sz="2600">
                <a:solidFill>
                  <a:srgbClr val="1A1A1A"/>
                </a:solidFill>
                <a:latin typeface="Calibri"/>
                <a:ea typeface="Calibri"/>
                <a:cs typeface="Calibri"/>
              </a:rPr>
              <a:t>Does not prove: client performance or value.</a:t>
            </a:r>
            <a:endParaRPr sz="2600"/>
          </a:p>
        </p:txBody>
      </p:sp>
      <p:pic>
        <p:nvPicPr>
          <p:cNvPr id="15" name="Image 0" descr="The proof-of-concept workflow in n8n, executed green from trigger to proposal."/>
          <p:cNvPicPr>
            <a:picLocks xmlns:a="http://schemas.openxmlformats.org/drawingml/2006/main" noChangeAspect="1"/>
          </p:cNvPicPr>
          <p:nvPr/>
        </p:nvPicPr>
        <p:blipFill>
          <a:blip xmlns:r="http://schemas.openxmlformats.org/officeDocument/2006/relationships" xmlns:a="http://schemas.openxmlformats.org/drawingml/2006/main" r:embed="R60ccecb54d0a4c09"/>
          <a:stretch xmlns:a="http://schemas.openxmlformats.org/drawingml/2006/main">
            <a:fillRect l="0" t="0" r="0" b="0"/>
          </a:stretch>
        </p:blipFill>
        <p:spPr>
          <a:xfrm xmlns:a="http://schemas.openxmlformats.org/drawingml/2006/main">
            <a:off x="1750619" y="2523744"/>
            <a:ext cx="8690458" cy="3621024"/>
          </a:xfrm>
          <a:prstGeom xmlns:a="http://schemas.openxmlformats.org/drawingml/2006/main" prst="rect">
            <a:avLst/>
          </a:prstGeom>
        </p:spPr>
      </p:pic>
    </p:spTree>
    <p:extLst>
      <p:ext uri="{BB962C8B-B14F-4D97-AF65-F5344CB8AC3E}">
        <p14:creationId xmlns:p14="http://schemas.microsoft.com/office/powerpoint/2010/main" val="127132108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7A448E3-6A25-437D-A56B-7B353879B3D0}"/>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system works; the bespoke economics do not</a:t>
            </a:r>
            <a:endParaRPr sz="3200"/>
          </a:p>
        </p:txBody>
      </p:sp>
      <p:sp>
        <p:nvSpPr>
          <p:cNvPr id="3" name="Shape 1">
            <a:extLst xmlns:a="http://schemas.openxmlformats.org/drawingml/2006/main">
              <a:ext uri="{FF2B5EF4-FFF2-40B4-BE49-F238E27FC236}">
                <a16:creationId xmlns:a16="http://schemas.microsoft.com/office/drawing/2014/main" id="{EE382AC9-C458-4448-A028-F7B0B6B2FAC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501AF663-098B-4908-968B-95F5B4657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F2D69B-0177-45A2-8C12-991E90DE47D1}"/>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64B11649-53EB-4BEC-85F8-E6C2A082E2E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6</a:t>
            </a:r>
            <a:endParaRPr sz="900"/>
          </a:p>
        </p:txBody>
      </p:sp>
      <p:sp>
        <p:nvSpPr>
          <p:cNvPr id="7" name="Text 5">
            <a:extLst xmlns:a="http://schemas.openxmlformats.org/drawingml/2006/main">
              <a:ext uri="{FF2B5EF4-FFF2-40B4-BE49-F238E27FC236}">
                <a16:creationId xmlns:a16="http://schemas.microsoft.com/office/drawing/2014/main" id="{D2A18EE2-A32A-450F-B7C4-43229A318274}"/>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2400"/>
          </a:p>
        </p:txBody>
      </p:sp>
      <p:sp>
        <p:nvSpPr>
          <p:cNvPr id="8" name="Text 6">
            <a:extLst xmlns:a="http://schemas.openxmlformats.org/drawingml/2006/main">
              <a:ext uri="{FF2B5EF4-FFF2-40B4-BE49-F238E27FC236}">
                <a16:creationId xmlns:a16="http://schemas.microsoft.com/office/drawing/2014/main" id="{A8FD200E-F12A-46BE-93F4-CE4AA98F851F}"/>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36-MONTH ROI</a:t>
            </a:r>
            <a:endParaRPr sz="2400"/>
          </a:p>
        </p:txBody>
      </p:sp>
      <p:sp>
        <p:nvSpPr>
          <p:cNvPr id="9" name="Shape 7">
            <a:extLst xmlns:a="http://schemas.openxmlformats.org/drawingml/2006/main">
              <a:ext uri="{FF2B5EF4-FFF2-40B4-BE49-F238E27FC236}">
                <a16:creationId xmlns:a16="http://schemas.microsoft.com/office/drawing/2014/main" id="{FD68561A-C904-488E-8E56-97E3E3242655}"/>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B90C5254-85DB-4E27-AB9B-23BC2C6694DD}"/>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Bespoke build · consultant year one</a:t>
            </a:r>
            <a:endParaRPr sz="2400"/>
          </a:p>
        </p:txBody>
      </p:sp>
      <p:sp>
        <p:nvSpPr>
          <p:cNvPr id="11" name="Text 9">
            <a:extLst xmlns:a="http://schemas.openxmlformats.org/drawingml/2006/main">
              <a:ext uri="{FF2B5EF4-FFF2-40B4-BE49-F238E27FC236}">
                <a16:creationId xmlns:a16="http://schemas.microsoft.com/office/drawing/2014/main" id="{6B90C47C-24F6-4C4B-BC7D-5C561395C68E}"/>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−18.0%</a:t>
            </a:r>
            <a:endParaRPr sz="2400"/>
          </a:p>
        </p:txBody>
      </p:sp>
      <p:sp>
        <p:nvSpPr>
          <p:cNvPr id="12" name="Shape 10">
            <a:extLst xmlns:a="http://schemas.openxmlformats.org/drawingml/2006/main">
              <a:ext uri="{FF2B5EF4-FFF2-40B4-BE49-F238E27FC236}">
                <a16:creationId xmlns:a16="http://schemas.microsoft.com/office/drawing/2014/main" id="{A6D95D2A-7880-4259-927B-FBAE6B103E0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23E153E-2C02-40B3-9A38-1B1EB3F2F263}"/>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across five firms</a:t>
            </a:r>
            <a:endParaRPr sz="2400"/>
          </a:p>
        </p:txBody>
      </p:sp>
      <p:sp>
        <p:nvSpPr>
          <p:cNvPr id="14" name="Text 12">
            <a:extLst xmlns:a="http://schemas.openxmlformats.org/drawingml/2006/main">
              <a:ext uri="{FF2B5EF4-FFF2-40B4-BE49-F238E27FC236}">
                <a16:creationId xmlns:a16="http://schemas.microsoft.com/office/drawing/2014/main" id="{F2B7E80B-E4B9-49B6-9B8F-91FEA9C3CD95}"/>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+60.2%</a:t>
            </a:r>
            <a:endParaRPr sz="2400"/>
          </a:p>
        </p:txBody>
      </p:sp>
      <p:sp>
        <p:nvSpPr>
          <p:cNvPr id="15" name="Shape 13">
            <a:extLst xmlns:a="http://schemas.openxmlformats.org/drawingml/2006/main">
              <a:ext uri="{FF2B5EF4-FFF2-40B4-BE49-F238E27FC236}">
                <a16:creationId xmlns:a16="http://schemas.microsoft.com/office/drawing/2014/main" id="{53EB53A7-E320-435A-ADC2-FA9CB0283D3D}"/>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68D789EC-727C-41DE-B802-79CF85117834}"/>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 oversight absorbed</a:t>
            </a:r>
            <a:endParaRPr sz="2400"/>
          </a:p>
        </p:txBody>
      </p:sp>
      <p:sp>
        <p:nvSpPr>
          <p:cNvPr id="17" name="Text 15">
            <a:extLst xmlns:a="http://schemas.openxmlformats.org/drawingml/2006/main">
              <a:ext uri="{FF2B5EF4-FFF2-40B4-BE49-F238E27FC236}">
                <a16:creationId xmlns:a16="http://schemas.microsoft.com/office/drawing/2014/main" id="{54E3E406-7F37-4FD0-8525-409866F41113}"/>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+114.0%</a:t>
            </a:r>
            <a:endParaRPr sz="2400"/>
          </a:p>
        </p:txBody>
      </p:sp>
      <p:sp>
        <p:nvSpPr>
          <p:cNvPr id="18" name="Text 16">
            <a:extLst xmlns:a="http://schemas.openxmlformats.org/drawingml/2006/main">
              <a:ext uri="{FF2B5EF4-FFF2-40B4-BE49-F238E27FC236}">
                <a16:creationId xmlns:a16="http://schemas.microsoft.com/office/drawing/2014/main" id="{ED24CD4C-9A82-4463-9BCD-BB4D966F4283}"/>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At 2,426 complaints a year, bespoke deployment breaks even in month 46. Approximately 3,100 are needed.</a:t>
            </a:r>
            <a:endParaRPr sz="2600"/>
          </a:p>
        </p:txBody>
      </p:sp>
      <p:sp>
        <p:nvSpPr>
          <p:cNvPr id="19" name="Text 17">
            <a:extLst xmlns:a="http://schemas.openxmlformats.org/drawingml/2006/main">
              <a:ext uri="{FF2B5EF4-FFF2-40B4-BE49-F238E27FC236}">
                <a16:creationId xmlns:a16="http://schemas.microsoft.com/office/drawing/2014/main" id="{ED24CD4C-9A82-4463-9BCD-BB4D966F4284}"/>
              </a:ext>
            </a:extLst>
          </p:cNvPr>
          <p:cNvSpPr>
            <a:spLocks xmlns:a="http://schemas.openxmlformats.org/drawingml/2006/main" noGrp="1"/>
          </p:cNvSpPr>
          <p:nvPr/>
        </p:nvSpPr>
        <p:spPr>
          <a:xfrm xmlns:a="http://schemas.openxmlformats.org/drawingml/2006/main">
            <a:off x="822960" y="58064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€9,918 of €17,326 is cash — ombudsman fees and fraud losses, not saved time.</a:t>
            </a:r>
            <a:endParaRPr sz="2400"/>
          </a:p>
        </p:txBody>
      </p:sp>
    </p:spTree>
    <p:extLst>
      <p:ext uri="{BB962C8B-B14F-4D97-AF65-F5344CB8AC3E}">
        <p14:creationId xmlns:p14="http://schemas.microsoft.com/office/powerpoint/2010/main" val="29601847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A92469-DF26-465E-AFC2-660C24768F2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risks decide whether a pilot is defensible</a:t>
            </a:r>
            <a:endParaRPr sz="3200"/>
          </a:p>
        </p:txBody>
      </p:sp>
      <p:sp>
        <p:nvSpPr>
          <p:cNvPr id="3" name="Shape 1">
            <a:extLst xmlns:a="http://schemas.openxmlformats.org/drawingml/2006/main">
              <a:ext uri="{FF2B5EF4-FFF2-40B4-BE49-F238E27FC236}">
                <a16:creationId xmlns:a16="http://schemas.microsoft.com/office/drawing/2014/main" id="{5EB15278-A8A7-4A83-8739-79F3608EBE0A}"/>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1DC6D1FB-83CB-4EB1-B1E8-91F5BD6AF11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C1C7628B-63B9-4871-AFC6-FBC6F1031E8C}"/>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E31CB3C-6E5D-46A0-903A-FE524E9E44D0}"/>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7</a:t>
            </a:r>
            <a:endParaRPr sz="900"/>
          </a:p>
        </p:txBody>
      </p:sp>
      <p:sp>
        <p:nvSpPr>
          <p:cNvPr id="7" name="Text 5">
            <a:extLst xmlns:a="http://schemas.openxmlformats.org/drawingml/2006/main">
              <a:ext uri="{FF2B5EF4-FFF2-40B4-BE49-F238E27FC236}">
                <a16:creationId xmlns:a16="http://schemas.microsoft.com/office/drawing/2014/main" id="{AC773AE0-99DC-4CCC-949D-EB1D44646FF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Value assumptions fail on real data   4×5</a:t>
            </a:r>
            <a:endParaRPr sz="2600"/>
          </a:p>
        </p:txBody>
      </p:sp>
      <p:sp>
        <p:nvSpPr>
          <p:cNvPr id="8" name="Text 6">
            <a:extLst xmlns:a="http://schemas.openxmlformats.org/drawingml/2006/main">
              <a:ext uri="{FF2B5EF4-FFF2-40B4-BE49-F238E27FC236}">
                <a16:creationId xmlns:a16="http://schemas.microsoft.com/office/drawing/2014/main" id="{8268CC89-A0B9-47E9-8B0A-043DD32B9B68}"/>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before committing to deployment. Fixed phase exits preserve the right to stop.</a:t>
            </a:r>
            <a:endParaRPr sz="2400"/>
          </a:p>
        </p:txBody>
      </p:sp>
      <p:sp>
        <p:nvSpPr>
          <p:cNvPr id="9" name="Text 7">
            <a:extLst xmlns:a="http://schemas.openxmlformats.org/drawingml/2006/main">
              <a:ext uri="{FF2B5EF4-FFF2-40B4-BE49-F238E27FC236}">
                <a16:creationId xmlns:a16="http://schemas.microsoft.com/office/drawing/2014/main" id="{D2FE464A-D188-470D-82FB-F9BE9CDE16C5}"/>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Handlers rubber-stamp proposals   4×4</a:t>
            </a:r>
            <a:endParaRPr sz="2600"/>
          </a:p>
        </p:txBody>
      </p:sp>
      <p:sp>
        <p:nvSpPr>
          <p:cNvPr id="10" name="Text 8">
            <a:extLst xmlns:a="http://schemas.openxmlformats.org/drawingml/2006/main">
              <a:ext uri="{FF2B5EF4-FFF2-40B4-BE49-F238E27FC236}">
                <a16:creationId xmlns:a16="http://schemas.microsoft.com/office/drawing/2014/main" id="{09CD94B9-D13A-49E3-B76A-A01A32956C38}"/>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Acceptance above 97% is a failure signal, measured per handler.</a:t>
            </a:r>
            <a:endParaRPr sz="2400"/>
          </a:p>
        </p:txBody>
      </p:sp>
      <p:sp>
        <p:nvSpPr>
          <p:cNvPr id="11" name="Text 9">
            <a:extLst xmlns:a="http://schemas.openxmlformats.org/drawingml/2006/main">
              <a:ext uri="{FF2B5EF4-FFF2-40B4-BE49-F238E27FC236}">
                <a16:creationId xmlns:a16="http://schemas.microsoft.com/office/drawing/2014/main" id="{6D9EA6E0-65D8-49FE-B5BE-E961C035737F}"/>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Oversight costs more than it saves   3×4</a:t>
            </a:r>
            <a:endParaRPr sz="2600"/>
          </a:p>
        </p:txBody>
      </p:sp>
      <p:sp>
        <p:nvSpPr>
          <p:cNvPr id="12" name="Text 10">
            <a:extLst xmlns:a="http://schemas.openxmlformats.org/drawingml/2006/main">
              <a:ext uri="{FF2B5EF4-FFF2-40B4-BE49-F238E27FC236}">
                <a16:creationId xmlns:a16="http://schemas.microsoft.com/office/drawing/2014/main" id="{E6129510-3755-46A4-9705-BB6EA9A086DD}"/>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effort during the shadow pilot from day one.</a:t>
            </a:r>
            <a:endParaRPr sz="2400"/>
          </a:p>
        </p:txBody>
      </p:sp>
    </p:spTree>
    <p:extLst>
      <p:ext uri="{BB962C8B-B14F-4D97-AF65-F5344CB8AC3E}">
        <p14:creationId xmlns:p14="http://schemas.microsoft.com/office/powerpoint/2010/main" val="77303728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9A16E5-808D-4E13-B1CF-A404528F0FB3}"/>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Not high-risk. Real-data use still has gates</a:t>
            </a:r>
            <a:endParaRPr sz="3200"/>
          </a:p>
        </p:txBody>
      </p:sp>
      <p:sp>
        <p:nvSpPr>
          <p:cNvPr id="3" name="Shape 1">
            <a:extLst xmlns:a="http://schemas.openxmlformats.org/drawingml/2006/main">
              <a:ext uri="{FF2B5EF4-FFF2-40B4-BE49-F238E27FC236}">
                <a16:creationId xmlns:a16="http://schemas.microsoft.com/office/drawing/2014/main" id="{D4AA5190-0081-45AF-A5A7-B8AA87E6FEF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37C74313-CEAA-4828-848C-8D225AB2EF3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7D17FAC-FB51-4B2D-BAE5-D6A5826C96DD}"/>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3662326A-B1E7-4B72-AB1F-C370F161523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8</a:t>
            </a:r>
            <a:endParaRPr sz="900"/>
          </a:p>
        </p:txBody>
      </p:sp>
      <p:sp>
        <p:nvSpPr>
          <p:cNvPr id="7" name="Text 5">
            <a:extLst xmlns:a="http://schemas.openxmlformats.org/drawingml/2006/main">
              <a:ext uri="{FF2B5EF4-FFF2-40B4-BE49-F238E27FC236}">
                <a16:creationId xmlns:a16="http://schemas.microsoft.com/office/drawing/2014/main" id="{4B353CFD-797F-4173-A01B-F42835B33D2B}"/>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AI Act: Triage and reporting are not high-risk.</a:t>
            </a:r>
            <a:endParaRPr sz="2400"/>
          </a:p>
        </p:txBody>
      </p:sp>
      <p:sp>
        <p:nvSpPr>
          <p:cNvPr id="8" name="Text 6">
            <a:extLst xmlns:a="http://schemas.openxmlformats.org/drawingml/2006/main">
              <a:ext uri="{FF2B5EF4-FFF2-40B4-BE49-F238E27FC236}">
                <a16:creationId xmlns:a16="http://schemas.microsoft.com/office/drawing/2014/main" id="{9386379E-B987-4D52-B558-9892A45CF496}"/>
              </a:ext>
            </a:extLst>
          </p:cNvPr>
          <p:cNvSpPr>
            <a:spLocks xmlns:a="http://schemas.openxmlformats.org/drawingml/2006/main" noGrp="1"/>
          </p:cNvSpPr>
          <p:nvPr/>
        </p:nvSpPr>
        <p:spPr>
          <a:xfrm xmlns:a="http://schemas.openxmlformats.org/drawingml/2006/main">
            <a:off x="822960" y="2487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flagging requires counsel confirmation. AI literacy applies now.</a:t>
            </a:r>
            <a:endParaRPr sz="2400"/>
          </a:p>
        </p:txBody>
      </p:sp>
      <p:sp>
        <p:nvSpPr>
          <p:cNvPr id="10" name="Text 8">
            <a:extLst xmlns:a="http://schemas.openxmlformats.org/drawingml/2006/main">
              <a:ext uri="{FF2B5EF4-FFF2-40B4-BE49-F238E27FC236}">
                <a16:creationId xmlns:a16="http://schemas.microsoft.com/office/drawing/2014/main" id="{D4F74A11-44A8-436D-B84C-7A6AFBC1AEF1}"/>
              </a:ext>
            </a:extLst>
          </p:cNvPr>
          <p:cNvSpPr>
            <a:spLocks xmlns:a="http://schemas.openxmlformats.org/drawingml/2006/main" noGrp="1"/>
          </p:cNvSpPr>
          <p:nvPr/>
        </p:nvSpPr>
        <p:spPr>
          <a:xfrm xmlns:a="http://schemas.openxmlformats.org/drawingml/2006/main">
            <a:off x="822960" y="391363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GDPR: The full complaint narrative reaches the provider.</a:t>
            </a:r>
            <a:endParaRPr sz="2400"/>
          </a:p>
        </p:txBody>
      </p:sp>
      <p:sp>
        <p:nvSpPr>
          <p:cNvPr id="11" name="Text 9">
            <a:extLst xmlns:a="http://schemas.openxmlformats.org/drawingml/2006/main">
              <a:ext uri="{FF2B5EF4-FFF2-40B4-BE49-F238E27FC236}">
                <a16:creationId xmlns:a16="http://schemas.microsoft.com/office/drawing/2014/main" id="{CEF271E3-966B-4EBC-BFBC-4BEAEF6F86AF}"/>
              </a:ext>
            </a:extLst>
          </p:cNvPr>
          <p:cNvSpPr>
            <a:spLocks xmlns:a="http://schemas.openxmlformats.org/drawingml/2006/main" noGrp="1"/>
          </p:cNvSpPr>
          <p:nvPr/>
        </p:nvSpPr>
        <p:spPr>
          <a:xfrm xmlns:a="http://schemas.openxmlformats.org/drawingml/2006/main">
            <a:off x="822960" y="4773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Close the DPA, transfer assessment and zero-retention controls before using real data.</a:t>
            </a:r>
            <a:endParaRPr sz="2600"/>
          </a:p>
        </p:txBody>
      </p:sp>
    </p:spTree>
    <p:extLst>
      <p:ext uri="{BB962C8B-B14F-4D97-AF65-F5344CB8AC3E}">
        <p14:creationId xmlns:p14="http://schemas.microsoft.com/office/powerpoint/2010/main" val="150476845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AC23C2F-5DD1-4357-AA70-587A7DE6374B}"/>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programme earns each next step</a:t>
            </a:r>
            <a:endParaRPr sz="3200"/>
          </a:p>
        </p:txBody>
      </p:sp>
      <p:sp>
        <p:nvSpPr>
          <p:cNvPr id="3" name="Shape 1">
            <a:extLst xmlns:a="http://schemas.openxmlformats.org/drawingml/2006/main">
              <a:ext uri="{FF2B5EF4-FFF2-40B4-BE49-F238E27FC236}">
                <a16:creationId xmlns:a16="http://schemas.microsoft.com/office/drawing/2014/main" id="{3F6C2007-D7BE-46D2-9445-C55D9392A44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891083A5-37F5-4952-BBAE-2A7B32228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A435F72-37F5-4464-B655-82F9C7FDFF94}"/>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A8FB78A4-8745-434B-AAA7-838895409356}"/>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9</a:t>
            </a:r>
            <a:endParaRPr sz="900"/>
          </a:p>
        </p:txBody>
      </p:sp>
      <p:sp>
        <p:nvSpPr>
          <p:cNvPr id="7" name="Text 5">
            <a:extLst xmlns:a="http://schemas.openxmlformats.org/drawingml/2006/main">
              <a:ext uri="{FF2B5EF4-FFF2-40B4-BE49-F238E27FC236}">
                <a16:creationId xmlns:a16="http://schemas.microsoft.com/office/drawing/2014/main" id="{66ADF4B7-39F1-45F5-A0ED-3C53C700F12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PHASE · WHAT IT BUYS</a:t>
            </a:r>
            <a:endParaRPr sz="2400"/>
          </a:p>
        </p:txBody>
      </p:sp>
      <p:sp>
        <p:nvSpPr>
          <p:cNvPr id="8" name="Text 6">
            <a:extLst xmlns:a="http://schemas.openxmlformats.org/drawingml/2006/main">
              <a:ext uri="{FF2B5EF4-FFF2-40B4-BE49-F238E27FC236}">
                <a16:creationId xmlns:a16="http://schemas.microsoft.com/office/drawing/2014/main" id="{9917ED35-A1CF-4979-8734-A2E7619ADBA5}"/>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FEE · EXIT</a:t>
            </a:r>
            <a:endParaRPr sz="2400"/>
          </a:p>
        </p:txBody>
      </p:sp>
      <p:sp>
        <p:nvSpPr>
          <p:cNvPr id="9" name="Shape 7">
            <a:extLst xmlns:a="http://schemas.openxmlformats.org/drawingml/2006/main">
              <a:ext uri="{FF2B5EF4-FFF2-40B4-BE49-F238E27FC236}">
                <a16:creationId xmlns:a16="http://schemas.microsoft.com/office/drawing/2014/main" id="{C3025A76-167A-4DF6-8E7F-A19E7E59DA63}"/>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11753659-222F-4C71-8118-70BF22934537}"/>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0 · Ground truth, baselines, legal closure</a:t>
            </a:r>
            <a:endParaRPr sz="2400"/>
          </a:p>
        </p:txBody>
      </p:sp>
      <p:sp>
        <p:nvSpPr>
          <p:cNvPr id="11" name="Text 9">
            <a:extLst xmlns:a="http://schemas.openxmlformats.org/drawingml/2006/main">
              <a:ext uri="{FF2B5EF4-FFF2-40B4-BE49-F238E27FC236}">
                <a16:creationId xmlns:a16="http://schemas.microsoft.com/office/drawing/2014/main" id="{81253715-BDEB-4913-B940-E7CF247B6507}"/>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€5,600 · go/no-go on pilot</a:t>
            </a:r>
            <a:endParaRPr sz="2400"/>
          </a:p>
        </p:txBody>
      </p:sp>
      <p:sp>
        <p:nvSpPr>
          <p:cNvPr id="12" name="Shape 10">
            <a:extLst xmlns:a="http://schemas.openxmlformats.org/drawingml/2006/main">
              <a:ext uri="{FF2B5EF4-FFF2-40B4-BE49-F238E27FC236}">
                <a16:creationId xmlns:a16="http://schemas.microsoft.com/office/drawing/2014/main" id="{730D92FD-A2AE-49E1-9A09-9F9781456F2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926EECE5-3C0D-4D64-95E6-34B2BA0793E1}"/>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Configuration + 60-day shadow run</a:t>
            </a:r>
            <a:endParaRPr sz="2400"/>
          </a:p>
        </p:txBody>
      </p:sp>
      <p:sp>
        <p:nvSpPr>
          <p:cNvPr id="14" name="Text 12">
            <a:extLst xmlns:a="http://schemas.openxmlformats.org/drawingml/2006/main">
              <a:ext uri="{FF2B5EF4-FFF2-40B4-BE49-F238E27FC236}">
                <a16:creationId xmlns:a16="http://schemas.microsoft.com/office/drawing/2014/main" id="{598228BD-E4A1-466E-B72C-BAD12A29F0D6}"/>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€12,600 · go/no-go on deployment</a:t>
            </a:r>
            <a:endParaRPr sz="2400"/>
          </a:p>
        </p:txBody>
      </p:sp>
      <p:sp>
        <p:nvSpPr>
          <p:cNvPr id="15" name="Shape 13">
            <a:extLst xmlns:a="http://schemas.openxmlformats.org/drawingml/2006/main">
              <a:ext uri="{FF2B5EF4-FFF2-40B4-BE49-F238E27FC236}">
                <a16:creationId xmlns:a16="http://schemas.microsoft.com/office/drawing/2014/main" id="{35286158-A485-4199-A972-A7BEF4434C4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C5609FB-D36B-491E-A331-FBBEA9127F41}"/>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Integration, training and handover</a:t>
            </a:r>
            <a:endParaRPr sz="2400"/>
          </a:p>
        </p:txBody>
      </p:sp>
      <p:sp>
        <p:nvSpPr>
          <p:cNvPr id="17" name="Text 15">
            <a:extLst xmlns:a="http://schemas.openxmlformats.org/drawingml/2006/main">
              <a:ext uri="{FF2B5EF4-FFF2-40B4-BE49-F238E27FC236}">
                <a16:creationId xmlns:a16="http://schemas.microsoft.com/office/drawing/2014/main" id="{0364A474-D0DB-40F4-96D9-F098C96FE46C}"/>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€14,000 · only if gates pass</a:t>
            </a:r>
            <a:endParaRPr sz="2400"/>
          </a:p>
        </p:txBody>
      </p:sp>
      <p:sp>
        <p:nvSpPr>
          <p:cNvPr id="18" name="Text 16">
            <a:extLst xmlns:a="http://schemas.openxmlformats.org/drawingml/2006/main">
              <a:ext uri="{FF2B5EF4-FFF2-40B4-BE49-F238E27FC236}">
                <a16:creationId xmlns:a16="http://schemas.microsoft.com/office/drawing/2014/main" id="{9FE2B717-5068-4870-9CBA-3151C865FE72}"/>
              </a:ext>
            </a:extLst>
          </p:cNvPr>
          <p:cNvSpPr>
            <a:spLocks xmlns:a="http://schemas.openxmlformats.org/drawingml/2006/main" noGrp="1"/>
          </p:cNvSpPr>
          <p:nvPr/>
        </p:nvSpPr>
        <p:spPr>
          <a:xfrm xmlns:a="http://schemas.openxmlformats.org/drawingml/2006/main">
            <a:off x="822960" y="4809744"/>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€18,200 reaches the deployment decision. Nobody acts on a suggestion in shadow.</a:t>
            </a:r>
            <a:endParaRPr sz="2400"/>
          </a:p>
        </p:txBody>
      </p:sp>
      <p:sp>
        <p:nvSpPr>
          <p:cNvPr id="19" name="Text 17">
            <a:extLst xmlns:a="http://schemas.openxmlformats.org/drawingml/2006/main">
              <a:ext uri="{FF2B5EF4-FFF2-40B4-BE49-F238E27FC236}">
                <a16:creationId xmlns:a16="http://schemas.microsoft.com/office/drawing/2014/main" id="{2B05168D-C2C7-40C4-8D32-DD4EA667F053}"/>
              </a:ext>
            </a:extLst>
          </p:cNvPr>
          <p:cNvSpPr>
            <a:spLocks xmlns:a="http://schemas.openxmlformats.org/drawingml/2006/main" noGrp="1"/>
          </p:cNvSpPr>
          <p:nvPr/>
        </p:nvSpPr>
        <p:spPr>
          <a:xfrm xmlns:a="http://schemas.openxmlformats.org/drawingml/2006/main">
            <a:off x="822960" y="55595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Hard gates: ≥80% accuracy · 75–97% acceptance · zero ungrounded outputs.</a:t>
            </a:r>
            <a:endParaRPr sz="2400"/>
          </a:p>
        </p:txBody>
      </p:sp>
    </p:spTree>
    <p:extLst>
      <p:ext uri="{BB962C8B-B14F-4D97-AF65-F5344CB8AC3E}">
        <p14:creationId xmlns:p14="http://schemas.microsoft.com/office/powerpoint/2010/main" val="39138169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08563F3-AA93-4360-A229-BE6CC75D800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MVP makes every proposal accountable</a:t>
            </a:r>
            <a:endParaRPr sz="3200"/>
          </a:p>
        </p:txBody>
      </p:sp>
      <p:sp>
        <p:nvSpPr>
          <p:cNvPr id="3" name="Shape 1">
            <a:extLst xmlns:a="http://schemas.openxmlformats.org/drawingml/2006/main">
              <a:ext uri="{FF2B5EF4-FFF2-40B4-BE49-F238E27FC236}">
                <a16:creationId xmlns:a16="http://schemas.microsoft.com/office/drawing/2014/main" id="{64B79335-1158-4015-89BD-D52A1020F85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283EF32-1CED-4A83-9177-95F4E178BB6A}"/>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321AA6-144B-485E-A342-12869C04B26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87A61F7A-A481-43D7-AB54-290F77813C44}"/>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10</a:t>
            </a:r>
            <a:endParaRPr sz="900"/>
          </a:p>
        </p:txBody>
      </p:sp>
      <p:sp>
        <p:nvSpPr>
          <p:cNvPr id="7" name="Text 5">
            <a:extLst xmlns:a="http://schemas.openxmlformats.org/drawingml/2006/main">
              <a:ext uri="{FF2B5EF4-FFF2-40B4-BE49-F238E27FC236}">
                <a16:creationId xmlns:a16="http://schemas.microsoft.com/office/drawing/2014/main" id="{842C3A54-294F-4FBD-9DBE-78508C4AEDC0}"/>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One record connects the proposal, its evidence, every check and the human decision.</a:t>
            </a:r>
            <a:endParaRPr sz="2400"/>
          </a:p>
        </p:txBody>
      </p:sp>
      <p:pic>
        <p:nvPicPr>
          <p:cNvPr id="15" name="Image 0" descr="The MVP's complaint queue with one case open: the proposal, the sentence it quoted, the six checks it passed, and the buttons a person presses."/>
          <p:cNvPicPr>
            <a:picLocks xmlns:a="http://schemas.openxmlformats.org/drawingml/2006/main" noChangeAspect="1"/>
          </p:cNvPicPr>
          <p:nvPr/>
        </p:nvPicPr>
        <p:blipFill>
          <a:blip xmlns:r="http://schemas.openxmlformats.org/officeDocument/2006/relationships" xmlns:a="http://schemas.openxmlformats.org/drawingml/2006/main" r:embed="Re9473402635843d2"/>
          <a:stretch xmlns:a="http://schemas.openxmlformats.org/drawingml/2006/main">
            <a:fillRect l="0" t="0" r="0" b="0"/>
          </a:stretch>
        </p:blipFill>
        <p:spPr>
          <a:xfrm xmlns:a="http://schemas.openxmlformats.org/drawingml/2006/main">
            <a:off x="3184398" y="2505456"/>
            <a:ext cx="5822899" cy="3639312"/>
          </a:xfrm>
          <a:prstGeom xmlns:a="http://schemas.openxmlformats.org/drawingml/2006/main" prst="rect">
            <a:avLst/>
          </a:prstGeom>
        </p:spPr>
      </p:pic>
    </p:spTree>
    <p:extLst>
      <p:ext uri="{BB962C8B-B14F-4D97-AF65-F5344CB8AC3E}">
        <p14:creationId xmlns:p14="http://schemas.microsoft.com/office/powerpoint/2010/main" val="1805889097"/>
      </p:ext>
    </p:extLst>
  </p:cSld>
</p:sld>
</file>

<file path=ppt/slides/slide12.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2082A7A-D470-4541-9653-8504AF17D79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FFFFFF"/>
                </a:solidFill>
                <a:latin typeface="Trebuchet MS"/>
                <a:ea typeface="Trebuchet MS"/>
                <a:cs typeface="Trebuchet MS"/>
              </a:rPr>
              <a:t>Proceed to evidence — not deployment</a:t>
            </a:r>
            <a:endParaRPr sz="3200"/>
          </a:p>
        </p:txBody>
      </p:sp>
      <p:sp>
        <p:nvSpPr>
          <p:cNvPr id="3" name="Shape 1">
            <a:extLst xmlns:a="http://schemas.openxmlformats.org/drawingml/2006/main">
              <a:ext uri="{FF2B5EF4-FFF2-40B4-BE49-F238E27FC236}">
                <a16:creationId xmlns:a16="http://schemas.microsoft.com/office/drawing/2014/main" id="{A295E4E7-16BB-4672-AD37-EE192B3004B9}"/>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Text 2">
            <a:extLst xmlns:a="http://schemas.openxmlformats.org/drawingml/2006/main">
              <a:ext uri="{FF2B5EF4-FFF2-40B4-BE49-F238E27FC236}">
                <a16:creationId xmlns:a16="http://schemas.microsoft.com/office/drawing/2014/main" id="{DE2DC152-AFDB-4320-BC33-AAC8560120B4}"/>
              </a:ext>
            </a:extLst>
          </p:cNvPr>
          <p:cNvSpPr>
            <a:spLocks xmlns:a="http://schemas.openxmlformats.org/drawingml/2006/main" noGrp="1"/>
          </p:cNvSpPr>
          <p:nvPr/>
        </p:nvSpPr>
        <p:spPr>
          <a:xfrm xmlns:a="http://schemas.openxmlformats.org/drawingml/2006/main">
            <a:off x="822960" y="1874520"/>
            <a:ext cx="1054577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Trebuchet MS"/>
                <a:ea typeface="Trebuchet MS"/>
                <a:cs typeface="Trebuchet MS"/>
              </a:rPr>
              <a:t>Approve Phases 0 and 1 up to €18,200.</a:t>
            </a:r>
            <a:endParaRPr sz="3000"/>
          </a:p>
        </p:txBody>
      </p:sp>
      <p:sp>
        <p:nvSpPr>
          <p:cNvPr id="5" name="Text 3">
            <a:extLst xmlns:a="http://schemas.openxmlformats.org/drawingml/2006/main">
              <a:ext uri="{FF2B5EF4-FFF2-40B4-BE49-F238E27FC236}">
                <a16:creationId xmlns:a16="http://schemas.microsoft.com/office/drawing/2014/main" id="{9B48E321-1EA7-48E3-98FB-227D8FC87C61}"/>
              </a:ext>
            </a:extLst>
          </p:cNvPr>
          <p:cNvSpPr>
            <a:spLocks xmlns:a="http://schemas.openxmlformats.org/drawingml/2006/main" noGrp="1"/>
          </p:cNvSpPr>
          <p:nvPr/>
        </p:nvSpPr>
        <p:spPr>
          <a:xfrm xmlns:a="http://schemas.openxmlformats.org/drawingml/2006/main">
            <a:off x="822960" y="2880360"/>
            <a:ext cx="10545775"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50000"/>
              </a:lnSpc>
              <a:buNone/>
            </a:pPr>
            <a:r>
              <a:rPr sz="2600">
                <a:solidFill>
                  <a:srgbClr val="A8A8A8"/>
                </a:solidFill>
                <a:latin typeface="Calibri"/>
                <a:ea typeface="Calibri"/>
                <a:cs typeface="Calibri"/>
              </a:rPr>
              <a:t>Close the legal and data-transfer gates before real-data processing.</a:t>
            </a:r>
            <a:endParaRPr sz="2600"/>
          </a:p>
          <a:p xmlns:a="http://schemas.openxmlformats.org/drawingml/2006/main">
            <a:pPr marL="0" indent="0">
              <a:lnSpc>
                <a:spcPct val="150000"/>
              </a:lnSpc>
              <a:buNone/>
            </a:pPr>
            <a:r>
              <a:rPr sz="2600">
                <a:solidFill>
                  <a:srgbClr val="A8A8A8"/>
                </a:solidFill>
                <a:latin typeface="Calibri"/>
                <a:ea typeface="Calibri"/>
                <a:cs typeface="Calibri"/>
              </a:rPr>
              <a:t>Retain fixed phase exits and the stated pilot thresholds.</a:t>
            </a:r>
            <a:endParaRPr sz="2600"/>
          </a:p>
          <a:p xmlns:a="http://schemas.openxmlformats.org/drawingml/2006/main">
            <a:pPr marL="0" indent="0">
              <a:lnSpc>
                <a:spcPct val="150000"/>
              </a:lnSpc>
              <a:buNone/>
            </a:pPr>
            <a:r>
              <a:rPr sz="2600">
                <a:solidFill>
                  <a:srgbClr val="A8A8A8"/>
                </a:solidFill>
                <a:latin typeface="Calibri"/>
                <a:ea typeface="Calibri"/>
                <a:cs typeface="Calibri"/>
              </a:rPr>
              <a:t>Do not fund the €14,000 deployment phase unless the evidence and commercial structure support it.</a:t>
            </a:r>
            <a:endParaRPr sz="2600"/>
          </a:p>
        </p:txBody>
      </p:sp>
      <p:sp>
        <p:nvSpPr>
          <p:cNvPr id="6" name="Shape 4">
            <a:extLst xmlns:a="http://schemas.openxmlformats.org/drawingml/2006/main">
              <a:ext uri="{FF2B5EF4-FFF2-40B4-BE49-F238E27FC236}">
                <a16:creationId xmlns:a16="http://schemas.microsoft.com/office/drawing/2014/main" id="{87E9177B-F80B-46DB-835F-EEA7C866D85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7" name="Text 5">
            <a:extLst xmlns:a="http://schemas.openxmlformats.org/drawingml/2006/main">
              <a:ext uri="{FF2B5EF4-FFF2-40B4-BE49-F238E27FC236}">
                <a16:creationId xmlns:a16="http://schemas.microsoft.com/office/drawing/2014/main" id="{6A9318B9-E498-469E-B475-33D03E08846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8" name="Text 6">
            <a:extLst xmlns:a="http://schemas.openxmlformats.org/drawingml/2006/main">
              <a:ext uri="{FF2B5EF4-FFF2-40B4-BE49-F238E27FC236}">
                <a16:creationId xmlns:a16="http://schemas.microsoft.com/office/drawing/2014/main" id="{1B3D8D35-8CA0-4666-ABB0-450C52E9D0E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11</a:t>
            </a:r>
            <a:endParaRPr sz="900"/>
          </a:p>
        </p:txBody>
      </p:sp>
    </p:spTree>
    <p:extLst>
      <p:ext uri="{BB962C8B-B14F-4D97-AF65-F5344CB8AC3E}">
        <p14:creationId xmlns:p14="http://schemas.microsoft.com/office/powerpoint/2010/main" val="74324880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8422AB6-69AB-4E2D-A86A-F00D8B7FB6D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has not yet proved client performance</a:t>
            </a:r>
            <a:endParaRPr sz="3200"/>
          </a:p>
        </p:txBody>
      </p:sp>
      <p:sp>
        <p:nvSpPr>
          <p:cNvPr id="3" name="Shape 1">
            <a:extLst xmlns:a="http://schemas.openxmlformats.org/drawingml/2006/main">
              <a:ext uri="{FF2B5EF4-FFF2-40B4-BE49-F238E27FC236}">
                <a16:creationId xmlns:a16="http://schemas.microsoft.com/office/drawing/2014/main" id="{C6752D99-6392-427D-BD31-4522D9E17AC3}"/>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8909DCB-12F8-4F1C-8906-A536B0DEB644}"/>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47A30F48-AD83-4DC0-9256-7FD2FD48A98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D5E9AACA-7F44-468B-84BD-58BBB4CA8B4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12</a:t>
            </a:r>
            <a:endParaRPr sz="900"/>
          </a:p>
        </p:txBody>
      </p:sp>
      <p:sp>
        <p:nvSpPr>
          <p:cNvPr id="7" name="Text 5">
            <a:extLst xmlns:a="http://schemas.openxmlformats.org/drawingml/2006/main">
              <a:ext uri="{FF2B5EF4-FFF2-40B4-BE49-F238E27FC236}">
                <a16:creationId xmlns:a16="http://schemas.microsoft.com/office/drawing/2014/main" id="{D04DB212-D7C1-40FB-BAA0-42A391891DD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CAA9D526-2D34-4925-94E6-4BF2F62F0C24}"/>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RESULT</a:t>
            </a:r>
            <a:endParaRPr sz="2400"/>
          </a:p>
        </p:txBody>
      </p:sp>
      <p:sp>
        <p:nvSpPr>
          <p:cNvPr id="9" name="Shape 7">
            <a:extLst xmlns:a="http://schemas.openxmlformats.org/drawingml/2006/main">
              <a:ext uri="{FF2B5EF4-FFF2-40B4-BE49-F238E27FC236}">
                <a16:creationId xmlns:a16="http://schemas.microsoft.com/office/drawing/2014/main" id="{FEDC68E5-AC3A-4C6D-8082-8F6AC44C8802}"/>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9D62BC10-5949-40EC-9751-7931C8CBA186}"/>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Complainant labels · gpt-4o-mini (deployed) / gpt-4o</a:t>
            </a:r>
            <a:endParaRPr sz="2400"/>
          </a:p>
        </p:txBody>
      </p:sp>
      <p:sp>
        <p:nvSpPr>
          <p:cNvPr id="11" name="Text 9">
            <a:extLst xmlns:a="http://schemas.openxmlformats.org/drawingml/2006/main">
              <a:ext uri="{FF2B5EF4-FFF2-40B4-BE49-F238E27FC236}">
                <a16:creationId xmlns:a16="http://schemas.microsoft.com/office/drawing/2014/main" id="{6D73736A-612D-46BC-9C3E-A018D495686B}"/>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56.8% / 60.5%</a:t>
            </a:r>
            <a:endParaRPr sz="2400"/>
          </a:p>
        </p:txBody>
      </p:sp>
      <p:sp>
        <p:nvSpPr>
          <p:cNvPr id="12" name="Shape 10">
            <a:extLst xmlns:a="http://schemas.openxmlformats.org/drawingml/2006/main">
              <a:ext uri="{FF2B5EF4-FFF2-40B4-BE49-F238E27FC236}">
                <a16:creationId xmlns:a16="http://schemas.microsoft.com/office/drawing/2014/main" id="{82FE88FC-EF42-4265-BF12-1BF806FC8DFA}"/>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B2D7215-A526-4FCA-8EC4-2DDE373820D6}"/>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Self-agreement on the same input · gpt-4o</a:t>
            </a:r>
            <a:endParaRPr sz="2400"/>
          </a:p>
        </p:txBody>
      </p:sp>
      <p:sp>
        <p:nvSpPr>
          <p:cNvPr id="14" name="Text 12">
            <a:extLst xmlns:a="http://schemas.openxmlformats.org/drawingml/2006/main">
              <a:ext uri="{FF2B5EF4-FFF2-40B4-BE49-F238E27FC236}">
                <a16:creationId xmlns:a16="http://schemas.microsoft.com/office/drawing/2014/main" id="{63022B1F-9273-4916-A6AC-2A198E97A232}"/>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88.0%</a:t>
            </a:r>
            <a:endParaRPr sz="2400"/>
          </a:p>
        </p:txBody>
      </p:sp>
      <p:sp>
        <p:nvSpPr>
          <p:cNvPr id="15" name="Shape 13">
            <a:extLst xmlns:a="http://schemas.openxmlformats.org/drawingml/2006/main">
              <a:ext uri="{FF2B5EF4-FFF2-40B4-BE49-F238E27FC236}">
                <a16:creationId xmlns:a16="http://schemas.microsoft.com/office/drawing/2014/main" id="{153FC865-0651-4EB3-B28C-2D953EA83B8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28F90436-1D1C-4058-A535-6469D1026AA8}"/>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Synthetic anomaly precision</a:t>
            </a:r>
            <a:endParaRPr sz="2400"/>
          </a:p>
        </p:txBody>
      </p:sp>
      <p:sp>
        <p:nvSpPr>
          <p:cNvPr id="17" name="Text 15">
            <a:extLst xmlns:a="http://schemas.openxmlformats.org/drawingml/2006/main">
              <a:ext uri="{FF2B5EF4-FFF2-40B4-BE49-F238E27FC236}">
                <a16:creationId xmlns:a16="http://schemas.microsoft.com/office/drawing/2014/main" id="{D7C139B0-6FE4-4B7A-95F5-5572E5C7F64A}"/>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97.9%</a:t>
            </a:r>
            <a:endParaRPr sz="2400"/>
          </a:p>
        </p:txBody>
      </p:sp>
      <p:sp>
        <p:nvSpPr>
          <p:cNvPr id="18" name="Shape 16">
            <a:extLst xmlns:a="http://schemas.openxmlformats.org/drawingml/2006/main">
              <a:ext uri="{FF2B5EF4-FFF2-40B4-BE49-F238E27FC236}">
                <a16:creationId xmlns:a16="http://schemas.microsoft.com/office/drawing/2014/main" id="{D4943C01-22A6-4B70-BFBA-789AE3CDCC22}"/>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C174BB8A-BC1C-4206-AAD8-D7BCBCD824FD}"/>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 anomaly precision on client data</a:t>
            </a:r>
            <a:endParaRPr sz="2400"/>
          </a:p>
        </p:txBody>
      </p:sp>
      <p:sp>
        <p:nvSpPr>
          <p:cNvPr id="20" name="Text 18">
            <a:extLst xmlns:a="http://schemas.openxmlformats.org/drawingml/2006/main">
              <a:ext uri="{FF2B5EF4-FFF2-40B4-BE49-F238E27FC236}">
                <a16:creationId xmlns:a16="http://schemas.microsoft.com/office/drawing/2014/main" id="{82FC1976-FC10-4E9A-9AB2-79DCE8DDF4B2}"/>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Not measured</a:t>
            </a:r>
            <a:endParaRPr sz="2400"/>
          </a:p>
        </p:txBody>
      </p:sp>
      <p:sp>
        <p:nvSpPr>
          <p:cNvPr id="21" name="Text 19">
            <a:extLst xmlns:a="http://schemas.openxmlformats.org/drawingml/2006/main">
              <a:ext uri="{FF2B5EF4-FFF2-40B4-BE49-F238E27FC236}">
                <a16:creationId xmlns:a16="http://schemas.microsoft.com/office/drawing/2014/main" id="{158B7E2B-223D-481E-87FB-25C12AB2DDC3}"/>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Phase 0 creates expert labels; the shadow pilot tests real-world usefulness.</a:t>
            </a:r>
            <a:endParaRPr sz="2400"/>
          </a:p>
        </p:txBody>
      </p:sp>
    </p:spTree>
    <p:extLst>
      <p:ext uri="{BB962C8B-B14F-4D97-AF65-F5344CB8AC3E}">
        <p14:creationId xmlns:p14="http://schemas.microsoft.com/office/powerpoint/2010/main" val="157444982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EC17690-454C-40A8-A7CC-C86880C7FDB2}"/>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UC-1 and UC-3 are not high-risk; UC-2 needs counsel</a:t>
            </a:r>
            <a:endParaRPr sz="3200"/>
          </a:p>
        </p:txBody>
      </p:sp>
      <p:sp>
        <p:nvSpPr>
          <p:cNvPr id="3" name="Shape 1">
            <a:extLst xmlns:a="http://schemas.openxmlformats.org/drawingml/2006/main">
              <a:ext uri="{FF2B5EF4-FFF2-40B4-BE49-F238E27FC236}">
                <a16:creationId xmlns:a16="http://schemas.microsoft.com/office/drawing/2014/main" id="{2483294B-C978-4325-BB89-2725619D695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D3556923-0666-4F02-A5C7-37AD396D59EC}"/>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7FA4FA30-72B8-44D5-8C21-F12D304E85D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F3DB20CF-909D-41D2-8B36-A2CB4570CC32}"/>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13</a:t>
            </a:r>
            <a:endParaRPr sz="900"/>
          </a:p>
        </p:txBody>
      </p:sp>
      <p:sp>
        <p:nvSpPr>
          <p:cNvPr id="7" name="Text 5">
            <a:extLst xmlns:a="http://schemas.openxmlformats.org/drawingml/2006/main">
              <a:ext uri="{FF2B5EF4-FFF2-40B4-BE49-F238E27FC236}">
                <a16:creationId xmlns:a16="http://schemas.microsoft.com/office/drawing/2014/main" id="{BD40C905-8690-4398-9DE7-6847CC63BA6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STEP</a:t>
            </a:r>
            <a:endParaRPr sz="2400"/>
          </a:p>
        </p:txBody>
      </p:sp>
      <p:sp>
        <p:nvSpPr>
          <p:cNvPr id="8" name="Text 6">
            <a:extLst xmlns:a="http://schemas.openxmlformats.org/drawingml/2006/main">
              <a:ext uri="{FF2B5EF4-FFF2-40B4-BE49-F238E27FC236}">
                <a16:creationId xmlns:a16="http://schemas.microsoft.com/office/drawing/2014/main" id="{53800C3A-F707-497F-8CE4-ECCE421B5F1A}"/>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FINDING</a:t>
            </a:r>
            <a:endParaRPr sz="2400"/>
          </a:p>
        </p:txBody>
      </p:sp>
      <p:sp>
        <p:nvSpPr>
          <p:cNvPr id="9" name="Shape 7">
            <a:extLst xmlns:a="http://schemas.openxmlformats.org/drawingml/2006/main">
              <a:ext uri="{FF2B5EF4-FFF2-40B4-BE49-F238E27FC236}">
                <a16:creationId xmlns:a16="http://schemas.microsoft.com/office/drawing/2014/main" id="{6577D523-FC5A-4690-9F3B-56BA1F4120A6}"/>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8B12870D-F924-468E-9412-C611C2EB2550}"/>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AI system under Art. 3(1)</a:t>
            </a:r>
            <a:endParaRPr sz="2400"/>
          </a:p>
        </p:txBody>
      </p:sp>
      <p:sp>
        <p:nvSpPr>
          <p:cNvPr id="11" name="Text 9">
            <a:extLst xmlns:a="http://schemas.openxmlformats.org/drawingml/2006/main">
              <a:ext uri="{FF2B5EF4-FFF2-40B4-BE49-F238E27FC236}">
                <a16:creationId xmlns:a16="http://schemas.microsoft.com/office/drawing/2014/main" id="{EFA8E50E-D4C6-4B11-941E-6A5661A1188D}"/>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a:t>
            </a:r>
            <a:endParaRPr sz="2400"/>
          </a:p>
        </p:txBody>
      </p:sp>
      <p:sp>
        <p:nvSpPr>
          <p:cNvPr id="12" name="Shape 10">
            <a:extLst xmlns:a="http://schemas.openxmlformats.org/drawingml/2006/main">
              <a:ext uri="{FF2B5EF4-FFF2-40B4-BE49-F238E27FC236}">
                <a16:creationId xmlns:a16="http://schemas.microsoft.com/office/drawing/2014/main" id="{3136BD7E-CC79-401A-B4CF-2E96416B3A61}"/>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4B5E5B96-66E1-4CEE-8892-886EEF0DA313}"/>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Prohibited practice under Art. 5</a:t>
            </a:r>
            <a:endParaRPr sz="2400"/>
          </a:p>
        </p:txBody>
      </p:sp>
      <p:sp>
        <p:nvSpPr>
          <p:cNvPr id="14" name="Text 12">
            <a:extLst xmlns:a="http://schemas.openxmlformats.org/drawingml/2006/main">
              <a:ext uri="{FF2B5EF4-FFF2-40B4-BE49-F238E27FC236}">
                <a16:creationId xmlns:a16="http://schemas.microsoft.com/office/drawing/2014/main" id="{56050B06-AD53-4265-AE63-5B52C9DB213E}"/>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None identified</a:t>
            </a:r>
            <a:endParaRPr sz="2400"/>
          </a:p>
        </p:txBody>
      </p:sp>
      <p:sp>
        <p:nvSpPr>
          <p:cNvPr id="15" name="Shape 13">
            <a:extLst xmlns:a="http://schemas.openxmlformats.org/drawingml/2006/main">
              <a:ext uri="{FF2B5EF4-FFF2-40B4-BE49-F238E27FC236}">
                <a16:creationId xmlns:a16="http://schemas.microsoft.com/office/drawing/2014/main" id="{A8720165-05BB-4C9F-BFDB-EB5C33D39BEE}"/>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87E0FB0C-36A9-46DF-A617-3553209DDF3B}"/>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4 · Annex III high-risk use</a:t>
            </a:r>
            <a:endParaRPr sz="2400"/>
          </a:p>
        </p:txBody>
      </p:sp>
      <p:sp>
        <p:nvSpPr>
          <p:cNvPr id="17" name="Text 15">
            <a:extLst xmlns:a="http://schemas.openxmlformats.org/drawingml/2006/main">
              <a:ext uri="{FF2B5EF4-FFF2-40B4-BE49-F238E27FC236}">
                <a16:creationId xmlns:a16="http://schemas.microsoft.com/office/drawing/2014/main" id="{EDFB7362-E7EB-4DBF-B6A7-86709998E259}"/>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UC-1/3: no · UC-2: counsel</a:t>
            </a:r>
            <a:endParaRPr sz="2400"/>
          </a:p>
        </p:txBody>
      </p:sp>
      <p:sp>
        <p:nvSpPr>
          <p:cNvPr id="18" name="Shape 16">
            <a:extLst xmlns:a="http://schemas.openxmlformats.org/drawingml/2006/main">
              <a:ext uri="{FF2B5EF4-FFF2-40B4-BE49-F238E27FC236}">
                <a16:creationId xmlns:a16="http://schemas.microsoft.com/office/drawing/2014/main" id="{8BD2B58A-5CC4-4C6C-9671-7EE017732800}"/>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E28757EC-F8A7-454D-8B7C-F64237A77F74}"/>
              </a:ext>
            </a:extLst>
          </p:cNvPr>
          <p:cNvSpPr>
            <a:spLocks xmlns:a="http://schemas.openxmlformats.org/drawingml/2006/main" noGrp="1"/>
          </p:cNvSpPr>
          <p:nvPr/>
        </p:nvSpPr>
        <p:spPr>
          <a:xfrm xmlns:a="http://schemas.openxmlformats.org/drawingml/2006/main">
            <a:off x="822960" y="4480560"/>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Articles 50 and 4</a:t>
            </a:r>
            <a:endParaRPr sz="2400"/>
          </a:p>
        </p:txBody>
      </p:sp>
      <p:sp>
        <p:nvSpPr>
          <p:cNvPr id="20" name="Text 18">
            <a:extLst xmlns:a="http://schemas.openxmlformats.org/drawingml/2006/main">
              <a:ext uri="{FF2B5EF4-FFF2-40B4-BE49-F238E27FC236}">
                <a16:creationId xmlns:a16="http://schemas.microsoft.com/office/drawing/2014/main" id="{478F1A60-0315-49B4-95F2-DDCCB89E53F7}"/>
              </a:ext>
            </a:extLst>
          </p:cNvPr>
          <p:cNvSpPr>
            <a:spLocks xmlns:a="http://schemas.openxmlformats.org/drawingml/2006/main" noGrp="1"/>
          </p:cNvSpPr>
          <p:nvPr/>
        </p:nvSpPr>
        <p:spPr>
          <a:xfrm xmlns:a="http://schemas.openxmlformats.org/drawingml/2006/main">
            <a:off x="7150425" y="4480560"/>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Marking + AI literacy</a:t>
            </a:r>
            <a:endParaRPr sz="2400"/>
          </a:p>
        </p:txBody>
      </p:sp>
      <p:sp>
        <p:nvSpPr>
          <p:cNvPr id="21" name="Text 19">
            <a:extLst xmlns:a="http://schemas.openxmlformats.org/drawingml/2006/main">
              <a:ext uri="{FF2B5EF4-FFF2-40B4-BE49-F238E27FC236}">
                <a16:creationId xmlns:a16="http://schemas.microsoft.com/office/drawing/2014/main" id="{5029C092-4B67-4349-8ED4-300417E741F3}"/>
              </a:ext>
            </a:extLst>
          </p:cNvPr>
          <p:cNvSpPr>
            <a:spLocks xmlns:a="http://schemas.openxmlformats.org/drawingml/2006/main" noGrp="1"/>
          </p:cNvSpPr>
          <p:nvPr/>
        </p:nvSpPr>
        <p:spPr>
          <a:xfrm xmlns:a="http://schemas.openxmlformats.org/drawingml/2006/main">
            <a:off x="822960" y="550468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intended use and human decision boundary drive the classification.</a:t>
            </a:r>
            <a:endParaRPr sz="2400"/>
          </a:p>
        </p:txBody>
      </p:sp>
    </p:spTree>
    <p:extLst>
      <p:ext uri="{BB962C8B-B14F-4D97-AF65-F5344CB8AC3E}">
        <p14:creationId xmlns:p14="http://schemas.microsoft.com/office/powerpoint/2010/main" val="73773309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34DA4A5-8BDD-46DA-AD5B-46A0CB21AC1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full complaint narrative still leaves the bank</a:t>
            </a:r>
            <a:endParaRPr sz="3200"/>
          </a:p>
        </p:txBody>
      </p:sp>
      <p:sp>
        <p:nvSpPr>
          <p:cNvPr id="3" name="Shape 1">
            <a:extLst xmlns:a="http://schemas.openxmlformats.org/drawingml/2006/main">
              <a:ext uri="{FF2B5EF4-FFF2-40B4-BE49-F238E27FC236}">
                <a16:creationId xmlns:a16="http://schemas.microsoft.com/office/drawing/2014/main" id="{5EFC6F71-B1C4-4D05-9B22-A6BEC993081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E70DB046-4075-45D7-8926-9EF4DA517DC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68598553-5967-4109-BB6D-04E9B65C604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19972238-66CB-4169-ABBF-E2D4C1B67F7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14</a:t>
            </a:r>
            <a:endParaRPr sz="900"/>
          </a:p>
        </p:txBody>
      </p:sp>
      <p:sp>
        <p:nvSpPr>
          <p:cNvPr id="7" name="Text 5">
            <a:extLst xmlns:a="http://schemas.openxmlformats.org/drawingml/2006/main">
              <a:ext uri="{FF2B5EF4-FFF2-40B4-BE49-F238E27FC236}">
                <a16:creationId xmlns:a16="http://schemas.microsoft.com/office/drawing/2014/main" id="{702931D2-077F-44C2-A027-BD3C26440E99}"/>
              </a:ext>
            </a:extLst>
          </p:cNvPr>
          <p:cNvSpPr>
            <a:spLocks xmlns:a="http://schemas.openxmlformats.org/drawingml/2006/main" noGrp="1"/>
          </p:cNvSpPr>
          <p:nvPr/>
        </p:nvSpPr>
        <p:spPr>
          <a:xfrm xmlns:a="http://schemas.openxmlformats.org/drawingml/2006/main">
            <a:off x="822960" y="1773936"/>
            <a:ext cx="464014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WHAT</a:t>
            </a:r>
            <a:endParaRPr sz="2400"/>
          </a:p>
        </p:txBody>
      </p:sp>
      <p:sp>
        <p:nvSpPr>
          <p:cNvPr id="8" name="Text 6">
            <a:extLst xmlns:a="http://schemas.openxmlformats.org/drawingml/2006/main">
              <a:ext uri="{FF2B5EF4-FFF2-40B4-BE49-F238E27FC236}">
                <a16:creationId xmlns:a16="http://schemas.microsoft.com/office/drawing/2014/main" id="{93E6417C-1648-4119-8679-D68D6F5C86E4}"/>
              </a:ext>
            </a:extLst>
          </p:cNvPr>
          <p:cNvSpPr>
            <a:spLocks xmlns:a="http://schemas.openxmlformats.org/drawingml/2006/main" noGrp="1"/>
          </p:cNvSpPr>
          <p:nvPr/>
        </p:nvSpPr>
        <p:spPr>
          <a:xfrm xmlns:a="http://schemas.openxmlformats.org/drawingml/2006/main">
            <a:off x="5463101" y="1773936"/>
            <a:ext cx="590563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WHERE IT GOES</a:t>
            </a:r>
            <a:endParaRPr sz="2400"/>
          </a:p>
        </p:txBody>
      </p:sp>
      <p:sp>
        <p:nvSpPr>
          <p:cNvPr id="9" name="Shape 7">
            <a:extLst xmlns:a="http://schemas.openxmlformats.org/drawingml/2006/main">
              <a:ext uri="{FF2B5EF4-FFF2-40B4-BE49-F238E27FC236}">
                <a16:creationId xmlns:a16="http://schemas.microsoft.com/office/drawing/2014/main" id="{7AB3A231-77EE-416C-8CDF-5C2D5B0E8300}"/>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CB85DE6D-24CE-46FC-8437-2818B9A24421}"/>
              </a:ext>
            </a:extLst>
          </p:cNvPr>
          <p:cNvSpPr>
            <a:spLocks xmlns:a="http://schemas.openxmlformats.org/drawingml/2006/main" noGrp="1"/>
          </p:cNvSpPr>
          <p:nvPr/>
        </p:nvSpPr>
        <p:spPr>
          <a:xfrm xmlns:a="http://schemas.openxmlformats.org/drawingml/2006/main">
            <a:off x="822960" y="2340864"/>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identifier</a:t>
            </a:r>
            <a:endParaRPr sz="2400"/>
          </a:p>
        </p:txBody>
      </p:sp>
      <p:sp>
        <p:nvSpPr>
          <p:cNvPr id="11" name="Text 9">
            <a:extLst xmlns:a="http://schemas.openxmlformats.org/drawingml/2006/main">
              <a:ext uri="{FF2B5EF4-FFF2-40B4-BE49-F238E27FC236}">
                <a16:creationId xmlns:a16="http://schemas.microsoft.com/office/drawing/2014/main" id="{7CDDE7B8-12FD-4DB6-AF13-C2664BCA166F}"/>
              </a:ext>
            </a:extLst>
          </p:cNvPr>
          <p:cNvSpPr>
            <a:spLocks xmlns:a="http://schemas.openxmlformats.org/drawingml/2006/main" noGrp="1"/>
          </p:cNvSpPr>
          <p:nvPr/>
        </p:nvSpPr>
        <p:spPr>
          <a:xfrm xmlns:a="http://schemas.openxmlformats.org/drawingml/2006/main">
            <a:off x="5463101" y="2340864"/>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 · replaced before the model call</a:t>
            </a:r>
            <a:endParaRPr sz="2400"/>
          </a:p>
        </p:txBody>
      </p:sp>
      <p:sp>
        <p:nvSpPr>
          <p:cNvPr id="12" name="Shape 10">
            <a:extLst xmlns:a="http://schemas.openxmlformats.org/drawingml/2006/main">
              <a:ext uri="{FF2B5EF4-FFF2-40B4-BE49-F238E27FC236}">
                <a16:creationId xmlns:a16="http://schemas.microsoft.com/office/drawing/2014/main" id="{34C38A68-C907-4951-A0CC-C8C55675235E}"/>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7E61DC08-BCC5-4289-9CB2-B6270239A64D}"/>
              </a:ext>
            </a:extLst>
          </p:cNvPr>
          <p:cNvSpPr>
            <a:spLocks xmlns:a="http://schemas.openxmlformats.org/drawingml/2006/main" noGrp="1"/>
          </p:cNvSpPr>
          <p:nvPr/>
        </p:nvSpPr>
        <p:spPr>
          <a:xfrm xmlns:a="http://schemas.openxmlformats.org/drawingml/2006/main">
            <a:off x="822960" y="3054096"/>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narrative</a:t>
            </a:r>
            <a:endParaRPr sz="2400"/>
          </a:p>
        </p:txBody>
      </p:sp>
      <p:sp>
        <p:nvSpPr>
          <p:cNvPr id="14" name="Text 12">
            <a:extLst xmlns:a="http://schemas.openxmlformats.org/drawingml/2006/main">
              <a:ext uri="{FF2B5EF4-FFF2-40B4-BE49-F238E27FC236}">
                <a16:creationId xmlns:a16="http://schemas.microsoft.com/office/drawing/2014/main" id="{BF1416F2-DBBF-4683-B428-CD255AF58024}"/>
              </a:ext>
            </a:extLst>
          </p:cNvPr>
          <p:cNvSpPr>
            <a:spLocks xmlns:a="http://schemas.openxmlformats.org/drawingml/2006/main" noGrp="1"/>
          </p:cNvSpPr>
          <p:nvPr/>
        </p:nvSpPr>
        <p:spPr>
          <a:xfrm xmlns:a="http://schemas.openxmlformats.org/drawingml/2006/main">
            <a:off x="5463101" y="3054096"/>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 · sent to the provider in full</a:t>
            </a:r>
            <a:endParaRPr sz="2400"/>
          </a:p>
        </p:txBody>
      </p:sp>
      <p:sp>
        <p:nvSpPr>
          <p:cNvPr id="15" name="Shape 13">
            <a:extLst xmlns:a="http://schemas.openxmlformats.org/drawingml/2006/main">
              <a:ext uri="{FF2B5EF4-FFF2-40B4-BE49-F238E27FC236}">
                <a16:creationId xmlns:a16="http://schemas.microsoft.com/office/drawing/2014/main" id="{7CDAC841-3869-42E9-988D-53136F3F2A19}"/>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00872AE0-0305-4A6A-B142-502C768A7FEB}"/>
              </a:ext>
            </a:extLst>
          </p:cNvPr>
          <p:cNvSpPr>
            <a:spLocks xmlns:a="http://schemas.openxmlformats.org/drawingml/2006/main" noGrp="1"/>
          </p:cNvSpPr>
          <p:nvPr/>
        </p:nvSpPr>
        <p:spPr>
          <a:xfrm xmlns:a="http://schemas.openxmlformats.org/drawingml/2006/main">
            <a:off x="822960" y="3767328"/>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Evidence + pseudonymous reference</a:t>
            </a:r>
            <a:endParaRPr sz="2400"/>
          </a:p>
        </p:txBody>
      </p:sp>
      <p:sp>
        <p:nvSpPr>
          <p:cNvPr id="17" name="Text 15">
            <a:extLst xmlns:a="http://schemas.openxmlformats.org/drawingml/2006/main">
              <a:ext uri="{FF2B5EF4-FFF2-40B4-BE49-F238E27FC236}">
                <a16:creationId xmlns:a16="http://schemas.microsoft.com/office/drawing/2014/main" id="{A0B897EC-9AD3-49F8-9EE6-2B3143C245EC}"/>
              </a:ext>
            </a:extLst>
          </p:cNvPr>
          <p:cNvSpPr>
            <a:spLocks xmlns:a="http://schemas.openxmlformats.org/drawingml/2006/main" noGrp="1"/>
          </p:cNvSpPr>
          <p:nvPr/>
        </p:nvSpPr>
        <p:spPr>
          <a:xfrm xmlns:a="http://schemas.openxmlformats.org/drawingml/2006/main">
            <a:off x="5463101" y="3767328"/>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Stored in monitoring</a:t>
            </a:r>
            <a:endParaRPr sz="2400"/>
          </a:p>
        </p:txBody>
      </p:sp>
      <p:sp>
        <p:nvSpPr>
          <p:cNvPr id="18" name="Text 16">
            <a:extLst xmlns:a="http://schemas.openxmlformats.org/drawingml/2006/main">
              <a:ext uri="{FF2B5EF4-FFF2-40B4-BE49-F238E27FC236}">
                <a16:creationId xmlns:a16="http://schemas.microsoft.com/office/drawing/2014/main" id="{B041204B-8134-499D-9CCF-DCDAB38615CA}"/>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Pseudonymisation protects the reference, not the content. Transfer controls are the gate.</a:t>
            </a:r>
            <a:endParaRPr sz="2400"/>
          </a:p>
        </p:txBody>
      </p:sp>
    </p:spTree>
    <p:extLst>
      <p:ext uri="{BB962C8B-B14F-4D97-AF65-F5344CB8AC3E}">
        <p14:creationId xmlns:p14="http://schemas.microsoft.com/office/powerpoint/2010/main" val="12761978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95A86-D9CB-4681-8168-2FBC311755D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Every pilot threshold must pass before deployment</a:t>
            </a:r>
            <a:endParaRPr sz="3200"/>
          </a:p>
        </p:txBody>
      </p:sp>
      <p:sp>
        <p:nvSpPr>
          <p:cNvPr id="3" name="Shape 1">
            <a:extLst xmlns:a="http://schemas.openxmlformats.org/drawingml/2006/main">
              <a:ext uri="{FF2B5EF4-FFF2-40B4-BE49-F238E27FC236}">
                <a16:creationId xmlns:a16="http://schemas.microsoft.com/office/drawing/2014/main" id="{E298F8BE-1544-42A8-9CDD-CE89373E0F8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84C2600-AB7B-4E60-984F-47BCA9619AF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AB0B1E9-AC5C-41A6-BBB6-7DB173FDB90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45E83587-0FEB-4372-90ED-6B63804E1BF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15</a:t>
            </a:r>
            <a:endParaRPr sz="900"/>
          </a:p>
        </p:txBody>
      </p:sp>
      <p:sp>
        <p:nvSpPr>
          <p:cNvPr id="7" name="Text 5">
            <a:extLst xmlns:a="http://schemas.openxmlformats.org/drawingml/2006/main">
              <a:ext uri="{FF2B5EF4-FFF2-40B4-BE49-F238E27FC236}">
                <a16:creationId xmlns:a16="http://schemas.microsoft.com/office/drawing/2014/main" id="{C46CFE0B-2F79-46E9-ABBE-3A85BA1D175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816038B4-BCCA-4085-8C97-5AD3DAD52E3E}"/>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THRESHOLD</a:t>
            </a:r>
            <a:endParaRPr sz="2400"/>
          </a:p>
        </p:txBody>
      </p:sp>
      <p:sp>
        <p:nvSpPr>
          <p:cNvPr id="9" name="Shape 7">
            <a:extLst xmlns:a="http://schemas.openxmlformats.org/drawingml/2006/main">
              <a:ext uri="{FF2B5EF4-FFF2-40B4-BE49-F238E27FC236}">
                <a16:creationId xmlns:a16="http://schemas.microsoft.com/office/drawing/2014/main" id="{294D4110-F5D1-46C8-BC24-C818094B397C}"/>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AC66237D-461D-47FF-BDFD-10678F62C6B2}"/>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against expert labels</a:t>
            </a:r>
            <a:endParaRPr sz="2400"/>
          </a:p>
          <a:p xmlns:a="http://schemas.openxmlformats.org/drawingml/2006/main">
            <a:pPr marL="0" indent="0">
              <a:buNone/>
            </a:pPr>
            <a:r>
              <a:rPr sz="2400">
                <a:solidFill>
                  <a:srgbClr val="1A1A1A"/>
                </a:solidFill>
                <a:latin typeface="Calibri"/>
                <a:ea typeface="Calibri"/>
                <a:cs typeface="Calibri"/>
              </a:rPr>
              <a:t>Triage-time reduction</a:t>
            </a:r>
            <a:endParaRPr sz="2400"/>
          </a:p>
        </p:txBody>
      </p:sp>
      <p:sp>
        <p:nvSpPr>
          <p:cNvPr id="11" name="Text 9">
            <a:extLst xmlns:a="http://schemas.openxmlformats.org/drawingml/2006/main">
              <a:ext uri="{FF2B5EF4-FFF2-40B4-BE49-F238E27FC236}">
                <a16:creationId xmlns:a16="http://schemas.microsoft.com/office/drawing/2014/main" id="{AC2F076D-3E0A-42DB-A584-3392657E82BF}"/>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≥80%</a:t>
            </a:r>
            <a:endParaRPr sz="2400"/>
          </a:p>
          <a:p xmlns:a="http://schemas.openxmlformats.org/drawingml/2006/main">
            <a:pPr marL="0" indent="0" algn="r">
              <a:buNone/>
            </a:pPr>
            <a:r>
              <a:rPr sz="2400" b="1">
                <a:solidFill>
                  <a:srgbClr val="1A1A1A"/>
                </a:solidFill>
                <a:latin typeface="Calibri"/>
                <a:ea typeface="Calibri"/>
                <a:cs typeface="Calibri"/>
              </a:rPr>
              <a:t>≥40%</a:t>
            </a:r>
            <a:endParaRPr sz="2400"/>
          </a:p>
        </p:txBody>
      </p:sp>
      <p:sp>
        <p:nvSpPr>
          <p:cNvPr id="12" name="Shape 10">
            <a:extLst xmlns:a="http://schemas.openxmlformats.org/drawingml/2006/main">
              <a:ext uri="{FF2B5EF4-FFF2-40B4-BE49-F238E27FC236}">
                <a16:creationId xmlns:a16="http://schemas.microsoft.com/office/drawing/2014/main" id="{63B9D409-8C59-4EE8-9F81-477501B698BB}"/>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6A4BCD7-91BA-4791-B5D0-99EC1646AE1F}"/>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Handler acceptance</a:t>
            </a:r>
            <a:endParaRPr sz="2400"/>
          </a:p>
          <a:p xmlns:a="http://schemas.openxmlformats.org/drawingml/2006/main">
            <a:pPr marL="0" indent="0">
              <a:buNone/>
            </a:pPr>
            <a:r>
              <a:rPr sz="2400">
                <a:solidFill>
                  <a:srgbClr val="1A1A1A"/>
                </a:solidFill>
                <a:latin typeface="Calibri"/>
                <a:ea typeface="Calibri"/>
                <a:cs typeface="Calibri"/>
              </a:rPr>
              <a:t>Oversight effort</a:t>
            </a:r>
            <a:endParaRPr sz="2400"/>
          </a:p>
        </p:txBody>
      </p:sp>
      <p:sp>
        <p:nvSpPr>
          <p:cNvPr id="14" name="Text 12">
            <a:extLst xmlns:a="http://schemas.openxmlformats.org/drawingml/2006/main">
              <a:ext uri="{FF2B5EF4-FFF2-40B4-BE49-F238E27FC236}">
                <a16:creationId xmlns:a16="http://schemas.microsoft.com/office/drawing/2014/main" id="{ADA3679A-3796-41F1-A32F-3186C0C58C1F}"/>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75–97%</a:t>
            </a:r>
            <a:endParaRPr sz="2400"/>
          </a:p>
          <a:p xmlns:a="http://schemas.openxmlformats.org/drawingml/2006/main">
            <a:pPr marL="0" indent="0" algn="r">
              <a:buNone/>
            </a:pPr>
            <a:r>
              <a:rPr sz="2400" b="1">
                <a:solidFill>
                  <a:srgbClr val="1A1A1A"/>
                </a:solidFill>
                <a:latin typeface="Calibri"/>
                <a:ea typeface="Calibri"/>
                <a:cs typeface="Calibri"/>
              </a:rPr>
              <a:t>≤3 days / quarter</a:t>
            </a:r>
            <a:endParaRPr sz="2400"/>
          </a:p>
        </p:txBody>
      </p:sp>
      <p:sp>
        <p:nvSpPr>
          <p:cNvPr id="15" name="Shape 13">
            <a:extLst xmlns:a="http://schemas.openxmlformats.org/drawingml/2006/main">
              <a:ext uri="{FF2B5EF4-FFF2-40B4-BE49-F238E27FC236}">
                <a16:creationId xmlns:a16="http://schemas.microsoft.com/office/drawing/2014/main" id="{E5C7F522-0E9E-48A9-92E0-5ECDC641418F}"/>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D8B0011A-E7AE-4D6B-92D7-53FA1420693C}"/>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Ungrounded outputs reaching a handler</a:t>
            </a:r>
            <a:endParaRPr sz="2400"/>
          </a:p>
        </p:txBody>
      </p:sp>
      <p:sp>
        <p:nvSpPr>
          <p:cNvPr id="17" name="Text 15">
            <a:extLst xmlns:a="http://schemas.openxmlformats.org/drawingml/2006/main">
              <a:ext uri="{FF2B5EF4-FFF2-40B4-BE49-F238E27FC236}">
                <a16:creationId xmlns:a16="http://schemas.microsoft.com/office/drawing/2014/main" id="{68C15AD1-588F-49EB-B88D-F93A12CD6AB1}"/>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Zero</a:t>
            </a:r>
            <a:endParaRPr sz="2400"/>
          </a:p>
        </p:txBody>
      </p:sp>
      <p:sp>
        <p:nvSpPr>
          <p:cNvPr id="18" name="Shape 16">
            <a:extLst xmlns:a="http://schemas.openxmlformats.org/drawingml/2006/main">
              <a:ext uri="{FF2B5EF4-FFF2-40B4-BE49-F238E27FC236}">
                <a16:creationId xmlns:a16="http://schemas.microsoft.com/office/drawing/2014/main" id="{ED688328-C004-46B0-846A-B0C99200FA78}"/>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16AD003C-3489-43C2-973E-366E09485037}"/>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Correct abstention</a:t>
            </a:r>
            <a:endParaRPr sz="2400"/>
          </a:p>
        </p:txBody>
      </p:sp>
      <p:sp>
        <p:nvSpPr>
          <p:cNvPr id="20" name="Text 18">
            <a:extLst xmlns:a="http://schemas.openxmlformats.org/drawingml/2006/main">
              <a:ext uri="{FF2B5EF4-FFF2-40B4-BE49-F238E27FC236}">
                <a16:creationId xmlns:a16="http://schemas.microsoft.com/office/drawing/2014/main" id="{6F4DB6FB-5B57-4BBB-A958-01B7AB305FC7}"/>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≥95%</a:t>
            </a:r>
            <a:endParaRPr sz="2400"/>
          </a:p>
        </p:txBody>
      </p:sp>
      <p:sp>
        <p:nvSpPr>
          <p:cNvPr id="21" name="Shape 19">
            <a:extLst xmlns:a="http://schemas.openxmlformats.org/drawingml/2006/main">
              <a:ext uri="{FF2B5EF4-FFF2-40B4-BE49-F238E27FC236}">
                <a16:creationId xmlns:a16="http://schemas.microsoft.com/office/drawing/2014/main" id="{E2D1DD29-EC2D-41AA-AC2A-88923BFDFD50}"/>
              </a:ext>
            </a:extLst>
          </p:cNvPr>
          <p:cNvSpPr>
            <a:spLocks xmlns:a="http://schemas.openxmlformats.org/drawingml/2006/main" noGrp="1"/>
          </p:cNvSpPr>
          <p:nvPr/>
        </p:nvSpPr>
        <p:spPr>
          <a:xfrm xmlns:a="http://schemas.openxmlformats.org/drawingml/2006/main">
            <a:off x="822960" y="5193792"/>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22" name="Text 20">
            <a:extLst xmlns:a="http://schemas.openxmlformats.org/drawingml/2006/main">
              <a:ext uri="{FF2B5EF4-FFF2-40B4-BE49-F238E27FC236}">
                <a16:creationId xmlns:a16="http://schemas.microsoft.com/office/drawing/2014/main" id="{26863846-805A-4D8E-9CC5-D56AA2B8C9DD}"/>
              </a:ext>
            </a:extLst>
          </p:cNvPr>
          <p:cNvSpPr>
            <a:spLocks xmlns:a="http://schemas.openxmlformats.org/drawingml/2006/main" noGrp="1"/>
          </p:cNvSpPr>
          <p:nvPr/>
        </p:nvSpPr>
        <p:spPr>
          <a:xfrm xmlns:a="http://schemas.openxmlformats.org/drawingml/2006/main">
            <a:off x="822960" y="5193792"/>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precision on disposition</a:t>
            </a:r>
            <a:endParaRPr sz="2400"/>
          </a:p>
        </p:txBody>
      </p:sp>
      <p:sp>
        <p:nvSpPr>
          <p:cNvPr id="23" name="Text 21">
            <a:extLst xmlns:a="http://schemas.openxmlformats.org/drawingml/2006/main">
              <a:ext uri="{FF2B5EF4-FFF2-40B4-BE49-F238E27FC236}">
                <a16:creationId xmlns:a16="http://schemas.microsoft.com/office/drawing/2014/main" id="{C69919A8-61E5-4E11-8520-C4E8E98EA53C}"/>
              </a:ext>
            </a:extLst>
          </p:cNvPr>
          <p:cNvSpPr>
            <a:spLocks xmlns:a="http://schemas.openxmlformats.org/drawingml/2006/main" noGrp="1"/>
          </p:cNvSpPr>
          <p:nvPr/>
        </p:nvSpPr>
        <p:spPr>
          <a:xfrm xmlns:a="http://schemas.openxmlformats.org/drawingml/2006/main">
            <a:off x="7783172" y="5193792"/>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≥30%</a:t>
            </a:r>
            <a:endParaRPr sz="2400"/>
          </a:p>
        </p:txBody>
      </p:sp>
    </p:spTree>
    <p:extLst>
      <p:ext uri="{BB962C8B-B14F-4D97-AF65-F5344CB8AC3E}">
        <p14:creationId xmlns:p14="http://schemas.microsoft.com/office/powerpoint/2010/main" val="205874500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2026-09-03T18:35:01.9470000Z</dcterms:created>
  <dcterms:modified xsi:type="dcterms:W3CDTF">2026-09-03T18:35:01.9470000Z</dcterms:modified>
</coreProperties>
</file>